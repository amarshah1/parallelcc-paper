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9" r:id="rId12"/>
    <p:sldId id="268" r:id="rId13"/>
    <p:sldId id="260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>
        <p:scale>
          <a:sx n="109" d="100"/>
          <a:sy n="109" d="100"/>
        </p:scale>
        <p:origin x="9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E787-A992-9FB8-3051-FF82A4F8F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90561-17E8-B92D-3F20-C31088143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A8872-B973-B3C2-551E-242D3D58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E4B85-B6F6-2CDA-30CA-A9134BF1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D0B37-7853-2FB8-6B9A-F337334E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3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AA7D-C079-4936-71E8-7CCE55E4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C169D-78A1-F795-EB11-FD41B5CA3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66A95-297E-3C83-6E75-DE7E0AA9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2FD0B-BCA7-9ACD-A2C3-BC9663AE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3F221-BDC5-F060-A1F4-F42C32EB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0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9853-36C6-79B1-51AB-D81EA0E2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2BC43-9888-1BF4-571D-3A8AB0D4E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553B7-21C3-B288-F02B-CB089988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65758-3472-73A0-6D6C-D6B2B74A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04501-AB24-23C1-3006-82C96F57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E793-3E7F-C5A5-8252-9AF71088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A82CB-E4AD-BC3B-D966-27F69D812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8051E-46EE-ED38-A954-640C2D691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37670-E3D8-EEF8-BD14-ED7834CE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C4D2C-4BFB-9EDA-E305-01DEB24B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9D3BC-5671-E1A4-6375-1D45877E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4C5-9116-2B8D-45C2-06AC7C0E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C4379-D1B7-0F5F-13BD-08BE0D336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E0EBB-6719-7235-2ED2-42DA0BE12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0B22F-D4DB-FF6C-01D2-4C2F51142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166C5F-9372-39FF-9C27-AA05E8753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7FBFA-8104-99E2-0C19-33B89967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AC12C-F278-9832-6EA0-FB7AC2B6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BDE98-6923-0A38-73DB-EB0FEC02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9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E432-5CA5-8DC8-3EFD-DF80E192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7EEC0-114B-84EE-A398-52618D61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B7CA5-96C1-C8F1-95AC-A9E8DD55B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07626-939C-68CA-CC64-813B05E7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1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7F898-74A7-18C8-E6A7-17FD6ED8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2A3B9-B847-03FB-9753-BF3F27CD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52271-9B3F-2FF5-50D3-CC7DC5E1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1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18B6-C107-B579-32D7-6D1CB243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55871-71BE-3872-0F3A-DDDE5A81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4A707-3CC3-3850-F004-6B964A784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CD158-D386-739C-5E9F-44D4C1BE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4E4FB-38DC-CF50-0A5D-0968978B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1DAC7-CF8F-E3A5-9ED2-97981EED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8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310B-5532-8B81-16D1-9D0C2821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FB73A-686A-0938-3AAD-DF2961369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4D222-03F1-FA85-2BF5-00F264BBF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50CA6-32E4-66AA-3D7E-7A9D0637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7EFD7-5B9F-328F-1A52-768E1438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924DE-C3B4-4086-2679-17E3CD43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5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FABB-0B6F-DEBB-E468-E40B1E6F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9A55D-7B62-980F-B2C6-F9CB0F17C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F4852-3896-7001-B9CA-49B300BE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CD912-85CB-46AB-18EA-7F312597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A7A01-E473-439F-07A9-F545A75D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DFAB8B-CC02-CC78-3CA7-1649089D1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0DE06-9937-0197-5818-C5D2F9C0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9A281-794B-40F0-34B7-EC7A391B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BCC6B-63D9-2081-9A0D-90F49963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9D7A4-23BF-0DE1-DA42-785A32A3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4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2E624-3CD8-CE3C-216B-FC4EA990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92024-D3BA-3D46-D449-D60183ECA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EB2EC-0676-723E-1D5A-75170951F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61D76-8858-6F4E-BD88-4F8947F53F20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0148A-A947-7783-27A2-A4BF0D3BF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BAE2-5743-D1B2-3E4B-7AF92D4A5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8B174-C863-074F-A8B7-08EA6A579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8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1346-624F-8EC1-0DAC-E22F36A53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Parallelizing Congruence Closure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F5D26-502D-02E5-D3F3-1809610798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Zak Kent and Amar Shah</a:t>
            </a:r>
          </a:p>
        </p:txBody>
      </p:sp>
    </p:spTree>
    <p:extLst>
      <p:ext uri="{BB962C8B-B14F-4D97-AF65-F5344CB8AC3E}">
        <p14:creationId xmlns:p14="http://schemas.microsoft.com/office/powerpoint/2010/main" val="359306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6C00-6445-B867-1DE1-B8529696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BACA0-FA2F-BA34-BE0B-FE06F00F337F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</p:spTree>
    <p:extLst>
      <p:ext uri="{BB962C8B-B14F-4D97-AF65-F5344CB8AC3E}">
        <p14:creationId xmlns:p14="http://schemas.microsoft.com/office/powerpoint/2010/main" val="403448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05EE-A0BB-229E-EE43-FA10385F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9CA5-ADCD-1B3F-ABC6-B07FC323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35832-434A-C66B-50AF-D4A573C62C47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180AB9-475F-D34C-6F1D-3A063967367F}"/>
                  </a:ext>
                </a:extLst>
              </p:cNvPr>
              <p:cNvSpPr txBox="1"/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180AB9-475F-D34C-6F1D-3A0639673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blipFill>
                <a:blip r:embed="rId2"/>
                <a:stretch>
                  <a:fillRect r="-9756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4C5C16-758B-45EE-0583-DCF77918F905}"/>
                  </a:ext>
                </a:extLst>
              </p:cNvPr>
              <p:cNvSpPr txBox="1"/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4C5C16-758B-45EE-0583-DCF77918F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831DBA-4058-BAFA-2645-E39068FDA563}"/>
                  </a:ext>
                </a:extLst>
              </p:cNvPr>
              <p:cNvSpPr txBox="1"/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831DBA-4058-BAFA-2645-E39068FDA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blipFill>
                <a:blip r:embed="rId4"/>
                <a:stretch>
                  <a:fillRect r="-6061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31532-0F71-9F49-86BB-F9E5ADA4EFA1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B31532-0F71-9F49-86BB-F9E5ADA4E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blipFill>
                <a:blip r:embed="rId5"/>
                <a:stretch>
                  <a:fillRect r="-4615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78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E463D-6A1B-E44A-907A-02AFDEF8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ADBD-7A85-67D8-63A8-369E80DE7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6C655-6C75-A0AF-6CBA-D3355F2F43DD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AE605E-35A9-D58B-3961-C51735C056D5}"/>
                  </a:ext>
                </a:extLst>
              </p:cNvPr>
              <p:cNvSpPr txBox="1"/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AE605E-35A9-D58B-3961-C51735C05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blipFill>
                <a:blip r:embed="rId2"/>
                <a:stretch>
                  <a:fillRect r="-9756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EC89C-5ADE-F829-5F7F-1682DA8F3ED7}"/>
                  </a:ext>
                </a:extLst>
              </p:cNvPr>
              <p:cNvSpPr txBox="1"/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AEC89C-5ADE-F829-5F7F-1682DA8F3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0F7204-7619-C9A6-0BC5-FF0D11C8A1B2}"/>
                  </a:ext>
                </a:extLst>
              </p:cNvPr>
              <p:cNvSpPr txBox="1"/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0F7204-7619-C9A6-0BC5-FF0D11C8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blipFill>
                <a:blip r:embed="rId4"/>
                <a:stretch>
                  <a:fillRect r="-6061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7582E9-E4B4-89D2-AC06-9F4B0A2BF00A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7582E9-E4B4-89D2-AC06-9F4B0A2BF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blipFill>
                <a:blip r:embed="rId5"/>
                <a:stretch>
                  <a:fillRect r="-4615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5A0BCC-B7BF-2349-AE10-1FAB84C3966D}"/>
                  </a:ext>
                </a:extLst>
              </p:cNvPr>
              <p:cNvSpPr txBox="1"/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5A0BCC-B7BF-2349-AE10-1FAB84C3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23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1879-CD4E-B341-BB75-A8409B85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3AB7-5847-86DE-1DAD-85745314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9CE31-37EF-D2FD-A453-75166BD56998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8670A0-B017-6122-60B5-B43AB3221CA9}"/>
                  </a:ext>
                </a:extLst>
              </p:cNvPr>
              <p:cNvSpPr txBox="1"/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8670A0-B017-6122-60B5-B43AB3221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blipFill>
                <a:blip r:embed="rId2"/>
                <a:stretch>
                  <a:fillRect r="-9756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F5616B-EB37-40DB-315C-2B78DA3D35C4}"/>
                  </a:ext>
                </a:extLst>
              </p:cNvPr>
              <p:cNvSpPr txBox="1"/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F5616B-EB37-40DB-315C-2B78DA3D3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2FEA81-0066-4DA8-C960-D7E15D16CBA3}"/>
                  </a:ext>
                </a:extLst>
              </p:cNvPr>
              <p:cNvSpPr txBox="1"/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2FEA81-0066-4DA8-C960-D7E15D16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blipFill>
                <a:blip r:embed="rId4"/>
                <a:stretch>
                  <a:fillRect r="-6061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BBD914-9075-56A4-A4D7-84A03154FC20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BBD914-9075-56A4-A4D7-84A03154F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blipFill>
                <a:blip r:embed="rId5"/>
                <a:stretch>
                  <a:fillRect r="-4615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516937-1919-9DE2-8BA2-1F33D6D14945}"/>
                  </a:ext>
                </a:extLst>
              </p:cNvPr>
              <p:cNvSpPr txBox="1"/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516937-1919-9DE2-8BA2-1F33D6D14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26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039D-8BFB-618A-9029-27423E50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F669-DC1A-85E8-E18F-E9F7B2DC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F813E-AF99-C3A3-8761-FE55F2AA7ED6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33AECF-27FE-3BC2-68F2-5C041F58019D}"/>
                  </a:ext>
                </a:extLst>
              </p:cNvPr>
              <p:cNvSpPr txBox="1"/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33AECF-27FE-3BC2-68F2-5C041F580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blipFill>
                <a:blip r:embed="rId2"/>
                <a:stretch>
                  <a:fillRect r="-9756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277B1C-DC47-62C8-A23A-21178B5A3565}"/>
                  </a:ext>
                </a:extLst>
              </p:cNvPr>
              <p:cNvSpPr txBox="1"/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277B1C-DC47-62C8-A23A-21178B5A3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C64A3C-202F-C1AC-9CDD-554EFFE04B3C}"/>
                  </a:ext>
                </a:extLst>
              </p:cNvPr>
              <p:cNvSpPr txBox="1"/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C64A3C-202F-C1AC-9CDD-554EFFE04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blipFill>
                <a:blip r:embed="rId4"/>
                <a:stretch>
                  <a:fillRect r="-6061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47A0C2-874A-75DC-56AB-5783D6446408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47A0C2-874A-75DC-56AB-5783D6446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blipFill>
                <a:blip r:embed="rId5"/>
                <a:stretch>
                  <a:fillRect r="-4615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CA8AD5-C759-B5CD-659A-E8E38768B3FB}"/>
                  </a:ext>
                </a:extLst>
              </p:cNvPr>
              <p:cNvSpPr txBox="1"/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CA8AD5-C759-B5CD-659A-E8E38768B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58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6F24-53A1-2166-BB77-EA6BEA6A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AC68-DF3C-95F8-6D33-2F4A19C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C2C42-93B3-30F7-2201-E13FB2BE7897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B3028B-32F8-E409-818A-56600D7F22B7}"/>
                  </a:ext>
                </a:extLst>
              </p:cNvPr>
              <p:cNvSpPr txBox="1"/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B3028B-32F8-E409-818A-56600D7F2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490" y="3798332"/>
                <a:ext cx="504094" cy="461665"/>
              </a:xfrm>
              <a:prstGeom prst="rect">
                <a:avLst/>
              </a:prstGeom>
              <a:blipFill>
                <a:blip r:embed="rId2"/>
                <a:stretch>
                  <a:fillRect r="-9756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972FDF-2D15-5E6E-8D35-5DA80C6743E3}"/>
                  </a:ext>
                </a:extLst>
              </p:cNvPr>
              <p:cNvSpPr txBox="1"/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972FDF-2D15-5E6E-8D35-5DA80C674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07" y="3798332"/>
                <a:ext cx="820614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16E1B5-C8F7-743D-B0CD-E77CEE7AB5FA}"/>
                  </a:ext>
                </a:extLst>
              </p:cNvPr>
              <p:cNvSpPr txBox="1"/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16E1B5-C8F7-743D-B0CD-E77CEE7AB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63" y="3798332"/>
                <a:ext cx="820614" cy="461665"/>
              </a:xfrm>
              <a:prstGeom prst="rect">
                <a:avLst/>
              </a:prstGeom>
              <a:blipFill>
                <a:blip r:embed="rId4"/>
                <a:stretch>
                  <a:fillRect r="-6061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BE901-D6C7-3F25-A7CA-9AAC18A5088D}"/>
                  </a:ext>
                </a:extLst>
              </p:cNvPr>
              <p:cNvSpPr txBox="1"/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BE901-D6C7-3F25-A7CA-9AAC18A50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29000"/>
                <a:ext cx="820614" cy="830997"/>
              </a:xfrm>
              <a:prstGeom prst="rect">
                <a:avLst/>
              </a:prstGeom>
              <a:blipFill>
                <a:blip r:embed="rId5"/>
                <a:stretch>
                  <a:fillRect r="-4615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3ED1BC-4AFD-9CE8-212A-8DB0E7DB92DF}"/>
              </a:ext>
            </a:extLst>
          </p:cNvPr>
          <p:cNvSpPr/>
          <p:nvPr/>
        </p:nvSpPr>
        <p:spPr>
          <a:xfrm>
            <a:off x="2991730" y="5005754"/>
            <a:ext cx="5669280" cy="1234440"/>
          </a:xfrm>
          <a:prstGeom prst="roundRect">
            <a:avLst>
              <a:gd name="adj" fmla="val 15000"/>
            </a:avLst>
          </a:prstGeom>
          <a:solidFill>
            <a:srgbClr val="F4F5F7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59DB7-EA1F-7B80-813A-7BE2B4249DDB}"/>
              </a:ext>
            </a:extLst>
          </p:cNvPr>
          <p:cNvSpPr txBox="1"/>
          <p:nvPr/>
        </p:nvSpPr>
        <p:spPr>
          <a:xfrm>
            <a:off x="3128890" y="5051474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6B717A"/>
                </a:solidFill>
                <a:latin typeface="Calibri"/>
              </a:rPr>
              <a:t>Congruence rule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34E27-9CAA-1024-EA87-EF449CB5BD02}"/>
              </a:ext>
            </a:extLst>
          </p:cNvPr>
          <p:cNvSpPr txBox="1"/>
          <p:nvPr/>
        </p:nvSpPr>
        <p:spPr>
          <a:xfrm>
            <a:off x="3128890" y="5325794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0" i="0" dirty="0">
                <a:solidFill>
                  <a:srgbClr val="2B2F36"/>
                </a:solidFill>
                <a:latin typeface="Calibri"/>
              </a:rPr>
              <a:t>s₁ ≡ t₁    …    sₖ ≡ tₖ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015F6D8B-CC52-630D-3DE8-B20BCEB83A59}"/>
              </a:ext>
            </a:extLst>
          </p:cNvPr>
          <p:cNvCxnSpPr/>
          <p:nvPr/>
        </p:nvCxnSpPr>
        <p:spPr>
          <a:xfrm>
            <a:off x="3723250" y="5737274"/>
            <a:ext cx="4297680" cy="0"/>
          </a:xfrm>
          <a:prstGeom prst="line">
            <a:avLst/>
          </a:prstGeom>
          <a:ln w="19050">
            <a:solidFill>
              <a:srgbClr val="2B2F36"/>
            </a:solidFill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8ECDD2-5639-DF48-C0FD-13305BC5DE9A}"/>
              </a:ext>
            </a:extLst>
          </p:cNvPr>
          <p:cNvSpPr txBox="1"/>
          <p:nvPr/>
        </p:nvSpPr>
        <p:spPr>
          <a:xfrm>
            <a:off x="3128890" y="5782994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0" i="0" dirty="0">
                <a:solidFill>
                  <a:srgbClr val="2B2F36"/>
                </a:solidFill>
                <a:latin typeface="Calibri"/>
              </a:rPr>
              <a:t>f(s₁, …, sₖ) ≡ f(t₁, …, tₖ)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D8E88B-D6F0-43F3-65FC-C9C92D117DBE}"/>
                  </a:ext>
                </a:extLst>
              </p:cNvPr>
              <p:cNvSpPr txBox="1"/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D8E88B-D6F0-43F3-65FC-C9C92D117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06" y="3198167"/>
                <a:ext cx="148883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921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19F4-3D97-E478-13BE-30D13A95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B059F9-22F5-1024-7972-EC65BE4F3A99}"/>
              </a:ext>
            </a:extLst>
          </p:cNvPr>
          <p:cNvSpPr txBox="1"/>
          <p:nvPr/>
        </p:nvSpPr>
        <p:spPr>
          <a:xfrm>
            <a:off x="628357" y="1690688"/>
            <a:ext cx="4572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i="0" dirty="0">
                <a:solidFill>
                  <a:srgbClr val="1F2A44"/>
                </a:solidFill>
                <a:latin typeface="Calibri"/>
              </a:rPr>
              <a:t>Engines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ABA13C-442C-3C21-317F-AFC90F0A5FA7}"/>
              </a:ext>
            </a:extLst>
          </p:cNvPr>
          <p:cNvSpPr txBox="1"/>
          <p:nvPr/>
        </p:nvSpPr>
        <p:spPr>
          <a:xfrm>
            <a:off x="536917" y="2147888"/>
            <a:ext cx="53949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 dirty="0">
                <a:solidFill>
                  <a:srgbClr val="2B2F36"/>
                </a:solidFill>
                <a:latin typeface="Calibri"/>
              </a:rPr>
              <a:t>SMT solvers</a:t>
            </a:r>
            <a:r>
              <a:rPr sz="1900" b="0" i="0" dirty="0">
                <a:solidFill>
                  <a:srgbClr val="2B2F36"/>
                </a:solidFill>
                <a:latin typeface="Calibri"/>
              </a:rPr>
              <a:t>: Z3, cvc5 (theory of uninterpreted functions)</a:t>
            </a:r>
          </a:p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 dirty="0">
                <a:solidFill>
                  <a:srgbClr val="2B2F36"/>
                </a:solidFill>
                <a:latin typeface="Calibri"/>
              </a:rPr>
              <a:t>SAT solvers</a:t>
            </a:r>
            <a:r>
              <a:rPr sz="1900" b="0" i="0" dirty="0">
                <a:solidFill>
                  <a:srgbClr val="2B2F36"/>
                </a:solidFill>
                <a:latin typeface="Calibri"/>
              </a:rPr>
              <a:t>: </a:t>
            </a:r>
            <a:r>
              <a:rPr sz="1900" b="0" i="0" dirty="0" err="1">
                <a:solidFill>
                  <a:srgbClr val="2B2F36"/>
                </a:solidFill>
                <a:latin typeface="Calibri"/>
              </a:rPr>
              <a:t>Kissat</a:t>
            </a:r>
            <a:r>
              <a:rPr sz="1900" b="0" i="0" dirty="0">
                <a:solidFill>
                  <a:srgbClr val="2B2F36"/>
                </a:solidFill>
                <a:latin typeface="Calibri"/>
              </a:rPr>
              <a:t> (clausal congruence closure)</a:t>
            </a:r>
          </a:p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 dirty="0">
                <a:solidFill>
                  <a:srgbClr val="2B2F36"/>
                </a:solidFill>
                <a:latin typeface="Calibri"/>
              </a:rPr>
              <a:t>Equality saturation</a:t>
            </a:r>
            <a:r>
              <a:rPr sz="1900" b="0" i="0" dirty="0">
                <a:solidFill>
                  <a:srgbClr val="2B2F36"/>
                </a:solidFill>
                <a:latin typeface="Calibri"/>
              </a:rPr>
              <a:t>: egg, </a:t>
            </a:r>
            <a:r>
              <a:rPr sz="1900" b="0" i="0" dirty="0" err="1">
                <a:solidFill>
                  <a:srgbClr val="2B2F36"/>
                </a:solidFill>
                <a:latin typeface="Calibri"/>
              </a:rPr>
              <a:t>egglog</a:t>
            </a:r>
            <a:endParaRPr sz="1900" b="0" i="0" dirty="0">
              <a:solidFill>
                <a:srgbClr val="2B2F36"/>
              </a:solidFill>
              <a:latin typeface="Calibri"/>
            </a:endParaRPr>
          </a:p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 dirty="0">
                <a:solidFill>
                  <a:srgbClr val="2B2F36"/>
                </a:solidFill>
                <a:latin typeface="Calibri"/>
              </a:rPr>
              <a:t>Type unification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E5903-A92E-BFD3-ED5C-EF71299F9F75}"/>
              </a:ext>
            </a:extLst>
          </p:cNvPr>
          <p:cNvSpPr txBox="1"/>
          <p:nvPr/>
        </p:nvSpPr>
        <p:spPr>
          <a:xfrm>
            <a:off x="6343357" y="1690688"/>
            <a:ext cx="45720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i="0">
                <a:solidFill>
                  <a:srgbClr val="1F2A44"/>
                </a:solidFill>
                <a:latin typeface="Calibri"/>
              </a:rPr>
              <a:t>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D3AB3-0470-C21A-5B47-435D7689B2E0}"/>
              </a:ext>
            </a:extLst>
          </p:cNvPr>
          <p:cNvSpPr txBox="1"/>
          <p:nvPr/>
        </p:nvSpPr>
        <p:spPr>
          <a:xfrm>
            <a:off x="6251917" y="2147888"/>
            <a:ext cx="53949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>
                <a:solidFill>
                  <a:srgbClr val="2B2F36"/>
                </a:solidFill>
                <a:latin typeface="Calibri"/>
              </a:rPr>
              <a:t>Circuit equivalence checking</a:t>
            </a:r>
          </a:p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>
                <a:solidFill>
                  <a:srgbClr val="2B2F36"/>
                </a:solidFill>
                <a:latin typeface="Calibri"/>
              </a:rPr>
              <a:t>Software verification</a:t>
            </a:r>
            <a:r>
              <a:rPr sz="1900" b="0" i="0">
                <a:solidFill>
                  <a:srgbClr val="2B2F36"/>
                </a:solidFill>
                <a:latin typeface="Calibri"/>
              </a:rPr>
              <a:t>: Dafny, Verus</a:t>
            </a:r>
          </a:p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>
                <a:solidFill>
                  <a:srgbClr val="2B2F36"/>
                </a:solidFill>
                <a:latin typeface="Calibri"/>
              </a:rPr>
              <a:t>Hardware design</a:t>
            </a:r>
          </a:p>
          <a:p>
            <a:pPr marL="274320" indent="-237744">
              <a:spcBef>
                <a:spcPts val="600"/>
              </a:spcBef>
              <a:buClr>
                <a:srgbClr val="6B717A"/>
              </a:buClr>
              <a:buChar char="•"/>
            </a:pPr>
            <a:r>
              <a:rPr sz="1900" b="1" i="0">
                <a:solidFill>
                  <a:srgbClr val="2B2F36"/>
                </a:solidFill>
                <a:latin typeface="Calibri"/>
              </a:rPr>
              <a:t>Theorem proving</a:t>
            </a:r>
            <a:r>
              <a:rPr sz="1900" b="0" i="0">
                <a:solidFill>
                  <a:srgbClr val="2B2F36"/>
                </a:solidFill>
                <a:latin typeface="Calibri"/>
              </a:rPr>
              <a:t>: Lean grind</a:t>
            </a:r>
          </a:p>
        </p:txBody>
      </p:sp>
    </p:spTree>
    <p:extLst>
      <p:ext uri="{BB962C8B-B14F-4D97-AF65-F5344CB8AC3E}">
        <p14:creationId xmlns:p14="http://schemas.microsoft.com/office/powerpoint/2010/main" val="115944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095F-8DCF-6345-7B07-FCC0DC84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State-of-the-Art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5B643-07FE-1AE4-A337-277DE3B5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8560"/>
          </a:xfrm>
        </p:spPr>
        <p:txBody>
          <a:bodyPr/>
          <a:lstStyle/>
          <a:p>
            <a:r>
              <a:rPr lang="en-US" dirty="0"/>
              <a:t>Despite ubiquity, algorithms used in practice fully </a:t>
            </a:r>
            <a:r>
              <a:rPr lang="en-US" b="1" dirty="0"/>
              <a:t>sequential</a:t>
            </a:r>
          </a:p>
          <a:p>
            <a:r>
              <a:rPr lang="en-US" dirty="0"/>
              <a:t>Unfortunately, CC is </a:t>
            </a:r>
            <a:r>
              <a:rPr lang="en-US" b="1" dirty="0"/>
              <a:t>P-complete</a:t>
            </a:r>
          </a:p>
          <a:p>
            <a:pPr lvl="1"/>
            <a:r>
              <a:rPr lang="en-US" dirty="0"/>
              <a:t>Likely inherently sequential in worst case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35406C-9244-F9B4-A73B-2C78A3B520D1}"/>
              </a:ext>
            </a:extLst>
          </p:cNvPr>
          <p:cNvSpPr/>
          <p:nvPr/>
        </p:nvSpPr>
        <p:spPr>
          <a:xfrm>
            <a:off x="563880" y="4800283"/>
            <a:ext cx="11064240" cy="109728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txBody>
          <a:bodyPr wrap="square" lIns="54864" tIns="27432" rIns="54864" bIns="27432" rtlCol="0" anchor="ctr"/>
          <a:lstStyle/>
          <a:p>
            <a:pPr algn="ctr"/>
            <a:r>
              <a:rPr sz="2100" b="1" i="0" dirty="0">
                <a:solidFill>
                  <a:srgbClr val="FFFFFF"/>
                </a:solidFill>
                <a:latin typeface="Calibri"/>
              </a:rPr>
              <a:t>Question: do practical instances expose enough independent merges for real speedups?</a:t>
            </a:r>
          </a:p>
        </p:txBody>
      </p:sp>
    </p:spTree>
    <p:extLst>
      <p:ext uri="{BB962C8B-B14F-4D97-AF65-F5344CB8AC3E}">
        <p14:creationId xmlns:p14="http://schemas.microsoft.com/office/powerpoint/2010/main" val="7195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00D8-1565-3AC3-8C72-6BC510E9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585C-5E2A-66DC-2B6A-405D3354D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bulk-synchronous-parallel (BSP) algorithms</a:t>
            </a:r>
          </a:p>
          <a:p>
            <a:r>
              <a:rPr lang="en-US" dirty="0"/>
              <a:t>Workload characterization for parallelization effectiveness</a:t>
            </a:r>
          </a:p>
          <a:p>
            <a:r>
              <a:rPr lang="en-US" dirty="0"/>
              <a:t>Evaluation demonstrating effective speedup in practice</a:t>
            </a:r>
          </a:p>
        </p:txBody>
      </p:sp>
    </p:spTree>
    <p:extLst>
      <p:ext uri="{BB962C8B-B14F-4D97-AF65-F5344CB8AC3E}">
        <p14:creationId xmlns:p14="http://schemas.microsoft.com/office/powerpoint/2010/main" val="204416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43E8-E8B6-5612-D011-ED956C1E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Sequential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2CF03-1792-166A-DD7A-B4525B51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EAC5-F859-C2FA-8B93-7C83CBB53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7145F-C926-0DDE-AE00-33036BB32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7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DA8B-EDFE-59F3-91E4-3B4A6F14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E1AD-E2EA-A88C-62C8-76C299DD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Closure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50EC5-8908-7EB3-F8C7-D1B8F8F16066}"/>
              </a:ext>
            </a:extLst>
          </p:cNvPr>
          <p:cNvSpPr txBox="1"/>
          <p:nvPr/>
        </p:nvSpPr>
        <p:spPr>
          <a:xfrm>
            <a:off x="2391508" y="1852246"/>
            <a:ext cx="7479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Given a set of </a:t>
            </a:r>
            <a:r>
              <a:rPr lang="en-US" sz="2400" b="1" dirty="0"/>
              <a:t>terms</a:t>
            </a:r>
            <a:r>
              <a:rPr lang="en-US" sz="2400" dirty="0"/>
              <a:t> and </a:t>
            </a:r>
            <a:r>
              <a:rPr lang="en-US" sz="2400" b="1" dirty="0"/>
              <a:t>equalities </a:t>
            </a:r>
            <a:r>
              <a:rPr lang="en-US" sz="2400" dirty="0"/>
              <a:t>over them, compute the least equivalence relation respecting function symbols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D57A59-F9E8-3059-01C1-5B17B0521D97}"/>
                  </a:ext>
                </a:extLst>
              </p:cNvPr>
              <p:cNvSpPr txBox="1"/>
              <p:nvPr/>
            </p:nvSpPr>
            <p:spPr>
              <a:xfrm>
                <a:off x="1617785" y="3598985"/>
                <a:ext cx="447821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Equalities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D57A59-F9E8-3059-01C1-5B17B0521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785" y="3598985"/>
                <a:ext cx="4478215" cy="738664"/>
              </a:xfrm>
              <a:prstGeom prst="rect">
                <a:avLst/>
              </a:prstGeom>
              <a:blipFill>
                <a:blip r:embed="rId2"/>
                <a:stretch>
                  <a:fillRect t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781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24B1-16C5-099E-7B8B-A6DD2CFC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20FF3-084C-1C39-E5A6-A93C79BDE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5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378</Words>
  <Application>Microsoft Macintosh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Parallelizing Congruence Closure</vt:lpstr>
      <vt:lpstr>Congruence Closure</vt:lpstr>
      <vt:lpstr>Congruence Closure</vt:lpstr>
      <vt:lpstr>Congruence Closure</vt:lpstr>
      <vt:lpstr>Congruence Closure</vt:lpstr>
      <vt:lpstr>Congruence Closure</vt:lpstr>
      <vt:lpstr>Congruence Closure</vt:lpstr>
      <vt:lpstr>Use in Practice</vt:lpstr>
      <vt:lpstr>State-of-the-Art</vt:lpstr>
      <vt:lpstr>Contributions</vt:lpstr>
      <vt:lpstr>Naïve Sequential Algorithm</vt:lpstr>
      <vt:lpstr>PowerPoint Presentation</vt:lpstr>
      <vt:lpstr>Congruence Closure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Zak Adam Kent</dc:creator>
  <cp:lastModifiedBy>Zak Adam Kent</cp:lastModifiedBy>
  <cp:revision>1</cp:revision>
  <dcterms:created xsi:type="dcterms:W3CDTF">2026-09-11T17:32:25Z</dcterms:created>
  <dcterms:modified xsi:type="dcterms:W3CDTF">2026-09-12T20:38:54Z</dcterms:modified>
</cp:coreProperties>
</file>