
<file path=[Content_Types].xml><?xml version="1.0" encoding="utf-8"?>
<ct:Types xmlns:ct="http://schemas.openxmlformats.org/package/2006/content-types">
  <ct:Default Extension="jpeg" ContentType="image/jpeg"/>
  <ct:Default Extension="png" ContentType="image/png"/>
  <ct:Default Extension="rels" ContentType="application/vnd.openxmlformats-package.relationships+xml"/>
  <ct:Default Extension="xml" ContentType="application/xml"/>
  <ct:Override PartName="/ppt/presentation.xml" ContentType="application/vnd.openxmlformats-officedocument.presentationml.presentation.main+xml"/>
  <ct:Override PartName="/ppt/slideMasters/slideMaster1.xml" ContentType="application/vnd.openxmlformats-officedocument.presentationml.slideMaster+xml"/>
  <ct:Override PartName="/ppt/slides/slide1.xml" ContentType="application/vnd.openxmlformats-officedocument.presentationml.slide+xml"/>
  <ct:Override PartName="/ppt/slides/slide2.xml" ContentType="application/vnd.openxmlformats-officedocument.presentationml.slide+xml"/>
  <ct:Override PartName="/ppt/slides/slide3.xml" ContentType="application/vnd.openxmlformats-officedocument.presentationml.slide+xml"/>
  <ct:Override PartName="/ppt/slides/slide4.xml" ContentType="application/vnd.openxmlformats-officedocument.presentationml.slide+xml"/>
  <ct:Override PartName="/ppt/slides/slide5.xml" ContentType="application/vnd.openxmlformats-officedocument.presentationml.slide+xml"/>
  <ct:Override PartName="/ppt/slides/slide6.xml" ContentType="application/vnd.openxmlformats-officedocument.presentationml.slide+xml"/>
  <ct:Override PartName="/ppt/slides/slide7.xml" ContentType="application/vnd.openxmlformats-officedocument.presentationml.slide+xml"/>
  <ct:Override PartName="/ppt/slides/slide8.xml" ContentType="application/vnd.openxmlformats-officedocument.presentationml.slide+xml"/>
  <ct:Override PartName="/ppt/slides/slide9.xml" ContentType="application/vnd.openxmlformats-officedocument.presentationml.slide+xml"/>
  <ct:Override PartName="/ppt/slides/slide10.xml" ContentType="application/vnd.openxmlformats-officedocument.presentationml.slide+xml"/>
  <ct:Override PartName="/ppt/slides/slide11.xml" ContentType="application/vnd.openxmlformats-officedocument.presentationml.slide+xml"/>
  <ct:Override PartName="/ppt/slides/slide12.xml" ContentType="application/vnd.openxmlformats-officedocument.presentationml.slide+xml"/>
  <ct:Override PartName="/ppt/slides/slide13.xml" ContentType="application/vnd.openxmlformats-officedocument.presentationml.slide+xml"/>
  <ct:Override PartName="/ppt/slides/slide14.xml" ContentType="application/vnd.openxmlformats-officedocument.presentationml.slide+xml"/>
  <ct:Override PartName="/ppt/slides/slide15.xml" ContentType="application/vnd.openxmlformats-officedocument.presentationml.slide+xml"/>
  <ct:Override PartName="/ppt/slides/slide16.xml" ContentType="application/vnd.openxmlformats-officedocument.presentationml.slide+xml"/>
  <ct:Override PartName="/ppt/slides/slide17.xml" ContentType="application/vnd.openxmlformats-officedocument.presentationml.slide+xml"/>
  <ct:Override PartName="/ppt/slides/slide18.xml" ContentType="application/vnd.openxmlformats-officedocument.presentationml.slide+xml"/>
  <ct:Override PartName="/ppt/slides/slide19.xml" ContentType="application/vnd.openxmlformats-officedocument.presentationml.slide+xml"/>
  <ct:Override PartName="/ppt/slides/slide20.xml" ContentType="application/vnd.openxmlformats-officedocument.presentationml.slide+xml"/>
  <ct:Override PartName="/ppt/slides/slide21.xml" ContentType="application/vnd.openxmlformats-officedocument.presentationml.slide+xml"/>
  <ct:Override PartName="/ppt/slides/slide22.xml" ContentType="application/vnd.openxmlformats-officedocument.presentationml.slide+xml"/>
  <ct:Override PartName="/ppt/slides/slide23.xml" ContentType="application/vnd.openxmlformats-officedocument.presentationml.slide+xml"/>
  <ct:Override PartName="/ppt/slides/slide24.xml" ContentType="application/vnd.openxmlformats-officedocument.presentationml.slide+xml"/>
  <ct:Override PartName="/ppt/slides/slide25.xml" ContentType="application/vnd.openxmlformats-officedocument.presentationml.slide+xml"/>
  <ct:Override PartName="/ppt/slides/slide26.xml" ContentType="application/vnd.openxmlformats-officedocument.presentationml.slide+xml"/>
  <ct:Override PartName="/ppt/slides/slide27.xml" ContentType="application/vnd.openxmlformats-officedocument.presentationml.slide+xml"/>
  <ct:Override PartName="/ppt/slides/slide28.xml" ContentType="application/vnd.openxmlformats-officedocument.presentationml.slide+xml"/>
  <ct:Override PartName="/ppt/slides/slide29.xml" ContentType="application/vnd.openxmlformats-officedocument.presentationml.slide+xml"/>
  <ct:Override PartName="/ppt/slides/slide30.xml" ContentType="application/vnd.openxmlformats-officedocument.presentationml.slide+xml"/>
  <ct:Override PartName="/ppt/slides/slide31.xml" ContentType="application/vnd.openxmlformats-officedocument.presentationml.slide+xml"/>
  <ct:Override PartName="/ppt/slides/slide32.xml" ContentType="application/vnd.openxmlformats-officedocument.presentationml.slide+xml"/>
  <ct:Override PartName="/ppt/slides/slide33.xml" ContentType="application/vnd.openxmlformats-officedocument.presentationml.slide+xml"/>
  <ct:Override PartName="/ppt/slides/slide34.xml" ContentType="application/vnd.openxmlformats-officedocument.presentationml.slide+xml"/>
  <ct:Override PartName="/ppt/slides/slide35.xml" ContentType="application/vnd.openxmlformats-officedocument.presentationml.slide+xml"/>
  <ct:Override PartName="/ppt/slides/slide36.xml" ContentType="application/vnd.openxmlformats-officedocument.presentationml.slide+xml"/>
  <ct:Override PartName="/ppt/slides/slide37.xml" ContentType="application/vnd.openxmlformats-officedocument.presentationml.slide+xml"/>
  <ct:Override PartName="/ppt/slides/slide38.xml" ContentType="application/vnd.openxmlformats-officedocument.presentationml.slide+xml"/>
  <ct:Override PartName="/ppt/slides/slide39.xml" ContentType="application/vnd.openxmlformats-officedocument.presentationml.slide+xml"/>
  <ct:Override PartName="/ppt/slides/slide40.xml" ContentType="application/vnd.openxmlformats-officedocument.presentationml.slide+xml"/>
  <ct:Override PartName="/ppt/slides/slide41.xml" ContentType="application/vnd.openxmlformats-officedocument.presentationml.slide+xml"/>
  <ct:Override PartName="/ppt/slides/slide42.xml" ContentType="application/vnd.openxmlformats-officedocument.presentationml.slide+xml"/>
  <ct:Override PartName="/ppt/slides/slide43.xml" ContentType="application/vnd.openxmlformats-officedocument.presentationml.slide+xml"/>
  <ct:Override PartName="/ppt/slides/slide44.xml" ContentType="application/vnd.openxmlformats-officedocument.presentationml.slide+xml"/>
  <ct:Override PartName="/ppt/slides/slide45.xml" ContentType="application/vnd.openxmlformats-officedocument.presentationml.slide+xml"/>
  <ct:Override PartName="/ppt/slides/slide46.xml" ContentType="application/vnd.openxmlformats-officedocument.presentationml.slide+xml"/>
  <ct:Override PartName="/ppt/slides/slide47.xml" ContentType="application/vnd.openxmlformats-officedocument.presentationml.slide+xml"/>
  <ct:Override PartName="/ppt/slides/slide48.xml" ContentType="application/vnd.openxmlformats-officedocument.presentationml.slide+xml"/>
  <ct:Override PartName="/ppt/slides/slide49.xml" ContentType="application/vnd.openxmlformats-officedocument.presentationml.slide+xml"/>
  <ct:Override PartName="/ppt/slides/slide50.xml" ContentType="application/vnd.openxmlformats-officedocument.presentationml.slide+xml"/>
  <ct:Override PartName="/ppt/slides/slide51.xml" ContentType="application/vnd.openxmlformats-officedocument.presentationml.slide+xml"/>
  <ct:Override PartName="/ppt/slides/slide52.xml" ContentType="application/vnd.openxmlformats-officedocument.presentationml.slide+xml"/>
  <ct:Override PartName="/ppt/slides/slide53.xml" ContentType="application/vnd.openxmlformats-officedocument.presentationml.slide+xml"/>
  <ct:Override PartName="/ppt/slides/slide54.xml" ContentType="application/vnd.openxmlformats-officedocument.presentationml.slide+xml"/>
  <ct:Override PartName="/ppt/slides/slide55.xml" ContentType="application/vnd.openxmlformats-officedocument.presentationml.slide+xml"/>
  <ct:Override PartName="/ppt/slides/slide56.xml" ContentType="application/vnd.openxmlformats-officedocument.presentationml.slide+xml"/>
  <ct:Override PartName="/ppt/slides/slide57.xml" ContentType="application/vnd.openxmlformats-officedocument.presentationml.slide+xml"/>
  <ct:Override PartName="/ppt/slides/slide58.xml" ContentType="application/vnd.openxmlformats-officedocument.presentationml.slide+xml"/>
  <ct:Override PartName="/ppt/slides/slide59.xml" ContentType="application/vnd.openxmlformats-officedocument.presentationml.slide+xml"/>
  <ct:Override PartName="/ppt/slides/slide60.xml" ContentType="application/vnd.openxmlformats-officedocument.presentationml.slide+xml"/>
  <ct:Override PartName="/ppt/slides/slide61.xml" ContentType="application/vnd.openxmlformats-officedocument.presentationml.slide+xml"/>
  <ct:Override PartName="/ppt/slides/slide62.xml" ContentType="application/vnd.openxmlformats-officedocument.presentationml.slide+xml"/>
  <ct:Override PartName="/ppt/slides/slide63.xml" ContentType="application/vnd.openxmlformats-officedocument.presentationml.slide+xml"/>
  <ct:Override PartName="/ppt/slides/slide64.xml" ContentType="application/vnd.openxmlformats-officedocument.presentationml.slide+xml"/>
  <ct:Override PartName="/ppt/slides/slide65.xml" ContentType="application/vnd.openxmlformats-officedocument.presentationml.slide+xml"/>
  <ct:Override PartName="/ppt/slides/slide66.xml" ContentType="application/vnd.openxmlformats-officedocument.presentationml.slide+xml"/>
  <ct:Override PartName="/ppt/slides/slide67.xml" ContentType="application/vnd.openxmlformats-officedocument.presentationml.slide+xml"/>
  <ct:Override PartName="/ppt/slides/slide68.xml" ContentType="application/vnd.openxmlformats-officedocument.presentationml.slide+xml"/>
  <ct:Override PartName="/ppt/slides/slide69.xml" ContentType="application/vnd.openxmlformats-officedocument.presentationml.slide+xml"/>
  <ct:Override PartName="/ppt/slides/slide70.xml" ContentType="application/vnd.openxmlformats-officedocument.presentationml.slide+xml"/>
  <ct:Override PartName="/ppt/slides/slide71.xml" ContentType="application/vnd.openxmlformats-officedocument.presentationml.slide+xml"/>
  <ct:Override PartName="/ppt/slides/slide72.xml" ContentType="application/vnd.openxmlformats-officedocument.presentationml.slide+xml"/>
  <ct:Override PartName="/ppt/slides/slide73.xml" ContentType="application/vnd.openxmlformats-officedocument.presentationml.slide+xml"/>
  <ct:Override PartName="/ppt/slides/slide74.xml" ContentType="application/vnd.openxmlformats-officedocument.presentationml.slide+xml"/>
  <ct:Override PartName="/ppt/slides/slide75.xml" ContentType="application/vnd.openxmlformats-officedocument.presentationml.slide+xml"/>
  <ct:Override PartName="/ppt/slides/slide76.xml" ContentType="application/vnd.openxmlformats-officedocument.presentationml.slide+xml"/>
  <ct:Override PartName="/ppt/slides/slide77.xml" ContentType="application/vnd.openxmlformats-officedocument.presentationml.slide+xml"/>
  <ct:Override PartName="/ppt/slides/slide78.xml" ContentType="application/vnd.openxmlformats-officedocument.presentationml.slide+xml"/>
  <ct:Override PartName="/ppt/slides/slide79.xml" ContentType="application/vnd.openxmlformats-officedocument.presentationml.slide+xml"/>
  <ct:Override PartName="/ppt/slides/slide80.xml" ContentType="application/vnd.openxmlformats-officedocument.presentationml.slide+xml"/>
  <ct:Override PartName="/ppt/slides/slide81.xml" ContentType="application/vnd.openxmlformats-officedocument.presentationml.slide+xml"/>
  <ct:Override PartName="/ppt/slides/slide82.xml" ContentType="application/vnd.openxmlformats-officedocument.presentationml.slide+xml"/>
  <ct:Override PartName="/ppt/slides/slide83.xml" ContentType="application/vnd.openxmlformats-officedocument.presentationml.slide+xml"/>
  <ct:Override PartName="/ppt/notesMasters/notesMaster1.xml" ContentType="application/vnd.openxmlformats-officedocument.presentationml.notesMaster+xml"/>
  <ct:Override PartName="/ppt/presProps.xml" ContentType="application/vnd.openxmlformats-officedocument.presentationml.presProps+xml"/>
  <ct:Override PartName="/ppt/viewProps.xml" ContentType="application/vnd.openxmlformats-officedocument.presentationml.viewProps+xml"/>
  <ct:Override PartName="/ppt/theme/theme1.xml" ContentType="application/vnd.openxmlformats-officedocument.theme+xml"/>
  <ct:Override PartName="/ppt/tableStyles.xml" ContentType="application/vnd.openxmlformats-officedocument.presentationml.tableStyles+xml"/>
  <ct:Override PartName="/ppt/slideLayouts/slideLayout1.xml" ContentType="application/vnd.openxmlformats-officedocument.presentationml.slideLayout+xml"/>
  <ct:Override PartName="/ppt/slideLayouts/slideLayout2.xml" ContentType="application/vnd.openxmlformats-officedocument.presentationml.slideLayout+xml"/>
  <ct:Override PartName="/ppt/slideLayouts/slideLayout3.xml" ContentType="application/vnd.openxmlformats-officedocument.presentationml.slideLayout+xml"/>
  <ct:Override PartName="/ppt/slideLayouts/slideLayout4.xml" ContentType="application/vnd.openxmlformats-officedocument.presentationml.slideLayout+xml"/>
  <ct:Override PartName="/ppt/slideLayouts/slideLayout5.xml" ContentType="application/vnd.openxmlformats-officedocument.presentationml.slideLayout+xml"/>
  <ct:Override PartName="/ppt/slideLayouts/slideLayout6.xml" ContentType="application/vnd.openxmlformats-officedocument.presentationml.slideLayout+xml"/>
  <ct:Override PartName="/ppt/slideLayouts/slideLayout7.xml" ContentType="application/vnd.openxmlformats-officedocument.presentationml.slideLayout+xml"/>
  <ct:Override PartName="/ppt/slideLayouts/slideLayout8.xml" ContentType="application/vnd.openxmlformats-officedocument.presentationml.slideLayout+xml"/>
  <ct:Override PartName="/ppt/slideLayouts/slideLayout9.xml" ContentType="application/vnd.openxmlformats-officedocument.presentationml.slideLayout+xml"/>
  <ct:Override PartName="/ppt/slideLayouts/slideLayout10.xml" ContentType="application/vnd.openxmlformats-officedocument.presentationml.slideLayout+xml"/>
  <ct:Override PartName="/ppt/slideLayouts/slideLayout11.xml" ContentType="application/vnd.openxmlformats-officedocument.presentationml.slideLayout+xml"/>
  <ct:Override PartName="/ppt/theme/theme2.xml" ContentType="application/vnd.openxmlformats-officedocument.theme+xml"/>
  <ct:Override PartName="/ppt/notesSlides/notesSlide1.xml" ContentType="application/vnd.openxmlformats-officedocument.presentationml.notesSlide+xml"/>
  <ct:Override PartName="/ppt/notesSlides/notesSlide2.xml" ContentType="application/vnd.openxmlformats-officedocument.presentationml.notesSlide+xml"/>
  <ct:Override PartName="/ppt/notesSlides/notesSlide3.xml" ContentType="application/vnd.openxmlformats-officedocument.presentationml.notesSlide+xml"/>
  <ct:Override PartName="/ppt/notesSlides/notesSlide4.xml" ContentType="application/vnd.openxmlformats-officedocument.presentationml.notesSlide+xml"/>
  <ct:Override PartName="/ppt/notesSlides/notesSlide5.xml" ContentType="application/vnd.openxmlformats-officedocument.presentationml.notesSlide+xml"/>
  <ct:Override PartName="/ppt/notesSlides/notesSlide6.xml" ContentType="application/vnd.openxmlformats-officedocument.presentationml.notesSlide+xml"/>
  <ct:Override PartName="/ppt/notesSlides/notesSlide7.xml" ContentType="application/vnd.openxmlformats-officedocument.presentationml.notesSlide+xml"/>
  <ct:Override PartName="/ppt/notesSlides/notesSlide8.xml" ContentType="application/vnd.openxmlformats-officedocument.presentationml.notesSlide+xml"/>
  <ct:Override PartName="/ppt/notesSlides/notesSlide9.xml" ContentType="application/vnd.openxmlformats-officedocument.presentationml.notesSlide+xml"/>
  <ct:Override PartName="/ppt/notesSlides/notesSlide10.xml" ContentType="application/vnd.openxmlformats-officedocument.presentationml.notesSlide+xml"/>
  <ct:Override PartName="/ppt/notesSlides/notesSlide11.xml" ContentType="application/vnd.openxmlformats-officedocument.presentationml.notesSlide+xml"/>
  <ct:Override PartName="/ppt/notesSlides/notesSlide12.xml" ContentType="application/vnd.openxmlformats-officedocument.presentationml.notesSlide+xml"/>
  <ct:Override PartName="/ppt/notesSlides/notesSlide13.xml" ContentType="application/vnd.openxmlformats-officedocument.presentationml.notesSlide+xml"/>
  <ct:Override PartName="/ppt/notesSlides/notesSlide14.xml" ContentType="application/vnd.openxmlformats-officedocument.presentationml.notesSlide+xml"/>
  <ct:Override PartName="/ppt/notesSlides/notesSlide15.xml" ContentType="application/vnd.openxmlformats-officedocument.presentationml.notesSlide+xml"/>
  <ct:Override PartName="/ppt/notesSlides/notesSlide16.xml" ContentType="application/vnd.openxmlformats-officedocument.presentationml.notesSlide+xml"/>
  <ct:Override PartName="/ppt/notesSlides/notesSlide17.xml" ContentType="application/vnd.openxmlformats-officedocument.presentationml.notesSlide+xml"/>
  <ct:Override PartName="/ppt/notesSlides/notesSlide18.xml" ContentType="application/vnd.openxmlformats-officedocument.presentationml.notesSlide+xml"/>
  <ct:Override PartName="/ppt/notesSlides/notesSlide19.xml" ContentType="application/vnd.openxmlformats-officedocument.presentationml.notesSlide+xml"/>
  <ct:Override PartName="/ppt/notesSlides/notesSlide20.xml" ContentType="application/vnd.openxmlformats-officedocument.presentationml.notesSlide+xml"/>
  <ct:Override PartName="/ppt/notesSlides/notesSlide21.xml" ContentType="application/vnd.openxmlformats-officedocument.presentationml.notesSlide+xml"/>
  <ct:Override PartName="/ppt/notesSlides/notesSlide22.xml" ContentType="application/vnd.openxmlformats-officedocument.presentationml.notesSlide+xml"/>
  <ct:Override PartName="/ppt/notesSlides/notesSlide23.xml" ContentType="application/vnd.openxmlformats-officedocument.presentationml.notesSlide+xml"/>
  <ct:Override PartName="/ppt/notesSlides/notesSlide24.xml" ContentType="application/vnd.openxmlformats-officedocument.presentationml.notesSlide+xml"/>
  <ct:Override PartName="/ppt/notesSlides/notesSlide25.xml" ContentType="application/vnd.openxmlformats-officedocument.presentationml.notesSlide+xml"/>
  <ct:Override PartName="/ppt/notesSlides/notesSlide26.xml" ContentType="application/vnd.openxmlformats-officedocument.presentationml.notesSlide+xml"/>
  <ct:Override PartName="/ppt/notesSlides/notesSlide27.xml" ContentType="application/vnd.openxmlformats-officedocument.presentationml.notesSlide+xml"/>
  <ct:Override PartName="/ppt/notesSlides/notesSlide28.xml" ContentType="application/vnd.openxmlformats-officedocument.presentationml.notesSlide+xml"/>
  <ct:Override PartName="/ppt/notesSlides/notesSlide29.xml" ContentType="application/vnd.openxmlformats-officedocument.presentationml.notesSlide+xml"/>
  <ct:Override PartName="/ppt/notesSlides/notesSlide30.xml" ContentType="application/vnd.openxmlformats-officedocument.presentationml.notesSlide+xml"/>
  <ct:Override PartName="/ppt/notesSlides/notesSlide31.xml" ContentType="application/vnd.openxmlformats-officedocument.presentationml.notesSlide+xml"/>
  <ct:Override PartName="/ppt/notesSlides/notesSlide32.xml" ContentType="application/vnd.openxmlformats-officedocument.presentationml.notesSlide+xml"/>
  <ct:Override PartName="/ppt/notesSlides/notesSlide33.xml" ContentType="application/vnd.openxmlformats-officedocument.presentationml.notesSlide+xml"/>
  <ct:Override PartName="/ppt/notesSlides/notesSlide34.xml" ContentType="application/vnd.openxmlformats-officedocument.presentationml.notesSlide+xml"/>
  <ct:Override PartName="/ppt/notesSlides/notesSlide35.xml" ContentType="application/vnd.openxmlformats-officedocument.presentationml.notesSlide+xml"/>
  <ct:Override PartName="/ppt/notesSlides/notesSlide36.xml" ContentType="application/vnd.openxmlformats-officedocument.presentationml.notesSlide+xml"/>
  <ct:Override PartName="/ppt/notesSlides/notesSlide37.xml" ContentType="application/vnd.openxmlformats-officedocument.presentationml.notesSlide+xml"/>
  <ct:Override PartName="/ppt/notesSlides/notesSlide38.xml" ContentType="application/vnd.openxmlformats-officedocument.presentationml.notesSlide+xml"/>
  <ct:Override PartName="/ppt/notesSlides/notesSlide39.xml" ContentType="application/vnd.openxmlformats-officedocument.presentationml.notesSlide+xml"/>
  <ct:Override PartName="/ppt/notesSlides/notesSlide40.xml" ContentType="application/vnd.openxmlformats-officedocument.presentationml.notesSlide+xml"/>
  <ct:Override PartName="/ppt/notesSlides/notesSlide41.xml" ContentType="application/vnd.openxmlformats-officedocument.presentationml.notesSlide+xml"/>
  <ct:Override PartName="/ppt/notesSlides/notesSlide42.xml" ContentType="application/vnd.openxmlformats-officedocument.presentationml.notesSlide+xml"/>
  <ct:Override PartName="/ppt/notesSlides/notesSlide43.xml" ContentType="application/vnd.openxmlformats-officedocument.presentationml.notesSlide+xml"/>
  <ct:Override PartName="/ppt/notesSlides/notesSlide44.xml" ContentType="application/vnd.openxmlformats-officedocument.presentationml.notesSlide+xml"/>
  <ct:Override PartName="/ppt/notesSlides/notesSlide45.xml" ContentType="application/vnd.openxmlformats-officedocument.presentationml.notesSlide+xml"/>
  <ct:Override PartName="/ppt/notesSlides/notesSlide46.xml" ContentType="application/vnd.openxmlformats-officedocument.presentationml.notesSlide+xml"/>
  <ct:Override PartName="/ppt/notesSlides/notesSlide47.xml" ContentType="application/vnd.openxmlformats-officedocument.presentationml.notesSlide+xml"/>
  <ct:Override PartName="/ppt/notesSlides/notesSlide48.xml" ContentType="application/vnd.openxmlformats-officedocument.presentationml.notesSlide+xml"/>
  <ct:Override PartName="/ppt/notesSlides/notesSlide49.xml" ContentType="application/vnd.openxmlformats-officedocument.presentationml.notesSlide+xml"/>
  <ct:Override PartName="/ppt/notesSlides/notesSlide50.xml" ContentType="application/vnd.openxmlformats-officedocument.presentationml.notesSlide+xml"/>
  <ct:Override PartName="/ppt/notesSlides/notesSlide51.xml" ContentType="application/vnd.openxmlformats-officedocument.presentationml.notesSlide+xml"/>
  <ct:Override PartName="/ppt/notesSlides/notesSlide52.xml" ContentType="application/vnd.openxmlformats-officedocument.presentationml.notesSlide+xml"/>
  <ct:Override PartName="/ppt/notesSlides/notesSlide53.xml" ContentType="application/vnd.openxmlformats-officedocument.presentationml.notesSlide+xml"/>
  <ct:Override PartName="/ppt/notesSlides/notesSlide54.xml" ContentType="application/vnd.openxmlformats-officedocument.presentationml.notesSlide+xml"/>
  <ct:Override PartName="/ppt/notesSlides/notesSlide55.xml" ContentType="application/vnd.openxmlformats-officedocument.presentationml.notesSlide+xml"/>
  <ct:Override PartName="/ppt/notesSlides/notesSlide56.xml" ContentType="application/vnd.openxmlformats-officedocument.presentationml.notesSlide+xml"/>
  <ct:Override PartName="/docProps/core.xml" ContentType="application/vnd.openxmlformats-package.core-properties+xml"/>
  <ct:Override PartName="/docProps/app.xml" ContentType="application/vnd.openxmlformats-officedocument.extended-properties+xml"/>
  <ct:Override PartName="/docProps/custom.xml" ContentType="application/vnd.openxmlformats-officedocument.custom-properties+xml"/>
  <ct:Override PartName="/ppt/slides/slide84.xml" ContentType="application/vnd.openxmlformats-officedocument.presentationml.slide+xml"/>
</ct: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ns3="http://schemas.microsoft.com/office/powerpoint/2012/main" xmlns:p="http://schemas.openxmlformats.org/presentationml/2006/main" xmlns:r="http://schemas.openxmlformats.org/officeDocument/2006/relationships" saveSubsetFonts="1" autoCompressPictures="0">
  <p:sldMasterIdLst>
    <p:sldMasterId id="2147483648" r:id="rId1"/>
  </p:sldMasterIdLst>
  <p:notesMasterIdLst>
    <p:notesMasterId r:id="rId85"/>
  </p:notesMasterIdLst>
  <p:sldIdLst>
    <p:sldId id="256" r:id="rId2"/>
    <p:sldId id="310" r:id="rId3"/>
    <p:sldId id="257" r:id="rId4"/>
    <p:sldId id="258" r:id="rId5"/>
    <p:sldId id="259" r:id="rId6"/>
    <p:sldId id="260" r:id="rId7"/>
    <p:sldId id="261" r:id="rId8"/>
    <p:sldId id="262" r:id="rId9"/>
    <p:sldId id="311" r:id="rId10"/>
    <p:sldId id="263" r:id="rId11"/>
    <p:sldId id="264" r:id="rId12"/>
    <p:sldId id="265" r:id="rId13"/>
    <p:sldId id="266" r:id="rId14"/>
    <p:sldId id="312"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313" r:id="rId38"/>
    <p:sldId id="289" r:id="rId39"/>
    <p:sldId id="290" r:id="rId40"/>
    <p:sldId id="291" r:id="rId41"/>
    <p:sldId id="292" r:id="rId42"/>
    <p:sldId id="293" r:id="rId43"/>
    <p:sldId id="294" r:id="rId44"/>
    <p:sldId id="295" r:id="rId45"/>
    <p:sldId id="296" r:id="rId46"/>
    <p:sldId id="319" r:id="rId47"/>
    <p:sldId id="315" r:id="rId48"/>
    <p:sldId id="316" r:id="rId49"/>
    <p:sldId id="317" r:id="rId50"/>
    <p:sldId id="318" r:id="rId51"/>
    <p:sldId id="297" r:id="rId52"/>
    <p:sldId id="298" r:id="rId53"/>
    <p:sldId id="299" r:id="rId54"/>
    <p:sldId id="300" r:id="rId55"/>
    <p:sldId id="301" r:id="rId56"/>
    <p:sldId id="302" r:id="rId57"/>
    <p:sldId id="303" r:id="rId58"/>
    <p:sldId id="304" r:id="rId59"/>
    <p:sldId id="320" r:id="rId60"/>
    <p:sldId id="321" r:id="rId61"/>
    <p:sldId id="325" r:id="rId62"/>
    <p:sldId id="326" r:id="rId63"/>
    <p:sldId id="322" r:id="rId64"/>
    <p:sldId id="323" r:id="rId65"/>
    <p:sldId id="324" r:id="rId66"/>
    <p:sldId id="327" r:id="rId67"/>
    <p:sldId id="314" r:id="rId68"/>
    <p:sldId id="306" r:id="rId69"/>
    <p:sldId id="332" r:id="rId70"/>
    <p:sldId id="333" r:id="rId71"/>
    <p:sldId id="334" r:id="rId72"/>
    <p:sldId id="335" r:id="rId73"/>
    <p:sldId id="336" r:id="rId74"/>
    <p:sldId id="337" r:id="rId75"/>
    <p:sldId id="338" r:id="rId76"/>
    <p:sldId id="339" r:id="rId77"/>
    <p:sldId id="340" r:id="rId78"/>
    <p:sldId id="328" r:id="rId79"/>
    <p:sldId id="329" r:id="rId80"/>
    <p:sldId id="330" r:id="rId81"/>
    <p:sldId id="331" r:id="rId82"/>
    <p:sldId id="345" r:id="rId83"/>
    <p:sldId id="346" r:id="rId90"/>
    <p:sldId id="308" r:id="rId8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ns3:sldGuideLst>
        <ns3:guide id="1" orient="horz" pos="2160">
          <ns3:clr>
            <a:srgbClr val="A4A3A4"/>
          </ns3:clr>
        </ns3:guide>
        <ns3:guide id="2" pos="2880">
          <ns3:clr>
            <a:srgbClr val="A4A3A4"/>
          </ns3:clr>
        </ns3:guide>
      </ns3: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1849"/>
  </p:normalViewPr>
  <p:slideViewPr>
    <p:cSldViewPr snapToGrid="0" snapToObjects="1">
      <p:cViewPr>
        <p:scale>
          <a:sx n="132" d="100"/>
          <a:sy n="132" d="100"/>
        </p:scale>
        <p:origin x="320" y="1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pr:Relationships xmlns:pr="http://schemas.openxmlformats.org/package/2006/relationships"><pr:Relationship Id="rId26" Type="http://schemas.openxmlformats.org/officeDocument/2006/relationships/slide" Target="slides/slide25.xml" /><pr:Relationship Id="rId21" Type="http://schemas.openxmlformats.org/officeDocument/2006/relationships/slide" Target="slides/slide20.xml" /><pr:Relationship Id="rId42" Type="http://schemas.openxmlformats.org/officeDocument/2006/relationships/slide" Target="slides/slide41.xml" /><pr:Relationship Id="rId47" Type="http://schemas.openxmlformats.org/officeDocument/2006/relationships/slide" Target="slides/slide46.xml" /><pr:Relationship Id="rId63" Type="http://schemas.openxmlformats.org/officeDocument/2006/relationships/slide" Target="slides/slide62.xml" /><pr:Relationship Id="rId68" Type="http://schemas.openxmlformats.org/officeDocument/2006/relationships/slide" Target="slides/slide67.xml" /><pr:Relationship Id="rId84" Type="http://schemas.openxmlformats.org/officeDocument/2006/relationships/slide" Target="slides/slide83.xml" /><pr:Relationship Id="rId89" Type="http://schemas.openxmlformats.org/officeDocument/2006/relationships/tableStyles" Target="tableStyles.xml" /><pr:Relationship Id="rId16" Type="http://schemas.openxmlformats.org/officeDocument/2006/relationships/slide" Target="slides/slide15.xml" /><pr:Relationship Id="rId11" Type="http://schemas.openxmlformats.org/officeDocument/2006/relationships/slide" Target="slides/slide10.xml" /><pr:Relationship Id="rId32" Type="http://schemas.openxmlformats.org/officeDocument/2006/relationships/slide" Target="slides/slide31.xml" /><pr:Relationship Id="rId37" Type="http://schemas.openxmlformats.org/officeDocument/2006/relationships/slide" Target="slides/slide36.xml" /><pr:Relationship Id="rId53" Type="http://schemas.openxmlformats.org/officeDocument/2006/relationships/slide" Target="slides/slide52.xml" /><pr:Relationship Id="rId58" Type="http://schemas.openxmlformats.org/officeDocument/2006/relationships/slide" Target="slides/slide57.xml" /><pr:Relationship Id="rId74" Type="http://schemas.openxmlformats.org/officeDocument/2006/relationships/slide" Target="slides/slide73.xml" /><pr:Relationship Id="rId79" Type="http://schemas.openxmlformats.org/officeDocument/2006/relationships/slide" Target="slides/slide78.xml" /><pr:Relationship Id="rId5" Type="http://schemas.openxmlformats.org/officeDocument/2006/relationships/slide" Target="slides/slide4.xml" /><pr:Relationship Id="rId14" Type="http://schemas.openxmlformats.org/officeDocument/2006/relationships/slide" Target="slides/slide13.xml" /><pr:Relationship Id="rId22" Type="http://schemas.openxmlformats.org/officeDocument/2006/relationships/slide" Target="slides/slide21.xml" /><pr:Relationship Id="rId27" Type="http://schemas.openxmlformats.org/officeDocument/2006/relationships/slide" Target="slides/slide26.xml" /><pr:Relationship Id="rId30" Type="http://schemas.openxmlformats.org/officeDocument/2006/relationships/slide" Target="slides/slide29.xml" /><pr:Relationship Id="rId35" Type="http://schemas.openxmlformats.org/officeDocument/2006/relationships/slide" Target="slides/slide34.xml" /><pr:Relationship Id="rId43" Type="http://schemas.openxmlformats.org/officeDocument/2006/relationships/slide" Target="slides/slide42.xml" /><pr:Relationship Id="rId48" Type="http://schemas.openxmlformats.org/officeDocument/2006/relationships/slide" Target="slides/slide47.xml" /><pr:Relationship Id="rId56" Type="http://schemas.openxmlformats.org/officeDocument/2006/relationships/slide" Target="slides/slide55.xml" /><pr:Relationship Id="rId64" Type="http://schemas.openxmlformats.org/officeDocument/2006/relationships/slide" Target="slides/slide63.xml" /><pr:Relationship Id="rId69" Type="http://schemas.openxmlformats.org/officeDocument/2006/relationships/slide" Target="slides/slide68.xml" /><pr:Relationship Id="rId77" Type="http://schemas.openxmlformats.org/officeDocument/2006/relationships/slide" Target="slides/slide76.xml" /><pr:Relationship Id="rId8" Type="http://schemas.openxmlformats.org/officeDocument/2006/relationships/slide" Target="slides/slide7.xml" /><pr:Relationship Id="rId51" Type="http://schemas.openxmlformats.org/officeDocument/2006/relationships/slide" Target="slides/slide50.xml" /><pr:Relationship Id="rId72" Type="http://schemas.openxmlformats.org/officeDocument/2006/relationships/slide" Target="slides/slide71.xml" /><pr:Relationship Id="rId80" Type="http://schemas.openxmlformats.org/officeDocument/2006/relationships/slide" Target="slides/slide79.xml" /><pr:Relationship Id="rId85" Type="http://schemas.openxmlformats.org/officeDocument/2006/relationships/notesMaster" Target="notesMasters/notesMaster1.xml" /><pr:Relationship Id="rId3" Type="http://schemas.openxmlformats.org/officeDocument/2006/relationships/slide" Target="slides/slide2.xml" /><pr:Relationship Id="rId12" Type="http://schemas.openxmlformats.org/officeDocument/2006/relationships/slide" Target="slides/slide11.xml" /><pr:Relationship Id="rId17" Type="http://schemas.openxmlformats.org/officeDocument/2006/relationships/slide" Target="slides/slide16.xml" /><pr:Relationship Id="rId25" Type="http://schemas.openxmlformats.org/officeDocument/2006/relationships/slide" Target="slides/slide24.xml" /><pr:Relationship Id="rId33" Type="http://schemas.openxmlformats.org/officeDocument/2006/relationships/slide" Target="slides/slide32.xml" /><pr:Relationship Id="rId38" Type="http://schemas.openxmlformats.org/officeDocument/2006/relationships/slide" Target="slides/slide37.xml" /><pr:Relationship Id="rId46" Type="http://schemas.openxmlformats.org/officeDocument/2006/relationships/slide" Target="slides/slide45.xml" /><pr:Relationship Id="rId59" Type="http://schemas.openxmlformats.org/officeDocument/2006/relationships/slide" Target="slides/slide58.xml" /><pr:Relationship Id="rId67" Type="http://schemas.openxmlformats.org/officeDocument/2006/relationships/slide" Target="slides/slide66.xml" /><pr:Relationship Id="rId20" Type="http://schemas.openxmlformats.org/officeDocument/2006/relationships/slide" Target="slides/slide19.xml" /><pr:Relationship Id="rId41" Type="http://schemas.openxmlformats.org/officeDocument/2006/relationships/slide" Target="slides/slide40.xml" /><pr:Relationship Id="rId54" Type="http://schemas.openxmlformats.org/officeDocument/2006/relationships/slide" Target="slides/slide53.xml" /><pr:Relationship Id="rId62" Type="http://schemas.openxmlformats.org/officeDocument/2006/relationships/slide" Target="slides/slide61.xml" /><pr:Relationship Id="rId70" Type="http://schemas.openxmlformats.org/officeDocument/2006/relationships/slide" Target="slides/slide69.xml" /><pr:Relationship Id="rId75" Type="http://schemas.openxmlformats.org/officeDocument/2006/relationships/slide" Target="slides/slide74.xml" /><pr:Relationship Id="rId83" Type="http://schemas.openxmlformats.org/officeDocument/2006/relationships/slide" Target="slides/slide82.xml" /><pr:Relationship Id="rId88" Type="http://schemas.openxmlformats.org/officeDocument/2006/relationships/theme" Target="theme/theme1.xml" /><pr:Relationship Id="rId1" Type="http://schemas.openxmlformats.org/officeDocument/2006/relationships/slideMaster" Target="slideMasters/slideMaster1.xml" /><pr:Relationship Id="rId6" Type="http://schemas.openxmlformats.org/officeDocument/2006/relationships/slide" Target="slides/slide5.xml" /><pr:Relationship Id="rId15" Type="http://schemas.openxmlformats.org/officeDocument/2006/relationships/slide" Target="slides/slide14.xml" /><pr:Relationship Id="rId23" Type="http://schemas.openxmlformats.org/officeDocument/2006/relationships/slide" Target="slides/slide22.xml" /><pr:Relationship Id="rId28" Type="http://schemas.openxmlformats.org/officeDocument/2006/relationships/slide" Target="slides/slide27.xml" /><pr:Relationship Id="rId36" Type="http://schemas.openxmlformats.org/officeDocument/2006/relationships/slide" Target="slides/slide35.xml" /><pr:Relationship Id="rId49" Type="http://schemas.openxmlformats.org/officeDocument/2006/relationships/slide" Target="slides/slide48.xml" /><pr:Relationship Id="rId57" Type="http://schemas.openxmlformats.org/officeDocument/2006/relationships/slide" Target="slides/slide56.xml" /><pr:Relationship Id="rId10" Type="http://schemas.openxmlformats.org/officeDocument/2006/relationships/slide" Target="slides/slide9.xml" /><pr:Relationship Id="rId31" Type="http://schemas.openxmlformats.org/officeDocument/2006/relationships/slide" Target="slides/slide30.xml" /><pr:Relationship Id="rId44" Type="http://schemas.openxmlformats.org/officeDocument/2006/relationships/slide" Target="slides/slide43.xml" /><pr:Relationship Id="rId52" Type="http://schemas.openxmlformats.org/officeDocument/2006/relationships/slide" Target="slides/slide51.xml" /><pr:Relationship Id="rId60" Type="http://schemas.openxmlformats.org/officeDocument/2006/relationships/slide" Target="slides/slide59.xml" /><pr:Relationship Id="rId65" Type="http://schemas.openxmlformats.org/officeDocument/2006/relationships/slide" Target="slides/slide64.xml" /><pr:Relationship Id="rId73" Type="http://schemas.openxmlformats.org/officeDocument/2006/relationships/slide" Target="slides/slide72.xml" /><pr:Relationship Id="rId78" Type="http://schemas.openxmlformats.org/officeDocument/2006/relationships/slide" Target="slides/slide77.xml" /><pr:Relationship Id="rId81" Type="http://schemas.openxmlformats.org/officeDocument/2006/relationships/slide" Target="slides/slide80.xml" /><pr:Relationship Id="rId86" Type="http://schemas.openxmlformats.org/officeDocument/2006/relationships/presProps" Target="presProps.xml" /><pr:Relationship Id="rId4" Type="http://schemas.openxmlformats.org/officeDocument/2006/relationships/slide" Target="slides/slide3.xml" /><pr:Relationship Id="rId9" Type="http://schemas.openxmlformats.org/officeDocument/2006/relationships/slide" Target="slides/slide8.xml" /><pr:Relationship Id="rId13" Type="http://schemas.openxmlformats.org/officeDocument/2006/relationships/slide" Target="slides/slide12.xml" /><pr:Relationship Id="rId18" Type="http://schemas.openxmlformats.org/officeDocument/2006/relationships/slide" Target="slides/slide17.xml" /><pr:Relationship Id="rId39" Type="http://schemas.openxmlformats.org/officeDocument/2006/relationships/slide" Target="slides/slide38.xml" /><pr:Relationship Id="rId34" Type="http://schemas.openxmlformats.org/officeDocument/2006/relationships/slide" Target="slides/slide33.xml" /><pr:Relationship Id="rId50" Type="http://schemas.openxmlformats.org/officeDocument/2006/relationships/slide" Target="slides/slide49.xml" /><pr:Relationship Id="rId55" Type="http://schemas.openxmlformats.org/officeDocument/2006/relationships/slide" Target="slides/slide54.xml" /><pr:Relationship Id="rId76" Type="http://schemas.openxmlformats.org/officeDocument/2006/relationships/slide" Target="slides/slide75.xml" /><pr:Relationship Id="rId7" Type="http://schemas.openxmlformats.org/officeDocument/2006/relationships/slide" Target="slides/slide6.xml" /><pr:Relationship Id="rId71" Type="http://schemas.openxmlformats.org/officeDocument/2006/relationships/slide" Target="slides/slide70.xml" /><pr:Relationship Id="rId2" Type="http://schemas.openxmlformats.org/officeDocument/2006/relationships/slide" Target="slides/slide1.xml" /><pr:Relationship Id="rId29" Type="http://schemas.openxmlformats.org/officeDocument/2006/relationships/slide" Target="slides/slide28.xml" /><pr:Relationship Id="rId24" Type="http://schemas.openxmlformats.org/officeDocument/2006/relationships/slide" Target="slides/slide23.xml" /><pr:Relationship Id="rId40" Type="http://schemas.openxmlformats.org/officeDocument/2006/relationships/slide" Target="slides/slide39.xml" /><pr:Relationship Id="rId45" Type="http://schemas.openxmlformats.org/officeDocument/2006/relationships/slide" Target="slides/slide44.xml" /><pr:Relationship Id="rId66" Type="http://schemas.openxmlformats.org/officeDocument/2006/relationships/slide" Target="slides/slide65.xml" /><pr:Relationship Id="rId87" Type="http://schemas.openxmlformats.org/officeDocument/2006/relationships/viewProps" Target="viewProps.xml" /><pr:Relationship Id="rId61" Type="http://schemas.openxmlformats.org/officeDocument/2006/relationships/slide" Target="slides/slide60.xml" /><pr:Relationship Id="rId82" Type="http://schemas.openxmlformats.org/officeDocument/2006/relationships/slide" Target="slides/slide81.xml" /><pr:Relationship Id="rId19" Type="http://schemas.openxmlformats.org/officeDocument/2006/relationships/slide" Target="slides/slide18.xml" /><pr:Relationship Id="rId90" Type="http://schemas.openxmlformats.org/officeDocument/2006/relationships/slide" Target="slides/slide84.xml" /></pr: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7893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Title. Joint work with Amar Shah, equal contribution. I will cover the problem, the two algorithms, and implementation; Amar covers the evaluation.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State the problem in one sentence and leave it up for the rest of the build. Terms, equalities between them, and we want the smallest equivalence relation that contains those equalities and still respects function symbols.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tiny instance. Three constants and two applications of f. Nothing is equal to anything yet: five terms, five classes.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input equalities: a equals b, and b equals c. This is the set E we are handed.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under equivalence: reflexive, symmetric, transitive. a, b and c land in one class, so a and c are equal even though nobody said so.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part that makes this more than union-find. f(a) and f(c) were never mentioned in the input, but their arguments are now equal, so the two applications are equal too. That is congruence, and it is what forces the closure to be recomputed as classes change.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rule, once, in general form. Equal arguments give equal applications. Everything in the talk is about applying this rule to many terms at the same time.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Congruence closure sits inside a lot of engines, and hence inside the applications built on them. Decades of engineering have gone into sequential implementations.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 in these engines it runs a lot: it is called repeatedly over the course of a solver run, so its cost shows up in the total. How much depends on the instance, which is why the evaluation looks at several benchmark families.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things stand. Despite how widely it is used, every implementation we know of is fully sequential, while the machines are wide: our test box has 96 cores. The theory is discouraging too. Congruence closure is P-complete, so we should not expect an algorithm that is fast on every input; in the worst case it really does look inherently sequential. But worst case is not the same as the instances people actually solve, and that is the question we ask.</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detail out loud, one line per bullet. One: two parallel algorithms, ParentCC and FilterCC, which replace the sequential worklist with bulk-synchronous rounds of data-parallel primitives over a lock-free concurrent union-find. Two: a workload characterization in terms of congruence depth and width, where width, the number of independent merges available in a round, turns out to be the dominant factor empirically. Three: an evaluation on random, synthetic and circuit-equivalence benchmarks, with near-linear speedup up to 32 cores over a tuned sequential baseline. Everything is open source.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setting our running example comes from, and where the circuit benchmarks come from. Two combinational circuits.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question: do they compute the same function? Equivalent means they agree on every input, all two to the n of them, so we cannot simply simulate.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Standard construction, a miter. Feed both circuits the same inputs.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XOR the corresponding outputs. The XOR is 1 exactly when the two outputs differ.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XOR output is the single bit p, the miter output.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p is 1 exactly when the circuits disagree on the input we fed them.</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Flip it around and it is a satisfiability question: assert p = 1 and ask whether any input satisfies it. Unsatisfiable means no disagreeing input exists, so the circuits are equivalent. Encoding a miter to CNF destroys the gate structure, so Biere et al. recover the gates and close them under congruence, which often decides the instance outright.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Miter adapted from Biere et al., Clausal Congruence Closure, SAT 2024. Two copies of the same three-gate circuit, side by side. Each copy has its own input wires. Nodes are terms, one per gate; edges point to children. Say out loud that the left half is copy one and the right half is copy two, and that the two ITE gates at the top are the two outputs.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Assert that the two outputs differ. If that is unsatisfiable the circuits are equivalent. The query is the only thing on the slide, sitting between the two output gates. The point of the miter for us: once the gate structure is recovered from the CNF, congruence closure alone often decides the instance, which is why Biere et al. run it inside a SAT solver.</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Focus on a single node before the trace starts. The box carries the operator, the name sits alongside, and the three outgoing edges are its children in argument order. Everything else is greyed out so only this term and its children are in view.</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Name the relationship the algorithms are built around. An edge goes from a term to the arguments it is applied to. m2 is the parent, its three arguments are the children. Every term is the parent of its arguments and a child of every term that mentions it.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from the given equalities: each input wire of copy one equals the corresponding wire of copy two. These are the only given equalities, and they are what we union first.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Union each pair. The dashed boxes are the equivalence classes.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Examine the two AND gates. Same symbol, and their children are pairwise in the same class, so the congruence rule applies. Yellow means we are looking at them.</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Congruence fires, so union the two classes.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Examine the two XOR gates: same symbol, children pairwise equivalent.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Union them.</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Examine the two ITE gates. Only now are their children pairwise equivalent, because steps 1 and 2 merged the AND and XOR classes.</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Union them. Note that step 3 depended on steps 1 and 2, but 1 and 2 did not depend on each other.</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outputs are in one class, so the query m1 differs from m2 is unsatisfiable: the circuits are equivalent. Count what we did: eight merges, one at a time. That is exactly the sequential worklist algorithm, and it is the baseline the parallel version has to beat.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pivot of the talk. Go back over the trace we just did and ask what forced its order. The ITE merge waited for the AND merge and the XOR merge, and for nothing else. Why: congruence tests the classes of the children, so a term can only become mergeable when one of its children changes class. That is exactly an edge of the diagram, traversed upward. Dependences in congruence closure are not hidden in a data structure, they are the term structure itself, which is what makes the problem tractable to parallelize. Say the caveat out loud rather than putting it on the slide: a child can also change class through a chain of earlier merges, so the dependence is the transitive closure of the parent-child relation.</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other half. Nothing connects the AND merge to the XOR merge: neither is an ancestor of the other, so neither can change the other’s signature. They can run at the same time, on different cores, in either order, with the same result. That is the parallelism we are after, and the algorithms are built to find all of it at once instead of one merge at a time.</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dependences as a schedule. Everything with no unmet dependence goes first, all at once. That is round 0: the input equalities we were handed. Nothing had to happen before them.</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Barrier, then everything round 0 just enabled. The inputs changed class, so their parents get retested: the AND merge and the XOR merge. Neither depends on the other, so both go in the same round.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Barrier again, and the gate merges enable the output merge. Round 2, and nothing is left to enable, so we stop. This is Valiant’s bulk-synchronous model, and it falls straight out of the term structure.</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names for the evaluation. Depth is the number of congruence rounds after the input round, here 2. Width is the most merges any one round offers, here 5, in round 0. Depth is what we cannot parallelize; width is what we can. On the circuit benchmarks width reaches millions while depth stays small, and Amar will show that width predicts speedup.</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algorithm, at the level of a round. Three phases. First: who might have become congruent? Only a term whose child just changed class, so the parents of whatever merged last round.</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Of those candidates, who actually is congruent? Group them by signature: the symbol together with the classes of the children.</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Then merge every group, and all the groups in parallel.</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Repeat while a round merged something. The very first round has no previous merges to look at, so it considers every term; that also catches terms that were congruent before any equality was applied. The barrier between phases is what makes the parallelism safe: while we compute signatures nobody is merging, so every thread reads the same classes, and while we merge nobody is reading signatures.</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391567000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102135222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23659071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example. Round 0 is the input: union each pair of equated wires, all five at once. No congruence yet, just the equalities we were handed. The gates are greyed out because nothing happens to them this round.</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Round 1, phase one: who might have become congruent? The first round considers every gate, so all six are candidates, in yellow.</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Phase two: group by signature, the symbol plus the class of each child. Same </a:t>
            </a:r>
            <a:r>
              <a:rPr dirty="0" err="1"/>
              <a:t>colour</a:t>
            </a:r>
            <a:r>
              <a:rPr dirty="0"/>
              <a:t>, same signature. The two ANDs match: both are AND of the r class and the s class. The two XORs match. The two ITEs do not, because a1 and a2 are still in different classes, so they stay </a:t>
            </a:r>
            <a:r>
              <a:rPr dirty="0" err="1"/>
              <a:t>uncoloured</a:t>
            </a:r>
            <a:r>
              <a:rPr dirty="0"/>
              <a:t>. This grouping is the </a:t>
            </a:r>
            <a:r>
              <a:rPr dirty="0" err="1"/>
              <a:t>semisort</a:t>
            </a:r>
            <a:r>
              <a:rPr dirty="0"/>
              <a:t>. Say out loud that this is the step that changes from the sequential algorithm: no hash table lookups one at a time, all the signatures of the round sorted together.</a:t>
            </a:r>
            <a:endParaRPr lang="en-US" dirty="0"/>
          </a:p>
          <a:p>
            <a:endParaRPr lang="en-US" dirty="0"/>
          </a:p>
          <a:p>
            <a:r>
              <a:rPr lang="en-US" dirty="0"/>
              <a:t>- </a:t>
            </a:r>
            <a:r>
              <a:rPr lang="en-US" dirty="0" err="1"/>
              <a:t>todo</a:t>
            </a:r>
            <a:r>
              <a:rPr lang="en-US" dirty="0"/>
              <a:t>: we need to explain what equality is </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Phase three: merge every group, concurrently. Two unions in one round; this is where the parallel run differs from the hand trace.</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Round 2. Candidates are the parents of what just merged: the two ITEs. Their signatures now agree, one group.</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Merge them. One union.</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ITEs have no parents, so round 3 has no candidates and the loop stops. Eight merges in three rounds, and the rounds are exactly the schedule from before: ParentCC found all of the available parallelism.</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line each; the paper has the proofs. Sound: every group has equal symbol and equal child classes, so each merge is an instance of the congruence rule. Complete: when the last of a pair’s children merge, both parents are candidates next round. Terminates: a round that merges anything reduces the number of classes.</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68C01-F710-C082-13EC-D25AA3D17A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B3A0EC-82C0-72B2-5AE7-B715C4B2D87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A52A497-B13C-40B3-D7BE-5F8B35A00582}"/>
              </a:ext>
            </a:extLst>
          </p:cNvPr>
          <p:cNvSpPr>
            <a:spLocks noGrp="1"/>
          </p:cNvSpPr>
          <p:nvPr>
            <p:ph type="body" sz="quarter" idx="3"/>
          </p:nvPr>
        </p:nvSpPr>
        <p:spPr/>
        <p:txBody>
          <a:bodyPr/>
          <a:lstStyle/>
          <a:p>
            <a:r>
              <a:t>FilterCC keeps one dirty bit per equivalence class instead of parent lists. First, the input merges mark the changed leaf classes dirty. Next, scan every term and keep terms with a dirty child. Group and merge those candidates as in ParentCC. The resulting AND and XOR classes become dirty for the next round, which will select the two ITEs.</a:t>
            </a:r>
          </a:p>
        </p:txBody>
      </p:sp>
      <p:sp>
        <p:nvSpPr>
          <p:cNvPr id="4" name="Slide Number Placeholder 3">
            <a:extLst>
              <a:ext uri="{FF2B5EF4-FFF2-40B4-BE49-F238E27FC236}">
                <a16:creationId xmlns:a16="http://schemas.microsoft.com/office/drawing/2014/main" id="{3BB95854-3AEB-5D24-168B-4B583352A538}"/>
              </a:ext>
            </a:extLst>
          </p:cNvPr>
          <p:cNvSpPr>
            <a:spLocks noGrp="1"/>
          </p:cNvSpPr>
          <p:nvPr>
            <p:ph type="sldNum" sz="quarter" idx="5"/>
          </p:nvPr>
        </p:nvSpPr>
        <p:spPr/>
      </p:sp>
    </p:spTree>
    <p:extLst>
      <p:ext uri="{BB962C8B-B14F-4D97-AF65-F5344CB8AC3E}">
        <p14:creationId xmlns:p14="http://schemas.microsoft.com/office/powerpoint/2010/main" val="395307119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E7525-1700-447B-8326-A7385C2F02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9A90B3-D8C9-6756-8C3D-B2004F013BA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8C82A0E-6808-9FB9-EC9A-FEF4A19C3A77}"/>
              </a:ext>
            </a:extLst>
          </p:cNvPr>
          <p:cNvSpPr>
            <a:spLocks noGrp="1"/>
          </p:cNvSpPr>
          <p:nvPr>
            <p:ph type="body" sz="quarter" idx="3"/>
          </p:nvPr>
        </p:nvSpPr>
        <p:spPr/>
        <p:txBody>
          <a:bodyPr/>
          <a:lstStyle/>
          <a:p>
            <a:r>
              <a:t>FilterCC keeps one dirty bit per equivalence class instead of parent lists. First, the input merges mark the changed leaf classes dirty. Next, scan every term and keep terms with a dirty child. Group and merge those candidates as in ParentCC. The resulting AND and XOR classes become dirty for the next round, which will select the two ITEs.</a:t>
            </a:r>
          </a:p>
        </p:txBody>
      </p:sp>
      <p:sp>
        <p:nvSpPr>
          <p:cNvPr id="4" name="Slide Number Placeholder 3">
            <a:extLst>
              <a:ext uri="{FF2B5EF4-FFF2-40B4-BE49-F238E27FC236}">
                <a16:creationId xmlns:a16="http://schemas.microsoft.com/office/drawing/2014/main" id="{2212B58B-37B1-C0EE-F32B-B9D32B9D0437}"/>
              </a:ext>
            </a:extLst>
          </p:cNvPr>
          <p:cNvSpPr>
            <a:spLocks noGrp="1"/>
          </p:cNvSpPr>
          <p:nvPr>
            <p:ph type="sldNum" sz="quarter" idx="5"/>
          </p:nvPr>
        </p:nvSpPr>
        <p:spPr/>
      </p:sp>
    </p:spTree>
    <p:extLst>
      <p:ext uri="{BB962C8B-B14F-4D97-AF65-F5344CB8AC3E}">
        <p14:creationId xmlns:p14="http://schemas.microsoft.com/office/powerpoint/2010/main" val="134924306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Grouping: ParlayLib integer sort on the signature hashes followed by a bucket pass per hash, which beat the library semisort on the small buckets we see. Merging a group: divide and conquer unions. The baseline is the classical worklist algorithm in the Nieuwenhuis and Oliveras variant, which is what the hand trace did: one merge at a time, each merge re-examining the parents of the losing class. We tried a topological-sort fixpoint and Downey-Sethi-Tarjan as well; the worklist was fastest. It got the same tuning care as the parallel code, so speedups are against a strong baseline.</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three phases, precisely. Work is the set of classes that changed last round; the frontier is their parents; groups come from a semisort on signatures; each group merges by divide and conquer. Barriers separate the phases, so signatures are always computed against a union-find no thread is modifying. This slide is for the record; do not read it.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84.xml.rels><?xml version='1.0' encoding='utf-8'?>
<pr:Relationships xmlns:pr="http://schemas.openxmlformats.org/package/2006/relationships"><pr:Relationship Id="rId1" Type="http://schemas.openxmlformats.org/officeDocument/2006/relationships/slideLayout" Target="../slideLayouts/slideLayout7.xml" /><pr:Relationship Id="rId2" Type="http://schemas.openxmlformats.org/officeDocument/2006/relationships/image" Target="../media/parallel-egraph-repo-qr.png" /></pr: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2A44"/>
          </a:solidFill>
          <a:ln>
            <a:noFill/>
          </a:ln>
          <a:effectLst/>
        </p:spPr>
        <p:txBody>
          <a:bodyPr wrap="square" lIns="54864" tIns="27432" rIns="54864" bIns="27432" rtlCol="0" anchor="ctr"/>
          <a:lstStyle/>
          <a:p>
            <a:pPr algn="ctr"/>
            <a:endParaRPr/>
          </a:p>
        </p:txBody>
      </p:sp>
      <p:cxnSp>
        <p:nvCxnSpPr>
          <p:cNvPr id="3" name="Connector 2"/>
          <p:cNvCxnSpPr/>
          <p:nvPr/>
        </p:nvCxnSpPr>
        <p:spPr>
          <a:xfrm>
            <a:off x="822960" y="3246120"/>
            <a:ext cx="3017520" cy="0"/>
          </a:xfrm>
          <a:prstGeom prst="line">
            <a:avLst/>
          </a:prstGeom>
          <a:ln w="38100">
            <a:solidFill>
              <a:srgbClr val="C8501E"/>
            </a:solidFill>
          </a:ln>
          <a:effectLst/>
        </p:spPr>
      </p:cxnSp>
      <p:sp>
        <p:nvSpPr>
          <p:cNvPr id="4" name="TextBox 3"/>
          <p:cNvSpPr txBox="1"/>
          <p:nvPr/>
        </p:nvSpPr>
        <p:spPr>
          <a:xfrm>
            <a:off x="777240" y="2011680"/>
            <a:ext cx="10515600" cy="1188720"/>
          </a:xfrm>
          <a:prstGeom prst="rect">
            <a:avLst/>
          </a:prstGeom>
          <a:noFill/>
        </p:spPr>
        <p:txBody>
          <a:bodyPr wrap="square" lIns="45720" tIns="27432" rIns="45720" bIns="27432" anchor="b">
            <a:spAutoFit/>
          </a:bodyPr>
          <a:lstStyle/>
          <a:p>
            <a:pPr algn="l"/>
            <a:r>
              <a:rPr sz="4400" b="1" i="0">
                <a:solidFill>
                  <a:srgbClr val="FFFFFF"/>
                </a:solidFill>
                <a:latin typeface="Calibri"/>
              </a:rPr>
              <a:t>Parallelizing Congruence Closure</a:t>
            </a:r>
          </a:p>
        </p:txBody>
      </p:sp>
      <p:sp>
        <p:nvSpPr>
          <p:cNvPr id="5" name="TextBox 4"/>
          <p:cNvSpPr txBox="1"/>
          <p:nvPr/>
        </p:nvSpPr>
        <p:spPr>
          <a:xfrm>
            <a:off x="777240" y="3429000"/>
            <a:ext cx="10058400" cy="548640"/>
          </a:xfrm>
          <a:prstGeom prst="rect">
            <a:avLst/>
          </a:prstGeom>
          <a:noFill/>
        </p:spPr>
        <p:txBody>
          <a:bodyPr wrap="square" lIns="45720" tIns="27432" rIns="45720" bIns="27432" anchor="t">
            <a:spAutoFit/>
          </a:bodyPr>
          <a:lstStyle/>
          <a:p>
            <a:pPr algn="l"/>
            <a:r>
              <a:rPr sz="2400" b="0" i="0">
                <a:solidFill>
                  <a:srgbClr val="FFFFFF"/>
                </a:solidFill>
                <a:latin typeface="Calibri"/>
              </a:rPr>
              <a:t>Zachary Kent*   ·   Amar Shah*</a:t>
            </a:r>
          </a:p>
        </p:txBody>
      </p:sp>
      <p:sp>
        <p:nvSpPr>
          <p:cNvPr id="6" name="TextBox 5"/>
          <p:cNvSpPr txBox="1"/>
          <p:nvPr/>
        </p:nvSpPr>
        <p:spPr>
          <a:xfrm>
            <a:off x="777240" y="3977639"/>
            <a:ext cx="10058400" cy="457200"/>
          </a:xfrm>
          <a:prstGeom prst="rect">
            <a:avLst/>
          </a:prstGeom>
          <a:noFill/>
        </p:spPr>
        <p:txBody>
          <a:bodyPr wrap="square" lIns="45720" tIns="27432" rIns="45720" bIns="27432" anchor="t">
            <a:spAutoFit/>
          </a:bodyPr>
          <a:lstStyle/>
          <a:p>
            <a:pPr algn="l"/>
            <a:r>
              <a:rPr sz="2000" b="0" i="0">
                <a:solidFill>
                  <a:srgbClr val="C9D3E6"/>
                </a:solidFill>
                <a:latin typeface="Calibri"/>
              </a:rPr>
              <a:t>Carnegie Mellon University</a:t>
            </a:r>
          </a:p>
        </p:txBody>
      </p:sp>
      <p:sp>
        <p:nvSpPr>
          <p:cNvPr id="7" name="TextBox 6"/>
          <p:cNvSpPr txBox="1"/>
          <p:nvPr/>
        </p:nvSpPr>
        <p:spPr>
          <a:xfrm>
            <a:off x="777240" y="4572000"/>
            <a:ext cx="10058400" cy="457200"/>
          </a:xfrm>
          <a:prstGeom prst="rect">
            <a:avLst/>
          </a:prstGeom>
          <a:noFill/>
        </p:spPr>
        <p:txBody>
          <a:bodyPr wrap="square" lIns="45720" tIns="27432" rIns="45720" bIns="27432" anchor="t">
            <a:spAutoFit/>
          </a:bodyPr>
          <a:lstStyle/>
          <a:p>
            <a:pPr algn="l"/>
            <a:r>
              <a:rPr sz="2000" b="0" i="0">
                <a:solidFill>
                  <a:srgbClr val="C9D3E6"/>
                </a:solidFill>
                <a:latin typeface="Calibri"/>
              </a:rPr>
              <a:t>FMCAD 2026</a:t>
            </a:r>
          </a:p>
        </p:txBody>
      </p:sp>
      <p:sp>
        <p:nvSpPr>
          <p:cNvPr id="8" name="TextBox 7"/>
          <p:cNvSpPr txBox="1"/>
          <p:nvPr/>
        </p:nvSpPr>
        <p:spPr>
          <a:xfrm>
            <a:off x="777240" y="6035040"/>
            <a:ext cx="5486400" cy="365760"/>
          </a:xfrm>
          <a:prstGeom prst="rect">
            <a:avLst/>
          </a:prstGeom>
          <a:noFill/>
        </p:spPr>
        <p:txBody>
          <a:bodyPr wrap="square" lIns="45720" tIns="27432" rIns="45720" bIns="27432" anchor="t">
            <a:spAutoFit/>
          </a:bodyPr>
          <a:lstStyle/>
          <a:p>
            <a:pPr algn="l"/>
            <a:r>
              <a:rPr sz="1300" b="0" i="0">
                <a:solidFill>
                  <a:srgbClr val="9AA8C4"/>
                </a:solidFill>
                <a:latin typeface="Calibri"/>
              </a:rPr>
              <a:t>* equal contribution</a:t>
            </a:r>
          </a:p>
        </p:txBody>
      </p:sp>
      <p:sp>
        <p:nvSpPr>
          <p:cNvPr id="9" name="TextBox 8"/>
          <p:cNvSpPr txBox="1"/>
          <p:nvPr/>
        </p:nvSpPr>
        <p:spPr>
          <a:xfrm>
            <a:off x="6675120" y="6035040"/>
            <a:ext cx="5120640" cy="365760"/>
          </a:xfrm>
          <a:prstGeom prst="rect">
            <a:avLst/>
          </a:prstGeom>
          <a:noFill/>
        </p:spPr>
        <p:txBody>
          <a:bodyPr wrap="square" lIns="45720" tIns="27432" rIns="45720" bIns="27432" anchor="t">
            <a:spAutoFit/>
          </a:bodyPr>
          <a:lstStyle/>
          <a:p>
            <a:pPr algn="r"/>
            <a:r>
              <a:rPr sz="1300" b="0" i="0">
                <a:solidFill>
                  <a:srgbClr val="9AA8C4"/>
                </a:solidFill>
                <a:latin typeface="Calibri"/>
              </a:rPr>
              <a:t>github.com/amarshah10/ParallelEgraph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urring TOC Marker - Intro"/>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Outline</a:t>
            </a:r>
          </a:p>
        </p:txBody>
      </p:sp>
      <p:sp>
        <p:nvSpPr>
          <p:cNvPr id="3" name="Outline title rule"/>
          <p:cNvSpPr/>
          <p:nvPr/>
        </p:nvSpPr>
        <p:spPr>
          <a:xfrm>
            <a:off x="566928" y="1005840"/>
            <a:ext cx="2176272" cy="32004"/>
          </a:xfrm>
          <a:prstGeom prst="rect">
            <a:avLst/>
          </a:prstGeom>
          <a:solidFill>
            <a:srgbClr val="C8501E"/>
          </a:solidFill>
          <a:ln>
            <a:noFill/>
          </a:ln>
        </p:spPr>
        <p:txBody>
          <a:bodyPr/>
          <a:lstStyle/>
          <a:p>
            <a:endParaRPr lang="en-US"/>
          </a:p>
        </p:txBody>
      </p:sp>
      <p:sp>
        <p:nvSpPr>
          <p:cNvPr id="14" name="Outline accent Intro"/>
          <p:cNvSpPr/>
          <p:nvPr/>
        </p:nvSpPr>
        <p:spPr>
          <a:xfrm>
            <a:off x="621792" y="1499616"/>
            <a:ext cx="50292" cy="493776"/>
          </a:xfrm>
          <a:prstGeom prst="rect">
            <a:avLst/>
          </a:prstGeom>
          <a:solidFill>
            <a:srgbClr val="C8501E"/>
          </a:solidFill>
          <a:ln>
            <a:noFill/>
          </a:ln>
        </p:spPr>
        <p:txBody>
          <a:bodyPr/>
          <a:lstStyle/>
          <a:p>
            <a:endParaRPr lang="en-US"/>
          </a:p>
        </p:txBody>
      </p:sp>
      <p:sp>
        <p:nvSpPr>
          <p:cNvPr id="16" name="Outline number Intro"/>
          <p:cNvSpPr txBox="1"/>
          <p:nvPr/>
        </p:nvSpPr>
        <p:spPr>
          <a:xfrm>
            <a:off x="804672" y="1463040"/>
            <a:ext cx="347472" cy="566928"/>
          </a:xfrm>
          <a:prstGeom prst="rect">
            <a:avLst/>
          </a:prstGeom>
          <a:noFill/>
        </p:spPr>
        <p:txBody>
          <a:bodyPr wrap="square" lIns="45720" tIns="27432" rIns="45720" bIns="27432" anchor="ctr">
            <a:spAutoFit/>
          </a:bodyPr>
          <a:lstStyle/>
          <a:p>
            <a:pPr algn="l"/>
            <a:r>
              <a:rPr sz="1200" b="1" i="0">
                <a:solidFill>
                  <a:srgbClr val="C8501E"/>
                </a:solidFill>
                <a:latin typeface="Calibri"/>
              </a:rPr>
              <a:t>1</a:t>
            </a:r>
          </a:p>
        </p:txBody>
      </p:sp>
      <p:sp>
        <p:nvSpPr>
          <p:cNvPr id="17" name="Outline label Intro"/>
          <p:cNvSpPr txBox="1"/>
          <p:nvPr/>
        </p:nvSpPr>
        <p:spPr>
          <a:xfrm>
            <a:off x="1298448" y="1417320"/>
            <a:ext cx="7132320" cy="658368"/>
          </a:xfrm>
          <a:prstGeom prst="rect">
            <a:avLst/>
          </a:prstGeom>
          <a:noFill/>
        </p:spPr>
        <p:txBody>
          <a:bodyPr wrap="square" lIns="45720" tIns="27432" rIns="45720" bIns="27432" anchor="ctr">
            <a:spAutoFit/>
          </a:bodyPr>
          <a:lstStyle/>
          <a:p>
            <a:pPr algn="l"/>
            <a:r>
              <a:rPr sz="2600" b="1" i="0">
                <a:solidFill>
                  <a:srgbClr val="1F2A44"/>
                </a:solidFill>
                <a:latin typeface="Calibri"/>
              </a:rPr>
              <a:t>Intro</a:t>
            </a:r>
          </a:p>
        </p:txBody>
      </p:sp>
      <p:sp>
        <p:nvSpPr>
          <p:cNvPr id="20" name="Outline number Background"/>
          <p:cNvSpPr txBox="1"/>
          <p:nvPr/>
        </p:nvSpPr>
        <p:spPr>
          <a:xfrm>
            <a:off x="804672" y="2304288"/>
            <a:ext cx="347472" cy="566928"/>
          </a:xfrm>
          <a:prstGeom prst="rect">
            <a:avLst/>
          </a:prstGeom>
          <a:noFill/>
        </p:spPr>
        <p:txBody>
          <a:bodyPr wrap="square" lIns="45720" tIns="27432" rIns="45720" bIns="27432" anchor="ctr">
            <a:spAutoFit/>
          </a:bodyPr>
          <a:lstStyle/>
          <a:p>
            <a:pPr algn="l"/>
            <a:r>
              <a:rPr sz="1200" b="0" i="0">
                <a:solidFill>
                  <a:srgbClr val="C9CDD3"/>
                </a:solidFill>
                <a:latin typeface="Calibri"/>
              </a:rPr>
              <a:t>2</a:t>
            </a:r>
          </a:p>
        </p:txBody>
      </p:sp>
      <p:sp>
        <p:nvSpPr>
          <p:cNvPr id="21" name="Outline label Background"/>
          <p:cNvSpPr txBox="1"/>
          <p:nvPr/>
        </p:nvSpPr>
        <p:spPr>
          <a:xfrm>
            <a:off x="1298448" y="2258568"/>
            <a:ext cx="7132320" cy="658368"/>
          </a:xfrm>
          <a:prstGeom prst="rect">
            <a:avLst/>
          </a:prstGeom>
          <a:noFill/>
        </p:spPr>
        <p:txBody>
          <a:bodyPr wrap="square" lIns="45720" tIns="27432" rIns="45720" bIns="27432" anchor="ctr">
            <a:spAutoFit/>
          </a:bodyPr>
          <a:lstStyle/>
          <a:p>
            <a:pPr algn="l"/>
            <a:r>
              <a:rPr sz="2400" b="0" i="0">
                <a:solidFill>
                  <a:srgbClr val="6B717A"/>
                </a:solidFill>
                <a:latin typeface="Calibri"/>
              </a:rPr>
              <a:t>Background</a:t>
            </a:r>
          </a:p>
        </p:txBody>
      </p:sp>
      <p:sp>
        <p:nvSpPr>
          <p:cNvPr id="24" name="Outline number Motivating example"/>
          <p:cNvSpPr txBox="1"/>
          <p:nvPr/>
        </p:nvSpPr>
        <p:spPr>
          <a:xfrm>
            <a:off x="804672" y="3145536"/>
            <a:ext cx="347472" cy="566928"/>
          </a:xfrm>
          <a:prstGeom prst="rect">
            <a:avLst/>
          </a:prstGeom>
          <a:noFill/>
        </p:spPr>
        <p:txBody>
          <a:bodyPr wrap="square" lIns="45720" tIns="27432" rIns="45720" bIns="27432" anchor="ctr">
            <a:spAutoFit/>
          </a:bodyPr>
          <a:lstStyle/>
          <a:p>
            <a:pPr algn="l"/>
            <a:r>
              <a:rPr sz="1200" b="0" i="0">
                <a:solidFill>
                  <a:srgbClr val="C9CDD3"/>
                </a:solidFill>
                <a:latin typeface="Calibri"/>
              </a:rPr>
              <a:t>3</a:t>
            </a:r>
          </a:p>
        </p:txBody>
      </p:sp>
      <p:sp>
        <p:nvSpPr>
          <p:cNvPr id="25" name="Outline label Motivating example"/>
          <p:cNvSpPr txBox="1"/>
          <p:nvPr/>
        </p:nvSpPr>
        <p:spPr>
          <a:xfrm>
            <a:off x="1298448" y="3099816"/>
            <a:ext cx="7132320" cy="658368"/>
          </a:xfrm>
          <a:prstGeom prst="rect">
            <a:avLst/>
          </a:prstGeom>
          <a:noFill/>
        </p:spPr>
        <p:txBody>
          <a:bodyPr wrap="square" lIns="45720" tIns="27432" rIns="45720" bIns="27432" anchor="ctr">
            <a:spAutoFit/>
          </a:bodyPr>
          <a:lstStyle/>
          <a:p>
            <a:pPr algn="l"/>
            <a:r>
              <a:rPr sz="2400" b="0" i="0">
                <a:solidFill>
                  <a:srgbClr val="6B717A"/>
                </a:solidFill>
                <a:latin typeface="Calibri"/>
              </a:rPr>
              <a:t>Motivating example</a:t>
            </a:r>
          </a:p>
        </p:txBody>
      </p:sp>
      <p:sp>
        <p:nvSpPr>
          <p:cNvPr id="28" name="Outline number Algorithm"/>
          <p:cNvSpPr txBox="1"/>
          <p:nvPr/>
        </p:nvSpPr>
        <p:spPr>
          <a:xfrm>
            <a:off x="804672" y="3986784"/>
            <a:ext cx="347472" cy="566928"/>
          </a:xfrm>
          <a:prstGeom prst="rect">
            <a:avLst/>
          </a:prstGeom>
          <a:noFill/>
        </p:spPr>
        <p:txBody>
          <a:bodyPr wrap="square" lIns="45720" tIns="27432" rIns="45720" bIns="27432" anchor="ctr">
            <a:spAutoFit/>
          </a:bodyPr>
          <a:lstStyle/>
          <a:p>
            <a:pPr algn="l"/>
            <a:r>
              <a:rPr sz="1200" b="0" i="0">
                <a:solidFill>
                  <a:srgbClr val="C9CDD3"/>
                </a:solidFill>
                <a:latin typeface="Calibri"/>
              </a:rPr>
              <a:t>4</a:t>
            </a:r>
          </a:p>
        </p:txBody>
      </p:sp>
      <p:sp>
        <p:nvSpPr>
          <p:cNvPr id="29" name="Outline label Algorithm"/>
          <p:cNvSpPr txBox="1"/>
          <p:nvPr/>
        </p:nvSpPr>
        <p:spPr>
          <a:xfrm>
            <a:off x="1298448" y="3941064"/>
            <a:ext cx="7132320" cy="658368"/>
          </a:xfrm>
          <a:prstGeom prst="rect">
            <a:avLst/>
          </a:prstGeom>
          <a:noFill/>
        </p:spPr>
        <p:txBody>
          <a:bodyPr wrap="square" lIns="45720" tIns="27432" rIns="45720" bIns="27432" anchor="ctr">
            <a:spAutoFit/>
          </a:bodyPr>
          <a:lstStyle/>
          <a:p>
            <a:pPr algn="l"/>
            <a:r>
              <a:rPr sz="2400" b="0" i="0">
                <a:solidFill>
                  <a:srgbClr val="6B717A"/>
                </a:solidFill>
                <a:latin typeface="Calibri"/>
              </a:rPr>
              <a:t>Algorithm</a:t>
            </a:r>
          </a:p>
        </p:txBody>
      </p:sp>
      <p:sp>
        <p:nvSpPr>
          <p:cNvPr id="32" name="Outline number Evaluation"/>
          <p:cNvSpPr txBox="1"/>
          <p:nvPr/>
        </p:nvSpPr>
        <p:spPr>
          <a:xfrm>
            <a:off x="804672" y="4828032"/>
            <a:ext cx="347472" cy="566928"/>
          </a:xfrm>
          <a:prstGeom prst="rect">
            <a:avLst/>
          </a:prstGeom>
          <a:noFill/>
        </p:spPr>
        <p:txBody>
          <a:bodyPr wrap="square" lIns="45720" tIns="27432" rIns="45720" bIns="27432" anchor="ctr">
            <a:spAutoFit/>
          </a:bodyPr>
          <a:lstStyle/>
          <a:p>
            <a:pPr algn="l"/>
            <a:r>
              <a:rPr sz="1200" b="0" i="0">
                <a:solidFill>
                  <a:srgbClr val="C9CDD3"/>
                </a:solidFill>
                <a:latin typeface="Calibri"/>
              </a:rPr>
              <a:t>5</a:t>
            </a:r>
          </a:p>
        </p:txBody>
      </p:sp>
      <p:sp>
        <p:nvSpPr>
          <p:cNvPr id="33" name="Outline label Evaluation"/>
          <p:cNvSpPr txBox="1"/>
          <p:nvPr/>
        </p:nvSpPr>
        <p:spPr>
          <a:xfrm>
            <a:off x="1298448" y="4782312"/>
            <a:ext cx="7132320" cy="658368"/>
          </a:xfrm>
          <a:prstGeom prst="rect">
            <a:avLst/>
          </a:prstGeom>
          <a:noFill/>
        </p:spPr>
        <p:txBody>
          <a:bodyPr wrap="square" lIns="45720" tIns="27432" rIns="45720" bIns="27432" anchor="ctr">
            <a:spAutoFit/>
          </a:bodyPr>
          <a:lstStyle/>
          <a:p>
            <a:pPr algn="l"/>
            <a:r>
              <a:rPr sz="2400" b="0" i="0">
                <a:solidFill>
                  <a:srgbClr val="6B717A"/>
                </a:solidFill>
                <a:latin typeface="Calibri"/>
              </a:rPr>
              <a:t>Evaluation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Congruence closure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2</a:t>
            </a:r>
          </a:p>
        </p:txBody>
      </p:sp>
      <p:sp>
        <p:nvSpPr>
          <p:cNvPr id="6" name="TextBox 5"/>
          <p:cNvSpPr txBox="1"/>
          <p:nvPr/>
        </p:nvSpPr>
        <p:spPr>
          <a:xfrm>
            <a:off x="1463040" y="1143000"/>
            <a:ext cx="9235440" cy="731520"/>
          </a:xfrm>
          <a:prstGeom prst="rect">
            <a:avLst/>
          </a:prstGeom>
          <a:noFill/>
        </p:spPr>
        <p:txBody>
          <a:bodyPr wrap="square" lIns="45720" tIns="27432" rIns="45720" bIns="27432" anchor="ctr">
            <a:spAutoFit/>
          </a:bodyPr>
          <a:lstStyle/>
          <a:p>
            <a:pPr algn="ctr"/>
            <a:r>
              <a:rPr sz="2100" b="0" i="0">
                <a:solidFill>
                  <a:srgbClr val="2B2F36"/>
                </a:solidFill>
                <a:latin typeface="Calibri"/>
              </a:rPr>
              <a:t>Given a set of terms and equalities over them, compute the least equivalence relation respecting function symbols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Congruence closure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3</a:t>
            </a:r>
          </a:p>
        </p:txBody>
      </p:sp>
      <p:sp>
        <p:nvSpPr>
          <p:cNvPr id="6" name="TextBox 5"/>
          <p:cNvSpPr txBox="1"/>
          <p:nvPr/>
        </p:nvSpPr>
        <p:spPr>
          <a:xfrm>
            <a:off x="1463040" y="1143000"/>
            <a:ext cx="9235440" cy="731520"/>
          </a:xfrm>
          <a:prstGeom prst="rect">
            <a:avLst/>
          </a:prstGeom>
          <a:noFill/>
        </p:spPr>
        <p:txBody>
          <a:bodyPr wrap="square" lIns="45720" tIns="27432" rIns="45720" bIns="27432" anchor="ctr">
            <a:spAutoFit/>
          </a:bodyPr>
          <a:lstStyle/>
          <a:p>
            <a:pPr algn="ctr"/>
            <a:r>
              <a:rPr sz="2100" b="0" i="0">
                <a:solidFill>
                  <a:srgbClr val="2B2F36"/>
                </a:solidFill>
                <a:latin typeface="Calibri"/>
              </a:rPr>
              <a:t>Given a set of terms and equalities over them, compute the least equivalence relation respecting function symbols</a:t>
            </a:r>
          </a:p>
        </p:txBody>
      </p:sp>
      <p:cxnSp>
        <p:nvCxnSpPr>
          <p:cNvPr id="7" name="Connector 6"/>
          <p:cNvCxnSpPr/>
          <p:nvPr/>
        </p:nvCxnSpPr>
        <p:spPr>
          <a:xfrm>
            <a:off x="4023360" y="2980944"/>
            <a:ext cx="0" cy="804672"/>
          </a:xfrm>
          <a:prstGeom prst="line">
            <a:avLst/>
          </a:prstGeom>
          <a:ln w="19050">
            <a:solidFill>
              <a:srgbClr val="8A8F98"/>
            </a:solidFill>
          </a:ln>
          <a:effectLst/>
        </p:spPr>
      </p:cxnSp>
      <p:cxnSp>
        <p:nvCxnSpPr>
          <p:cNvPr id="8" name="Connector 7"/>
          <p:cNvCxnSpPr/>
          <p:nvPr/>
        </p:nvCxnSpPr>
        <p:spPr>
          <a:xfrm>
            <a:off x="8046720" y="2980944"/>
            <a:ext cx="0" cy="804672"/>
          </a:xfrm>
          <a:prstGeom prst="line">
            <a:avLst/>
          </a:prstGeom>
          <a:ln w="19050">
            <a:solidFill>
              <a:srgbClr val="8A8F98"/>
            </a:solidFill>
          </a:ln>
          <a:effectLst/>
        </p:spPr>
      </p:cxnSp>
      <p:sp>
        <p:nvSpPr>
          <p:cNvPr id="9" name="Rounded Rectangle 8"/>
          <p:cNvSpPr/>
          <p:nvPr/>
        </p:nvSpPr>
        <p:spPr>
          <a:xfrm>
            <a:off x="3543300" y="3785616"/>
            <a:ext cx="960120" cy="566928"/>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a</a:t>
            </a:r>
          </a:p>
        </p:txBody>
      </p:sp>
      <p:sp>
        <p:nvSpPr>
          <p:cNvPr id="10" name="Rounded Rectangle 9"/>
          <p:cNvSpPr/>
          <p:nvPr/>
        </p:nvSpPr>
        <p:spPr>
          <a:xfrm>
            <a:off x="5554979" y="3785616"/>
            <a:ext cx="960120" cy="566928"/>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b</a:t>
            </a:r>
          </a:p>
        </p:txBody>
      </p:sp>
      <p:sp>
        <p:nvSpPr>
          <p:cNvPr id="11" name="Rounded Rectangle 10"/>
          <p:cNvSpPr/>
          <p:nvPr/>
        </p:nvSpPr>
        <p:spPr>
          <a:xfrm>
            <a:off x="7566660" y="3785616"/>
            <a:ext cx="960120" cy="566928"/>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c</a:t>
            </a:r>
          </a:p>
        </p:txBody>
      </p:sp>
      <p:sp>
        <p:nvSpPr>
          <p:cNvPr id="12" name="Rounded Rectangle 11"/>
          <p:cNvSpPr/>
          <p:nvPr/>
        </p:nvSpPr>
        <p:spPr>
          <a:xfrm>
            <a:off x="3543300" y="2414016"/>
            <a:ext cx="960120" cy="566928"/>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f(a)</a:t>
            </a:r>
          </a:p>
        </p:txBody>
      </p:sp>
      <p:sp>
        <p:nvSpPr>
          <p:cNvPr id="13" name="Rounded Rectangle 12"/>
          <p:cNvSpPr/>
          <p:nvPr/>
        </p:nvSpPr>
        <p:spPr>
          <a:xfrm>
            <a:off x="7566660" y="2414016"/>
            <a:ext cx="960120" cy="566928"/>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f(c)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Congruence closure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4</a:t>
            </a:r>
          </a:p>
        </p:txBody>
      </p:sp>
      <p:sp>
        <p:nvSpPr>
          <p:cNvPr id="6" name="TextBox 5"/>
          <p:cNvSpPr txBox="1"/>
          <p:nvPr/>
        </p:nvSpPr>
        <p:spPr>
          <a:xfrm>
            <a:off x="1463040" y="1143000"/>
            <a:ext cx="9235440" cy="731520"/>
          </a:xfrm>
          <a:prstGeom prst="rect">
            <a:avLst/>
          </a:prstGeom>
          <a:noFill/>
        </p:spPr>
        <p:txBody>
          <a:bodyPr wrap="square" lIns="45720" tIns="27432" rIns="45720" bIns="27432" anchor="ctr">
            <a:spAutoFit/>
          </a:bodyPr>
          <a:lstStyle/>
          <a:p>
            <a:pPr algn="ctr"/>
            <a:r>
              <a:rPr sz="2100" b="0" i="0">
                <a:solidFill>
                  <a:srgbClr val="2B2F36"/>
                </a:solidFill>
                <a:latin typeface="Calibri"/>
              </a:rPr>
              <a:t>Given a set of terms and equalities over them, compute the least equivalence relation respecting function symbols</a:t>
            </a:r>
          </a:p>
        </p:txBody>
      </p:sp>
      <p:cxnSp>
        <p:nvCxnSpPr>
          <p:cNvPr id="7" name="Connector 6"/>
          <p:cNvCxnSpPr/>
          <p:nvPr/>
        </p:nvCxnSpPr>
        <p:spPr>
          <a:xfrm>
            <a:off x="4023360" y="2980944"/>
            <a:ext cx="0" cy="804672"/>
          </a:xfrm>
          <a:prstGeom prst="line">
            <a:avLst/>
          </a:prstGeom>
          <a:ln w="19050">
            <a:solidFill>
              <a:srgbClr val="8A8F98"/>
            </a:solidFill>
          </a:ln>
          <a:effectLst/>
        </p:spPr>
      </p:cxnSp>
      <p:cxnSp>
        <p:nvCxnSpPr>
          <p:cNvPr id="8" name="Connector 7"/>
          <p:cNvCxnSpPr/>
          <p:nvPr/>
        </p:nvCxnSpPr>
        <p:spPr>
          <a:xfrm>
            <a:off x="8046720" y="2980944"/>
            <a:ext cx="0" cy="804672"/>
          </a:xfrm>
          <a:prstGeom prst="line">
            <a:avLst/>
          </a:prstGeom>
          <a:ln w="19050">
            <a:solidFill>
              <a:srgbClr val="8A8F98"/>
            </a:solidFill>
          </a:ln>
          <a:effectLst/>
        </p:spPr>
      </p:cxnSp>
      <p:sp>
        <p:nvSpPr>
          <p:cNvPr id="9" name="Rounded Rectangle 8"/>
          <p:cNvSpPr/>
          <p:nvPr/>
        </p:nvSpPr>
        <p:spPr>
          <a:xfrm>
            <a:off x="3543300" y="3785616"/>
            <a:ext cx="960120" cy="566928"/>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a</a:t>
            </a:r>
          </a:p>
        </p:txBody>
      </p:sp>
      <p:sp>
        <p:nvSpPr>
          <p:cNvPr id="10" name="Rounded Rectangle 9"/>
          <p:cNvSpPr/>
          <p:nvPr/>
        </p:nvSpPr>
        <p:spPr>
          <a:xfrm>
            <a:off x="5554979" y="3785616"/>
            <a:ext cx="960120" cy="566928"/>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b</a:t>
            </a:r>
          </a:p>
        </p:txBody>
      </p:sp>
      <p:sp>
        <p:nvSpPr>
          <p:cNvPr id="11" name="Rounded Rectangle 10"/>
          <p:cNvSpPr/>
          <p:nvPr/>
        </p:nvSpPr>
        <p:spPr>
          <a:xfrm>
            <a:off x="7566660" y="3785616"/>
            <a:ext cx="960120" cy="566928"/>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c</a:t>
            </a:r>
          </a:p>
        </p:txBody>
      </p:sp>
      <p:sp>
        <p:nvSpPr>
          <p:cNvPr id="12" name="Rounded Rectangle 11"/>
          <p:cNvSpPr/>
          <p:nvPr/>
        </p:nvSpPr>
        <p:spPr>
          <a:xfrm>
            <a:off x="3543300" y="2414016"/>
            <a:ext cx="960120" cy="566928"/>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f(a)</a:t>
            </a:r>
          </a:p>
        </p:txBody>
      </p:sp>
      <p:sp>
        <p:nvSpPr>
          <p:cNvPr id="13" name="Rounded Rectangle 12"/>
          <p:cNvSpPr/>
          <p:nvPr/>
        </p:nvSpPr>
        <p:spPr>
          <a:xfrm>
            <a:off x="7566660" y="2414016"/>
            <a:ext cx="960120" cy="566928"/>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f(c)</a:t>
            </a:r>
          </a:p>
        </p:txBody>
      </p:sp>
      <p:sp>
        <p:nvSpPr>
          <p:cNvPr id="14" name="TextBox 13"/>
          <p:cNvSpPr txBox="1"/>
          <p:nvPr/>
        </p:nvSpPr>
        <p:spPr>
          <a:xfrm>
            <a:off x="4709160" y="3794760"/>
            <a:ext cx="640080" cy="548640"/>
          </a:xfrm>
          <a:prstGeom prst="rect">
            <a:avLst/>
          </a:prstGeom>
          <a:noFill/>
        </p:spPr>
        <p:txBody>
          <a:bodyPr wrap="square" lIns="45720" tIns="27432" rIns="45720" bIns="27432" anchor="ctr">
            <a:spAutoFit/>
          </a:bodyPr>
          <a:lstStyle/>
          <a:p>
            <a:pPr algn="ctr"/>
            <a:r>
              <a:rPr sz="3000" b="1" i="0">
                <a:solidFill>
                  <a:srgbClr val="C8501E"/>
                </a:solidFill>
                <a:latin typeface="Calibri"/>
              </a:rPr>
              <a:t>=</a:t>
            </a:r>
          </a:p>
        </p:txBody>
      </p:sp>
      <p:sp>
        <p:nvSpPr>
          <p:cNvPr id="15" name="TextBox 14"/>
          <p:cNvSpPr txBox="1"/>
          <p:nvPr/>
        </p:nvSpPr>
        <p:spPr>
          <a:xfrm>
            <a:off x="6720840" y="3794760"/>
            <a:ext cx="640080" cy="548640"/>
          </a:xfrm>
          <a:prstGeom prst="rect">
            <a:avLst/>
          </a:prstGeom>
          <a:noFill/>
        </p:spPr>
        <p:txBody>
          <a:bodyPr wrap="square" lIns="45720" tIns="27432" rIns="45720" bIns="27432" anchor="ctr">
            <a:spAutoFit/>
          </a:bodyPr>
          <a:lstStyle/>
          <a:p>
            <a:pPr algn="ctr"/>
            <a:r>
              <a:rPr sz="3000" b="1" i="0">
                <a:solidFill>
                  <a:srgbClr val="C8501E"/>
                </a:solidFill>
                <a:latin typeface="Calibri"/>
              </a:rPr>
              <a:t>=</a:t>
            </a:r>
          </a:p>
        </p:txBody>
      </p:sp>
      <p:sp>
        <p:nvSpPr>
          <p:cNvPr id="16" name="TextBox 15"/>
          <p:cNvSpPr txBox="1"/>
          <p:nvPr/>
        </p:nvSpPr>
        <p:spPr>
          <a:xfrm>
            <a:off x="731520" y="5074920"/>
            <a:ext cx="10789920" cy="457200"/>
          </a:xfrm>
          <a:prstGeom prst="rect">
            <a:avLst/>
          </a:prstGeom>
          <a:noFill/>
        </p:spPr>
        <p:txBody>
          <a:bodyPr wrap="square" lIns="45720" tIns="27432" rIns="45720" bIns="27432" anchor="t">
            <a:spAutoFit/>
          </a:bodyPr>
          <a:lstStyle/>
          <a:p>
            <a:pPr algn="ctr"/>
            <a:r>
              <a:rPr sz="2200" b="1" i="0">
                <a:solidFill>
                  <a:srgbClr val="1F2A44"/>
                </a:solidFill>
                <a:latin typeface="Calibri"/>
              </a:rPr>
              <a:t>input equalities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Congruence closure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5</a:t>
            </a:r>
          </a:p>
        </p:txBody>
      </p:sp>
      <p:sp>
        <p:nvSpPr>
          <p:cNvPr id="6" name="TextBox 5"/>
          <p:cNvSpPr txBox="1"/>
          <p:nvPr/>
        </p:nvSpPr>
        <p:spPr>
          <a:xfrm>
            <a:off x="1463040" y="1143000"/>
            <a:ext cx="9235440" cy="731520"/>
          </a:xfrm>
          <a:prstGeom prst="rect">
            <a:avLst/>
          </a:prstGeom>
          <a:noFill/>
        </p:spPr>
        <p:txBody>
          <a:bodyPr wrap="square" lIns="45720" tIns="27432" rIns="45720" bIns="27432" anchor="ctr">
            <a:spAutoFit/>
          </a:bodyPr>
          <a:lstStyle/>
          <a:p>
            <a:pPr algn="ctr"/>
            <a:r>
              <a:rPr sz="2100" b="0" i="0">
                <a:solidFill>
                  <a:srgbClr val="2B2F36"/>
                </a:solidFill>
                <a:latin typeface="Calibri"/>
              </a:rPr>
              <a:t>Given a set of terms and equalities over them, compute the least equivalence relation respecting function symbols</a:t>
            </a:r>
          </a:p>
        </p:txBody>
      </p:sp>
      <p:cxnSp>
        <p:nvCxnSpPr>
          <p:cNvPr id="7" name="Connector 6"/>
          <p:cNvCxnSpPr/>
          <p:nvPr/>
        </p:nvCxnSpPr>
        <p:spPr>
          <a:xfrm>
            <a:off x="4023360" y="2980944"/>
            <a:ext cx="0" cy="804672"/>
          </a:xfrm>
          <a:prstGeom prst="line">
            <a:avLst/>
          </a:prstGeom>
          <a:ln w="19050">
            <a:solidFill>
              <a:srgbClr val="8A8F98"/>
            </a:solidFill>
          </a:ln>
          <a:effectLst/>
        </p:spPr>
      </p:cxnSp>
      <p:cxnSp>
        <p:nvCxnSpPr>
          <p:cNvPr id="8" name="Connector 7"/>
          <p:cNvCxnSpPr/>
          <p:nvPr/>
        </p:nvCxnSpPr>
        <p:spPr>
          <a:xfrm>
            <a:off x="8046720" y="2980944"/>
            <a:ext cx="0" cy="804672"/>
          </a:xfrm>
          <a:prstGeom prst="line">
            <a:avLst/>
          </a:prstGeom>
          <a:ln w="19050">
            <a:solidFill>
              <a:srgbClr val="8A8F98"/>
            </a:solidFill>
          </a:ln>
          <a:effectLst/>
        </p:spPr>
      </p:cxnSp>
      <p:sp>
        <p:nvSpPr>
          <p:cNvPr id="9" name="Rounded Rectangle 8"/>
          <p:cNvSpPr/>
          <p:nvPr/>
        </p:nvSpPr>
        <p:spPr>
          <a:xfrm>
            <a:off x="3543300" y="3785616"/>
            <a:ext cx="960120" cy="566928"/>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a</a:t>
            </a:r>
          </a:p>
        </p:txBody>
      </p:sp>
      <p:sp>
        <p:nvSpPr>
          <p:cNvPr id="10" name="Rounded Rectangle 9"/>
          <p:cNvSpPr/>
          <p:nvPr/>
        </p:nvSpPr>
        <p:spPr>
          <a:xfrm>
            <a:off x="5554979" y="3785616"/>
            <a:ext cx="960120" cy="566928"/>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b</a:t>
            </a:r>
          </a:p>
        </p:txBody>
      </p:sp>
      <p:sp>
        <p:nvSpPr>
          <p:cNvPr id="11" name="Rounded Rectangle 10"/>
          <p:cNvSpPr/>
          <p:nvPr/>
        </p:nvSpPr>
        <p:spPr>
          <a:xfrm>
            <a:off x="7566660" y="3785616"/>
            <a:ext cx="960120" cy="566928"/>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c</a:t>
            </a:r>
          </a:p>
        </p:txBody>
      </p:sp>
      <p:sp>
        <p:nvSpPr>
          <p:cNvPr id="12" name="Rounded Rectangle 11"/>
          <p:cNvSpPr/>
          <p:nvPr/>
        </p:nvSpPr>
        <p:spPr>
          <a:xfrm>
            <a:off x="3543300" y="2414016"/>
            <a:ext cx="960120" cy="566928"/>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f(a)</a:t>
            </a:r>
          </a:p>
        </p:txBody>
      </p:sp>
      <p:sp>
        <p:nvSpPr>
          <p:cNvPr id="13" name="Rounded Rectangle 12"/>
          <p:cNvSpPr/>
          <p:nvPr/>
        </p:nvSpPr>
        <p:spPr>
          <a:xfrm>
            <a:off x="7566660" y="2414016"/>
            <a:ext cx="960120" cy="566928"/>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f(c)</a:t>
            </a:r>
          </a:p>
        </p:txBody>
      </p:sp>
      <p:sp>
        <p:nvSpPr>
          <p:cNvPr id="14" name="TextBox 13"/>
          <p:cNvSpPr txBox="1"/>
          <p:nvPr/>
        </p:nvSpPr>
        <p:spPr>
          <a:xfrm>
            <a:off x="4709160" y="3794760"/>
            <a:ext cx="640080" cy="548640"/>
          </a:xfrm>
          <a:prstGeom prst="rect">
            <a:avLst/>
          </a:prstGeom>
          <a:noFill/>
        </p:spPr>
        <p:txBody>
          <a:bodyPr wrap="square" lIns="45720" tIns="27432" rIns="45720" bIns="27432" anchor="ctr">
            <a:spAutoFit/>
          </a:bodyPr>
          <a:lstStyle/>
          <a:p>
            <a:pPr algn="ctr"/>
            <a:r>
              <a:rPr sz="3000" b="1" i="0">
                <a:solidFill>
                  <a:srgbClr val="C8501E"/>
                </a:solidFill>
                <a:latin typeface="Calibri"/>
              </a:rPr>
              <a:t>=</a:t>
            </a:r>
          </a:p>
        </p:txBody>
      </p:sp>
      <p:sp>
        <p:nvSpPr>
          <p:cNvPr id="15" name="TextBox 14"/>
          <p:cNvSpPr txBox="1"/>
          <p:nvPr/>
        </p:nvSpPr>
        <p:spPr>
          <a:xfrm>
            <a:off x="6720840" y="3794760"/>
            <a:ext cx="640080" cy="548640"/>
          </a:xfrm>
          <a:prstGeom prst="rect">
            <a:avLst/>
          </a:prstGeom>
          <a:noFill/>
        </p:spPr>
        <p:txBody>
          <a:bodyPr wrap="square" lIns="45720" tIns="27432" rIns="45720" bIns="27432" anchor="ctr">
            <a:spAutoFit/>
          </a:bodyPr>
          <a:lstStyle/>
          <a:p>
            <a:pPr algn="ctr"/>
            <a:r>
              <a:rPr sz="3000" b="1" i="0">
                <a:solidFill>
                  <a:srgbClr val="C8501E"/>
                </a:solidFill>
                <a:latin typeface="Calibri"/>
              </a:rPr>
              <a:t>=</a:t>
            </a:r>
          </a:p>
        </p:txBody>
      </p:sp>
      <p:sp>
        <p:nvSpPr>
          <p:cNvPr id="16" name="Rounded Rectangle 15"/>
          <p:cNvSpPr/>
          <p:nvPr/>
        </p:nvSpPr>
        <p:spPr>
          <a:xfrm>
            <a:off x="3287268" y="3547872"/>
            <a:ext cx="5495544" cy="1042416"/>
          </a:xfrm>
          <a:prstGeom prst="roundRect">
            <a:avLst>
              <a:gd name="adj" fmla="val 35000"/>
            </a:avLst>
          </a:prstGeom>
          <a:noFill/>
          <a:ln w="28575">
            <a:solidFill>
              <a:srgbClr val="1F2A44"/>
            </a:solidFill>
            <a:prstDash val="lgDash"/>
          </a:ln>
          <a:effectLst/>
        </p:spPr>
        <p:txBody>
          <a:bodyPr wrap="square" lIns="54864" tIns="27432" rIns="54864" bIns="27432" rtlCol="0" anchor="ctr"/>
          <a:lstStyle/>
          <a:p>
            <a:pPr algn="ctr"/>
            <a:endParaRPr/>
          </a:p>
        </p:txBody>
      </p:sp>
      <p:sp>
        <p:nvSpPr>
          <p:cNvPr id="17" name="TextBox 16"/>
          <p:cNvSpPr txBox="1"/>
          <p:nvPr/>
        </p:nvSpPr>
        <p:spPr>
          <a:xfrm>
            <a:off x="731520" y="5074920"/>
            <a:ext cx="10789920" cy="457200"/>
          </a:xfrm>
          <a:prstGeom prst="rect">
            <a:avLst/>
          </a:prstGeom>
          <a:noFill/>
        </p:spPr>
        <p:txBody>
          <a:bodyPr wrap="square" lIns="45720" tIns="27432" rIns="45720" bIns="27432" anchor="t">
            <a:spAutoFit/>
          </a:bodyPr>
          <a:lstStyle/>
          <a:p>
            <a:pPr algn="ctr"/>
            <a:r>
              <a:rPr sz="2200" b="1" i="0">
                <a:solidFill>
                  <a:srgbClr val="1F2A44"/>
                </a:solidFill>
                <a:latin typeface="Calibri"/>
              </a:rPr>
              <a:t>equivalence:  a ≡ b ≡ 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Congruence closure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6</a:t>
            </a:r>
          </a:p>
        </p:txBody>
      </p:sp>
      <p:sp>
        <p:nvSpPr>
          <p:cNvPr id="6" name="TextBox 5"/>
          <p:cNvSpPr txBox="1"/>
          <p:nvPr/>
        </p:nvSpPr>
        <p:spPr>
          <a:xfrm>
            <a:off x="1463040" y="1143000"/>
            <a:ext cx="9235440" cy="731520"/>
          </a:xfrm>
          <a:prstGeom prst="rect">
            <a:avLst/>
          </a:prstGeom>
          <a:noFill/>
        </p:spPr>
        <p:txBody>
          <a:bodyPr wrap="square" lIns="45720" tIns="27432" rIns="45720" bIns="27432" anchor="ctr">
            <a:spAutoFit/>
          </a:bodyPr>
          <a:lstStyle/>
          <a:p>
            <a:pPr algn="ctr"/>
            <a:r>
              <a:rPr sz="2100" b="0" i="0">
                <a:solidFill>
                  <a:srgbClr val="2B2F36"/>
                </a:solidFill>
                <a:latin typeface="Calibri"/>
              </a:rPr>
              <a:t>Given a set of terms and equalities over them, compute the least equivalence relation respecting function symbols</a:t>
            </a:r>
          </a:p>
        </p:txBody>
      </p:sp>
      <p:cxnSp>
        <p:nvCxnSpPr>
          <p:cNvPr id="7" name="Connector 6"/>
          <p:cNvCxnSpPr/>
          <p:nvPr/>
        </p:nvCxnSpPr>
        <p:spPr>
          <a:xfrm>
            <a:off x="4023360" y="2980944"/>
            <a:ext cx="0" cy="804672"/>
          </a:xfrm>
          <a:prstGeom prst="line">
            <a:avLst/>
          </a:prstGeom>
          <a:ln w="19050">
            <a:solidFill>
              <a:srgbClr val="8A8F98"/>
            </a:solidFill>
          </a:ln>
          <a:effectLst/>
        </p:spPr>
      </p:cxnSp>
      <p:cxnSp>
        <p:nvCxnSpPr>
          <p:cNvPr id="8" name="Connector 7"/>
          <p:cNvCxnSpPr/>
          <p:nvPr/>
        </p:nvCxnSpPr>
        <p:spPr>
          <a:xfrm>
            <a:off x="8046720" y="2980944"/>
            <a:ext cx="0" cy="804672"/>
          </a:xfrm>
          <a:prstGeom prst="line">
            <a:avLst/>
          </a:prstGeom>
          <a:ln w="19050">
            <a:solidFill>
              <a:srgbClr val="8A8F98"/>
            </a:solidFill>
          </a:ln>
          <a:effectLst/>
        </p:spPr>
      </p:cxnSp>
      <p:sp>
        <p:nvSpPr>
          <p:cNvPr id="9" name="Rounded Rectangle 8"/>
          <p:cNvSpPr/>
          <p:nvPr/>
        </p:nvSpPr>
        <p:spPr>
          <a:xfrm>
            <a:off x="3543300" y="3785616"/>
            <a:ext cx="960120" cy="566928"/>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a</a:t>
            </a:r>
          </a:p>
        </p:txBody>
      </p:sp>
      <p:sp>
        <p:nvSpPr>
          <p:cNvPr id="10" name="Rounded Rectangle 9"/>
          <p:cNvSpPr/>
          <p:nvPr/>
        </p:nvSpPr>
        <p:spPr>
          <a:xfrm>
            <a:off x="5554979" y="3785616"/>
            <a:ext cx="960120" cy="566928"/>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b</a:t>
            </a:r>
          </a:p>
        </p:txBody>
      </p:sp>
      <p:sp>
        <p:nvSpPr>
          <p:cNvPr id="11" name="Rounded Rectangle 10"/>
          <p:cNvSpPr/>
          <p:nvPr/>
        </p:nvSpPr>
        <p:spPr>
          <a:xfrm>
            <a:off x="7566660" y="3785616"/>
            <a:ext cx="960120" cy="566928"/>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c</a:t>
            </a:r>
          </a:p>
        </p:txBody>
      </p:sp>
      <p:sp>
        <p:nvSpPr>
          <p:cNvPr id="12" name="Rounded Rectangle 11"/>
          <p:cNvSpPr/>
          <p:nvPr/>
        </p:nvSpPr>
        <p:spPr>
          <a:xfrm>
            <a:off x="3543300" y="2414016"/>
            <a:ext cx="960120" cy="566928"/>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f(a)</a:t>
            </a:r>
          </a:p>
        </p:txBody>
      </p:sp>
      <p:sp>
        <p:nvSpPr>
          <p:cNvPr id="13" name="Rounded Rectangle 12"/>
          <p:cNvSpPr/>
          <p:nvPr/>
        </p:nvSpPr>
        <p:spPr>
          <a:xfrm>
            <a:off x="7566660" y="2414016"/>
            <a:ext cx="960120" cy="566928"/>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f(c)</a:t>
            </a:r>
          </a:p>
        </p:txBody>
      </p:sp>
      <p:sp>
        <p:nvSpPr>
          <p:cNvPr id="14" name="TextBox 13"/>
          <p:cNvSpPr txBox="1"/>
          <p:nvPr/>
        </p:nvSpPr>
        <p:spPr>
          <a:xfrm>
            <a:off x="4709160" y="3794760"/>
            <a:ext cx="640080" cy="548640"/>
          </a:xfrm>
          <a:prstGeom prst="rect">
            <a:avLst/>
          </a:prstGeom>
          <a:noFill/>
        </p:spPr>
        <p:txBody>
          <a:bodyPr wrap="square" lIns="45720" tIns="27432" rIns="45720" bIns="27432" anchor="ctr">
            <a:spAutoFit/>
          </a:bodyPr>
          <a:lstStyle/>
          <a:p>
            <a:pPr algn="ctr"/>
            <a:r>
              <a:rPr sz="3000" b="1" i="0">
                <a:solidFill>
                  <a:srgbClr val="C8501E"/>
                </a:solidFill>
                <a:latin typeface="Calibri"/>
              </a:rPr>
              <a:t>=</a:t>
            </a:r>
          </a:p>
        </p:txBody>
      </p:sp>
      <p:sp>
        <p:nvSpPr>
          <p:cNvPr id="15" name="TextBox 14"/>
          <p:cNvSpPr txBox="1"/>
          <p:nvPr/>
        </p:nvSpPr>
        <p:spPr>
          <a:xfrm>
            <a:off x="6720840" y="3794760"/>
            <a:ext cx="640080" cy="548640"/>
          </a:xfrm>
          <a:prstGeom prst="rect">
            <a:avLst/>
          </a:prstGeom>
          <a:noFill/>
        </p:spPr>
        <p:txBody>
          <a:bodyPr wrap="square" lIns="45720" tIns="27432" rIns="45720" bIns="27432" anchor="ctr">
            <a:spAutoFit/>
          </a:bodyPr>
          <a:lstStyle/>
          <a:p>
            <a:pPr algn="ctr"/>
            <a:r>
              <a:rPr sz="3000" b="1" i="0">
                <a:solidFill>
                  <a:srgbClr val="C8501E"/>
                </a:solidFill>
                <a:latin typeface="Calibri"/>
              </a:rPr>
              <a:t>=</a:t>
            </a:r>
          </a:p>
        </p:txBody>
      </p:sp>
      <p:sp>
        <p:nvSpPr>
          <p:cNvPr id="16" name="Rounded Rectangle 15"/>
          <p:cNvSpPr/>
          <p:nvPr/>
        </p:nvSpPr>
        <p:spPr>
          <a:xfrm>
            <a:off x="3287268" y="3547872"/>
            <a:ext cx="5495544" cy="1042416"/>
          </a:xfrm>
          <a:prstGeom prst="roundRect">
            <a:avLst>
              <a:gd name="adj" fmla="val 35000"/>
            </a:avLst>
          </a:prstGeom>
          <a:noFill/>
          <a:ln w="28575">
            <a:solidFill>
              <a:srgbClr val="1F2A44"/>
            </a:solidFill>
            <a:prstDash val="lgDash"/>
          </a:ln>
          <a:effectLst/>
        </p:spPr>
        <p:txBody>
          <a:bodyPr wrap="square" lIns="54864" tIns="27432" rIns="54864" bIns="27432" rtlCol="0" anchor="ctr"/>
          <a:lstStyle/>
          <a:p>
            <a:pPr algn="ctr"/>
            <a:endParaRPr/>
          </a:p>
        </p:txBody>
      </p:sp>
      <p:sp>
        <p:nvSpPr>
          <p:cNvPr id="17" name="Rounded Rectangle 16"/>
          <p:cNvSpPr/>
          <p:nvPr/>
        </p:nvSpPr>
        <p:spPr>
          <a:xfrm>
            <a:off x="3287268" y="2176272"/>
            <a:ext cx="5495544" cy="1042416"/>
          </a:xfrm>
          <a:prstGeom prst="roundRect">
            <a:avLst>
              <a:gd name="adj" fmla="val 35000"/>
            </a:avLst>
          </a:prstGeom>
          <a:noFill/>
          <a:ln w="28575">
            <a:solidFill>
              <a:srgbClr val="1F2A44"/>
            </a:solidFill>
            <a:prstDash val="lgDash"/>
          </a:ln>
          <a:effectLst/>
        </p:spPr>
        <p:txBody>
          <a:bodyPr wrap="square" lIns="54864" tIns="27432" rIns="54864" bIns="27432" rtlCol="0" anchor="ctr"/>
          <a:lstStyle/>
          <a:p>
            <a:pPr algn="ctr"/>
            <a:endParaRPr/>
          </a:p>
        </p:txBody>
      </p:sp>
      <p:sp>
        <p:nvSpPr>
          <p:cNvPr id="18" name="TextBox 17"/>
          <p:cNvSpPr txBox="1"/>
          <p:nvPr/>
        </p:nvSpPr>
        <p:spPr>
          <a:xfrm>
            <a:off x="731520" y="5074920"/>
            <a:ext cx="10789920" cy="457200"/>
          </a:xfrm>
          <a:prstGeom prst="rect">
            <a:avLst/>
          </a:prstGeom>
          <a:noFill/>
        </p:spPr>
        <p:txBody>
          <a:bodyPr wrap="square" lIns="45720" tIns="27432" rIns="45720" bIns="27432" anchor="t">
            <a:spAutoFit/>
          </a:bodyPr>
          <a:lstStyle/>
          <a:p>
            <a:pPr algn="ctr"/>
            <a:r>
              <a:rPr sz="2200" b="1" i="0">
                <a:solidFill>
                  <a:srgbClr val="1F2A44"/>
                </a:solidFill>
                <a:latin typeface="Calibri"/>
              </a:rPr>
              <a:t>congruence:  equal arguments, so  f(a) ≡ f(c)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Congruence closure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7</a:t>
            </a:r>
          </a:p>
        </p:txBody>
      </p:sp>
      <p:sp>
        <p:nvSpPr>
          <p:cNvPr id="6" name="TextBox 5"/>
          <p:cNvSpPr txBox="1"/>
          <p:nvPr/>
        </p:nvSpPr>
        <p:spPr>
          <a:xfrm>
            <a:off x="1463040" y="1143000"/>
            <a:ext cx="9235440" cy="731520"/>
          </a:xfrm>
          <a:prstGeom prst="rect">
            <a:avLst/>
          </a:prstGeom>
          <a:noFill/>
        </p:spPr>
        <p:txBody>
          <a:bodyPr wrap="square" lIns="45720" tIns="27432" rIns="45720" bIns="27432" anchor="ctr">
            <a:spAutoFit/>
          </a:bodyPr>
          <a:lstStyle/>
          <a:p>
            <a:pPr algn="ctr"/>
            <a:r>
              <a:rPr sz="2100" b="0" i="0">
                <a:solidFill>
                  <a:srgbClr val="2B2F36"/>
                </a:solidFill>
                <a:latin typeface="Calibri"/>
              </a:rPr>
              <a:t>Given a set of terms and equalities over them, compute the least equivalence relation respecting function symbols</a:t>
            </a:r>
          </a:p>
        </p:txBody>
      </p:sp>
      <p:cxnSp>
        <p:nvCxnSpPr>
          <p:cNvPr id="7" name="Connector 6"/>
          <p:cNvCxnSpPr/>
          <p:nvPr/>
        </p:nvCxnSpPr>
        <p:spPr>
          <a:xfrm>
            <a:off x="4023360" y="2980944"/>
            <a:ext cx="0" cy="804672"/>
          </a:xfrm>
          <a:prstGeom prst="line">
            <a:avLst/>
          </a:prstGeom>
          <a:ln w="19050">
            <a:solidFill>
              <a:srgbClr val="8A8F98"/>
            </a:solidFill>
          </a:ln>
          <a:effectLst/>
        </p:spPr>
      </p:cxnSp>
      <p:cxnSp>
        <p:nvCxnSpPr>
          <p:cNvPr id="8" name="Connector 7"/>
          <p:cNvCxnSpPr/>
          <p:nvPr/>
        </p:nvCxnSpPr>
        <p:spPr>
          <a:xfrm>
            <a:off x="8046720" y="2980944"/>
            <a:ext cx="0" cy="804672"/>
          </a:xfrm>
          <a:prstGeom prst="line">
            <a:avLst/>
          </a:prstGeom>
          <a:ln w="19050">
            <a:solidFill>
              <a:srgbClr val="8A8F98"/>
            </a:solidFill>
          </a:ln>
          <a:effectLst/>
        </p:spPr>
      </p:cxnSp>
      <p:sp>
        <p:nvSpPr>
          <p:cNvPr id="9" name="Rounded Rectangle 8"/>
          <p:cNvSpPr/>
          <p:nvPr/>
        </p:nvSpPr>
        <p:spPr>
          <a:xfrm>
            <a:off x="3543300" y="3785616"/>
            <a:ext cx="960120" cy="566928"/>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a</a:t>
            </a:r>
          </a:p>
        </p:txBody>
      </p:sp>
      <p:sp>
        <p:nvSpPr>
          <p:cNvPr id="10" name="Rounded Rectangle 9"/>
          <p:cNvSpPr/>
          <p:nvPr/>
        </p:nvSpPr>
        <p:spPr>
          <a:xfrm>
            <a:off x="5554979" y="3785616"/>
            <a:ext cx="960120" cy="566928"/>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b</a:t>
            </a:r>
          </a:p>
        </p:txBody>
      </p:sp>
      <p:sp>
        <p:nvSpPr>
          <p:cNvPr id="11" name="Rounded Rectangle 10"/>
          <p:cNvSpPr/>
          <p:nvPr/>
        </p:nvSpPr>
        <p:spPr>
          <a:xfrm>
            <a:off x="7566660" y="3785616"/>
            <a:ext cx="960120" cy="566928"/>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c</a:t>
            </a:r>
          </a:p>
        </p:txBody>
      </p:sp>
      <p:sp>
        <p:nvSpPr>
          <p:cNvPr id="12" name="Rounded Rectangle 11"/>
          <p:cNvSpPr/>
          <p:nvPr/>
        </p:nvSpPr>
        <p:spPr>
          <a:xfrm>
            <a:off x="3543300" y="2414016"/>
            <a:ext cx="960120" cy="566928"/>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f(a)</a:t>
            </a:r>
          </a:p>
        </p:txBody>
      </p:sp>
      <p:sp>
        <p:nvSpPr>
          <p:cNvPr id="13" name="Rounded Rectangle 12"/>
          <p:cNvSpPr/>
          <p:nvPr/>
        </p:nvSpPr>
        <p:spPr>
          <a:xfrm>
            <a:off x="7566660" y="2414016"/>
            <a:ext cx="960120" cy="566928"/>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f(c)</a:t>
            </a:r>
          </a:p>
        </p:txBody>
      </p:sp>
      <p:sp>
        <p:nvSpPr>
          <p:cNvPr id="14" name="TextBox 13"/>
          <p:cNvSpPr txBox="1"/>
          <p:nvPr/>
        </p:nvSpPr>
        <p:spPr>
          <a:xfrm>
            <a:off x="4709160" y="3794760"/>
            <a:ext cx="640080" cy="548640"/>
          </a:xfrm>
          <a:prstGeom prst="rect">
            <a:avLst/>
          </a:prstGeom>
          <a:noFill/>
        </p:spPr>
        <p:txBody>
          <a:bodyPr wrap="square" lIns="45720" tIns="27432" rIns="45720" bIns="27432" anchor="ctr">
            <a:spAutoFit/>
          </a:bodyPr>
          <a:lstStyle/>
          <a:p>
            <a:pPr algn="ctr"/>
            <a:r>
              <a:rPr sz="3000" b="1" i="0">
                <a:solidFill>
                  <a:srgbClr val="C8501E"/>
                </a:solidFill>
                <a:latin typeface="Calibri"/>
              </a:rPr>
              <a:t>=</a:t>
            </a:r>
          </a:p>
        </p:txBody>
      </p:sp>
      <p:sp>
        <p:nvSpPr>
          <p:cNvPr id="15" name="TextBox 14"/>
          <p:cNvSpPr txBox="1"/>
          <p:nvPr/>
        </p:nvSpPr>
        <p:spPr>
          <a:xfrm>
            <a:off x="6720840" y="3794760"/>
            <a:ext cx="640080" cy="548640"/>
          </a:xfrm>
          <a:prstGeom prst="rect">
            <a:avLst/>
          </a:prstGeom>
          <a:noFill/>
        </p:spPr>
        <p:txBody>
          <a:bodyPr wrap="square" lIns="45720" tIns="27432" rIns="45720" bIns="27432" anchor="ctr">
            <a:spAutoFit/>
          </a:bodyPr>
          <a:lstStyle/>
          <a:p>
            <a:pPr algn="ctr"/>
            <a:r>
              <a:rPr sz="3000" b="1" i="0">
                <a:solidFill>
                  <a:srgbClr val="C8501E"/>
                </a:solidFill>
                <a:latin typeface="Calibri"/>
              </a:rPr>
              <a:t>=</a:t>
            </a:r>
          </a:p>
        </p:txBody>
      </p:sp>
      <p:sp>
        <p:nvSpPr>
          <p:cNvPr id="16" name="Rounded Rectangle 15"/>
          <p:cNvSpPr/>
          <p:nvPr/>
        </p:nvSpPr>
        <p:spPr>
          <a:xfrm>
            <a:off x="3287268" y="3547872"/>
            <a:ext cx="5495544" cy="1042416"/>
          </a:xfrm>
          <a:prstGeom prst="roundRect">
            <a:avLst>
              <a:gd name="adj" fmla="val 35000"/>
            </a:avLst>
          </a:prstGeom>
          <a:noFill/>
          <a:ln w="28575">
            <a:solidFill>
              <a:srgbClr val="1F2A44"/>
            </a:solidFill>
            <a:prstDash val="lgDash"/>
          </a:ln>
          <a:effectLst/>
        </p:spPr>
        <p:txBody>
          <a:bodyPr wrap="square" lIns="54864" tIns="27432" rIns="54864" bIns="27432" rtlCol="0" anchor="ctr"/>
          <a:lstStyle/>
          <a:p>
            <a:pPr algn="ctr"/>
            <a:endParaRPr/>
          </a:p>
        </p:txBody>
      </p:sp>
      <p:sp>
        <p:nvSpPr>
          <p:cNvPr id="17" name="Rounded Rectangle 16"/>
          <p:cNvSpPr/>
          <p:nvPr/>
        </p:nvSpPr>
        <p:spPr>
          <a:xfrm>
            <a:off x="3287268" y="2176272"/>
            <a:ext cx="5495544" cy="1042416"/>
          </a:xfrm>
          <a:prstGeom prst="roundRect">
            <a:avLst>
              <a:gd name="adj" fmla="val 35000"/>
            </a:avLst>
          </a:prstGeom>
          <a:noFill/>
          <a:ln w="28575">
            <a:solidFill>
              <a:srgbClr val="1F2A44"/>
            </a:solidFill>
            <a:prstDash val="lgDash"/>
          </a:ln>
          <a:effectLst/>
        </p:spPr>
        <p:txBody>
          <a:bodyPr wrap="square" lIns="54864" tIns="27432" rIns="54864" bIns="27432" rtlCol="0" anchor="ctr"/>
          <a:lstStyle/>
          <a:p>
            <a:pPr algn="ctr"/>
            <a:endParaRPr/>
          </a:p>
        </p:txBody>
      </p:sp>
      <p:sp>
        <p:nvSpPr>
          <p:cNvPr id="18" name="Rounded Rectangle 17"/>
          <p:cNvSpPr/>
          <p:nvPr/>
        </p:nvSpPr>
        <p:spPr>
          <a:xfrm>
            <a:off x="3246120" y="5029200"/>
            <a:ext cx="5715000" cy="1325880"/>
          </a:xfrm>
          <a:prstGeom prst="roundRect">
            <a:avLst>
              <a:gd name="adj" fmla="val 15000"/>
            </a:avLst>
          </a:prstGeom>
          <a:solidFill>
            <a:srgbClr val="F4F5F7"/>
          </a:solidFill>
          <a:ln>
            <a:noFill/>
          </a:ln>
          <a:effectLst/>
        </p:spPr>
        <p:txBody>
          <a:bodyPr wrap="square" lIns="54864" tIns="27432" rIns="54864" bIns="27432" rtlCol="0" anchor="ctr"/>
          <a:lstStyle/>
          <a:p>
            <a:pPr algn="ctr"/>
            <a:endParaRPr/>
          </a:p>
        </p:txBody>
      </p:sp>
      <p:sp>
        <p:nvSpPr>
          <p:cNvPr id="19" name="TextBox 18"/>
          <p:cNvSpPr txBox="1"/>
          <p:nvPr/>
        </p:nvSpPr>
        <p:spPr>
          <a:xfrm>
            <a:off x="3429000" y="5084064"/>
            <a:ext cx="2743200" cy="292608"/>
          </a:xfrm>
          <a:prstGeom prst="rect">
            <a:avLst/>
          </a:prstGeom>
          <a:noFill/>
        </p:spPr>
        <p:txBody>
          <a:bodyPr wrap="square" lIns="45720" tIns="27432" rIns="45720" bIns="27432" anchor="t">
            <a:spAutoFit/>
          </a:bodyPr>
          <a:lstStyle/>
          <a:p>
            <a:pPr algn="l"/>
            <a:r>
              <a:rPr sz="1300" b="1" i="0">
                <a:solidFill>
                  <a:srgbClr val="6B717A"/>
                </a:solidFill>
                <a:latin typeface="Calibri"/>
              </a:rPr>
              <a:t>Congruence rule</a:t>
            </a:r>
          </a:p>
        </p:txBody>
      </p:sp>
      <p:sp>
        <p:nvSpPr>
          <p:cNvPr id="20" name="TextBox 19"/>
          <p:cNvSpPr txBox="1"/>
          <p:nvPr/>
        </p:nvSpPr>
        <p:spPr>
          <a:xfrm>
            <a:off x="3429000" y="5376672"/>
            <a:ext cx="5349240" cy="384048"/>
          </a:xfrm>
          <a:prstGeom prst="rect">
            <a:avLst/>
          </a:prstGeom>
          <a:noFill/>
        </p:spPr>
        <p:txBody>
          <a:bodyPr wrap="square" lIns="45720" tIns="27432" rIns="45720" bIns="27432" anchor="t">
            <a:spAutoFit/>
          </a:bodyPr>
          <a:lstStyle/>
          <a:p>
            <a:pPr algn="ctr"/>
            <a:r>
              <a:rPr sz="2200" b="0" i="0">
                <a:solidFill>
                  <a:srgbClr val="2B2F36"/>
                </a:solidFill>
                <a:latin typeface="Calibri"/>
              </a:rPr>
              <a:t>s₁ ≡ t₁    …    sₖ ≡ tₖ</a:t>
            </a:r>
          </a:p>
        </p:txBody>
      </p:sp>
      <p:cxnSp>
        <p:nvCxnSpPr>
          <p:cNvPr id="21" name="Connector 20"/>
          <p:cNvCxnSpPr/>
          <p:nvPr/>
        </p:nvCxnSpPr>
        <p:spPr>
          <a:xfrm>
            <a:off x="3886200" y="5815584"/>
            <a:ext cx="4434840" cy="0"/>
          </a:xfrm>
          <a:prstGeom prst="line">
            <a:avLst/>
          </a:prstGeom>
          <a:ln w="22225">
            <a:solidFill>
              <a:srgbClr val="2B2F36"/>
            </a:solidFill>
          </a:ln>
          <a:effectLst/>
        </p:spPr>
      </p:cxnSp>
      <p:sp>
        <p:nvSpPr>
          <p:cNvPr id="22" name="TextBox 21"/>
          <p:cNvSpPr txBox="1"/>
          <p:nvPr/>
        </p:nvSpPr>
        <p:spPr>
          <a:xfrm>
            <a:off x="3429000" y="5870448"/>
            <a:ext cx="5349240" cy="384048"/>
          </a:xfrm>
          <a:prstGeom prst="rect">
            <a:avLst/>
          </a:prstGeom>
          <a:noFill/>
        </p:spPr>
        <p:txBody>
          <a:bodyPr wrap="square" lIns="45720" tIns="27432" rIns="45720" bIns="27432" anchor="t">
            <a:spAutoFit/>
          </a:bodyPr>
          <a:lstStyle/>
          <a:p>
            <a:pPr algn="ctr"/>
            <a:r>
              <a:rPr sz="2200" b="0" i="0">
                <a:solidFill>
                  <a:srgbClr val="2B2F36"/>
                </a:solidFill>
                <a:latin typeface="Calibri"/>
              </a:rPr>
              <a:t>f(s₁, …, sₖ) ≡ f(t₁, …, tₖ)</a:t>
            </a:r>
          </a:p>
        </p:txBody>
      </p:sp>
      <p:sp>
        <p:nvSpPr>
          <p:cNvPr id="23" name="TextBox 22"/>
          <p:cNvSpPr txBox="1"/>
          <p:nvPr/>
        </p:nvSpPr>
        <p:spPr>
          <a:xfrm>
            <a:off x="9052560" y="5029200"/>
            <a:ext cx="2743200" cy="548640"/>
          </a:xfrm>
          <a:prstGeom prst="rect">
            <a:avLst/>
          </a:prstGeom>
          <a:noFill/>
        </p:spPr>
        <p:txBody>
          <a:bodyPr wrap="square" lIns="45720" tIns="27432" rIns="45720" bIns="27432" anchor="ctr">
            <a:spAutoFit/>
          </a:bodyPr>
          <a:lstStyle/>
          <a:p>
            <a:pPr algn="r"/>
            <a:r>
              <a:rPr sz="1100" b="0" i="0">
                <a:solidFill>
                  <a:srgbClr val="6B717A"/>
                </a:solidFill>
                <a:latin typeface="Calibri"/>
              </a:rPr>
              <a:t>Nelson &amp; Oppen 1980   ·   Downey, Sethi &amp; Tarjan 1980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urring TOC Marker - Background"/>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Outline</a:t>
            </a:r>
          </a:p>
        </p:txBody>
      </p:sp>
      <p:sp>
        <p:nvSpPr>
          <p:cNvPr id="3" name="Outline title rule"/>
          <p:cNvSpPr/>
          <p:nvPr/>
        </p:nvSpPr>
        <p:spPr>
          <a:xfrm>
            <a:off x="566928" y="1005840"/>
            <a:ext cx="2176272" cy="32004"/>
          </a:xfrm>
          <a:prstGeom prst="rect">
            <a:avLst/>
          </a:prstGeom>
          <a:solidFill>
            <a:srgbClr val="C8501E"/>
          </a:solidFill>
          <a:ln>
            <a:noFill/>
          </a:ln>
        </p:spPr>
        <p:txBody>
          <a:bodyPr/>
          <a:lstStyle/>
          <a:p>
            <a:endParaRPr lang="en-US"/>
          </a:p>
        </p:txBody>
      </p:sp>
      <p:sp>
        <p:nvSpPr>
          <p:cNvPr id="16" name="Outline number Intro"/>
          <p:cNvSpPr txBox="1"/>
          <p:nvPr/>
        </p:nvSpPr>
        <p:spPr>
          <a:xfrm>
            <a:off x="804672" y="1463040"/>
            <a:ext cx="347472" cy="566928"/>
          </a:xfrm>
          <a:prstGeom prst="rect">
            <a:avLst/>
          </a:prstGeom>
          <a:noFill/>
        </p:spPr>
        <p:txBody>
          <a:bodyPr wrap="square" lIns="45720" tIns="27432" rIns="45720" bIns="27432" anchor="ctr">
            <a:spAutoFit/>
          </a:bodyPr>
          <a:lstStyle/>
          <a:p>
            <a:pPr algn="l"/>
            <a:r>
              <a:rPr sz="1200" b="0" i="0">
                <a:solidFill>
                  <a:srgbClr val="C9CDD3"/>
                </a:solidFill>
                <a:latin typeface="Calibri"/>
              </a:rPr>
              <a:t>1</a:t>
            </a:r>
          </a:p>
        </p:txBody>
      </p:sp>
      <p:sp>
        <p:nvSpPr>
          <p:cNvPr id="17" name="Outline label Intro"/>
          <p:cNvSpPr txBox="1"/>
          <p:nvPr/>
        </p:nvSpPr>
        <p:spPr>
          <a:xfrm>
            <a:off x="1298448" y="1417320"/>
            <a:ext cx="7132320" cy="658368"/>
          </a:xfrm>
          <a:prstGeom prst="rect">
            <a:avLst/>
          </a:prstGeom>
          <a:noFill/>
        </p:spPr>
        <p:txBody>
          <a:bodyPr wrap="square" lIns="45720" tIns="27432" rIns="45720" bIns="27432" anchor="ctr">
            <a:spAutoFit/>
          </a:bodyPr>
          <a:lstStyle/>
          <a:p>
            <a:pPr algn="l"/>
            <a:r>
              <a:rPr sz="2400" b="0" i="0">
                <a:solidFill>
                  <a:srgbClr val="6B717A"/>
                </a:solidFill>
                <a:latin typeface="Calibri"/>
              </a:rPr>
              <a:t>Intro</a:t>
            </a:r>
          </a:p>
        </p:txBody>
      </p:sp>
      <p:sp>
        <p:nvSpPr>
          <p:cNvPr id="18" name="Outline accent Background"/>
          <p:cNvSpPr/>
          <p:nvPr/>
        </p:nvSpPr>
        <p:spPr>
          <a:xfrm>
            <a:off x="621792" y="2340864"/>
            <a:ext cx="50292" cy="493776"/>
          </a:xfrm>
          <a:prstGeom prst="rect">
            <a:avLst/>
          </a:prstGeom>
          <a:solidFill>
            <a:srgbClr val="C8501E"/>
          </a:solidFill>
          <a:ln>
            <a:noFill/>
          </a:ln>
        </p:spPr>
        <p:txBody>
          <a:bodyPr/>
          <a:lstStyle/>
          <a:p>
            <a:endParaRPr lang="en-US"/>
          </a:p>
        </p:txBody>
      </p:sp>
      <p:sp>
        <p:nvSpPr>
          <p:cNvPr id="20" name="Outline number Background"/>
          <p:cNvSpPr txBox="1"/>
          <p:nvPr/>
        </p:nvSpPr>
        <p:spPr>
          <a:xfrm>
            <a:off x="804672" y="2304288"/>
            <a:ext cx="347472" cy="566928"/>
          </a:xfrm>
          <a:prstGeom prst="rect">
            <a:avLst/>
          </a:prstGeom>
          <a:noFill/>
        </p:spPr>
        <p:txBody>
          <a:bodyPr wrap="square" lIns="45720" tIns="27432" rIns="45720" bIns="27432" anchor="ctr">
            <a:spAutoFit/>
          </a:bodyPr>
          <a:lstStyle/>
          <a:p>
            <a:pPr algn="l"/>
            <a:r>
              <a:rPr sz="1200" b="1" i="0">
                <a:solidFill>
                  <a:srgbClr val="C8501E"/>
                </a:solidFill>
                <a:latin typeface="Calibri"/>
              </a:rPr>
              <a:t>2</a:t>
            </a:r>
          </a:p>
        </p:txBody>
      </p:sp>
      <p:sp>
        <p:nvSpPr>
          <p:cNvPr id="21" name="Outline label Background"/>
          <p:cNvSpPr txBox="1"/>
          <p:nvPr/>
        </p:nvSpPr>
        <p:spPr>
          <a:xfrm>
            <a:off x="1298448" y="2258568"/>
            <a:ext cx="7132320" cy="658368"/>
          </a:xfrm>
          <a:prstGeom prst="rect">
            <a:avLst/>
          </a:prstGeom>
          <a:noFill/>
        </p:spPr>
        <p:txBody>
          <a:bodyPr wrap="square" lIns="45720" tIns="27432" rIns="45720" bIns="27432" anchor="ctr">
            <a:spAutoFit/>
          </a:bodyPr>
          <a:lstStyle/>
          <a:p>
            <a:pPr algn="l"/>
            <a:r>
              <a:rPr sz="2600" b="1" i="0">
                <a:solidFill>
                  <a:srgbClr val="1F2A44"/>
                </a:solidFill>
                <a:latin typeface="Calibri"/>
              </a:rPr>
              <a:t>Background</a:t>
            </a:r>
          </a:p>
        </p:txBody>
      </p:sp>
      <p:sp>
        <p:nvSpPr>
          <p:cNvPr id="24" name="Outline number Motivating example"/>
          <p:cNvSpPr txBox="1"/>
          <p:nvPr/>
        </p:nvSpPr>
        <p:spPr>
          <a:xfrm>
            <a:off x="804672" y="3145536"/>
            <a:ext cx="347472" cy="566928"/>
          </a:xfrm>
          <a:prstGeom prst="rect">
            <a:avLst/>
          </a:prstGeom>
          <a:noFill/>
        </p:spPr>
        <p:txBody>
          <a:bodyPr wrap="square" lIns="45720" tIns="27432" rIns="45720" bIns="27432" anchor="ctr">
            <a:spAutoFit/>
          </a:bodyPr>
          <a:lstStyle/>
          <a:p>
            <a:pPr algn="l"/>
            <a:r>
              <a:rPr sz="1200" b="0" i="0">
                <a:solidFill>
                  <a:srgbClr val="C9CDD3"/>
                </a:solidFill>
                <a:latin typeface="Calibri"/>
              </a:rPr>
              <a:t>3</a:t>
            </a:r>
          </a:p>
        </p:txBody>
      </p:sp>
      <p:sp>
        <p:nvSpPr>
          <p:cNvPr id="25" name="Outline label Motivating example"/>
          <p:cNvSpPr txBox="1"/>
          <p:nvPr/>
        </p:nvSpPr>
        <p:spPr>
          <a:xfrm>
            <a:off x="1298448" y="3099816"/>
            <a:ext cx="7132320" cy="658368"/>
          </a:xfrm>
          <a:prstGeom prst="rect">
            <a:avLst/>
          </a:prstGeom>
          <a:noFill/>
        </p:spPr>
        <p:txBody>
          <a:bodyPr wrap="square" lIns="45720" tIns="27432" rIns="45720" bIns="27432" anchor="ctr">
            <a:spAutoFit/>
          </a:bodyPr>
          <a:lstStyle/>
          <a:p>
            <a:pPr algn="l"/>
            <a:r>
              <a:rPr sz="2400" b="0" i="0">
                <a:solidFill>
                  <a:srgbClr val="6B717A"/>
                </a:solidFill>
                <a:latin typeface="Calibri"/>
              </a:rPr>
              <a:t>Motivating example</a:t>
            </a:r>
          </a:p>
        </p:txBody>
      </p:sp>
      <p:sp>
        <p:nvSpPr>
          <p:cNvPr id="28" name="Outline number Algorithm"/>
          <p:cNvSpPr txBox="1"/>
          <p:nvPr/>
        </p:nvSpPr>
        <p:spPr>
          <a:xfrm>
            <a:off x="804672" y="3986784"/>
            <a:ext cx="347472" cy="566928"/>
          </a:xfrm>
          <a:prstGeom prst="rect">
            <a:avLst/>
          </a:prstGeom>
          <a:noFill/>
        </p:spPr>
        <p:txBody>
          <a:bodyPr wrap="square" lIns="45720" tIns="27432" rIns="45720" bIns="27432" anchor="ctr">
            <a:spAutoFit/>
          </a:bodyPr>
          <a:lstStyle/>
          <a:p>
            <a:pPr algn="l"/>
            <a:r>
              <a:rPr sz="1200" b="0" i="0">
                <a:solidFill>
                  <a:srgbClr val="C9CDD3"/>
                </a:solidFill>
                <a:latin typeface="Calibri"/>
              </a:rPr>
              <a:t>4</a:t>
            </a:r>
          </a:p>
        </p:txBody>
      </p:sp>
      <p:sp>
        <p:nvSpPr>
          <p:cNvPr id="29" name="Outline label Algorithm"/>
          <p:cNvSpPr txBox="1"/>
          <p:nvPr/>
        </p:nvSpPr>
        <p:spPr>
          <a:xfrm>
            <a:off x="1298448" y="3941064"/>
            <a:ext cx="7132320" cy="658368"/>
          </a:xfrm>
          <a:prstGeom prst="rect">
            <a:avLst/>
          </a:prstGeom>
          <a:noFill/>
        </p:spPr>
        <p:txBody>
          <a:bodyPr wrap="square" lIns="45720" tIns="27432" rIns="45720" bIns="27432" anchor="ctr">
            <a:spAutoFit/>
          </a:bodyPr>
          <a:lstStyle/>
          <a:p>
            <a:pPr algn="l"/>
            <a:r>
              <a:rPr sz="2400" b="0" i="0">
                <a:solidFill>
                  <a:srgbClr val="6B717A"/>
                </a:solidFill>
                <a:latin typeface="Calibri"/>
              </a:rPr>
              <a:t>Algorithm</a:t>
            </a:r>
          </a:p>
        </p:txBody>
      </p:sp>
      <p:sp>
        <p:nvSpPr>
          <p:cNvPr id="32" name="Outline number Evaluation"/>
          <p:cNvSpPr txBox="1"/>
          <p:nvPr/>
        </p:nvSpPr>
        <p:spPr>
          <a:xfrm>
            <a:off x="804672" y="4828032"/>
            <a:ext cx="347472" cy="566928"/>
          </a:xfrm>
          <a:prstGeom prst="rect">
            <a:avLst/>
          </a:prstGeom>
          <a:noFill/>
        </p:spPr>
        <p:txBody>
          <a:bodyPr wrap="square" lIns="45720" tIns="27432" rIns="45720" bIns="27432" anchor="ctr">
            <a:spAutoFit/>
          </a:bodyPr>
          <a:lstStyle/>
          <a:p>
            <a:pPr algn="l"/>
            <a:r>
              <a:rPr sz="1200" b="0" i="0">
                <a:solidFill>
                  <a:srgbClr val="C9CDD3"/>
                </a:solidFill>
                <a:latin typeface="Calibri"/>
              </a:rPr>
              <a:t>5</a:t>
            </a:r>
          </a:p>
        </p:txBody>
      </p:sp>
      <p:sp>
        <p:nvSpPr>
          <p:cNvPr id="33" name="Outline label Evaluation"/>
          <p:cNvSpPr txBox="1"/>
          <p:nvPr/>
        </p:nvSpPr>
        <p:spPr>
          <a:xfrm>
            <a:off x="1298448" y="4782312"/>
            <a:ext cx="7132320" cy="658368"/>
          </a:xfrm>
          <a:prstGeom prst="rect">
            <a:avLst/>
          </a:prstGeom>
          <a:noFill/>
        </p:spPr>
        <p:txBody>
          <a:bodyPr wrap="square" lIns="45720" tIns="27432" rIns="45720" bIns="27432" anchor="ctr">
            <a:spAutoFit/>
          </a:bodyPr>
          <a:lstStyle/>
          <a:p>
            <a:pPr algn="l"/>
            <a:r>
              <a:rPr sz="2400" b="0" i="0">
                <a:solidFill>
                  <a:srgbClr val="6B717A"/>
                </a:solidFill>
                <a:latin typeface="Calibri"/>
              </a:rPr>
              <a:t>Evaluation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Use in practice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8</a:t>
            </a:r>
          </a:p>
        </p:txBody>
      </p:sp>
      <p:sp>
        <p:nvSpPr>
          <p:cNvPr id="6" name="TextBox 5"/>
          <p:cNvSpPr txBox="1"/>
          <p:nvPr/>
        </p:nvSpPr>
        <p:spPr>
          <a:xfrm>
            <a:off x="640080" y="1371600"/>
            <a:ext cx="4572000" cy="411480"/>
          </a:xfrm>
          <a:prstGeom prst="rect">
            <a:avLst/>
          </a:prstGeom>
          <a:noFill/>
        </p:spPr>
        <p:txBody>
          <a:bodyPr wrap="square" lIns="45720" tIns="27432" rIns="45720" bIns="27432" anchor="t">
            <a:spAutoFit/>
          </a:bodyPr>
          <a:lstStyle/>
          <a:p>
            <a:pPr algn="l"/>
            <a:r>
              <a:rPr sz="2200" b="1" i="0">
                <a:solidFill>
                  <a:srgbClr val="1F2A44"/>
                </a:solidFill>
                <a:latin typeface="Calibri"/>
              </a:rPr>
              <a:t>Engines</a:t>
            </a:r>
          </a:p>
        </p:txBody>
      </p:sp>
      <p:sp>
        <p:nvSpPr>
          <p:cNvPr id="7" name="TextBox 6"/>
          <p:cNvSpPr txBox="1"/>
          <p:nvPr/>
        </p:nvSpPr>
        <p:spPr>
          <a:xfrm>
            <a:off x="548640" y="1828800"/>
            <a:ext cx="5394960" cy="3657600"/>
          </a:xfrm>
          <a:prstGeom prst="rect">
            <a:avLst/>
          </a:prstGeom>
          <a:noFill/>
        </p:spPr>
        <p:txBody>
          <a:bodyPr wrap="square" lIns="45720" rIns="45720">
            <a:spAutoFit/>
          </a:bodyPr>
          <a:lstStyle/>
          <a:p>
            <a:pPr marL="274320" indent="-237744">
              <a:spcBef>
                <a:spcPts val="600"/>
              </a:spcBef>
              <a:buClr>
                <a:srgbClr val="6B717A"/>
              </a:buClr>
              <a:buChar char="•"/>
            </a:pPr>
            <a:r>
              <a:rPr sz="1900" b="1" i="0">
                <a:solidFill>
                  <a:srgbClr val="2B2F36"/>
                </a:solidFill>
                <a:latin typeface="Calibri"/>
              </a:rPr>
              <a:t>SMT solvers</a:t>
            </a:r>
            <a:r>
              <a:rPr sz="1900" b="0" i="0">
                <a:solidFill>
                  <a:srgbClr val="2B2F36"/>
                </a:solidFill>
                <a:latin typeface="Calibri"/>
              </a:rPr>
              <a:t>: Z3, cvc5 (theory of uninterpreted functions)</a:t>
            </a:r>
          </a:p>
          <a:p>
            <a:pPr marL="274320" indent="-237744">
              <a:spcBef>
                <a:spcPts val="600"/>
              </a:spcBef>
              <a:buClr>
                <a:srgbClr val="6B717A"/>
              </a:buClr>
              <a:buChar char="•"/>
            </a:pPr>
            <a:r>
              <a:rPr sz="1900" b="1" i="0">
                <a:solidFill>
                  <a:srgbClr val="2B2F36"/>
                </a:solidFill>
                <a:latin typeface="Calibri"/>
              </a:rPr>
              <a:t>SAT solvers</a:t>
            </a:r>
            <a:r>
              <a:rPr sz="1900" b="0" i="0">
                <a:solidFill>
                  <a:srgbClr val="2B2F36"/>
                </a:solidFill>
                <a:latin typeface="Calibri"/>
              </a:rPr>
              <a:t>: Kissat (clausal congruence closure)</a:t>
            </a:r>
          </a:p>
          <a:p>
            <a:pPr marL="274320" indent="-237744">
              <a:spcBef>
                <a:spcPts val="600"/>
              </a:spcBef>
              <a:buClr>
                <a:srgbClr val="6B717A"/>
              </a:buClr>
              <a:buChar char="•"/>
            </a:pPr>
            <a:r>
              <a:rPr sz="1900" b="1" i="0">
                <a:solidFill>
                  <a:srgbClr val="2B2F36"/>
                </a:solidFill>
                <a:latin typeface="Calibri"/>
              </a:rPr>
              <a:t>Equality saturation</a:t>
            </a:r>
            <a:r>
              <a:rPr sz="1900" b="0" i="0">
                <a:solidFill>
                  <a:srgbClr val="2B2F36"/>
                </a:solidFill>
                <a:latin typeface="Calibri"/>
              </a:rPr>
              <a:t>: egg, egglog</a:t>
            </a:r>
          </a:p>
          <a:p>
            <a:pPr marL="274320" indent="-237744">
              <a:spcBef>
                <a:spcPts val="600"/>
              </a:spcBef>
              <a:buClr>
                <a:srgbClr val="6B717A"/>
              </a:buClr>
              <a:buChar char="•"/>
            </a:pPr>
            <a:r>
              <a:rPr sz="1900" b="1" i="0">
                <a:solidFill>
                  <a:srgbClr val="2B2F36"/>
                </a:solidFill>
                <a:latin typeface="Calibri"/>
              </a:rPr>
              <a:t>Type unification</a:t>
            </a:r>
          </a:p>
        </p:txBody>
      </p:sp>
      <p:sp>
        <p:nvSpPr>
          <p:cNvPr id="8" name="TextBox 7"/>
          <p:cNvSpPr txBox="1"/>
          <p:nvPr/>
        </p:nvSpPr>
        <p:spPr>
          <a:xfrm>
            <a:off x="6355080" y="1371600"/>
            <a:ext cx="4572000" cy="411480"/>
          </a:xfrm>
          <a:prstGeom prst="rect">
            <a:avLst/>
          </a:prstGeom>
          <a:noFill/>
        </p:spPr>
        <p:txBody>
          <a:bodyPr wrap="square" lIns="45720" tIns="27432" rIns="45720" bIns="27432" anchor="t">
            <a:spAutoFit/>
          </a:bodyPr>
          <a:lstStyle/>
          <a:p>
            <a:pPr algn="l"/>
            <a:r>
              <a:rPr sz="2200" b="1" i="0">
                <a:solidFill>
                  <a:srgbClr val="1F2A44"/>
                </a:solidFill>
                <a:latin typeface="Calibri"/>
              </a:rPr>
              <a:t>Applications</a:t>
            </a:r>
          </a:p>
        </p:txBody>
      </p:sp>
      <p:sp>
        <p:nvSpPr>
          <p:cNvPr id="9" name="TextBox 8"/>
          <p:cNvSpPr txBox="1"/>
          <p:nvPr/>
        </p:nvSpPr>
        <p:spPr>
          <a:xfrm>
            <a:off x="6263640" y="1828800"/>
            <a:ext cx="5394960" cy="3657600"/>
          </a:xfrm>
          <a:prstGeom prst="rect">
            <a:avLst/>
          </a:prstGeom>
          <a:noFill/>
        </p:spPr>
        <p:txBody>
          <a:bodyPr wrap="square" lIns="45720" rIns="45720">
            <a:spAutoFit/>
          </a:bodyPr>
          <a:lstStyle/>
          <a:p>
            <a:pPr marL="274320" indent="-237744">
              <a:spcBef>
                <a:spcPts val="600"/>
              </a:spcBef>
              <a:buClr>
                <a:srgbClr val="6B717A"/>
              </a:buClr>
              <a:buChar char="•"/>
            </a:pPr>
            <a:r>
              <a:rPr sz="1900" b="1" i="0">
                <a:solidFill>
                  <a:srgbClr val="2B2F36"/>
                </a:solidFill>
                <a:latin typeface="Calibri"/>
              </a:rPr>
              <a:t>Circuit equivalence checking</a:t>
            </a:r>
          </a:p>
          <a:p>
            <a:pPr marL="274320" indent="-237744">
              <a:spcBef>
                <a:spcPts val="600"/>
              </a:spcBef>
              <a:buClr>
                <a:srgbClr val="6B717A"/>
              </a:buClr>
              <a:buChar char="•"/>
            </a:pPr>
            <a:r>
              <a:rPr sz="1900" b="1" i="0">
                <a:solidFill>
                  <a:srgbClr val="2B2F36"/>
                </a:solidFill>
                <a:latin typeface="Calibri"/>
              </a:rPr>
              <a:t>Software verification</a:t>
            </a:r>
            <a:r>
              <a:rPr sz="1900" b="0" i="0">
                <a:solidFill>
                  <a:srgbClr val="2B2F36"/>
                </a:solidFill>
                <a:latin typeface="Calibri"/>
              </a:rPr>
              <a:t>: Dafny, Verus</a:t>
            </a:r>
          </a:p>
          <a:p>
            <a:pPr marL="274320" indent="-237744">
              <a:spcBef>
                <a:spcPts val="600"/>
              </a:spcBef>
              <a:buClr>
                <a:srgbClr val="6B717A"/>
              </a:buClr>
              <a:buChar char="•"/>
            </a:pPr>
            <a:r>
              <a:rPr sz="1900" b="1" i="0">
                <a:solidFill>
                  <a:srgbClr val="2B2F36"/>
                </a:solidFill>
                <a:latin typeface="Calibri"/>
              </a:rPr>
              <a:t>Hardware design</a:t>
            </a:r>
          </a:p>
          <a:p>
            <a:pPr marL="274320" indent="-237744">
              <a:spcBef>
                <a:spcPts val="600"/>
              </a:spcBef>
              <a:buClr>
                <a:srgbClr val="6B717A"/>
              </a:buClr>
              <a:buChar char="•"/>
            </a:pPr>
            <a:r>
              <a:rPr sz="1900" b="1" i="0">
                <a:solidFill>
                  <a:srgbClr val="2B2F36"/>
                </a:solidFill>
                <a:latin typeface="Calibri"/>
              </a:rPr>
              <a:t>Theorem proving</a:t>
            </a:r>
            <a:r>
              <a:rPr sz="1900" b="0" i="0">
                <a:solidFill>
                  <a:srgbClr val="2B2F36"/>
                </a:solidFill>
                <a:latin typeface="Calibri"/>
              </a:rPr>
              <a:t>: Lean grind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Use in practice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9</a:t>
            </a:r>
          </a:p>
        </p:txBody>
      </p:sp>
      <p:sp>
        <p:nvSpPr>
          <p:cNvPr id="6" name="TextBox 5"/>
          <p:cNvSpPr txBox="1"/>
          <p:nvPr/>
        </p:nvSpPr>
        <p:spPr>
          <a:xfrm>
            <a:off x="640080" y="1371600"/>
            <a:ext cx="4572000" cy="411480"/>
          </a:xfrm>
          <a:prstGeom prst="rect">
            <a:avLst/>
          </a:prstGeom>
          <a:noFill/>
        </p:spPr>
        <p:txBody>
          <a:bodyPr wrap="square" lIns="45720" tIns="27432" rIns="45720" bIns="27432" anchor="t">
            <a:spAutoFit/>
          </a:bodyPr>
          <a:lstStyle/>
          <a:p>
            <a:pPr algn="l"/>
            <a:r>
              <a:rPr sz="2200" b="1" i="0">
                <a:solidFill>
                  <a:srgbClr val="1F2A44"/>
                </a:solidFill>
                <a:latin typeface="Calibri"/>
              </a:rPr>
              <a:t>Engines</a:t>
            </a:r>
          </a:p>
        </p:txBody>
      </p:sp>
      <p:sp>
        <p:nvSpPr>
          <p:cNvPr id="7" name="TextBox 6"/>
          <p:cNvSpPr txBox="1"/>
          <p:nvPr/>
        </p:nvSpPr>
        <p:spPr>
          <a:xfrm>
            <a:off x="548640" y="1828800"/>
            <a:ext cx="5394960" cy="3657600"/>
          </a:xfrm>
          <a:prstGeom prst="rect">
            <a:avLst/>
          </a:prstGeom>
          <a:noFill/>
        </p:spPr>
        <p:txBody>
          <a:bodyPr wrap="square" lIns="45720" rIns="45720">
            <a:spAutoFit/>
          </a:bodyPr>
          <a:lstStyle/>
          <a:p>
            <a:pPr marL="274320" indent="-237744">
              <a:spcBef>
                <a:spcPts val="600"/>
              </a:spcBef>
              <a:buClr>
                <a:srgbClr val="6B717A"/>
              </a:buClr>
              <a:buChar char="•"/>
            </a:pPr>
            <a:r>
              <a:rPr sz="1900" b="1" i="0">
                <a:solidFill>
                  <a:srgbClr val="2B2F36"/>
                </a:solidFill>
                <a:latin typeface="Calibri"/>
              </a:rPr>
              <a:t>SMT solvers</a:t>
            </a:r>
            <a:r>
              <a:rPr sz="1900" b="0" i="0">
                <a:solidFill>
                  <a:srgbClr val="2B2F36"/>
                </a:solidFill>
                <a:latin typeface="Calibri"/>
              </a:rPr>
              <a:t>: Z3, cvc5 (theory of uninterpreted functions)</a:t>
            </a:r>
          </a:p>
          <a:p>
            <a:pPr marL="274320" indent="-237744">
              <a:spcBef>
                <a:spcPts val="600"/>
              </a:spcBef>
              <a:buClr>
                <a:srgbClr val="6B717A"/>
              </a:buClr>
              <a:buChar char="•"/>
            </a:pPr>
            <a:r>
              <a:rPr sz="1900" b="1" i="0">
                <a:solidFill>
                  <a:srgbClr val="2B2F36"/>
                </a:solidFill>
                <a:latin typeface="Calibri"/>
              </a:rPr>
              <a:t>SAT solvers</a:t>
            </a:r>
            <a:r>
              <a:rPr sz="1900" b="0" i="0">
                <a:solidFill>
                  <a:srgbClr val="2B2F36"/>
                </a:solidFill>
                <a:latin typeface="Calibri"/>
              </a:rPr>
              <a:t>: Kissat (clausal congruence closure)</a:t>
            </a:r>
          </a:p>
          <a:p>
            <a:pPr marL="274320" indent="-237744">
              <a:spcBef>
                <a:spcPts val="600"/>
              </a:spcBef>
              <a:buClr>
                <a:srgbClr val="6B717A"/>
              </a:buClr>
              <a:buChar char="•"/>
            </a:pPr>
            <a:r>
              <a:rPr sz="1900" b="1" i="0">
                <a:solidFill>
                  <a:srgbClr val="2B2F36"/>
                </a:solidFill>
                <a:latin typeface="Calibri"/>
              </a:rPr>
              <a:t>Equality saturation</a:t>
            </a:r>
            <a:r>
              <a:rPr sz="1900" b="0" i="0">
                <a:solidFill>
                  <a:srgbClr val="2B2F36"/>
                </a:solidFill>
                <a:latin typeface="Calibri"/>
              </a:rPr>
              <a:t>: egg, egglog</a:t>
            </a:r>
          </a:p>
          <a:p>
            <a:pPr marL="274320" indent="-237744">
              <a:spcBef>
                <a:spcPts val="600"/>
              </a:spcBef>
              <a:buClr>
                <a:srgbClr val="6B717A"/>
              </a:buClr>
              <a:buChar char="•"/>
            </a:pPr>
            <a:r>
              <a:rPr sz="1900" b="1" i="0">
                <a:solidFill>
                  <a:srgbClr val="2B2F36"/>
                </a:solidFill>
                <a:latin typeface="Calibri"/>
              </a:rPr>
              <a:t>Type unification</a:t>
            </a:r>
          </a:p>
        </p:txBody>
      </p:sp>
      <p:sp>
        <p:nvSpPr>
          <p:cNvPr id="8" name="TextBox 7"/>
          <p:cNvSpPr txBox="1"/>
          <p:nvPr/>
        </p:nvSpPr>
        <p:spPr>
          <a:xfrm>
            <a:off x="6355080" y="1371600"/>
            <a:ext cx="4572000" cy="411480"/>
          </a:xfrm>
          <a:prstGeom prst="rect">
            <a:avLst/>
          </a:prstGeom>
          <a:noFill/>
        </p:spPr>
        <p:txBody>
          <a:bodyPr wrap="square" lIns="45720" tIns="27432" rIns="45720" bIns="27432" anchor="t">
            <a:spAutoFit/>
          </a:bodyPr>
          <a:lstStyle/>
          <a:p>
            <a:pPr algn="l"/>
            <a:r>
              <a:rPr sz="2200" b="1" i="0">
                <a:solidFill>
                  <a:srgbClr val="1F2A44"/>
                </a:solidFill>
                <a:latin typeface="Calibri"/>
              </a:rPr>
              <a:t>Applications</a:t>
            </a:r>
          </a:p>
        </p:txBody>
      </p:sp>
      <p:sp>
        <p:nvSpPr>
          <p:cNvPr id="9" name="TextBox 8"/>
          <p:cNvSpPr txBox="1"/>
          <p:nvPr/>
        </p:nvSpPr>
        <p:spPr>
          <a:xfrm>
            <a:off x="6263640" y="1828800"/>
            <a:ext cx="5394960" cy="3657600"/>
          </a:xfrm>
          <a:prstGeom prst="rect">
            <a:avLst/>
          </a:prstGeom>
          <a:noFill/>
        </p:spPr>
        <p:txBody>
          <a:bodyPr wrap="square" lIns="45720" rIns="45720">
            <a:spAutoFit/>
          </a:bodyPr>
          <a:lstStyle/>
          <a:p>
            <a:pPr marL="274320" indent="-237744">
              <a:spcBef>
                <a:spcPts val="600"/>
              </a:spcBef>
              <a:buClr>
                <a:srgbClr val="6B717A"/>
              </a:buClr>
              <a:buChar char="•"/>
            </a:pPr>
            <a:r>
              <a:rPr sz="1900" b="1" i="0">
                <a:solidFill>
                  <a:srgbClr val="2B2F36"/>
                </a:solidFill>
                <a:latin typeface="Calibri"/>
              </a:rPr>
              <a:t>Circuit equivalence checking</a:t>
            </a:r>
          </a:p>
          <a:p>
            <a:pPr marL="274320" indent="-237744">
              <a:spcBef>
                <a:spcPts val="600"/>
              </a:spcBef>
              <a:buClr>
                <a:srgbClr val="6B717A"/>
              </a:buClr>
              <a:buChar char="•"/>
            </a:pPr>
            <a:r>
              <a:rPr sz="1900" b="1" i="0">
                <a:solidFill>
                  <a:srgbClr val="2B2F36"/>
                </a:solidFill>
                <a:latin typeface="Calibri"/>
              </a:rPr>
              <a:t>Software verification</a:t>
            </a:r>
            <a:r>
              <a:rPr sz="1900" b="0" i="0">
                <a:solidFill>
                  <a:srgbClr val="2B2F36"/>
                </a:solidFill>
                <a:latin typeface="Calibri"/>
              </a:rPr>
              <a:t>: Dafny, Verus</a:t>
            </a:r>
          </a:p>
          <a:p>
            <a:pPr marL="274320" indent="-237744">
              <a:spcBef>
                <a:spcPts val="600"/>
              </a:spcBef>
              <a:buClr>
                <a:srgbClr val="6B717A"/>
              </a:buClr>
              <a:buChar char="•"/>
            </a:pPr>
            <a:r>
              <a:rPr sz="1900" b="1" i="0">
                <a:solidFill>
                  <a:srgbClr val="2B2F36"/>
                </a:solidFill>
                <a:latin typeface="Calibri"/>
              </a:rPr>
              <a:t>Hardware design</a:t>
            </a:r>
          </a:p>
          <a:p>
            <a:pPr marL="274320" indent="-237744">
              <a:spcBef>
                <a:spcPts val="600"/>
              </a:spcBef>
              <a:buClr>
                <a:srgbClr val="6B717A"/>
              </a:buClr>
              <a:buChar char="•"/>
            </a:pPr>
            <a:r>
              <a:rPr sz="1900" b="1" i="0">
                <a:solidFill>
                  <a:srgbClr val="2B2F36"/>
                </a:solidFill>
                <a:latin typeface="Calibri"/>
              </a:rPr>
              <a:t>Theorem proving</a:t>
            </a:r>
            <a:r>
              <a:rPr sz="1900" b="0" i="0">
                <a:solidFill>
                  <a:srgbClr val="2B2F36"/>
                </a:solidFill>
                <a:latin typeface="Calibri"/>
              </a:rPr>
              <a:t>: Lean grind</a:t>
            </a:r>
          </a:p>
        </p:txBody>
      </p:sp>
      <p:sp>
        <p:nvSpPr>
          <p:cNvPr id="10" name="Rounded Rectangle 9"/>
          <p:cNvSpPr/>
          <p:nvPr/>
        </p:nvSpPr>
        <p:spPr>
          <a:xfrm>
            <a:off x="548640" y="4297680"/>
            <a:ext cx="11064240" cy="914400"/>
          </a:xfrm>
          <a:prstGeom prst="roundRect">
            <a:avLst>
              <a:gd name="adj" fmla="val 15000"/>
            </a:avLst>
          </a:prstGeom>
          <a:solidFill>
            <a:srgbClr val="F4F5F7"/>
          </a:solidFill>
          <a:ln>
            <a:noFill/>
          </a:ln>
          <a:effectLst/>
        </p:spPr>
        <p:txBody>
          <a:bodyPr wrap="square" lIns="54864" tIns="27432" rIns="54864" bIns="27432" rtlCol="0" anchor="ctr"/>
          <a:lstStyle/>
          <a:p>
            <a:pPr algn="ctr"/>
            <a:r>
              <a:rPr sz="2000" b="1" i="0">
                <a:solidFill>
                  <a:srgbClr val="1F2A44"/>
                </a:solidFill>
                <a:latin typeface="Calibri"/>
              </a:rPr>
              <a:t>Called repeatedly per solver run: the cost adds up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State of the art</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10</a:t>
            </a:r>
          </a:p>
        </p:txBody>
      </p:sp>
      <p:sp>
        <p:nvSpPr>
          <p:cNvPr id="6" name="TextBox 5"/>
          <p:cNvSpPr txBox="1"/>
          <p:nvPr/>
        </p:nvSpPr>
        <p:spPr>
          <a:xfrm>
            <a:off x="822960" y="1737360"/>
            <a:ext cx="10789920" cy="2743200"/>
          </a:xfrm>
          <a:prstGeom prst="rect">
            <a:avLst/>
          </a:prstGeom>
          <a:noFill/>
        </p:spPr>
        <p:txBody>
          <a:bodyPr wrap="square" lIns="45720" rIns="45720">
            <a:spAutoFit/>
          </a:bodyPr>
          <a:lstStyle/>
          <a:p>
            <a:pPr marL="274320" indent="-237744">
              <a:spcBef>
                <a:spcPts val="1800"/>
              </a:spcBef>
              <a:buClr>
                <a:srgbClr val="6B717A"/>
              </a:buClr>
              <a:buChar char="•"/>
            </a:pPr>
            <a:r>
              <a:rPr sz="2600" b="0" i="0">
                <a:solidFill>
                  <a:srgbClr val="2B2F36"/>
                </a:solidFill>
                <a:latin typeface="Calibri"/>
              </a:rPr>
              <a:t>Practice: every implementation </a:t>
            </a:r>
            <a:r>
              <a:rPr sz="2600" b="1" i="0">
                <a:solidFill>
                  <a:srgbClr val="2B2F36"/>
                </a:solidFill>
                <a:latin typeface="Calibri"/>
              </a:rPr>
              <a:t>fully sequential</a:t>
            </a:r>
            <a:r>
              <a:rPr sz="2600" b="0" i="0">
                <a:solidFill>
                  <a:srgbClr val="2B2F36"/>
                </a:solidFill>
                <a:latin typeface="Calibri"/>
              </a:rPr>
              <a:t>, on machines with </a:t>
            </a:r>
            <a:r>
              <a:rPr sz="2600" b="1" i="0">
                <a:solidFill>
                  <a:srgbClr val="2B2F36"/>
                </a:solidFill>
                <a:latin typeface="Calibri"/>
              </a:rPr>
              <a:t>96 cores</a:t>
            </a:r>
          </a:p>
          <a:p>
            <a:pPr marL="274320" indent="-237744">
              <a:spcBef>
                <a:spcPts val="1800"/>
              </a:spcBef>
              <a:buClr>
                <a:srgbClr val="6B717A"/>
              </a:buClr>
              <a:buChar char="•"/>
            </a:pPr>
            <a:r>
              <a:rPr sz="2600" b="0" i="0">
                <a:solidFill>
                  <a:srgbClr val="2B2F36"/>
                </a:solidFill>
                <a:latin typeface="Calibri"/>
              </a:rPr>
              <a:t>Theory: congruence closure is </a:t>
            </a:r>
            <a:r>
              <a:rPr sz="2600" b="1" i="0">
                <a:solidFill>
                  <a:srgbClr val="2B2F36"/>
                </a:solidFill>
                <a:latin typeface="Calibri"/>
              </a:rPr>
              <a:t>P-complete</a:t>
            </a:r>
          </a:p>
          <a:p>
            <a:pPr marL="274320" indent="-237744">
              <a:spcBef>
                <a:spcPts val="1800"/>
              </a:spcBef>
              <a:buClr>
                <a:srgbClr val="6B717A"/>
              </a:buClr>
              <a:buChar char="•"/>
            </a:pPr>
            <a:r>
              <a:rPr sz="2600" b="0" i="0">
                <a:solidFill>
                  <a:srgbClr val="2B2F36"/>
                </a:solidFill>
                <a:latin typeface="Calibri"/>
              </a:rPr>
              <a:t>Worst case: likely </a:t>
            </a:r>
            <a:r>
              <a:rPr sz="2600" b="1" i="0">
                <a:solidFill>
                  <a:srgbClr val="2B2F36"/>
                </a:solidFill>
                <a:latin typeface="Calibri"/>
              </a:rPr>
              <a:t>inherently sequential</a:t>
            </a:r>
          </a:p>
        </p:txBody>
      </p:sp>
      <p:sp>
        <p:nvSpPr>
          <p:cNvPr id="7" name="TextBox 6"/>
          <p:cNvSpPr txBox="1"/>
          <p:nvPr/>
        </p:nvSpPr>
        <p:spPr>
          <a:xfrm>
            <a:off x="822960" y="4023360"/>
            <a:ext cx="10789920" cy="320040"/>
          </a:xfrm>
          <a:prstGeom prst="rect">
            <a:avLst/>
          </a:prstGeom>
          <a:noFill/>
        </p:spPr>
        <p:txBody>
          <a:bodyPr wrap="square" lIns="45720" tIns="27432" rIns="45720" bIns="27432" anchor="t">
            <a:spAutoFit/>
          </a:bodyPr>
          <a:lstStyle/>
          <a:p>
            <a:pPr algn="l"/>
            <a:r>
              <a:rPr sz="1300" b="0" i="0">
                <a:solidFill>
                  <a:srgbClr val="6B717A"/>
                </a:solidFill>
                <a:latin typeface="Calibri"/>
              </a:rPr>
              <a:t>Kanellakis &amp; Revesz 1989</a:t>
            </a:r>
          </a:p>
        </p:txBody>
      </p:sp>
      <p:sp>
        <p:nvSpPr>
          <p:cNvPr id="8" name="Rounded Rectangle 7"/>
          <p:cNvSpPr/>
          <p:nvPr/>
        </p:nvSpPr>
        <p:spPr>
          <a:xfrm>
            <a:off x="566928" y="4800600"/>
            <a:ext cx="11064240" cy="1097280"/>
          </a:xfrm>
          <a:prstGeom prst="roundRect">
            <a:avLst>
              <a:gd name="adj" fmla="val 15000"/>
            </a:avLst>
          </a:prstGeom>
          <a:solidFill>
            <a:srgbClr val="1F2A44"/>
          </a:solidFill>
          <a:ln>
            <a:noFill/>
          </a:ln>
          <a:effectLst/>
        </p:spPr>
        <p:txBody>
          <a:bodyPr wrap="square" lIns="54864" tIns="27432" rIns="54864" bIns="27432" rtlCol="0" anchor="ctr"/>
          <a:lstStyle/>
          <a:p>
            <a:pPr algn="ctr"/>
            <a:r>
              <a:rPr sz="2400" b="1" i="0">
                <a:solidFill>
                  <a:srgbClr val="FFFFFF"/>
                </a:solidFill>
                <a:latin typeface="Calibri"/>
              </a:rPr>
              <a:t>Question: worst case is sequential.</a:t>
            </a:r>
          </a:p>
          <a:p>
            <a:pPr algn="ctr"/>
            <a:r>
              <a:rPr sz="2400" b="1" i="0">
                <a:solidFill>
                  <a:srgbClr val="FFFFFF"/>
                </a:solidFill>
                <a:latin typeface="Calibri"/>
              </a:rPr>
              <a:t>Are the instances people actually solve?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Contributions</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11</a:t>
            </a:r>
          </a:p>
        </p:txBody>
      </p:sp>
      <p:sp>
        <p:nvSpPr>
          <p:cNvPr id="6" name="Rounded Rectangle 5"/>
          <p:cNvSpPr/>
          <p:nvPr/>
        </p:nvSpPr>
        <p:spPr>
          <a:xfrm>
            <a:off x="1371600" y="1938528"/>
            <a:ext cx="566928" cy="566928"/>
          </a:xfrm>
          <a:prstGeom prst="roundRect">
            <a:avLst>
              <a:gd name="adj" fmla="val 50000"/>
            </a:avLst>
          </a:prstGeom>
          <a:solidFill>
            <a:srgbClr val="C8501E"/>
          </a:solidFill>
          <a:ln>
            <a:noFill/>
          </a:ln>
          <a:effectLst/>
        </p:spPr>
        <p:txBody>
          <a:bodyPr wrap="square" lIns="54864" tIns="27432" rIns="54864" bIns="27432" rtlCol="0" anchor="ctr"/>
          <a:lstStyle/>
          <a:p>
            <a:pPr algn="ctr"/>
            <a:r>
              <a:rPr sz="2000" b="1" i="0">
                <a:solidFill>
                  <a:srgbClr val="FFFFFF"/>
                </a:solidFill>
                <a:latin typeface="Calibri"/>
              </a:rPr>
              <a:t>1</a:t>
            </a:r>
          </a:p>
        </p:txBody>
      </p:sp>
      <p:sp>
        <p:nvSpPr>
          <p:cNvPr id="7" name="TextBox 6"/>
          <p:cNvSpPr txBox="1"/>
          <p:nvPr/>
        </p:nvSpPr>
        <p:spPr>
          <a:xfrm>
            <a:off x="2148840" y="1920240"/>
            <a:ext cx="9144000" cy="603504"/>
          </a:xfrm>
          <a:prstGeom prst="rect">
            <a:avLst/>
          </a:prstGeom>
          <a:noFill/>
        </p:spPr>
        <p:txBody>
          <a:bodyPr wrap="square" lIns="45720" tIns="27432" rIns="45720" bIns="27432" anchor="ctr">
            <a:spAutoFit/>
          </a:bodyPr>
          <a:lstStyle/>
          <a:p>
            <a:pPr algn="l"/>
            <a:r>
              <a:rPr sz="2600" b="1" i="0">
                <a:solidFill>
                  <a:srgbClr val="1F2A44"/>
                </a:solidFill>
                <a:latin typeface="Calibri"/>
              </a:rPr>
              <a:t>Two bulk-synchronous parallel algorithms: ParentCC and FilterCC</a:t>
            </a:r>
          </a:p>
        </p:txBody>
      </p:sp>
      <p:sp>
        <p:nvSpPr>
          <p:cNvPr id="8" name="Rounded Rectangle 7"/>
          <p:cNvSpPr/>
          <p:nvPr/>
        </p:nvSpPr>
        <p:spPr>
          <a:xfrm>
            <a:off x="1371600" y="3081528"/>
            <a:ext cx="566928" cy="566928"/>
          </a:xfrm>
          <a:prstGeom prst="roundRect">
            <a:avLst>
              <a:gd name="adj" fmla="val 50000"/>
            </a:avLst>
          </a:prstGeom>
          <a:solidFill>
            <a:srgbClr val="C8501E"/>
          </a:solidFill>
          <a:ln>
            <a:noFill/>
          </a:ln>
          <a:effectLst/>
        </p:spPr>
        <p:txBody>
          <a:bodyPr wrap="square" lIns="54864" tIns="27432" rIns="54864" bIns="27432" rtlCol="0" anchor="ctr"/>
          <a:lstStyle/>
          <a:p>
            <a:pPr algn="ctr"/>
            <a:r>
              <a:rPr sz="2000" b="1" i="0">
                <a:solidFill>
                  <a:srgbClr val="FFFFFF"/>
                </a:solidFill>
                <a:latin typeface="Calibri"/>
              </a:rPr>
              <a:t>2</a:t>
            </a:r>
          </a:p>
        </p:txBody>
      </p:sp>
      <p:sp>
        <p:nvSpPr>
          <p:cNvPr id="9" name="TextBox 8"/>
          <p:cNvSpPr txBox="1"/>
          <p:nvPr/>
        </p:nvSpPr>
        <p:spPr>
          <a:xfrm>
            <a:off x="2148840" y="3063240"/>
            <a:ext cx="9144000" cy="603504"/>
          </a:xfrm>
          <a:prstGeom prst="rect">
            <a:avLst/>
          </a:prstGeom>
          <a:noFill/>
        </p:spPr>
        <p:txBody>
          <a:bodyPr wrap="square" lIns="45720" tIns="27432" rIns="45720" bIns="27432" anchor="ctr">
            <a:spAutoFit/>
          </a:bodyPr>
          <a:lstStyle/>
          <a:p>
            <a:pPr algn="l"/>
            <a:r>
              <a:rPr sz="2600" b="1" i="0">
                <a:solidFill>
                  <a:srgbClr val="1F2A44"/>
                </a:solidFill>
                <a:latin typeface="Calibri"/>
              </a:rPr>
              <a:t>Workload characterization for parallelization effectiveness</a:t>
            </a:r>
          </a:p>
        </p:txBody>
      </p:sp>
      <p:sp>
        <p:nvSpPr>
          <p:cNvPr id="10" name="Rounded Rectangle 9"/>
          <p:cNvSpPr/>
          <p:nvPr/>
        </p:nvSpPr>
        <p:spPr>
          <a:xfrm>
            <a:off x="1371600" y="4224527"/>
            <a:ext cx="566928" cy="566928"/>
          </a:xfrm>
          <a:prstGeom prst="roundRect">
            <a:avLst>
              <a:gd name="adj" fmla="val 50000"/>
            </a:avLst>
          </a:prstGeom>
          <a:solidFill>
            <a:srgbClr val="C8501E"/>
          </a:solidFill>
          <a:ln>
            <a:noFill/>
          </a:ln>
          <a:effectLst/>
        </p:spPr>
        <p:txBody>
          <a:bodyPr wrap="square" lIns="54864" tIns="27432" rIns="54864" bIns="27432" rtlCol="0" anchor="ctr"/>
          <a:lstStyle/>
          <a:p>
            <a:pPr algn="ctr"/>
            <a:r>
              <a:rPr sz="2000" b="1" i="0">
                <a:solidFill>
                  <a:srgbClr val="FFFFFF"/>
                </a:solidFill>
                <a:latin typeface="Calibri"/>
              </a:rPr>
              <a:t>3</a:t>
            </a:r>
          </a:p>
        </p:txBody>
      </p:sp>
      <p:sp>
        <p:nvSpPr>
          <p:cNvPr id="11" name="TextBox 10"/>
          <p:cNvSpPr txBox="1"/>
          <p:nvPr/>
        </p:nvSpPr>
        <p:spPr>
          <a:xfrm>
            <a:off x="2148840" y="4206240"/>
            <a:ext cx="9144000" cy="603504"/>
          </a:xfrm>
          <a:prstGeom prst="rect">
            <a:avLst/>
          </a:prstGeom>
          <a:noFill/>
        </p:spPr>
        <p:txBody>
          <a:bodyPr wrap="square" lIns="45720" tIns="27432" rIns="45720" bIns="27432" anchor="ctr">
            <a:spAutoFit/>
          </a:bodyPr>
          <a:lstStyle/>
          <a:p>
            <a:pPr algn="l"/>
            <a:r>
              <a:rPr sz="2600" b="1" i="0">
                <a:solidFill>
                  <a:srgbClr val="1F2A44"/>
                </a:solidFill>
                <a:latin typeface="Calibri"/>
              </a:rPr>
              <a:t>Evaluation demonstrating effective speedup in practice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urring TOC Marker - Motivating example"/>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Outline</a:t>
            </a:r>
          </a:p>
        </p:txBody>
      </p:sp>
      <p:sp>
        <p:nvSpPr>
          <p:cNvPr id="3" name="Outline title rule"/>
          <p:cNvSpPr/>
          <p:nvPr/>
        </p:nvSpPr>
        <p:spPr>
          <a:xfrm>
            <a:off x="566928" y="1005840"/>
            <a:ext cx="2176272" cy="32004"/>
          </a:xfrm>
          <a:prstGeom prst="rect">
            <a:avLst/>
          </a:prstGeom>
          <a:solidFill>
            <a:srgbClr val="C8501E"/>
          </a:solidFill>
          <a:ln>
            <a:noFill/>
          </a:ln>
        </p:spPr>
        <p:txBody>
          <a:bodyPr/>
          <a:lstStyle/>
          <a:p>
            <a:endParaRPr lang="en-US"/>
          </a:p>
        </p:txBody>
      </p:sp>
      <p:sp>
        <p:nvSpPr>
          <p:cNvPr id="16" name="Outline number Intro"/>
          <p:cNvSpPr txBox="1"/>
          <p:nvPr/>
        </p:nvSpPr>
        <p:spPr>
          <a:xfrm>
            <a:off x="804672" y="1463040"/>
            <a:ext cx="347472" cy="566928"/>
          </a:xfrm>
          <a:prstGeom prst="rect">
            <a:avLst/>
          </a:prstGeom>
          <a:noFill/>
        </p:spPr>
        <p:txBody>
          <a:bodyPr wrap="square" lIns="45720" tIns="27432" rIns="45720" bIns="27432" anchor="ctr">
            <a:spAutoFit/>
          </a:bodyPr>
          <a:lstStyle/>
          <a:p>
            <a:pPr algn="l"/>
            <a:r>
              <a:rPr sz="1200" b="0" i="0">
                <a:solidFill>
                  <a:srgbClr val="C9CDD3"/>
                </a:solidFill>
                <a:latin typeface="Calibri"/>
              </a:rPr>
              <a:t>1</a:t>
            </a:r>
          </a:p>
        </p:txBody>
      </p:sp>
      <p:sp>
        <p:nvSpPr>
          <p:cNvPr id="17" name="Outline label Intro"/>
          <p:cNvSpPr txBox="1"/>
          <p:nvPr/>
        </p:nvSpPr>
        <p:spPr>
          <a:xfrm>
            <a:off x="1298448" y="1417320"/>
            <a:ext cx="7132320" cy="658368"/>
          </a:xfrm>
          <a:prstGeom prst="rect">
            <a:avLst/>
          </a:prstGeom>
          <a:noFill/>
        </p:spPr>
        <p:txBody>
          <a:bodyPr wrap="square" lIns="45720" tIns="27432" rIns="45720" bIns="27432" anchor="ctr">
            <a:spAutoFit/>
          </a:bodyPr>
          <a:lstStyle/>
          <a:p>
            <a:pPr algn="l"/>
            <a:r>
              <a:rPr sz="2400" b="0" i="0">
                <a:solidFill>
                  <a:srgbClr val="6B717A"/>
                </a:solidFill>
                <a:latin typeface="Calibri"/>
              </a:rPr>
              <a:t>Intro</a:t>
            </a:r>
          </a:p>
        </p:txBody>
      </p:sp>
      <p:sp>
        <p:nvSpPr>
          <p:cNvPr id="20" name="Outline number Background"/>
          <p:cNvSpPr txBox="1"/>
          <p:nvPr/>
        </p:nvSpPr>
        <p:spPr>
          <a:xfrm>
            <a:off x="804672" y="2304288"/>
            <a:ext cx="347472" cy="566928"/>
          </a:xfrm>
          <a:prstGeom prst="rect">
            <a:avLst/>
          </a:prstGeom>
          <a:noFill/>
        </p:spPr>
        <p:txBody>
          <a:bodyPr wrap="square" lIns="45720" tIns="27432" rIns="45720" bIns="27432" anchor="ctr">
            <a:spAutoFit/>
          </a:bodyPr>
          <a:lstStyle/>
          <a:p>
            <a:pPr algn="l"/>
            <a:r>
              <a:rPr sz="1200" b="0" i="0">
                <a:solidFill>
                  <a:srgbClr val="C9CDD3"/>
                </a:solidFill>
                <a:latin typeface="Calibri"/>
              </a:rPr>
              <a:t>2</a:t>
            </a:r>
          </a:p>
        </p:txBody>
      </p:sp>
      <p:sp>
        <p:nvSpPr>
          <p:cNvPr id="21" name="Outline label Background"/>
          <p:cNvSpPr txBox="1"/>
          <p:nvPr/>
        </p:nvSpPr>
        <p:spPr>
          <a:xfrm>
            <a:off x="1298448" y="2258568"/>
            <a:ext cx="7132320" cy="658368"/>
          </a:xfrm>
          <a:prstGeom prst="rect">
            <a:avLst/>
          </a:prstGeom>
          <a:noFill/>
        </p:spPr>
        <p:txBody>
          <a:bodyPr wrap="square" lIns="45720" tIns="27432" rIns="45720" bIns="27432" anchor="ctr">
            <a:spAutoFit/>
          </a:bodyPr>
          <a:lstStyle/>
          <a:p>
            <a:pPr algn="l"/>
            <a:r>
              <a:rPr sz="2400" b="0" i="0">
                <a:solidFill>
                  <a:srgbClr val="6B717A"/>
                </a:solidFill>
                <a:latin typeface="Calibri"/>
              </a:rPr>
              <a:t>Background</a:t>
            </a:r>
          </a:p>
        </p:txBody>
      </p:sp>
      <p:sp>
        <p:nvSpPr>
          <p:cNvPr id="22" name="Outline accent Motivating example"/>
          <p:cNvSpPr/>
          <p:nvPr/>
        </p:nvSpPr>
        <p:spPr>
          <a:xfrm>
            <a:off x="621792" y="3182112"/>
            <a:ext cx="50292" cy="493776"/>
          </a:xfrm>
          <a:prstGeom prst="rect">
            <a:avLst/>
          </a:prstGeom>
          <a:solidFill>
            <a:srgbClr val="C8501E"/>
          </a:solidFill>
          <a:ln>
            <a:noFill/>
          </a:ln>
        </p:spPr>
        <p:txBody>
          <a:bodyPr/>
          <a:lstStyle/>
          <a:p>
            <a:endParaRPr lang="en-US"/>
          </a:p>
        </p:txBody>
      </p:sp>
      <p:sp>
        <p:nvSpPr>
          <p:cNvPr id="24" name="Outline number Motivating example"/>
          <p:cNvSpPr txBox="1"/>
          <p:nvPr/>
        </p:nvSpPr>
        <p:spPr>
          <a:xfrm>
            <a:off x="804672" y="3145536"/>
            <a:ext cx="347472" cy="566928"/>
          </a:xfrm>
          <a:prstGeom prst="rect">
            <a:avLst/>
          </a:prstGeom>
          <a:noFill/>
        </p:spPr>
        <p:txBody>
          <a:bodyPr wrap="square" lIns="45720" tIns="27432" rIns="45720" bIns="27432" anchor="ctr">
            <a:spAutoFit/>
          </a:bodyPr>
          <a:lstStyle/>
          <a:p>
            <a:pPr algn="l"/>
            <a:r>
              <a:rPr sz="1200" b="1" i="0">
                <a:solidFill>
                  <a:srgbClr val="C8501E"/>
                </a:solidFill>
                <a:latin typeface="Calibri"/>
              </a:rPr>
              <a:t>3</a:t>
            </a:r>
          </a:p>
        </p:txBody>
      </p:sp>
      <p:sp>
        <p:nvSpPr>
          <p:cNvPr id="25" name="Outline label Motivating example"/>
          <p:cNvSpPr txBox="1"/>
          <p:nvPr/>
        </p:nvSpPr>
        <p:spPr>
          <a:xfrm>
            <a:off x="1298448" y="3099816"/>
            <a:ext cx="7132320" cy="658368"/>
          </a:xfrm>
          <a:prstGeom prst="rect">
            <a:avLst/>
          </a:prstGeom>
          <a:noFill/>
        </p:spPr>
        <p:txBody>
          <a:bodyPr wrap="square" lIns="45720" tIns="27432" rIns="45720" bIns="27432" anchor="ctr">
            <a:spAutoFit/>
          </a:bodyPr>
          <a:lstStyle/>
          <a:p>
            <a:pPr algn="l"/>
            <a:r>
              <a:rPr sz="2600" b="1" i="0">
                <a:solidFill>
                  <a:srgbClr val="1F2A44"/>
                </a:solidFill>
                <a:latin typeface="Calibri"/>
              </a:rPr>
              <a:t>Motivating example</a:t>
            </a:r>
          </a:p>
        </p:txBody>
      </p:sp>
      <p:sp>
        <p:nvSpPr>
          <p:cNvPr id="28" name="Outline number Algorithm"/>
          <p:cNvSpPr txBox="1"/>
          <p:nvPr/>
        </p:nvSpPr>
        <p:spPr>
          <a:xfrm>
            <a:off x="804672" y="3986784"/>
            <a:ext cx="347472" cy="566928"/>
          </a:xfrm>
          <a:prstGeom prst="rect">
            <a:avLst/>
          </a:prstGeom>
          <a:noFill/>
        </p:spPr>
        <p:txBody>
          <a:bodyPr wrap="square" lIns="45720" tIns="27432" rIns="45720" bIns="27432" anchor="ctr">
            <a:spAutoFit/>
          </a:bodyPr>
          <a:lstStyle/>
          <a:p>
            <a:pPr algn="l"/>
            <a:r>
              <a:rPr sz="1200" b="0" i="0">
                <a:solidFill>
                  <a:srgbClr val="C9CDD3"/>
                </a:solidFill>
                <a:latin typeface="Calibri"/>
              </a:rPr>
              <a:t>4</a:t>
            </a:r>
          </a:p>
        </p:txBody>
      </p:sp>
      <p:sp>
        <p:nvSpPr>
          <p:cNvPr id="29" name="Outline label Algorithm"/>
          <p:cNvSpPr txBox="1"/>
          <p:nvPr/>
        </p:nvSpPr>
        <p:spPr>
          <a:xfrm>
            <a:off x="1298448" y="3941064"/>
            <a:ext cx="7132320" cy="658368"/>
          </a:xfrm>
          <a:prstGeom prst="rect">
            <a:avLst/>
          </a:prstGeom>
          <a:noFill/>
        </p:spPr>
        <p:txBody>
          <a:bodyPr wrap="square" lIns="45720" tIns="27432" rIns="45720" bIns="27432" anchor="ctr">
            <a:spAutoFit/>
          </a:bodyPr>
          <a:lstStyle/>
          <a:p>
            <a:pPr algn="l"/>
            <a:r>
              <a:rPr sz="2400" b="0" i="0">
                <a:solidFill>
                  <a:srgbClr val="6B717A"/>
                </a:solidFill>
                <a:latin typeface="Calibri"/>
              </a:rPr>
              <a:t>Algorithm</a:t>
            </a:r>
          </a:p>
        </p:txBody>
      </p:sp>
      <p:sp>
        <p:nvSpPr>
          <p:cNvPr id="32" name="Outline number Evaluation"/>
          <p:cNvSpPr txBox="1"/>
          <p:nvPr/>
        </p:nvSpPr>
        <p:spPr>
          <a:xfrm>
            <a:off x="804672" y="4828032"/>
            <a:ext cx="347472" cy="566928"/>
          </a:xfrm>
          <a:prstGeom prst="rect">
            <a:avLst/>
          </a:prstGeom>
          <a:noFill/>
        </p:spPr>
        <p:txBody>
          <a:bodyPr wrap="square" lIns="45720" tIns="27432" rIns="45720" bIns="27432" anchor="ctr">
            <a:spAutoFit/>
          </a:bodyPr>
          <a:lstStyle/>
          <a:p>
            <a:pPr algn="l"/>
            <a:r>
              <a:rPr sz="1200" b="0" i="0">
                <a:solidFill>
                  <a:srgbClr val="C9CDD3"/>
                </a:solidFill>
                <a:latin typeface="Calibri"/>
              </a:rPr>
              <a:t>5</a:t>
            </a:r>
          </a:p>
        </p:txBody>
      </p:sp>
      <p:sp>
        <p:nvSpPr>
          <p:cNvPr id="33" name="Outline label Evaluation"/>
          <p:cNvSpPr txBox="1"/>
          <p:nvPr/>
        </p:nvSpPr>
        <p:spPr>
          <a:xfrm>
            <a:off x="1298448" y="4782312"/>
            <a:ext cx="7132320" cy="658368"/>
          </a:xfrm>
          <a:prstGeom prst="rect">
            <a:avLst/>
          </a:prstGeom>
          <a:noFill/>
        </p:spPr>
        <p:txBody>
          <a:bodyPr wrap="square" lIns="45720" tIns="27432" rIns="45720" bIns="27432" anchor="ctr">
            <a:spAutoFit/>
          </a:bodyPr>
          <a:lstStyle/>
          <a:p>
            <a:pPr algn="l"/>
            <a:r>
              <a:rPr sz="2400" b="0" i="0">
                <a:solidFill>
                  <a:srgbClr val="6B717A"/>
                </a:solidFill>
                <a:latin typeface="Calibri"/>
              </a:rPr>
              <a:t>Evaluation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Equivalence checking</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12</a:t>
            </a:r>
          </a:p>
        </p:txBody>
      </p:sp>
      <p:sp>
        <p:nvSpPr>
          <p:cNvPr id="6" name="Rounded Rectangle 5"/>
          <p:cNvSpPr/>
          <p:nvPr/>
        </p:nvSpPr>
        <p:spPr>
          <a:xfrm>
            <a:off x="3703320" y="3749039"/>
            <a:ext cx="1828800" cy="914400"/>
          </a:xfrm>
          <a:prstGeom prst="roundRect">
            <a:avLst>
              <a:gd name="adj" fmla="val 15000"/>
            </a:avLst>
          </a:prstGeom>
          <a:solidFill>
            <a:srgbClr val="DCEAF8"/>
          </a:solidFill>
          <a:ln w="19050">
            <a:solidFill>
              <a:srgbClr val="2E6FB0"/>
            </a:solidFill>
          </a:ln>
          <a:effectLst/>
        </p:spPr>
        <p:txBody>
          <a:bodyPr wrap="square" lIns="54864" tIns="27432" rIns="54864" bIns="27432" rtlCol="0" anchor="ctr"/>
          <a:lstStyle/>
          <a:p>
            <a:pPr algn="ctr"/>
            <a:r>
              <a:rPr sz="2200" b="1" i="0">
                <a:solidFill>
                  <a:srgbClr val="1F2A44"/>
                </a:solidFill>
                <a:latin typeface="Calibri"/>
              </a:rPr>
              <a:t>C₁</a:t>
            </a:r>
          </a:p>
        </p:txBody>
      </p:sp>
      <p:sp>
        <p:nvSpPr>
          <p:cNvPr id="7" name="Rounded Rectangle 6"/>
          <p:cNvSpPr/>
          <p:nvPr/>
        </p:nvSpPr>
        <p:spPr>
          <a:xfrm>
            <a:off x="6665976" y="3749039"/>
            <a:ext cx="1828800" cy="914400"/>
          </a:xfrm>
          <a:prstGeom prst="roundRect">
            <a:avLst>
              <a:gd name="adj" fmla="val 15000"/>
            </a:avLst>
          </a:prstGeom>
          <a:solidFill>
            <a:srgbClr val="DCEAF8"/>
          </a:solidFill>
          <a:ln w="19050">
            <a:solidFill>
              <a:srgbClr val="2E6FB0"/>
            </a:solidFill>
          </a:ln>
          <a:effectLst/>
        </p:spPr>
        <p:txBody>
          <a:bodyPr wrap="square" lIns="54864" tIns="27432" rIns="54864" bIns="27432" rtlCol="0" anchor="ctr"/>
          <a:lstStyle/>
          <a:p>
            <a:pPr algn="ctr"/>
            <a:r>
              <a:rPr sz="2200" b="1" i="0">
                <a:solidFill>
                  <a:srgbClr val="1F2A44"/>
                </a:solidFill>
                <a:latin typeface="Calibri"/>
              </a:rPr>
              <a:t>C₂</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Equivalence checking</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13</a:t>
            </a:r>
          </a:p>
        </p:txBody>
      </p:sp>
      <p:sp>
        <p:nvSpPr>
          <p:cNvPr id="6" name="Rounded Rectangle 5"/>
          <p:cNvSpPr/>
          <p:nvPr/>
        </p:nvSpPr>
        <p:spPr>
          <a:xfrm>
            <a:off x="3703320" y="3749039"/>
            <a:ext cx="1828800" cy="914400"/>
          </a:xfrm>
          <a:prstGeom prst="roundRect">
            <a:avLst>
              <a:gd name="adj" fmla="val 15000"/>
            </a:avLst>
          </a:prstGeom>
          <a:solidFill>
            <a:srgbClr val="DCEAF8"/>
          </a:solidFill>
          <a:ln w="19050">
            <a:solidFill>
              <a:srgbClr val="2E6FB0"/>
            </a:solidFill>
          </a:ln>
          <a:effectLst/>
        </p:spPr>
        <p:txBody>
          <a:bodyPr wrap="square" lIns="54864" tIns="27432" rIns="54864" bIns="27432" rtlCol="0" anchor="ctr"/>
          <a:lstStyle/>
          <a:p>
            <a:pPr algn="ctr"/>
            <a:r>
              <a:rPr sz="2200" b="1" i="0">
                <a:solidFill>
                  <a:srgbClr val="1F2A44"/>
                </a:solidFill>
                <a:latin typeface="Calibri"/>
              </a:rPr>
              <a:t>C₁</a:t>
            </a:r>
          </a:p>
        </p:txBody>
      </p:sp>
      <p:sp>
        <p:nvSpPr>
          <p:cNvPr id="7" name="Rounded Rectangle 6"/>
          <p:cNvSpPr/>
          <p:nvPr/>
        </p:nvSpPr>
        <p:spPr>
          <a:xfrm>
            <a:off x="6665976" y="3749039"/>
            <a:ext cx="1828800" cy="914400"/>
          </a:xfrm>
          <a:prstGeom prst="roundRect">
            <a:avLst>
              <a:gd name="adj" fmla="val 15000"/>
            </a:avLst>
          </a:prstGeom>
          <a:solidFill>
            <a:srgbClr val="DCEAF8"/>
          </a:solidFill>
          <a:ln w="19050">
            <a:solidFill>
              <a:srgbClr val="2E6FB0"/>
            </a:solidFill>
          </a:ln>
          <a:effectLst/>
        </p:spPr>
        <p:txBody>
          <a:bodyPr wrap="square" lIns="54864" tIns="27432" rIns="54864" bIns="27432" rtlCol="0" anchor="ctr"/>
          <a:lstStyle/>
          <a:p>
            <a:pPr algn="ctr"/>
            <a:r>
              <a:rPr sz="2200" b="1" i="0">
                <a:solidFill>
                  <a:srgbClr val="1F2A44"/>
                </a:solidFill>
                <a:latin typeface="Calibri"/>
              </a:rPr>
              <a:t>C₂</a:t>
            </a:r>
          </a:p>
        </p:txBody>
      </p:sp>
      <p:sp>
        <p:nvSpPr>
          <p:cNvPr id="8" name="TextBox 7"/>
          <p:cNvSpPr txBox="1"/>
          <p:nvPr/>
        </p:nvSpPr>
        <p:spPr>
          <a:xfrm>
            <a:off x="704088" y="1188720"/>
            <a:ext cx="10789920" cy="548640"/>
          </a:xfrm>
          <a:prstGeom prst="rect">
            <a:avLst/>
          </a:prstGeom>
          <a:noFill/>
        </p:spPr>
        <p:txBody>
          <a:bodyPr wrap="square" lIns="45720" tIns="27432" rIns="45720" bIns="27432" anchor="t">
            <a:spAutoFit/>
          </a:bodyPr>
          <a:lstStyle/>
          <a:p>
            <a:pPr algn="ctr"/>
            <a:r>
              <a:rPr sz="2800" b="1" i="0">
                <a:solidFill>
                  <a:srgbClr val="1F2A44"/>
                </a:solidFill>
                <a:latin typeface="Calibri"/>
              </a:rPr>
              <a:t>Are C₁ and C₂ equivalent?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Equivalence checking</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14</a:t>
            </a:r>
          </a:p>
        </p:txBody>
      </p:sp>
      <p:sp>
        <p:nvSpPr>
          <p:cNvPr id="6" name="Rounded Rectangle 5"/>
          <p:cNvSpPr/>
          <p:nvPr/>
        </p:nvSpPr>
        <p:spPr>
          <a:xfrm>
            <a:off x="3703320" y="3749039"/>
            <a:ext cx="1828800" cy="914400"/>
          </a:xfrm>
          <a:prstGeom prst="roundRect">
            <a:avLst>
              <a:gd name="adj" fmla="val 15000"/>
            </a:avLst>
          </a:prstGeom>
          <a:solidFill>
            <a:srgbClr val="DCEAF8"/>
          </a:solidFill>
          <a:ln w="19050">
            <a:solidFill>
              <a:srgbClr val="2E6FB0"/>
            </a:solidFill>
          </a:ln>
          <a:effectLst/>
        </p:spPr>
        <p:txBody>
          <a:bodyPr wrap="square" lIns="54864" tIns="27432" rIns="54864" bIns="27432" rtlCol="0" anchor="ctr"/>
          <a:lstStyle/>
          <a:p>
            <a:pPr algn="ctr"/>
            <a:r>
              <a:rPr sz="2200" b="1" i="0">
                <a:solidFill>
                  <a:srgbClr val="1F2A44"/>
                </a:solidFill>
                <a:latin typeface="Calibri"/>
              </a:rPr>
              <a:t>C₁</a:t>
            </a:r>
          </a:p>
        </p:txBody>
      </p:sp>
      <p:sp>
        <p:nvSpPr>
          <p:cNvPr id="7" name="Rounded Rectangle 6"/>
          <p:cNvSpPr/>
          <p:nvPr/>
        </p:nvSpPr>
        <p:spPr>
          <a:xfrm>
            <a:off x="6665976" y="3749039"/>
            <a:ext cx="1828800" cy="914400"/>
          </a:xfrm>
          <a:prstGeom prst="roundRect">
            <a:avLst>
              <a:gd name="adj" fmla="val 15000"/>
            </a:avLst>
          </a:prstGeom>
          <a:solidFill>
            <a:srgbClr val="DCEAF8"/>
          </a:solidFill>
          <a:ln w="19050">
            <a:solidFill>
              <a:srgbClr val="2E6FB0"/>
            </a:solidFill>
          </a:ln>
          <a:effectLst/>
        </p:spPr>
        <p:txBody>
          <a:bodyPr wrap="square" lIns="54864" tIns="27432" rIns="54864" bIns="27432" rtlCol="0" anchor="ctr"/>
          <a:lstStyle/>
          <a:p>
            <a:pPr algn="ctr"/>
            <a:r>
              <a:rPr sz="2200" b="1" i="0">
                <a:solidFill>
                  <a:srgbClr val="1F2A44"/>
                </a:solidFill>
                <a:latin typeface="Calibri"/>
              </a:rPr>
              <a:t>C₂</a:t>
            </a:r>
          </a:p>
        </p:txBody>
      </p:sp>
      <p:sp>
        <p:nvSpPr>
          <p:cNvPr id="8" name="TextBox 7"/>
          <p:cNvSpPr txBox="1"/>
          <p:nvPr/>
        </p:nvSpPr>
        <p:spPr>
          <a:xfrm>
            <a:off x="704088" y="1188720"/>
            <a:ext cx="10789920" cy="548640"/>
          </a:xfrm>
          <a:prstGeom prst="rect">
            <a:avLst/>
          </a:prstGeom>
          <a:noFill/>
        </p:spPr>
        <p:txBody>
          <a:bodyPr wrap="square" lIns="45720" tIns="27432" rIns="45720" bIns="27432" anchor="t">
            <a:spAutoFit/>
          </a:bodyPr>
          <a:lstStyle/>
          <a:p>
            <a:pPr algn="ctr"/>
            <a:r>
              <a:rPr sz="2800" b="1" i="0">
                <a:solidFill>
                  <a:srgbClr val="1F2A44"/>
                </a:solidFill>
                <a:latin typeface="Calibri"/>
              </a:rPr>
              <a:t>Are C₁ and C₂ equivalent?</a:t>
            </a:r>
          </a:p>
        </p:txBody>
      </p:sp>
      <p:sp>
        <p:nvSpPr>
          <p:cNvPr id="9" name="Rounded Rectangle 8"/>
          <p:cNvSpPr/>
          <p:nvPr/>
        </p:nvSpPr>
        <p:spPr>
          <a:xfrm>
            <a:off x="4407408" y="5074920"/>
            <a:ext cx="3383280" cy="457200"/>
          </a:xfrm>
          <a:prstGeom prst="roundRect">
            <a:avLst>
              <a:gd name="adj" fmla="val 15000"/>
            </a:avLst>
          </a:prstGeom>
          <a:solidFill>
            <a:srgbClr val="EEF0F3"/>
          </a:solidFill>
          <a:ln w="15875">
            <a:solidFill>
              <a:srgbClr val="9AA0A8"/>
            </a:solidFill>
          </a:ln>
          <a:effectLst/>
        </p:spPr>
        <p:txBody>
          <a:bodyPr wrap="square" lIns="54864" tIns="27432" rIns="54864" bIns="27432" rtlCol="0" anchor="ctr"/>
          <a:lstStyle/>
          <a:p>
            <a:pPr algn="ctr"/>
            <a:r>
              <a:rPr sz="1500" b="0" i="0">
                <a:solidFill>
                  <a:srgbClr val="2B2F36"/>
                </a:solidFill>
                <a:latin typeface="Calibri"/>
              </a:rPr>
              <a:t>same inputs  r, s, u, v, c</a:t>
            </a:r>
          </a:p>
        </p:txBody>
      </p:sp>
      <p:cxnSp>
        <p:nvCxnSpPr>
          <p:cNvPr id="10" name="Connector 9"/>
          <p:cNvCxnSpPr/>
          <p:nvPr/>
        </p:nvCxnSpPr>
        <p:spPr>
          <a:xfrm flipV="1">
            <a:off x="4617720" y="4663440"/>
            <a:ext cx="0" cy="411480"/>
          </a:xfrm>
          <a:prstGeom prst="line">
            <a:avLst/>
          </a:prstGeom>
          <a:ln w="15875">
            <a:solidFill>
              <a:srgbClr val="8A8F98"/>
            </a:solidFill>
            <a:tailEnd type="triangle" w="med" len="med"/>
          </a:ln>
          <a:effectLst/>
        </p:spPr>
      </p:cxnSp>
      <p:cxnSp>
        <p:nvCxnSpPr>
          <p:cNvPr id="11" name="Connector 10"/>
          <p:cNvCxnSpPr/>
          <p:nvPr/>
        </p:nvCxnSpPr>
        <p:spPr>
          <a:xfrm flipV="1">
            <a:off x="7580375" y="4663440"/>
            <a:ext cx="0" cy="411480"/>
          </a:xfrm>
          <a:prstGeom prst="line">
            <a:avLst/>
          </a:prstGeom>
          <a:ln w="15875">
            <a:solidFill>
              <a:srgbClr val="8A8F98"/>
            </a:solidFill>
            <a:tailEnd type="triangle" w="med" len="med"/>
          </a:ln>
          <a:effectLst/>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Equivalence checking</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15</a:t>
            </a:r>
          </a:p>
        </p:txBody>
      </p:sp>
      <p:sp>
        <p:nvSpPr>
          <p:cNvPr id="6" name="Rounded Rectangle 5"/>
          <p:cNvSpPr/>
          <p:nvPr/>
        </p:nvSpPr>
        <p:spPr>
          <a:xfrm>
            <a:off x="3703320" y="3749039"/>
            <a:ext cx="1828800" cy="914400"/>
          </a:xfrm>
          <a:prstGeom prst="roundRect">
            <a:avLst>
              <a:gd name="adj" fmla="val 15000"/>
            </a:avLst>
          </a:prstGeom>
          <a:solidFill>
            <a:srgbClr val="DCEAF8"/>
          </a:solidFill>
          <a:ln w="19050">
            <a:solidFill>
              <a:srgbClr val="2E6FB0"/>
            </a:solidFill>
          </a:ln>
          <a:effectLst/>
        </p:spPr>
        <p:txBody>
          <a:bodyPr wrap="square" lIns="54864" tIns="27432" rIns="54864" bIns="27432" rtlCol="0" anchor="ctr"/>
          <a:lstStyle/>
          <a:p>
            <a:pPr algn="ctr"/>
            <a:r>
              <a:rPr sz="2200" b="1" i="0">
                <a:solidFill>
                  <a:srgbClr val="1F2A44"/>
                </a:solidFill>
                <a:latin typeface="Calibri"/>
              </a:rPr>
              <a:t>C₁</a:t>
            </a:r>
          </a:p>
        </p:txBody>
      </p:sp>
      <p:sp>
        <p:nvSpPr>
          <p:cNvPr id="7" name="Rounded Rectangle 6"/>
          <p:cNvSpPr/>
          <p:nvPr/>
        </p:nvSpPr>
        <p:spPr>
          <a:xfrm>
            <a:off x="6665976" y="3749039"/>
            <a:ext cx="1828800" cy="914400"/>
          </a:xfrm>
          <a:prstGeom prst="roundRect">
            <a:avLst>
              <a:gd name="adj" fmla="val 15000"/>
            </a:avLst>
          </a:prstGeom>
          <a:solidFill>
            <a:srgbClr val="DCEAF8"/>
          </a:solidFill>
          <a:ln w="19050">
            <a:solidFill>
              <a:srgbClr val="2E6FB0"/>
            </a:solidFill>
          </a:ln>
          <a:effectLst/>
        </p:spPr>
        <p:txBody>
          <a:bodyPr wrap="square" lIns="54864" tIns="27432" rIns="54864" bIns="27432" rtlCol="0" anchor="ctr"/>
          <a:lstStyle/>
          <a:p>
            <a:pPr algn="ctr"/>
            <a:r>
              <a:rPr sz="2200" b="1" i="0">
                <a:solidFill>
                  <a:srgbClr val="1F2A44"/>
                </a:solidFill>
                <a:latin typeface="Calibri"/>
              </a:rPr>
              <a:t>C₂</a:t>
            </a:r>
          </a:p>
        </p:txBody>
      </p:sp>
      <p:sp>
        <p:nvSpPr>
          <p:cNvPr id="8" name="TextBox 7"/>
          <p:cNvSpPr txBox="1"/>
          <p:nvPr/>
        </p:nvSpPr>
        <p:spPr>
          <a:xfrm>
            <a:off x="704088" y="1188720"/>
            <a:ext cx="10789920" cy="548640"/>
          </a:xfrm>
          <a:prstGeom prst="rect">
            <a:avLst/>
          </a:prstGeom>
          <a:noFill/>
        </p:spPr>
        <p:txBody>
          <a:bodyPr wrap="square" lIns="45720" tIns="27432" rIns="45720" bIns="27432" anchor="t">
            <a:spAutoFit/>
          </a:bodyPr>
          <a:lstStyle/>
          <a:p>
            <a:pPr algn="ctr"/>
            <a:r>
              <a:rPr sz="2800" b="1" i="0">
                <a:solidFill>
                  <a:srgbClr val="1F2A44"/>
                </a:solidFill>
                <a:latin typeface="Calibri"/>
              </a:rPr>
              <a:t>Are C₁ and C₂ equivalent?</a:t>
            </a:r>
          </a:p>
        </p:txBody>
      </p:sp>
      <p:sp>
        <p:nvSpPr>
          <p:cNvPr id="9" name="Rounded Rectangle 8"/>
          <p:cNvSpPr/>
          <p:nvPr/>
        </p:nvSpPr>
        <p:spPr>
          <a:xfrm>
            <a:off x="4407408" y="5074920"/>
            <a:ext cx="3383280" cy="457200"/>
          </a:xfrm>
          <a:prstGeom prst="roundRect">
            <a:avLst>
              <a:gd name="adj" fmla="val 15000"/>
            </a:avLst>
          </a:prstGeom>
          <a:solidFill>
            <a:srgbClr val="EEF0F3"/>
          </a:solidFill>
          <a:ln w="15875">
            <a:solidFill>
              <a:srgbClr val="9AA0A8"/>
            </a:solidFill>
          </a:ln>
          <a:effectLst/>
        </p:spPr>
        <p:txBody>
          <a:bodyPr wrap="square" lIns="54864" tIns="27432" rIns="54864" bIns="27432" rtlCol="0" anchor="ctr"/>
          <a:lstStyle/>
          <a:p>
            <a:pPr algn="ctr"/>
            <a:r>
              <a:rPr sz="1500" b="0" i="0">
                <a:solidFill>
                  <a:srgbClr val="2B2F36"/>
                </a:solidFill>
                <a:latin typeface="Calibri"/>
              </a:rPr>
              <a:t>same inputs  r, s, u, v, c</a:t>
            </a:r>
          </a:p>
        </p:txBody>
      </p:sp>
      <p:cxnSp>
        <p:nvCxnSpPr>
          <p:cNvPr id="10" name="Connector 9"/>
          <p:cNvCxnSpPr/>
          <p:nvPr/>
        </p:nvCxnSpPr>
        <p:spPr>
          <a:xfrm flipV="1">
            <a:off x="4617720" y="4663440"/>
            <a:ext cx="0" cy="411480"/>
          </a:xfrm>
          <a:prstGeom prst="line">
            <a:avLst/>
          </a:prstGeom>
          <a:ln w="15875">
            <a:solidFill>
              <a:srgbClr val="8A8F98"/>
            </a:solidFill>
            <a:tailEnd type="triangle" w="med" len="med"/>
          </a:ln>
          <a:effectLst/>
        </p:spPr>
      </p:cxnSp>
      <p:cxnSp>
        <p:nvCxnSpPr>
          <p:cNvPr id="11" name="Connector 10"/>
          <p:cNvCxnSpPr/>
          <p:nvPr/>
        </p:nvCxnSpPr>
        <p:spPr>
          <a:xfrm flipV="1">
            <a:off x="7580375" y="4663440"/>
            <a:ext cx="0" cy="411480"/>
          </a:xfrm>
          <a:prstGeom prst="line">
            <a:avLst/>
          </a:prstGeom>
          <a:ln w="15875">
            <a:solidFill>
              <a:srgbClr val="8A8F98"/>
            </a:solidFill>
            <a:tailEnd type="triangle" w="med" len="med"/>
          </a:ln>
          <a:effectLst/>
        </p:spPr>
      </p:cxnSp>
      <p:sp>
        <p:nvSpPr>
          <p:cNvPr id="12" name="Rounded Rectangle 11"/>
          <p:cNvSpPr/>
          <p:nvPr/>
        </p:nvSpPr>
        <p:spPr>
          <a:xfrm>
            <a:off x="5321808" y="2724912"/>
            <a:ext cx="1554480" cy="658368"/>
          </a:xfrm>
          <a:prstGeom prst="roundRect">
            <a:avLst>
              <a:gd name="adj" fmla="val 15000"/>
            </a:avLst>
          </a:prstGeom>
          <a:solidFill>
            <a:srgbClr val="FBE4D3"/>
          </a:solidFill>
          <a:ln w="19050">
            <a:solidFill>
              <a:srgbClr val="C8501E"/>
            </a:solidFill>
          </a:ln>
          <a:effectLst/>
        </p:spPr>
        <p:txBody>
          <a:bodyPr wrap="square" lIns="54864" tIns="27432" rIns="54864" bIns="27432" rtlCol="0" anchor="ctr"/>
          <a:lstStyle/>
          <a:p>
            <a:pPr algn="ctr"/>
            <a:r>
              <a:rPr sz="1900" b="1" i="0">
                <a:solidFill>
                  <a:srgbClr val="1F2A44"/>
                </a:solidFill>
                <a:latin typeface="Calibri"/>
              </a:rPr>
              <a:t>XOR</a:t>
            </a:r>
          </a:p>
        </p:txBody>
      </p:sp>
      <p:cxnSp>
        <p:nvCxnSpPr>
          <p:cNvPr id="13" name="Connector 12"/>
          <p:cNvCxnSpPr/>
          <p:nvPr/>
        </p:nvCxnSpPr>
        <p:spPr>
          <a:xfrm flipV="1">
            <a:off x="4617720" y="3383280"/>
            <a:ext cx="1069848" cy="365759"/>
          </a:xfrm>
          <a:prstGeom prst="line">
            <a:avLst/>
          </a:prstGeom>
          <a:ln w="15875">
            <a:solidFill>
              <a:srgbClr val="8A8F98"/>
            </a:solidFill>
            <a:tailEnd type="triangle" w="med" len="med"/>
          </a:ln>
          <a:effectLst/>
        </p:spPr>
      </p:cxnSp>
      <p:cxnSp>
        <p:nvCxnSpPr>
          <p:cNvPr id="14" name="Connector 13"/>
          <p:cNvCxnSpPr/>
          <p:nvPr/>
        </p:nvCxnSpPr>
        <p:spPr>
          <a:xfrm flipH="1" flipV="1">
            <a:off x="6510528" y="3383280"/>
            <a:ext cx="1069847" cy="365759"/>
          </a:xfrm>
          <a:prstGeom prst="line">
            <a:avLst/>
          </a:prstGeom>
          <a:ln w="15875">
            <a:solidFill>
              <a:srgbClr val="8A8F98"/>
            </a:solidFill>
            <a:tailEnd type="triangle" w="med" len="med"/>
          </a:ln>
          <a:effectLst/>
        </p:spPr>
      </p:cxnSp>
      <p:sp>
        <p:nvSpPr>
          <p:cNvPr id="15" name="TextBox 14"/>
          <p:cNvSpPr txBox="1"/>
          <p:nvPr/>
        </p:nvSpPr>
        <p:spPr>
          <a:xfrm>
            <a:off x="4663440" y="3438144"/>
            <a:ext cx="457200" cy="274320"/>
          </a:xfrm>
          <a:prstGeom prst="rect">
            <a:avLst/>
          </a:prstGeom>
          <a:noFill/>
        </p:spPr>
        <p:txBody>
          <a:bodyPr wrap="square" lIns="45720" tIns="27432" rIns="45720" bIns="27432" anchor="t">
            <a:spAutoFit/>
          </a:bodyPr>
          <a:lstStyle/>
          <a:p>
            <a:pPr algn="l"/>
            <a:r>
              <a:rPr sz="1500" b="1" i="0">
                <a:solidFill>
                  <a:srgbClr val="6B717A"/>
                </a:solidFill>
                <a:latin typeface="Calibri"/>
              </a:rPr>
              <a:t>m₁</a:t>
            </a:r>
          </a:p>
        </p:txBody>
      </p:sp>
      <p:sp>
        <p:nvSpPr>
          <p:cNvPr id="16" name="TextBox 15"/>
          <p:cNvSpPr txBox="1"/>
          <p:nvPr/>
        </p:nvSpPr>
        <p:spPr>
          <a:xfrm>
            <a:off x="7168895" y="3438144"/>
            <a:ext cx="457200" cy="274320"/>
          </a:xfrm>
          <a:prstGeom prst="rect">
            <a:avLst/>
          </a:prstGeom>
          <a:noFill/>
        </p:spPr>
        <p:txBody>
          <a:bodyPr wrap="square" lIns="45720" tIns="27432" rIns="45720" bIns="27432" anchor="t">
            <a:spAutoFit/>
          </a:bodyPr>
          <a:lstStyle/>
          <a:p>
            <a:pPr algn="r"/>
            <a:r>
              <a:rPr sz="1500" b="1" i="0">
                <a:solidFill>
                  <a:srgbClr val="6B717A"/>
                </a:solidFill>
                <a:latin typeface="Calibri"/>
              </a:rPr>
              <a:t>m₂</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Equivalence checking</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16</a:t>
            </a:r>
          </a:p>
        </p:txBody>
      </p:sp>
      <p:sp>
        <p:nvSpPr>
          <p:cNvPr id="6" name="Rounded Rectangle 5"/>
          <p:cNvSpPr/>
          <p:nvPr/>
        </p:nvSpPr>
        <p:spPr>
          <a:xfrm>
            <a:off x="3703320" y="3749039"/>
            <a:ext cx="1828800" cy="914400"/>
          </a:xfrm>
          <a:prstGeom prst="roundRect">
            <a:avLst>
              <a:gd name="adj" fmla="val 15000"/>
            </a:avLst>
          </a:prstGeom>
          <a:solidFill>
            <a:srgbClr val="DCEAF8"/>
          </a:solidFill>
          <a:ln w="19050">
            <a:solidFill>
              <a:srgbClr val="2E6FB0"/>
            </a:solidFill>
          </a:ln>
          <a:effectLst/>
        </p:spPr>
        <p:txBody>
          <a:bodyPr wrap="square" lIns="54864" tIns="27432" rIns="54864" bIns="27432" rtlCol="0" anchor="ctr"/>
          <a:lstStyle/>
          <a:p>
            <a:pPr algn="ctr"/>
            <a:r>
              <a:rPr sz="2200" b="1" i="0">
                <a:solidFill>
                  <a:srgbClr val="1F2A44"/>
                </a:solidFill>
                <a:latin typeface="Calibri"/>
              </a:rPr>
              <a:t>C₁</a:t>
            </a:r>
          </a:p>
        </p:txBody>
      </p:sp>
      <p:sp>
        <p:nvSpPr>
          <p:cNvPr id="7" name="Rounded Rectangle 6"/>
          <p:cNvSpPr/>
          <p:nvPr/>
        </p:nvSpPr>
        <p:spPr>
          <a:xfrm>
            <a:off x="6665976" y="3749039"/>
            <a:ext cx="1828800" cy="914400"/>
          </a:xfrm>
          <a:prstGeom prst="roundRect">
            <a:avLst>
              <a:gd name="adj" fmla="val 15000"/>
            </a:avLst>
          </a:prstGeom>
          <a:solidFill>
            <a:srgbClr val="DCEAF8"/>
          </a:solidFill>
          <a:ln w="19050">
            <a:solidFill>
              <a:srgbClr val="2E6FB0"/>
            </a:solidFill>
          </a:ln>
          <a:effectLst/>
        </p:spPr>
        <p:txBody>
          <a:bodyPr wrap="square" lIns="54864" tIns="27432" rIns="54864" bIns="27432" rtlCol="0" anchor="ctr"/>
          <a:lstStyle/>
          <a:p>
            <a:pPr algn="ctr"/>
            <a:r>
              <a:rPr sz="2200" b="1" i="0">
                <a:solidFill>
                  <a:srgbClr val="1F2A44"/>
                </a:solidFill>
                <a:latin typeface="Calibri"/>
              </a:rPr>
              <a:t>C₂</a:t>
            </a:r>
          </a:p>
        </p:txBody>
      </p:sp>
      <p:sp>
        <p:nvSpPr>
          <p:cNvPr id="8" name="TextBox 7"/>
          <p:cNvSpPr txBox="1"/>
          <p:nvPr/>
        </p:nvSpPr>
        <p:spPr>
          <a:xfrm>
            <a:off x="704088" y="1188720"/>
            <a:ext cx="10789920" cy="548640"/>
          </a:xfrm>
          <a:prstGeom prst="rect">
            <a:avLst/>
          </a:prstGeom>
          <a:noFill/>
        </p:spPr>
        <p:txBody>
          <a:bodyPr wrap="square" lIns="45720" tIns="27432" rIns="45720" bIns="27432" anchor="t">
            <a:spAutoFit/>
          </a:bodyPr>
          <a:lstStyle/>
          <a:p>
            <a:pPr algn="ctr"/>
            <a:r>
              <a:rPr sz="2800" b="1" i="0">
                <a:solidFill>
                  <a:srgbClr val="1F2A44"/>
                </a:solidFill>
                <a:latin typeface="Calibri"/>
              </a:rPr>
              <a:t>Are C₁ and C₂ equivalent?</a:t>
            </a:r>
          </a:p>
        </p:txBody>
      </p:sp>
      <p:sp>
        <p:nvSpPr>
          <p:cNvPr id="9" name="Rounded Rectangle 8"/>
          <p:cNvSpPr/>
          <p:nvPr/>
        </p:nvSpPr>
        <p:spPr>
          <a:xfrm>
            <a:off x="4407408" y="5074920"/>
            <a:ext cx="3383280" cy="457200"/>
          </a:xfrm>
          <a:prstGeom prst="roundRect">
            <a:avLst>
              <a:gd name="adj" fmla="val 15000"/>
            </a:avLst>
          </a:prstGeom>
          <a:solidFill>
            <a:srgbClr val="EEF0F3"/>
          </a:solidFill>
          <a:ln w="15875">
            <a:solidFill>
              <a:srgbClr val="9AA0A8"/>
            </a:solidFill>
          </a:ln>
          <a:effectLst/>
        </p:spPr>
        <p:txBody>
          <a:bodyPr wrap="square" lIns="54864" tIns="27432" rIns="54864" bIns="27432" rtlCol="0" anchor="ctr"/>
          <a:lstStyle/>
          <a:p>
            <a:pPr algn="ctr"/>
            <a:r>
              <a:rPr sz="1500" b="0" i="0">
                <a:solidFill>
                  <a:srgbClr val="2B2F36"/>
                </a:solidFill>
                <a:latin typeface="Calibri"/>
              </a:rPr>
              <a:t>same inputs  r, s, u, v, c</a:t>
            </a:r>
          </a:p>
        </p:txBody>
      </p:sp>
      <p:cxnSp>
        <p:nvCxnSpPr>
          <p:cNvPr id="10" name="Connector 9"/>
          <p:cNvCxnSpPr/>
          <p:nvPr/>
        </p:nvCxnSpPr>
        <p:spPr>
          <a:xfrm flipV="1">
            <a:off x="4617720" y="4663440"/>
            <a:ext cx="0" cy="411480"/>
          </a:xfrm>
          <a:prstGeom prst="line">
            <a:avLst/>
          </a:prstGeom>
          <a:ln w="15875">
            <a:solidFill>
              <a:srgbClr val="8A8F98"/>
            </a:solidFill>
            <a:tailEnd type="triangle" w="med" len="med"/>
          </a:ln>
          <a:effectLst/>
        </p:spPr>
      </p:cxnSp>
      <p:cxnSp>
        <p:nvCxnSpPr>
          <p:cNvPr id="11" name="Connector 10"/>
          <p:cNvCxnSpPr/>
          <p:nvPr/>
        </p:nvCxnSpPr>
        <p:spPr>
          <a:xfrm flipV="1">
            <a:off x="7580375" y="4663440"/>
            <a:ext cx="0" cy="411480"/>
          </a:xfrm>
          <a:prstGeom prst="line">
            <a:avLst/>
          </a:prstGeom>
          <a:ln w="15875">
            <a:solidFill>
              <a:srgbClr val="8A8F98"/>
            </a:solidFill>
            <a:tailEnd type="triangle" w="med" len="med"/>
          </a:ln>
          <a:effectLst/>
        </p:spPr>
      </p:cxnSp>
      <p:sp>
        <p:nvSpPr>
          <p:cNvPr id="12" name="Rounded Rectangle 11"/>
          <p:cNvSpPr/>
          <p:nvPr/>
        </p:nvSpPr>
        <p:spPr>
          <a:xfrm>
            <a:off x="5321808" y="2724912"/>
            <a:ext cx="1554480" cy="658368"/>
          </a:xfrm>
          <a:prstGeom prst="roundRect">
            <a:avLst>
              <a:gd name="adj" fmla="val 15000"/>
            </a:avLst>
          </a:prstGeom>
          <a:solidFill>
            <a:srgbClr val="FBE4D3"/>
          </a:solidFill>
          <a:ln w="19050">
            <a:solidFill>
              <a:srgbClr val="C8501E"/>
            </a:solidFill>
          </a:ln>
          <a:effectLst/>
        </p:spPr>
        <p:txBody>
          <a:bodyPr wrap="square" lIns="54864" tIns="27432" rIns="54864" bIns="27432" rtlCol="0" anchor="ctr"/>
          <a:lstStyle/>
          <a:p>
            <a:pPr algn="ctr"/>
            <a:r>
              <a:rPr sz="1900" b="1" i="0">
                <a:solidFill>
                  <a:srgbClr val="1F2A44"/>
                </a:solidFill>
                <a:latin typeface="Calibri"/>
              </a:rPr>
              <a:t>XOR</a:t>
            </a:r>
          </a:p>
        </p:txBody>
      </p:sp>
      <p:cxnSp>
        <p:nvCxnSpPr>
          <p:cNvPr id="13" name="Connector 12"/>
          <p:cNvCxnSpPr/>
          <p:nvPr/>
        </p:nvCxnSpPr>
        <p:spPr>
          <a:xfrm flipV="1">
            <a:off x="4617720" y="3383280"/>
            <a:ext cx="1069848" cy="365759"/>
          </a:xfrm>
          <a:prstGeom prst="line">
            <a:avLst/>
          </a:prstGeom>
          <a:ln w="15875">
            <a:solidFill>
              <a:srgbClr val="8A8F98"/>
            </a:solidFill>
            <a:tailEnd type="triangle" w="med" len="med"/>
          </a:ln>
          <a:effectLst/>
        </p:spPr>
      </p:cxnSp>
      <p:cxnSp>
        <p:nvCxnSpPr>
          <p:cNvPr id="14" name="Connector 13"/>
          <p:cNvCxnSpPr/>
          <p:nvPr/>
        </p:nvCxnSpPr>
        <p:spPr>
          <a:xfrm flipH="1" flipV="1">
            <a:off x="6510528" y="3383280"/>
            <a:ext cx="1069847" cy="365759"/>
          </a:xfrm>
          <a:prstGeom prst="line">
            <a:avLst/>
          </a:prstGeom>
          <a:ln w="15875">
            <a:solidFill>
              <a:srgbClr val="8A8F98"/>
            </a:solidFill>
            <a:tailEnd type="triangle" w="med" len="med"/>
          </a:ln>
          <a:effectLst/>
        </p:spPr>
      </p:cxnSp>
      <p:sp>
        <p:nvSpPr>
          <p:cNvPr id="15" name="TextBox 14"/>
          <p:cNvSpPr txBox="1"/>
          <p:nvPr/>
        </p:nvSpPr>
        <p:spPr>
          <a:xfrm>
            <a:off x="4663440" y="3438144"/>
            <a:ext cx="457200" cy="274320"/>
          </a:xfrm>
          <a:prstGeom prst="rect">
            <a:avLst/>
          </a:prstGeom>
          <a:noFill/>
        </p:spPr>
        <p:txBody>
          <a:bodyPr wrap="square" lIns="45720" tIns="27432" rIns="45720" bIns="27432" anchor="t">
            <a:spAutoFit/>
          </a:bodyPr>
          <a:lstStyle/>
          <a:p>
            <a:pPr algn="l"/>
            <a:r>
              <a:rPr sz="1500" b="1" i="0">
                <a:solidFill>
                  <a:srgbClr val="6B717A"/>
                </a:solidFill>
                <a:latin typeface="Calibri"/>
              </a:rPr>
              <a:t>m₁</a:t>
            </a:r>
          </a:p>
        </p:txBody>
      </p:sp>
      <p:sp>
        <p:nvSpPr>
          <p:cNvPr id="16" name="TextBox 15"/>
          <p:cNvSpPr txBox="1"/>
          <p:nvPr/>
        </p:nvSpPr>
        <p:spPr>
          <a:xfrm>
            <a:off x="7168895" y="3438144"/>
            <a:ext cx="457200" cy="274320"/>
          </a:xfrm>
          <a:prstGeom prst="rect">
            <a:avLst/>
          </a:prstGeom>
          <a:noFill/>
        </p:spPr>
        <p:txBody>
          <a:bodyPr wrap="square" lIns="45720" tIns="27432" rIns="45720" bIns="27432" anchor="t">
            <a:spAutoFit/>
          </a:bodyPr>
          <a:lstStyle/>
          <a:p>
            <a:pPr algn="r"/>
            <a:r>
              <a:rPr sz="1500" b="1" i="0">
                <a:solidFill>
                  <a:srgbClr val="6B717A"/>
                </a:solidFill>
                <a:latin typeface="Calibri"/>
              </a:rPr>
              <a:t>m₂</a:t>
            </a:r>
          </a:p>
        </p:txBody>
      </p:sp>
      <p:cxnSp>
        <p:nvCxnSpPr>
          <p:cNvPr id="17" name="Connector 16"/>
          <p:cNvCxnSpPr/>
          <p:nvPr/>
        </p:nvCxnSpPr>
        <p:spPr>
          <a:xfrm flipV="1">
            <a:off x="6099048" y="2286000"/>
            <a:ext cx="0" cy="438912"/>
          </a:xfrm>
          <a:prstGeom prst="line">
            <a:avLst/>
          </a:prstGeom>
          <a:ln w="15875">
            <a:solidFill>
              <a:srgbClr val="8A8F98"/>
            </a:solidFill>
            <a:tailEnd type="triangle" w="med" len="med"/>
          </a:ln>
          <a:effectLst/>
        </p:spPr>
      </p:cxnSp>
      <p:sp>
        <p:nvSpPr>
          <p:cNvPr id="18" name="TextBox 17"/>
          <p:cNvSpPr txBox="1"/>
          <p:nvPr/>
        </p:nvSpPr>
        <p:spPr>
          <a:xfrm>
            <a:off x="6208776" y="2304288"/>
            <a:ext cx="457200" cy="320040"/>
          </a:xfrm>
          <a:prstGeom prst="rect">
            <a:avLst/>
          </a:prstGeom>
          <a:noFill/>
        </p:spPr>
        <p:txBody>
          <a:bodyPr wrap="square" lIns="45720" tIns="27432" rIns="45720" bIns="27432" anchor="t">
            <a:spAutoFit/>
          </a:bodyPr>
          <a:lstStyle/>
          <a:p>
            <a:pPr algn="l"/>
            <a:r>
              <a:rPr sz="1700" b="1" i="0">
                <a:solidFill>
                  <a:srgbClr val="1F2A44"/>
                </a:solidFill>
                <a:latin typeface="Calibri"/>
              </a:rPr>
              <a:t>p</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Equivalence checking</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17</a:t>
            </a:r>
          </a:p>
        </p:txBody>
      </p:sp>
      <p:sp>
        <p:nvSpPr>
          <p:cNvPr id="6" name="Rounded Rectangle 5"/>
          <p:cNvSpPr/>
          <p:nvPr/>
        </p:nvSpPr>
        <p:spPr>
          <a:xfrm>
            <a:off x="3703320" y="3749039"/>
            <a:ext cx="1828800" cy="914400"/>
          </a:xfrm>
          <a:prstGeom prst="roundRect">
            <a:avLst>
              <a:gd name="adj" fmla="val 15000"/>
            </a:avLst>
          </a:prstGeom>
          <a:solidFill>
            <a:srgbClr val="DCEAF8"/>
          </a:solidFill>
          <a:ln w="19050">
            <a:solidFill>
              <a:srgbClr val="2E6FB0"/>
            </a:solidFill>
          </a:ln>
          <a:effectLst/>
        </p:spPr>
        <p:txBody>
          <a:bodyPr wrap="square" lIns="54864" tIns="27432" rIns="54864" bIns="27432" rtlCol="0" anchor="ctr"/>
          <a:lstStyle/>
          <a:p>
            <a:pPr algn="ctr"/>
            <a:r>
              <a:rPr sz="2200" b="1" i="0">
                <a:solidFill>
                  <a:srgbClr val="1F2A44"/>
                </a:solidFill>
                <a:latin typeface="Calibri"/>
              </a:rPr>
              <a:t>C₁</a:t>
            </a:r>
          </a:p>
        </p:txBody>
      </p:sp>
      <p:sp>
        <p:nvSpPr>
          <p:cNvPr id="7" name="Rounded Rectangle 6"/>
          <p:cNvSpPr/>
          <p:nvPr/>
        </p:nvSpPr>
        <p:spPr>
          <a:xfrm>
            <a:off x="6665976" y="3749039"/>
            <a:ext cx="1828800" cy="914400"/>
          </a:xfrm>
          <a:prstGeom prst="roundRect">
            <a:avLst>
              <a:gd name="adj" fmla="val 15000"/>
            </a:avLst>
          </a:prstGeom>
          <a:solidFill>
            <a:srgbClr val="DCEAF8"/>
          </a:solidFill>
          <a:ln w="19050">
            <a:solidFill>
              <a:srgbClr val="2E6FB0"/>
            </a:solidFill>
          </a:ln>
          <a:effectLst/>
        </p:spPr>
        <p:txBody>
          <a:bodyPr wrap="square" lIns="54864" tIns="27432" rIns="54864" bIns="27432" rtlCol="0" anchor="ctr"/>
          <a:lstStyle/>
          <a:p>
            <a:pPr algn="ctr"/>
            <a:r>
              <a:rPr sz="2200" b="1" i="0">
                <a:solidFill>
                  <a:srgbClr val="1F2A44"/>
                </a:solidFill>
                <a:latin typeface="Calibri"/>
              </a:rPr>
              <a:t>C₂</a:t>
            </a:r>
          </a:p>
        </p:txBody>
      </p:sp>
      <p:sp>
        <p:nvSpPr>
          <p:cNvPr id="8" name="TextBox 7"/>
          <p:cNvSpPr txBox="1"/>
          <p:nvPr/>
        </p:nvSpPr>
        <p:spPr>
          <a:xfrm>
            <a:off x="704088" y="1188720"/>
            <a:ext cx="10789920" cy="548640"/>
          </a:xfrm>
          <a:prstGeom prst="rect">
            <a:avLst/>
          </a:prstGeom>
          <a:noFill/>
        </p:spPr>
        <p:txBody>
          <a:bodyPr wrap="square" lIns="45720" tIns="27432" rIns="45720" bIns="27432" anchor="t">
            <a:spAutoFit/>
          </a:bodyPr>
          <a:lstStyle/>
          <a:p>
            <a:pPr algn="ctr"/>
            <a:r>
              <a:rPr sz="2800" b="1" i="0">
                <a:solidFill>
                  <a:srgbClr val="1F2A44"/>
                </a:solidFill>
                <a:latin typeface="Calibri"/>
              </a:rPr>
              <a:t>Are C₁ and C₂ equivalent?</a:t>
            </a:r>
          </a:p>
        </p:txBody>
      </p:sp>
      <p:sp>
        <p:nvSpPr>
          <p:cNvPr id="9" name="Rounded Rectangle 8"/>
          <p:cNvSpPr/>
          <p:nvPr/>
        </p:nvSpPr>
        <p:spPr>
          <a:xfrm>
            <a:off x="4407408" y="5074920"/>
            <a:ext cx="3383280" cy="457200"/>
          </a:xfrm>
          <a:prstGeom prst="roundRect">
            <a:avLst>
              <a:gd name="adj" fmla="val 15000"/>
            </a:avLst>
          </a:prstGeom>
          <a:solidFill>
            <a:srgbClr val="EEF0F3"/>
          </a:solidFill>
          <a:ln w="15875">
            <a:solidFill>
              <a:srgbClr val="9AA0A8"/>
            </a:solidFill>
          </a:ln>
          <a:effectLst/>
        </p:spPr>
        <p:txBody>
          <a:bodyPr wrap="square" lIns="54864" tIns="27432" rIns="54864" bIns="27432" rtlCol="0" anchor="ctr"/>
          <a:lstStyle/>
          <a:p>
            <a:pPr algn="ctr"/>
            <a:r>
              <a:rPr sz="1500" b="0" i="0">
                <a:solidFill>
                  <a:srgbClr val="2B2F36"/>
                </a:solidFill>
                <a:latin typeface="Calibri"/>
              </a:rPr>
              <a:t>same inputs  r, s, u, v, c</a:t>
            </a:r>
          </a:p>
        </p:txBody>
      </p:sp>
      <p:cxnSp>
        <p:nvCxnSpPr>
          <p:cNvPr id="10" name="Connector 9"/>
          <p:cNvCxnSpPr/>
          <p:nvPr/>
        </p:nvCxnSpPr>
        <p:spPr>
          <a:xfrm flipV="1">
            <a:off x="4617720" y="4663440"/>
            <a:ext cx="0" cy="411480"/>
          </a:xfrm>
          <a:prstGeom prst="line">
            <a:avLst/>
          </a:prstGeom>
          <a:ln w="15875">
            <a:solidFill>
              <a:srgbClr val="8A8F98"/>
            </a:solidFill>
            <a:tailEnd type="triangle" w="med" len="med"/>
          </a:ln>
          <a:effectLst/>
        </p:spPr>
      </p:cxnSp>
      <p:cxnSp>
        <p:nvCxnSpPr>
          <p:cNvPr id="11" name="Connector 10"/>
          <p:cNvCxnSpPr/>
          <p:nvPr/>
        </p:nvCxnSpPr>
        <p:spPr>
          <a:xfrm flipV="1">
            <a:off x="7580375" y="4663440"/>
            <a:ext cx="0" cy="411480"/>
          </a:xfrm>
          <a:prstGeom prst="line">
            <a:avLst/>
          </a:prstGeom>
          <a:ln w="15875">
            <a:solidFill>
              <a:srgbClr val="8A8F98"/>
            </a:solidFill>
            <a:tailEnd type="triangle" w="med" len="med"/>
          </a:ln>
          <a:effectLst/>
        </p:spPr>
      </p:cxnSp>
      <p:sp>
        <p:nvSpPr>
          <p:cNvPr id="12" name="Rounded Rectangle 11"/>
          <p:cNvSpPr/>
          <p:nvPr/>
        </p:nvSpPr>
        <p:spPr>
          <a:xfrm>
            <a:off x="5321808" y="2724912"/>
            <a:ext cx="1554480" cy="658368"/>
          </a:xfrm>
          <a:prstGeom prst="roundRect">
            <a:avLst>
              <a:gd name="adj" fmla="val 15000"/>
            </a:avLst>
          </a:prstGeom>
          <a:solidFill>
            <a:srgbClr val="FBE4D3"/>
          </a:solidFill>
          <a:ln w="19050">
            <a:solidFill>
              <a:srgbClr val="C8501E"/>
            </a:solidFill>
          </a:ln>
          <a:effectLst/>
        </p:spPr>
        <p:txBody>
          <a:bodyPr wrap="square" lIns="54864" tIns="27432" rIns="54864" bIns="27432" rtlCol="0" anchor="ctr"/>
          <a:lstStyle/>
          <a:p>
            <a:pPr algn="ctr"/>
            <a:r>
              <a:rPr sz="1900" b="1" i="0">
                <a:solidFill>
                  <a:srgbClr val="1F2A44"/>
                </a:solidFill>
                <a:latin typeface="Calibri"/>
              </a:rPr>
              <a:t>XOR</a:t>
            </a:r>
          </a:p>
        </p:txBody>
      </p:sp>
      <p:cxnSp>
        <p:nvCxnSpPr>
          <p:cNvPr id="13" name="Connector 12"/>
          <p:cNvCxnSpPr/>
          <p:nvPr/>
        </p:nvCxnSpPr>
        <p:spPr>
          <a:xfrm flipV="1">
            <a:off x="4617720" y="3383280"/>
            <a:ext cx="1069848" cy="365759"/>
          </a:xfrm>
          <a:prstGeom prst="line">
            <a:avLst/>
          </a:prstGeom>
          <a:ln w="15875">
            <a:solidFill>
              <a:srgbClr val="8A8F98"/>
            </a:solidFill>
            <a:tailEnd type="triangle" w="med" len="med"/>
          </a:ln>
          <a:effectLst/>
        </p:spPr>
      </p:cxnSp>
      <p:cxnSp>
        <p:nvCxnSpPr>
          <p:cNvPr id="14" name="Connector 13"/>
          <p:cNvCxnSpPr/>
          <p:nvPr/>
        </p:nvCxnSpPr>
        <p:spPr>
          <a:xfrm flipH="1" flipV="1">
            <a:off x="6510528" y="3383280"/>
            <a:ext cx="1069847" cy="365759"/>
          </a:xfrm>
          <a:prstGeom prst="line">
            <a:avLst/>
          </a:prstGeom>
          <a:ln w="15875">
            <a:solidFill>
              <a:srgbClr val="8A8F98"/>
            </a:solidFill>
            <a:tailEnd type="triangle" w="med" len="med"/>
          </a:ln>
          <a:effectLst/>
        </p:spPr>
      </p:cxnSp>
      <p:sp>
        <p:nvSpPr>
          <p:cNvPr id="15" name="TextBox 14"/>
          <p:cNvSpPr txBox="1"/>
          <p:nvPr/>
        </p:nvSpPr>
        <p:spPr>
          <a:xfrm>
            <a:off x="4663440" y="3438144"/>
            <a:ext cx="457200" cy="274320"/>
          </a:xfrm>
          <a:prstGeom prst="rect">
            <a:avLst/>
          </a:prstGeom>
          <a:noFill/>
        </p:spPr>
        <p:txBody>
          <a:bodyPr wrap="square" lIns="45720" tIns="27432" rIns="45720" bIns="27432" anchor="t">
            <a:spAutoFit/>
          </a:bodyPr>
          <a:lstStyle/>
          <a:p>
            <a:pPr algn="l"/>
            <a:r>
              <a:rPr sz="1500" b="1" i="0">
                <a:solidFill>
                  <a:srgbClr val="6B717A"/>
                </a:solidFill>
                <a:latin typeface="Calibri"/>
              </a:rPr>
              <a:t>m₁</a:t>
            </a:r>
          </a:p>
        </p:txBody>
      </p:sp>
      <p:sp>
        <p:nvSpPr>
          <p:cNvPr id="16" name="TextBox 15"/>
          <p:cNvSpPr txBox="1"/>
          <p:nvPr/>
        </p:nvSpPr>
        <p:spPr>
          <a:xfrm>
            <a:off x="7168895" y="3438144"/>
            <a:ext cx="457200" cy="274320"/>
          </a:xfrm>
          <a:prstGeom prst="rect">
            <a:avLst/>
          </a:prstGeom>
          <a:noFill/>
        </p:spPr>
        <p:txBody>
          <a:bodyPr wrap="square" lIns="45720" tIns="27432" rIns="45720" bIns="27432" anchor="t">
            <a:spAutoFit/>
          </a:bodyPr>
          <a:lstStyle/>
          <a:p>
            <a:pPr algn="r"/>
            <a:r>
              <a:rPr sz="1500" b="1" i="0">
                <a:solidFill>
                  <a:srgbClr val="6B717A"/>
                </a:solidFill>
                <a:latin typeface="Calibri"/>
              </a:rPr>
              <a:t>m₂</a:t>
            </a:r>
          </a:p>
        </p:txBody>
      </p:sp>
      <p:cxnSp>
        <p:nvCxnSpPr>
          <p:cNvPr id="17" name="Connector 16"/>
          <p:cNvCxnSpPr/>
          <p:nvPr/>
        </p:nvCxnSpPr>
        <p:spPr>
          <a:xfrm flipV="1">
            <a:off x="6099048" y="2286000"/>
            <a:ext cx="0" cy="438912"/>
          </a:xfrm>
          <a:prstGeom prst="line">
            <a:avLst/>
          </a:prstGeom>
          <a:ln w="15875">
            <a:solidFill>
              <a:srgbClr val="8A8F98"/>
            </a:solidFill>
            <a:tailEnd type="triangle" w="med" len="med"/>
          </a:ln>
          <a:effectLst/>
        </p:spPr>
      </p:cxnSp>
      <p:sp>
        <p:nvSpPr>
          <p:cNvPr id="18" name="TextBox 17"/>
          <p:cNvSpPr txBox="1"/>
          <p:nvPr/>
        </p:nvSpPr>
        <p:spPr>
          <a:xfrm>
            <a:off x="6208776" y="2304288"/>
            <a:ext cx="457200" cy="320040"/>
          </a:xfrm>
          <a:prstGeom prst="rect">
            <a:avLst/>
          </a:prstGeom>
          <a:noFill/>
        </p:spPr>
        <p:txBody>
          <a:bodyPr wrap="square" lIns="45720" tIns="27432" rIns="45720" bIns="27432" anchor="t">
            <a:spAutoFit/>
          </a:bodyPr>
          <a:lstStyle/>
          <a:p>
            <a:pPr algn="l"/>
            <a:r>
              <a:rPr sz="1700" b="1" i="0">
                <a:solidFill>
                  <a:srgbClr val="1F2A44"/>
                </a:solidFill>
                <a:latin typeface="Calibri"/>
              </a:rPr>
              <a:t>p</a:t>
            </a:r>
          </a:p>
        </p:txBody>
      </p:sp>
      <p:sp>
        <p:nvSpPr>
          <p:cNvPr id="19" name="TextBox 18"/>
          <p:cNvSpPr txBox="1"/>
          <p:nvPr/>
        </p:nvSpPr>
        <p:spPr>
          <a:xfrm>
            <a:off x="704088" y="1828800"/>
            <a:ext cx="10789920" cy="411480"/>
          </a:xfrm>
          <a:prstGeom prst="rect">
            <a:avLst/>
          </a:prstGeom>
          <a:noFill/>
        </p:spPr>
        <p:txBody>
          <a:bodyPr wrap="square" lIns="45720" tIns="27432" rIns="45720" bIns="27432" anchor="t">
            <a:spAutoFit/>
          </a:bodyPr>
          <a:lstStyle/>
          <a:p>
            <a:pPr algn="ctr"/>
            <a:r>
              <a:rPr sz="2200" b="1" i="0">
                <a:solidFill>
                  <a:srgbClr val="C8501E"/>
                </a:solidFill>
                <a:latin typeface="Calibri"/>
              </a:rPr>
              <a:t>p = 1   ⟺   C₁ and C₂ disagree on this input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Equivalence checking</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18</a:t>
            </a:r>
          </a:p>
        </p:txBody>
      </p:sp>
      <p:sp>
        <p:nvSpPr>
          <p:cNvPr id="6" name="Rounded Rectangle 5"/>
          <p:cNvSpPr/>
          <p:nvPr/>
        </p:nvSpPr>
        <p:spPr>
          <a:xfrm>
            <a:off x="3703320" y="3749039"/>
            <a:ext cx="1828800" cy="914400"/>
          </a:xfrm>
          <a:prstGeom prst="roundRect">
            <a:avLst>
              <a:gd name="adj" fmla="val 15000"/>
            </a:avLst>
          </a:prstGeom>
          <a:solidFill>
            <a:srgbClr val="DCEAF8"/>
          </a:solidFill>
          <a:ln w="19050">
            <a:solidFill>
              <a:srgbClr val="2E6FB0"/>
            </a:solidFill>
          </a:ln>
          <a:effectLst/>
        </p:spPr>
        <p:txBody>
          <a:bodyPr wrap="square" lIns="54864" tIns="27432" rIns="54864" bIns="27432" rtlCol="0" anchor="ctr"/>
          <a:lstStyle/>
          <a:p>
            <a:pPr algn="ctr"/>
            <a:r>
              <a:rPr sz="2200" b="1" i="0">
                <a:solidFill>
                  <a:srgbClr val="1F2A44"/>
                </a:solidFill>
                <a:latin typeface="Calibri"/>
              </a:rPr>
              <a:t>C₁</a:t>
            </a:r>
          </a:p>
        </p:txBody>
      </p:sp>
      <p:sp>
        <p:nvSpPr>
          <p:cNvPr id="7" name="Rounded Rectangle 6"/>
          <p:cNvSpPr/>
          <p:nvPr/>
        </p:nvSpPr>
        <p:spPr>
          <a:xfrm>
            <a:off x="6665976" y="3749039"/>
            <a:ext cx="1828800" cy="914400"/>
          </a:xfrm>
          <a:prstGeom prst="roundRect">
            <a:avLst>
              <a:gd name="adj" fmla="val 15000"/>
            </a:avLst>
          </a:prstGeom>
          <a:solidFill>
            <a:srgbClr val="DCEAF8"/>
          </a:solidFill>
          <a:ln w="19050">
            <a:solidFill>
              <a:srgbClr val="2E6FB0"/>
            </a:solidFill>
          </a:ln>
          <a:effectLst/>
        </p:spPr>
        <p:txBody>
          <a:bodyPr wrap="square" lIns="54864" tIns="27432" rIns="54864" bIns="27432" rtlCol="0" anchor="ctr"/>
          <a:lstStyle/>
          <a:p>
            <a:pPr algn="ctr"/>
            <a:r>
              <a:rPr sz="2200" b="1" i="0">
                <a:solidFill>
                  <a:srgbClr val="1F2A44"/>
                </a:solidFill>
                <a:latin typeface="Calibri"/>
              </a:rPr>
              <a:t>C₂</a:t>
            </a:r>
          </a:p>
        </p:txBody>
      </p:sp>
      <p:sp>
        <p:nvSpPr>
          <p:cNvPr id="8" name="TextBox 7"/>
          <p:cNvSpPr txBox="1"/>
          <p:nvPr/>
        </p:nvSpPr>
        <p:spPr>
          <a:xfrm>
            <a:off x="704088" y="1188720"/>
            <a:ext cx="10789920" cy="548640"/>
          </a:xfrm>
          <a:prstGeom prst="rect">
            <a:avLst/>
          </a:prstGeom>
          <a:noFill/>
        </p:spPr>
        <p:txBody>
          <a:bodyPr wrap="square" lIns="45720" tIns="27432" rIns="45720" bIns="27432" anchor="t">
            <a:spAutoFit/>
          </a:bodyPr>
          <a:lstStyle/>
          <a:p>
            <a:pPr algn="ctr"/>
            <a:r>
              <a:rPr sz="2800" b="1" i="0">
                <a:solidFill>
                  <a:srgbClr val="1F2A44"/>
                </a:solidFill>
                <a:latin typeface="Calibri"/>
              </a:rPr>
              <a:t>Are C₁ and C₂ equivalent?</a:t>
            </a:r>
          </a:p>
        </p:txBody>
      </p:sp>
      <p:sp>
        <p:nvSpPr>
          <p:cNvPr id="9" name="Rounded Rectangle 8"/>
          <p:cNvSpPr/>
          <p:nvPr/>
        </p:nvSpPr>
        <p:spPr>
          <a:xfrm>
            <a:off x="4407408" y="5074920"/>
            <a:ext cx="3383280" cy="457200"/>
          </a:xfrm>
          <a:prstGeom prst="roundRect">
            <a:avLst>
              <a:gd name="adj" fmla="val 15000"/>
            </a:avLst>
          </a:prstGeom>
          <a:solidFill>
            <a:srgbClr val="EEF0F3"/>
          </a:solidFill>
          <a:ln w="15875">
            <a:solidFill>
              <a:srgbClr val="9AA0A8"/>
            </a:solidFill>
          </a:ln>
          <a:effectLst/>
        </p:spPr>
        <p:txBody>
          <a:bodyPr wrap="square" lIns="54864" tIns="27432" rIns="54864" bIns="27432" rtlCol="0" anchor="ctr"/>
          <a:lstStyle/>
          <a:p>
            <a:pPr algn="ctr"/>
            <a:r>
              <a:rPr sz="1500" b="0" i="0">
                <a:solidFill>
                  <a:srgbClr val="2B2F36"/>
                </a:solidFill>
                <a:latin typeface="Calibri"/>
              </a:rPr>
              <a:t>same inputs  r, s, u, v, c</a:t>
            </a:r>
          </a:p>
        </p:txBody>
      </p:sp>
      <p:cxnSp>
        <p:nvCxnSpPr>
          <p:cNvPr id="10" name="Connector 9"/>
          <p:cNvCxnSpPr/>
          <p:nvPr/>
        </p:nvCxnSpPr>
        <p:spPr>
          <a:xfrm flipV="1">
            <a:off x="4617720" y="4663440"/>
            <a:ext cx="0" cy="411480"/>
          </a:xfrm>
          <a:prstGeom prst="line">
            <a:avLst/>
          </a:prstGeom>
          <a:ln w="15875">
            <a:solidFill>
              <a:srgbClr val="8A8F98"/>
            </a:solidFill>
            <a:tailEnd type="triangle" w="med" len="med"/>
          </a:ln>
          <a:effectLst/>
        </p:spPr>
      </p:cxnSp>
      <p:cxnSp>
        <p:nvCxnSpPr>
          <p:cNvPr id="11" name="Connector 10"/>
          <p:cNvCxnSpPr/>
          <p:nvPr/>
        </p:nvCxnSpPr>
        <p:spPr>
          <a:xfrm flipV="1">
            <a:off x="7580375" y="4663440"/>
            <a:ext cx="0" cy="411480"/>
          </a:xfrm>
          <a:prstGeom prst="line">
            <a:avLst/>
          </a:prstGeom>
          <a:ln w="15875">
            <a:solidFill>
              <a:srgbClr val="8A8F98"/>
            </a:solidFill>
            <a:tailEnd type="triangle" w="med" len="med"/>
          </a:ln>
          <a:effectLst/>
        </p:spPr>
      </p:cxnSp>
      <p:sp>
        <p:nvSpPr>
          <p:cNvPr id="12" name="Rounded Rectangle 11"/>
          <p:cNvSpPr/>
          <p:nvPr/>
        </p:nvSpPr>
        <p:spPr>
          <a:xfrm>
            <a:off x="5321808" y="2724912"/>
            <a:ext cx="1554480" cy="658368"/>
          </a:xfrm>
          <a:prstGeom prst="roundRect">
            <a:avLst>
              <a:gd name="adj" fmla="val 15000"/>
            </a:avLst>
          </a:prstGeom>
          <a:solidFill>
            <a:srgbClr val="FBE4D3"/>
          </a:solidFill>
          <a:ln w="19050">
            <a:solidFill>
              <a:srgbClr val="C8501E"/>
            </a:solidFill>
          </a:ln>
          <a:effectLst/>
        </p:spPr>
        <p:txBody>
          <a:bodyPr wrap="square" lIns="54864" tIns="27432" rIns="54864" bIns="27432" rtlCol="0" anchor="ctr"/>
          <a:lstStyle/>
          <a:p>
            <a:pPr algn="ctr"/>
            <a:r>
              <a:rPr sz="1900" b="1" i="0">
                <a:solidFill>
                  <a:srgbClr val="1F2A44"/>
                </a:solidFill>
                <a:latin typeface="Calibri"/>
              </a:rPr>
              <a:t>XOR</a:t>
            </a:r>
          </a:p>
        </p:txBody>
      </p:sp>
      <p:cxnSp>
        <p:nvCxnSpPr>
          <p:cNvPr id="13" name="Connector 12"/>
          <p:cNvCxnSpPr/>
          <p:nvPr/>
        </p:nvCxnSpPr>
        <p:spPr>
          <a:xfrm flipV="1">
            <a:off x="4617720" y="3383280"/>
            <a:ext cx="1069848" cy="365759"/>
          </a:xfrm>
          <a:prstGeom prst="line">
            <a:avLst/>
          </a:prstGeom>
          <a:ln w="15875">
            <a:solidFill>
              <a:srgbClr val="8A8F98"/>
            </a:solidFill>
            <a:tailEnd type="triangle" w="med" len="med"/>
          </a:ln>
          <a:effectLst/>
        </p:spPr>
      </p:cxnSp>
      <p:cxnSp>
        <p:nvCxnSpPr>
          <p:cNvPr id="14" name="Connector 13"/>
          <p:cNvCxnSpPr/>
          <p:nvPr/>
        </p:nvCxnSpPr>
        <p:spPr>
          <a:xfrm flipH="1" flipV="1">
            <a:off x="6510528" y="3383280"/>
            <a:ext cx="1069847" cy="365759"/>
          </a:xfrm>
          <a:prstGeom prst="line">
            <a:avLst/>
          </a:prstGeom>
          <a:ln w="15875">
            <a:solidFill>
              <a:srgbClr val="8A8F98"/>
            </a:solidFill>
            <a:tailEnd type="triangle" w="med" len="med"/>
          </a:ln>
          <a:effectLst/>
        </p:spPr>
      </p:cxnSp>
      <p:sp>
        <p:nvSpPr>
          <p:cNvPr id="15" name="TextBox 14"/>
          <p:cNvSpPr txBox="1"/>
          <p:nvPr/>
        </p:nvSpPr>
        <p:spPr>
          <a:xfrm>
            <a:off x="4663440" y="3438144"/>
            <a:ext cx="457200" cy="274320"/>
          </a:xfrm>
          <a:prstGeom prst="rect">
            <a:avLst/>
          </a:prstGeom>
          <a:noFill/>
        </p:spPr>
        <p:txBody>
          <a:bodyPr wrap="square" lIns="45720" tIns="27432" rIns="45720" bIns="27432" anchor="t">
            <a:spAutoFit/>
          </a:bodyPr>
          <a:lstStyle/>
          <a:p>
            <a:pPr algn="l"/>
            <a:r>
              <a:rPr sz="1500" b="1" i="0">
                <a:solidFill>
                  <a:srgbClr val="6B717A"/>
                </a:solidFill>
                <a:latin typeface="Calibri"/>
              </a:rPr>
              <a:t>m₁</a:t>
            </a:r>
          </a:p>
        </p:txBody>
      </p:sp>
      <p:sp>
        <p:nvSpPr>
          <p:cNvPr id="16" name="TextBox 15"/>
          <p:cNvSpPr txBox="1"/>
          <p:nvPr/>
        </p:nvSpPr>
        <p:spPr>
          <a:xfrm>
            <a:off x="7168895" y="3438144"/>
            <a:ext cx="457200" cy="274320"/>
          </a:xfrm>
          <a:prstGeom prst="rect">
            <a:avLst/>
          </a:prstGeom>
          <a:noFill/>
        </p:spPr>
        <p:txBody>
          <a:bodyPr wrap="square" lIns="45720" tIns="27432" rIns="45720" bIns="27432" anchor="t">
            <a:spAutoFit/>
          </a:bodyPr>
          <a:lstStyle/>
          <a:p>
            <a:pPr algn="r"/>
            <a:r>
              <a:rPr sz="1500" b="1" i="0">
                <a:solidFill>
                  <a:srgbClr val="6B717A"/>
                </a:solidFill>
                <a:latin typeface="Calibri"/>
              </a:rPr>
              <a:t>m₂</a:t>
            </a:r>
          </a:p>
        </p:txBody>
      </p:sp>
      <p:cxnSp>
        <p:nvCxnSpPr>
          <p:cNvPr id="17" name="Connector 16"/>
          <p:cNvCxnSpPr/>
          <p:nvPr/>
        </p:nvCxnSpPr>
        <p:spPr>
          <a:xfrm flipV="1">
            <a:off x="6099048" y="2286000"/>
            <a:ext cx="0" cy="438912"/>
          </a:xfrm>
          <a:prstGeom prst="line">
            <a:avLst/>
          </a:prstGeom>
          <a:ln w="15875">
            <a:solidFill>
              <a:srgbClr val="8A8F98"/>
            </a:solidFill>
            <a:tailEnd type="triangle" w="med" len="med"/>
          </a:ln>
          <a:effectLst/>
        </p:spPr>
      </p:cxnSp>
      <p:sp>
        <p:nvSpPr>
          <p:cNvPr id="18" name="TextBox 17"/>
          <p:cNvSpPr txBox="1"/>
          <p:nvPr/>
        </p:nvSpPr>
        <p:spPr>
          <a:xfrm>
            <a:off x="6208776" y="2304288"/>
            <a:ext cx="457200" cy="320040"/>
          </a:xfrm>
          <a:prstGeom prst="rect">
            <a:avLst/>
          </a:prstGeom>
          <a:noFill/>
        </p:spPr>
        <p:txBody>
          <a:bodyPr wrap="square" lIns="45720" tIns="27432" rIns="45720" bIns="27432" anchor="t">
            <a:spAutoFit/>
          </a:bodyPr>
          <a:lstStyle/>
          <a:p>
            <a:pPr algn="l"/>
            <a:r>
              <a:rPr sz="1700" b="1" i="0">
                <a:solidFill>
                  <a:srgbClr val="1F2A44"/>
                </a:solidFill>
                <a:latin typeface="Calibri"/>
              </a:rPr>
              <a:t>p</a:t>
            </a:r>
          </a:p>
        </p:txBody>
      </p:sp>
      <p:sp>
        <p:nvSpPr>
          <p:cNvPr id="19" name="TextBox 18"/>
          <p:cNvSpPr txBox="1"/>
          <p:nvPr/>
        </p:nvSpPr>
        <p:spPr>
          <a:xfrm>
            <a:off x="704088" y="1828800"/>
            <a:ext cx="10789920" cy="411480"/>
          </a:xfrm>
          <a:prstGeom prst="rect">
            <a:avLst/>
          </a:prstGeom>
          <a:noFill/>
        </p:spPr>
        <p:txBody>
          <a:bodyPr wrap="square" lIns="45720" tIns="27432" rIns="45720" bIns="27432" anchor="t">
            <a:spAutoFit/>
          </a:bodyPr>
          <a:lstStyle/>
          <a:p>
            <a:pPr algn="ctr"/>
            <a:r>
              <a:rPr sz="2200" b="1" i="0">
                <a:solidFill>
                  <a:srgbClr val="C8501E"/>
                </a:solidFill>
                <a:latin typeface="Calibri"/>
              </a:rPr>
              <a:t>p = 1   ⟺   C₁ and C₂ disagree on this input</a:t>
            </a:r>
          </a:p>
        </p:txBody>
      </p:sp>
      <p:sp>
        <p:nvSpPr>
          <p:cNvPr id="20" name="Rounded Rectangle 19"/>
          <p:cNvSpPr/>
          <p:nvPr/>
        </p:nvSpPr>
        <p:spPr>
          <a:xfrm>
            <a:off x="566928" y="5806440"/>
            <a:ext cx="11064240" cy="502920"/>
          </a:xfrm>
          <a:prstGeom prst="roundRect">
            <a:avLst>
              <a:gd name="adj" fmla="val 15000"/>
            </a:avLst>
          </a:prstGeom>
          <a:solidFill>
            <a:srgbClr val="1F2A44"/>
          </a:solidFill>
          <a:ln>
            <a:noFill/>
          </a:ln>
          <a:effectLst/>
        </p:spPr>
        <p:txBody>
          <a:bodyPr wrap="square" lIns="54864" tIns="27432" rIns="54864" bIns="27432" rtlCol="0" anchor="ctr"/>
          <a:lstStyle/>
          <a:p>
            <a:pPr algn="ctr"/>
            <a:r>
              <a:rPr sz="2100" b="1" i="0">
                <a:solidFill>
                  <a:srgbClr val="FFFFFF"/>
                </a:solidFill>
                <a:latin typeface="Calibri"/>
              </a:rPr>
              <a:t>equivalent   ⟺   p = 1 is unsatisfiable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Running example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19</a:t>
            </a:r>
          </a:p>
        </p:txBody>
      </p:sp>
      <p:cxnSp>
        <p:nvCxnSpPr>
          <p:cNvPr id="6" name="Connector 5"/>
          <p:cNvCxnSpPr/>
          <p:nvPr/>
        </p:nvCxnSpPr>
        <p:spPr>
          <a:xfrm flipH="1">
            <a:off x="2784348" y="3803903"/>
            <a:ext cx="539496" cy="1106425"/>
          </a:xfrm>
          <a:prstGeom prst="line">
            <a:avLst/>
          </a:prstGeom>
          <a:ln w="15875">
            <a:solidFill>
              <a:srgbClr val="8A8F98"/>
            </a:solidFill>
          </a:ln>
          <a:effectLst/>
        </p:spPr>
      </p:cxnSp>
      <p:cxnSp>
        <p:nvCxnSpPr>
          <p:cNvPr id="7" name="Connector 6"/>
          <p:cNvCxnSpPr/>
          <p:nvPr/>
        </p:nvCxnSpPr>
        <p:spPr>
          <a:xfrm>
            <a:off x="3323844" y="3803903"/>
            <a:ext cx="960120" cy="1106425"/>
          </a:xfrm>
          <a:prstGeom prst="line">
            <a:avLst/>
          </a:prstGeom>
          <a:ln w="15875">
            <a:solidFill>
              <a:srgbClr val="8A8F98"/>
            </a:solidFill>
          </a:ln>
          <a:effectLst/>
        </p:spPr>
      </p:cxnSp>
      <p:cxnSp>
        <p:nvCxnSpPr>
          <p:cNvPr id="8" name="Connector 7"/>
          <p:cNvCxnSpPr/>
          <p:nvPr/>
        </p:nvCxnSpPr>
        <p:spPr>
          <a:xfrm flipH="1">
            <a:off x="3406139" y="3803903"/>
            <a:ext cx="1014985" cy="1106425"/>
          </a:xfrm>
          <a:prstGeom prst="line">
            <a:avLst/>
          </a:prstGeom>
          <a:ln w="15875">
            <a:solidFill>
              <a:srgbClr val="8A8F98"/>
            </a:solidFill>
          </a:ln>
          <a:effectLst/>
        </p:spPr>
      </p:cxnSp>
      <p:cxnSp>
        <p:nvCxnSpPr>
          <p:cNvPr id="9" name="Connector 8"/>
          <p:cNvCxnSpPr/>
          <p:nvPr/>
        </p:nvCxnSpPr>
        <p:spPr>
          <a:xfrm>
            <a:off x="4421124" y="3803903"/>
            <a:ext cx="484632" cy="1106425"/>
          </a:xfrm>
          <a:prstGeom prst="line">
            <a:avLst/>
          </a:prstGeom>
          <a:ln w="15875">
            <a:solidFill>
              <a:srgbClr val="8A8F98"/>
            </a:solidFill>
          </a:ln>
          <a:effectLst/>
        </p:spPr>
      </p:cxnSp>
      <p:cxnSp>
        <p:nvCxnSpPr>
          <p:cNvPr id="10" name="Connector 9"/>
          <p:cNvCxnSpPr/>
          <p:nvPr/>
        </p:nvCxnSpPr>
        <p:spPr>
          <a:xfrm flipH="1">
            <a:off x="7283196" y="3803903"/>
            <a:ext cx="475487" cy="1106425"/>
          </a:xfrm>
          <a:prstGeom prst="line">
            <a:avLst/>
          </a:prstGeom>
          <a:ln w="15875">
            <a:solidFill>
              <a:srgbClr val="8A8F98"/>
            </a:solidFill>
          </a:ln>
          <a:effectLst/>
        </p:spPr>
      </p:cxnSp>
      <p:cxnSp>
        <p:nvCxnSpPr>
          <p:cNvPr id="11" name="Connector 10"/>
          <p:cNvCxnSpPr/>
          <p:nvPr/>
        </p:nvCxnSpPr>
        <p:spPr>
          <a:xfrm>
            <a:off x="7758683" y="3803903"/>
            <a:ext cx="1024129" cy="1106425"/>
          </a:xfrm>
          <a:prstGeom prst="line">
            <a:avLst/>
          </a:prstGeom>
          <a:ln w="15875">
            <a:solidFill>
              <a:srgbClr val="8A8F98"/>
            </a:solidFill>
          </a:ln>
          <a:effectLst/>
        </p:spPr>
      </p:cxnSp>
      <p:cxnSp>
        <p:nvCxnSpPr>
          <p:cNvPr id="12" name="Connector 11"/>
          <p:cNvCxnSpPr/>
          <p:nvPr/>
        </p:nvCxnSpPr>
        <p:spPr>
          <a:xfrm flipH="1">
            <a:off x="7904988" y="3803903"/>
            <a:ext cx="950975" cy="1106425"/>
          </a:xfrm>
          <a:prstGeom prst="line">
            <a:avLst/>
          </a:prstGeom>
          <a:ln w="15875">
            <a:solidFill>
              <a:srgbClr val="8A8F98"/>
            </a:solidFill>
          </a:ln>
          <a:effectLst/>
        </p:spPr>
      </p:cxnSp>
      <p:cxnSp>
        <p:nvCxnSpPr>
          <p:cNvPr id="13" name="Connector 12"/>
          <p:cNvCxnSpPr/>
          <p:nvPr/>
        </p:nvCxnSpPr>
        <p:spPr>
          <a:xfrm>
            <a:off x="8855963" y="3803903"/>
            <a:ext cx="548641" cy="1106425"/>
          </a:xfrm>
          <a:prstGeom prst="line">
            <a:avLst/>
          </a:prstGeom>
          <a:ln w="15875">
            <a:solidFill>
              <a:srgbClr val="8A8F98"/>
            </a:solidFill>
          </a:ln>
          <a:effectLst/>
        </p:spPr>
      </p:cxnSp>
      <p:cxnSp>
        <p:nvCxnSpPr>
          <p:cNvPr id="14" name="Connector 13"/>
          <p:cNvCxnSpPr/>
          <p:nvPr/>
        </p:nvCxnSpPr>
        <p:spPr>
          <a:xfrm>
            <a:off x="5564124" y="2203704"/>
            <a:ext cx="219455" cy="2706624"/>
          </a:xfrm>
          <a:prstGeom prst="line">
            <a:avLst/>
          </a:prstGeom>
          <a:ln w="15875">
            <a:solidFill>
              <a:srgbClr val="8A8F98"/>
            </a:solidFill>
          </a:ln>
          <a:effectLst/>
        </p:spPr>
      </p:cxnSp>
      <p:cxnSp>
        <p:nvCxnSpPr>
          <p:cNvPr id="15" name="Connector 14"/>
          <p:cNvCxnSpPr/>
          <p:nvPr/>
        </p:nvCxnSpPr>
        <p:spPr>
          <a:xfrm flipH="1">
            <a:off x="3323844" y="2203704"/>
            <a:ext cx="2240280" cy="749807"/>
          </a:xfrm>
          <a:prstGeom prst="line">
            <a:avLst/>
          </a:prstGeom>
          <a:ln w="15875">
            <a:solidFill>
              <a:srgbClr val="8A8F98"/>
            </a:solidFill>
          </a:ln>
          <a:effectLst/>
        </p:spPr>
      </p:cxnSp>
      <p:cxnSp>
        <p:nvCxnSpPr>
          <p:cNvPr id="16" name="Connector 15"/>
          <p:cNvCxnSpPr/>
          <p:nvPr/>
        </p:nvCxnSpPr>
        <p:spPr>
          <a:xfrm>
            <a:off x="5564124" y="2203704"/>
            <a:ext cx="2194559" cy="749807"/>
          </a:xfrm>
          <a:prstGeom prst="line">
            <a:avLst/>
          </a:prstGeom>
          <a:ln w="15875">
            <a:solidFill>
              <a:srgbClr val="8A8F98"/>
            </a:solidFill>
          </a:ln>
          <a:effectLst/>
        </p:spPr>
      </p:cxnSp>
      <p:cxnSp>
        <p:nvCxnSpPr>
          <p:cNvPr id="17" name="Connector 16"/>
          <p:cNvCxnSpPr/>
          <p:nvPr/>
        </p:nvCxnSpPr>
        <p:spPr>
          <a:xfrm flipH="1">
            <a:off x="6405372" y="2203704"/>
            <a:ext cx="484632" cy="2706624"/>
          </a:xfrm>
          <a:prstGeom prst="line">
            <a:avLst/>
          </a:prstGeom>
          <a:ln w="15875">
            <a:solidFill>
              <a:srgbClr val="8A8F98"/>
            </a:solidFill>
          </a:ln>
          <a:effectLst/>
        </p:spPr>
      </p:cxnSp>
      <p:cxnSp>
        <p:nvCxnSpPr>
          <p:cNvPr id="18" name="Connector 17"/>
          <p:cNvCxnSpPr/>
          <p:nvPr/>
        </p:nvCxnSpPr>
        <p:spPr>
          <a:xfrm flipH="1">
            <a:off x="4421124" y="2203704"/>
            <a:ext cx="2468880" cy="749807"/>
          </a:xfrm>
          <a:prstGeom prst="line">
            <a:avLst/>
          </a:prstGeom>
          <a:ln w="15875">
            <a:solidFill>
              <a:srgbClr val="8A8F98"/>
            </a:solidFill>
          </a:ln>
          <a:effectLst/>
        </p:spPr>
      </p:cxnSp>
      <p:cxnSp>
        <p:nvCxnSpPr>
          <p:cNvPr id="19" name="Connector 18"/>
          <p:cNvCxnSpPr/>
          <p:nvPr/>
        </p:nvCxnSpPr>
        <p:spPr>
          <a:xfrm>
            <a:off x="6890004" y="2203704"/>
            <a:ext cx="1965959" cy="749807"/>
          </a:xfrm>
          <a:prstGeom prst="line">
            <a:avLst/>
          </a:prstGeom>
          <a:ln w="15875">
            <a:solidFill>
              <a:srgbClr val="8A8F98"/>
            </a:solidFill>
          </a:ln>
          <a:effectLst/>
        </p:spPr>
      </p:cxnSp>
      <p:sp>
        <p:nvSpPr>
          <p:cNvPr id="20" name="Rounded Rectangle 19"/>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1" name="Rounded Rectangle 20"/>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2" name="Rounded Rectangle 21"/>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23" name="Rounded Rectangle 22"/>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24" name="Rounded Rectangle 23"/>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25" name="Rounded Rectangle 24"/>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26" name="Rounded Rectangle 25"/>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27" name="Rounded Rectangle 26"/>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28" name="Rounded Rectangle 27"/>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29" name="Rounded Rectangle 28"/>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0" name="Rounded Rectangle 29"/>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31" name="TextBox 30"/>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a₁</a:t>
            </a:r>
          </a:p>
        </p:txBody>
      </p:sp>
      <p:sp>
        <p:nvSpPr>
          <p:cNvPr id="32" name="Rounded Rectangle 31"/>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33" name="TextBox 32"/>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34" name="Rounded Rectangle 33"/>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35" name="TextBox 34"/>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x₁</a:t>
            </a:r>
          </a:p>
        </p:txBody>
      </p:sp>
      <p:sp>
        <p:nvSpPr>
          <p:cNvPr id="36" name="Rounded Rectangle 35"/>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37" name="TextBox 36"/>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38" name="Rounded Rectangle 37"/>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39" name="TextBox 38"/>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0" name="Rounded Rectangle 39"/>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1" name="TextBox 40"/>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Running example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20</a:t>
            </a:r>
          </a:p>
        </p:txBody>
      </p:sp>
      <p:cxnSp>
        <p:nvCxnSpPr>
          <p:cNvPr id="6" name="Connector 5"/>
          <p:cNvCxnSpPr/>
          <p:nvPr/>
        </p:nvCxnSpPr>
        <p:spPr>
          <a:xfrm flipH="1">
            <a:off x="2784348" y="3803903"/>
            <a:ext cx="539496" cy="1106425"/>
          </a:xfrm>
          <a:prstGeom prst="line">
            <a:avLst/>
          </a:prstGeom>
          <a:ln w="15875">
            <a:solidFill>
              <a:srgbClr val="8A8F98"/>
            </a:solidFill>
          </a:ln>
          <a:effectLst/>
        </p:spPr>
      </p:cxnSp>
      <p:cxnSp>
        <p:nvCxnSpPr>
          <p:cNvPr id="7" name="Connector 6"/>
          <p:cNvCxnSpPr/>
          <p:nvPr/>
        </p:nvCxnSpPr>
        <p:spPr>
          <a:xfrm>
            <a:off x="3323844" y="3803903"/>
            <a:ext cx="960120" cy="1106425"/>
          </a:xfrm>
          <a:prstGeom prst="line">
            <a:avLst/>
          </a:prstGeom>
          <a:ln w="15875">
            <a:solidFill>
              <a:srgbClr val="8A8F98"/>
            </a:solidFill>
          </a:ln>
          <a:effectLst/>
        </p:spPr>
      </p:cxnSp>
      <p:cxnSp>
        <p:nvCxnSpPr>
          <p:cNvPr id="8" name="Connector 7"/>
          <p:cNvCxnSpPr/>
          <p:nvPr/>
        </p:nvCxnSpPr>
        <p:spPr>
          <a:xfrm flipH="1">
            <a:off x="3406139" y="3803903"/>
            <a:ext cx="1014985" cy="1106425"/>
          </a:xfrm>
          <a:prstGeom prst="line">
            <a:avLst/>
          </a:prstGeom>
          <a:ln w="15875">
            <a:solidFill>
              <a:srgbClr val="8A8F98"/>
            </a:solidFill>
          </a:ln>
          <a:effectLst/>
        </p:spPr>
      </p:cxnSp>
      <p:cxnSp>
        <p:nvCxnSpPr>
          <p:cNvPr id="9" name="Connector 8"/>
          <p:cNvCxnSpPr/>
          <p:nvPr/>
        </p:nvCxnSpPr>
        <p:spPr>
          <a:xfrm>
            <a:off x="4421124" y="3803903"/>
            <a:ext cx="484632" cy="1106425"/>
          </a:xfrm>
          <a:prstGeom prst="line">
            <a:avLst/>
          </a:prstGeom>
          <a:ln w="15875">
            <a:solidFill>
              <a:srgbClr val="8A8F98"/>
            </a:solidFill>
          </a:ln>
          <a:effectLst/>
        </p:spPr>
      </p:cxnSp>
      <p:cxnSp>
        <p:nvCxnSpPr>
          <p:cNvPr id="10" name="Connector 9"/>
          <p:cNvCxnSpPr/>
          <p:nvPr/>
        </p:nvCxnSpPr>
        <p:spPr>
          <a:xfrm flipH="1">
            <a:off x="7283196" y="3803903"/>
            <a:ext cx="475487" cy="1106425"/>
          </a:xfrm>
          <a:prstGeom prst="line">
            <a:avLst/>
          </a:prstGeom>
          <a:ln w="15875">
            <a:solidFill>
              <a:srgbClr val="8A8F98"/>
            </a:solidFill>
          </a:ln>
          <a:effectLst/>
        </p:spPr>
      </p:cxnSp>
      <p:cxnSp>
        <p:nvCxnSpPr>
          <p:cNvPr id="11" name="Connector 10"/>
          <p:cNvCxnSpPr/>
          <p:nvPr/>
        </p:nvCxnSpPr>
        <p:spPr>
          <a:xfrm>
            <a:off x="7758683" y="3803903"/>
            <a:ext cx="1024129" cy="1106425"/>
          </a:xfrm>
          <a:prstGeom prst="line">
            <a:avLst/>
          </a:prstGeom>
          <a:ln w="15875">
            <a:solidFill>
              <a:srgbClr val="8A8F98"/>
            </a:solidFill>
          </a:ln>
          <a:effectLst/>
        </p:spPr>
      </p:cxnSp>
      <p:cxnSp>
        <p:nvCxnSpPr>
          <p:cNvPr id="12" name="Connector 11"/>
          <p:cNvCxnSpPr/>
          <p:nvPr/>
        </p:nvCxnSpPr>
        <p:spPr>
          <a:xfrm flipH="1">
            <a:off x="7904988" y="3803903"/>
            <a:ext cx="950975" cy="1106425"/>
          </a:xfrm>
          <a:prstGeom prst="line">
            <a:avLst/>
          </a:prstGeom>
          <a:ln w="15875">
            <a:solidFill>
              <a:srgbClr val="8A8F98"/>
            </a:solidFill>
          </a:ln>
          <a:effectLst/>
        </p:spPr>
      </p:cxnSp>
      <p:cxnSp>
        <p:nvCxnSpPr>
          <p:cNvPr id="13" name="Connector 12"/>
          <p:cNvCxnSpPr/>
          <p:nvPr/>
        </p:nvCxnSpPr>
        <p:spPr>
          <a:xfrm>
            <a:off x="8855963" y="3803903"/>
            <a:ext cx="548641" cy="1106425"/>
          </a:xfrm>
          <a:prstGeom prst="line">
            <a:avLst/>
          </a:prstGeom>
          <a:ln w="15875">
            <a:solidFill>
              <a:srgbClr val="8A8F98"/>
            </a:solidFill>
          </a:ln>
          <a:effectLst/>
        </p:spPr>
      </p:cxnSp>
      <p:cxnSp>
        <p:nvCxnSpPr>
          <p:cNvPr id="14" name="Connector 13"/>
          <p:cNvCxnSpPr/>
          <p:nvPr/>
        </p:nvCxnSpPr>
        <p:spPr>
          <a:xfrm>
            <a:off x="5564124" y="2203704"/>
            <a:ext cx="219455" cy="2706624"/>
          </a:xfrm>
          <a:prstGeom prst="line">
            <a:avLst/>
          </a:prstGeom>
          <a:ln w="15875">
            <a:solidFill>
              <a:srgbClr val="8A8F98"/>
            </a:solidFill>
          </a:ln>
          <a:effectLst/>
        </p:spPr>
      </p:cxnSp>
      <p:cxnSp>
        <p:nvCxnSpPr>
          <p:cNvPr id="15" name="Connector 14"/>
          <p:cNvCxnSpPr/>
          <p:nvPr/>
        </p:nvCxnSpPr>
        <p:spPr>
          <a:xfrm flipH="1">
            <a:off x="3323844" y="2203704"/>
            <a:ext cx="2240280" cy="749807"/>
          </a:xfrm>
          <a:prstGeom prst="line">
            <a:avLst/>
          </a:prstGeom>
          <a:ln w="15875">
            <a:solidFill>
              <a:srgbClr val="8A8F98"/>
            </a:solidFill>
          </a:ln>
          <a:effectLst/>
        </p:spPr>
      </p:cxnSp>
      <p:cxnSp>
        <p:nvCxnSpPr>
          <p:cNvPr id="16" name="Connector 15"/>
          <p:cNvCxnSpPr/>
          <p:nvPr/>
        </p:nvCxnSpPr>
        <p:spPr>
          <a:xfrm>
            <a:off x="5564124" y="2203704"/>
            <a:ext cx="2194559" cy="749807"/>
          </a:xfrm>
          <a:prstGeom prst="line">
            <a:avLst/>
          </a:prstGeom>
          <a:ln w="15875">
            <a:solidFill>
              <a:srgbClr val="8A8F98"/>
            </a:solidFill>
          </a:ln>
          <a:effectLst/>
        </p:spPr>
      </p:cxnSp>
      <p:cxnSp>
        <p:nvCxnSpPr>
          <p:cNvPr id="17" name="Connector 16"/>
          <p:cNvCxnSpPr/>
          <p:nvPr/>
        </p:nvCxnSpPr>
        <p:spPr>
          <a:xfrm flipH="1">
            <a:off x="6405372" y="2203704"/>
            <a:ext cx="484632" cy="2706624"/>
          </a:xfrm>
          <a:prstGeom prst="line">
            <a:avLst/>
          </a:prstGeom>
          <a:ln w="15875">
            <a:solidFill>
              <a:srgbClr val="8A8F98"/>
            </a:solidFill>
          </a:ln>
          <a:effectLst/>
        </p:spPr>
      </p:cxnSp>
      <p:cxnSp>
        <p:nvCxnSpPr>
          <p:cNvPr id="18" name="Connector 17"/>
          <p:cNvCxnSpPr/>
          <p:nvPr/>
        </p:nvCxnSpPr>
        <p:spPr>
          <a:xfrm flipH="1">
            <a:off x="4421124" y="2203704"/>
            <a:ext cx="2468880" cy="749807"/>
          </a:xfrm>
          <a:prstGeom prst="line">
            <a:avLst/>
          </a:prstGeom>
          <a:ln w="15875">
            <a:solidFill>
              <a:srgbClr val="8A8F98"/>
            </a:solidFill>
          </a:ln>
          <a:effectLst/>
        </p:spPr>
      </p:cxnSp>
      <p:cxnSp>
        <p:nvCxnSpPr>
          <p:cNvPr id="19" name="Connector 18"/>
          <p:cNvCxnSpPr/>
          <p:nvPr/>
        </p:nvCxnSpPr>
        <p:spPr>
          <a:xfrm>
            <a:off x="6890004" y="2203704"/>
            <a:ext cx="1965959" cy="749807"/>
          </a:xfrm>
          <a:prstGeom prst="line">
            <a:avLst/>
          </a:prstGeom>
          <a:ln w="15875">
            <a:solidFill>
              <a:srgbClr val="8A8F98"/>
            </a:solidFill>
          </a:ln>
          <a:effectLst/>
        </p:spPr>
      </p:cxnSp>
      <p:sp>
        <p:nvSpPr>
          <p:cNvPr id="20" name="Rounded Rectangle 19"/>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1" name="Rounded Rectangle 20"/>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2" name="Rounded Rectangle 21"/>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23" name="Rounded Rectangle 22"/>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24" name="Rounded Rectangle 23"/>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25" name="Rounded Rectangle 24"/>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26" name="Rounded Rectangle 25"/>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27" name="Rounded Rectangle 26"/>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28" name="Rounded Rectangle 27"/>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29" name="Rounded Rectangle 28"/>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0" name="Rounded Rectangle 29"/>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31" name="TextBox 30"/>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a₁</a:t>
            </a:r>
          </a:p>
        </p:txBody>
      </p:sp>
      <p:sp>
        <p:nvSpPr>
          <p:cNvPr id="32" name="Rounded Rectangle 31"/>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33" name="TextBox 32"/>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34" name="Rounded Rectangle 33"/>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35" name="TextBox 34"/>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x₁</a:t>
            </a:r>
          </a:p>
        </p:txBody>
      </p:sp>
      <p:sp>
        <p:nvSpPr>
          <p:cNvPr id="36" name="Rounded Rectangle 35"/>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37" name="TextBox 36"/>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38" name="Rounded Rectangle 37"/>
          <p:cNvSpPr/>
          <p:nvPr/>
        </p:nvSpPr>
        <p:spPr>
          <a:xfrm>
            <a:off x="5161788" y="1636776"/>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ITE</a:t>
            </a:r>
          </a:p>
        </p:txBody>
      </p:sp>
      <p:sp>
        <p:nvSpPr>
          <p:cNvPr id="39" name="TextBox 38"/>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0" name="Rounded Rectangle 39"/>
          <p:cNvSpPr/>
          <p:nvPr/>
        </p:nvSpPr>
        <p:spPr>
          <a:xfrm>
            <a:off x="6487668" y="1636776"/>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ITE</a:t>
            </a:r>
          </a:p>
        </p:txBody>
      </p:sp>
      <p:sp>
        <p:nvSpPr>
          <p:cNvPr id="41" name="TextBox 40"/>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
        <p:nvSpPr>
          <p:cNvPr id="42" name="TextBox 41"/>
          <p:cNvSpPr txBox="1"/>
          <p:nvPr/>
        </p:nvSpPr>
        <p:spPr>
          <a:xfrm>
            <a:off x="5586984" y="1207008"/>
            <a:ext cx="1280160" cy="329184"/>
          </a:xfrm>
          <a:prstGeom prst="rect">
            <a:avLst/>
          </a:prstGeom>
          <a:noFill/>
        </p:spPr>
        <p:txBody>
          <a:bodyPr wrap="square" lIns="45720" tIns="27432" rIns="45720" bIns="27432" anchor="t">
            <a:spAutoFit/>
          </a:bodyPr>
          <a:lstStyle/>
          <a:p>
            <a:pPr algn="ctr"/>
            <a:r>
              <a:rPr sz="1600" b="1" i="0">
                <a:solidFill>
                  <a:srgbClr val="6B717A"/>
                </a:solidFill>
                <a:latin typeface="Calibri"/>
              </a:rPr>
              <a:t>Query</a:t>
            </a:r>
          </a:p>
        </p:txBody>
      </p:sp>
      <p:sp>
        <p:nvSpPr>
          <p:cNvPr id="43" name="TextBox 42"/>
          <p:cNvSpPr txBox="1"/>
          <p:nvPr/>
        </p:nvSpPr>
        <p:spPr>
          <a:xfrm>
            <a:off x="5724144" y="1682496"/>
            <a:ext cx="1005840" cy="475488"/>
          </a:xfrm>
          <a:prstGeom prst="rect">
            <a:avLst/>
          </a:prstGeom>
          <a:noFill/>
        </p:spPr>
        <p:txBody>
          <a:bodyPr wrap="square" lIns="45720" tIns="27432" rIns="45720" bIns="27432" anchor="ctr">
            <a:spAutoFit/>
          </a:bodyPr>
          <a:lstStyle/>
          <a:p>
            <a:pPr algn="ctr"/>
            <a:r>
              <a:rPr sz="2400" b="1" i="0">
                <a:solidFill>
                  <a:srgbClr val="C8501E"/>
                </a:solidFill>
                <a:latin typeface="Calibri"/>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Reading the diagram</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21</a:t>
            </a:r>
          </a:p>
        </p:txBody>
      </p:sp>
      <p:cxnSp>
        <p:nvCxnSpPr>
          <p:cNvPr id="6" name="Connector 5"/>
          <p:cNvCxnSpPr/>
          <p:nvPr/>
        </p:nvCxnSpPr>
        <p:spPr>
          <a:xfrm flipH="1">
            <a:off x="2784348" y="3803903"/>
            <a:ext cx="539496" cy="1106425"/>
          </a:xfrm>
          <a:prstGeom prst="line">
            <a:avLst/>
          </a:prstGeom>
          <a:ln w="15875">
            <a:solidFill>
              <a:srgbClr val="C9CDD3"/>
            </a:solidFill>
          </a:ln>
          <a:effectLst/>
        </p:spPr>
      </p:cxnSp>
      <p:cxnSp>
        <p:nvCxnSpPr>
          <p:cNvPr id="7" name="Connector 6"/>
          <p:cNvCxnSpPr/>
          <p:nvPr/>
        </p:nvCxnSpPr>
        <p:spPr>
          <a:xfrm>
            <a:off x="3323844" y="3803903"/>
            <a:ext cx="960120" cy="1106425"/>
          </a:xfrm>
          <a:prstGeom prst="line">
            <a:avLst/>
          </a:prstGeom>
          <a:ln w="15875">
            <a:solidFill>
              <a:srgbClr val="C9CDD3"/>
            </a:solidFill>
          </a:ln>
          <a:effectLst/>
        </p:spPr>
      </p:cxnSp>
      <p:cxnSp>
        <p:nvCxnSpPr>
          <p:cNvPr id="8" name="Connector 7"/>
          <p:cNvCxnSpPr/>
          <p:nvPr/>
        </p:nvCxnSpPr>
        <p:spPr>
          <a:xfrm flipH="1">
            <a:off x="3406139" y="3803903"/>
            <a:ext cx="1014985" cy="1106425"/>
          </a:xfrm>
          <a:prstGeom prst="line">
            <a:avLst/>
          </a:prstGeom>
          <a:ln w="15875">
            <a:solidFill>
              <a:srgbClr val="C9CDD3"/>
            </a:solidFill>
          </a:ln>
          <a:effectLst/>
        </p:spPr>
      </p:cxnSp>
      <p:cxnSp>
        <p:nvCxnSpPr>
          <p:cNvPr id="9" name="Connector 8"/>
          <p:cNvCxnSpPr/>
          <p:nvPr/>
        </p:nvCxnSpPr>
        <p:spPr>
          <a:xfrm>
            <a:off x="4421124" y="3803903"/>
            <a:ext cx="484632" cy="1106425"/>
          </a:xfrm>
          <a:prstGeom prst="line">
            <a:avLst/>
          </a:prstGeom>
          <a:ln w="15875">
            <a:solidFill>
              <a:srgbClr val="C9CDD3"/>
            </a:solidFill>
          </a:ln>
          <a:effectLst/>
        </p:spPr>
      </p:cxnSp>
      <p:cxnSp>
        <p:nvCxnSpPr>
          <p:cNvPr id="10" name="Connector 9"/>
          <p:cNvCxnSpPr/>
          <p:nvPr/>
        </p:nvCxnSpPr>
        <p:spPr>
          <a:xfrm flipH="1">
            <a:off x="7283196" y="3803903"/>
            <a:ext cx="475487" cy="1106425"/>
          </a:xfrm>
          <a:prstGeom prst="line">
            <a:avLst/>
          </a:prstGeom>
          <a:ln w="15875">
            <a:solidFill>
              <a:srgbClr val="C9CDD3"/>
            </a:solidFill>
          </a:ln>
          <a:effectLst/>
        </p:spPr>
      </p:cxnSp>
      <p:cxnSp>
        <p:nvCxnSpPr>
          <p:cNvPr id="11" name="Connector 10"/>
          <p:cNvCxnSpPr/>
          <p:nvPr/>
        </p:nvCxnSpPr>
        <p:spPr>
          <a:xfrm>
            <a:off x="7758683" y="3803903"/>
            <a:ext cx="1024129" cy="1106425"/>
          </a:xfrm>
          <a:prstGeom prst="line">
            <a:avLst/>
          </a:prstGeom>
          <a:ln w="15875">
            <a:solidFill>
              <a:srgbClr val="C9CDD3"/>
            </a:solidFill>
          </a:ln>
          <a:effectLst/>
        </p:spPr>
      </p:cxnSp>
      <p:cxnSp>
        <p:nvCxnSpPr>
          <p:cNvPr id="12" name="Connector 11"/>
          <p:cNvCxnSpPr/>
          <p:nvPr/>
        </p:nvCxnSpPr>
        <p:spPr>
          <a:xfrm flipH="1">
            <a:off x="7904988" y="3803903"/>
            <a:ext cx="950975" cy="1106425"/>
          </a:xfrm>
          <a:prstGeom prst="line">
            <a:avLst/>
          </a:prstGeom>
          <a:ln w="15875">
            <a:solidFill>
              <a:srgbClr val="C9CDD3"/>
            </a:solidFill>
          </a:ln>
          <a:effectLst/>
        </p:spPr>
      </p:cxnSp>
      <p:cxnSp>
        <p:nvCxnSpPr>
          <p:cNvPr id="13" name="Connector 12"/>
          <p:cNvCxnSpPr/>
          <p:nvPr/>
        </p:nvCxnSpPr>
        <p:spPr>
          <a:xfrm>
            <a:off x="8855963" y="3803903"/>
            <a:ext cx="548641" cy="1106425"/>
          </a:xfrm>
          <a:prstGeom prst="line">
            <a:avLst/>
          </a:prstGeom>
          <a:ln w="15875">
            <a:solidFill>
              <a:srgbClr val="C9CDD3"/>
            </a:solidFill>
          </a:ln>
          <a:effectLst/>
        </p:spPr>
      </p:cxnSp>
      <p:cxnSp>
        <p:nvCxnSpPr>
          <p:cNvPr id="14" name="Connector 13"/>
          <p:cNvCxnSpPr/>
          <p:nvPr/>
        </p:nvCxnSpPr>
        <p:spPr>
          <a:xfrm>
            <a:off x="5564124" y="2203704"/>
            <a:ext cx="219455" cy="2706624"/>
          </a:xfrm>
          <a:prstGeom prst="line">
            <a:avLst/>
          </a:prstGeom>
          <a:ln w="15875">
            <a:solidFill>
              <a:srgbClr val="C9CDD3"/>
            </a:solidFill>
          </a:ln>
          <a:effectLst/>
        </p:spPr>
      </p:cxnSp>
      <p:cxnSp>
        <p:nvCxnSpPr>
          <p:cNvPr id="15" name="Connector 14"/>
          <p:cNvCxnSpPr/>
          <p:nvPr/>
        </p:nvCxnSpPr>
        <p:spPr>
          <a:xfrm flipH="1">
            <a:off x="3323844" y="2203704"/>
            <a:ext cx="2240280" cy="749807"/>
          </a:xfrm>
          <a:prstGeom prst="line">
            <a:avLst/>
          </a:prstGeom>
          <a:ln w="15875">
            <a:solidFill>
              <a:srgbClr val="C9CDD3"/>
            </a:solidFill>
          </a:ln>
          <a:effectLst/>
        </p:spPr>
      </p:cxnSp>
      <p:cxnSp>
        <p:nvCxnSpPr>
          <p:cNvPr id="16" name="Connector 15"/>
          <p:cNvCxnSpPr/>
          <p:nvPr/>
        </p:nvCxnSpPr>
        <p:spPr>
          <a:xfrm>
            <a:off x="5564124" y="2203704"/>
            <a:ext cx="2194559" cy="749807"/>
          </a:xfrm>
          <a:prstGeom prst="line">
            <a:avLst/>
          </a:prstGeom>
          <a:ln w="15875">
            <a:solidFill>
              <a:srgbClr val="C9CDD3"/>
            </a:solidFill>
          </a:ln>
          <a:effectLst/>
        </p:spPr>
      </p:cxnSp>
      <p:cxnSp>
        <p:nvCxnSpPr>
          <p:cNvPr id="17" name="Connector 16"/>
          <p:cNvCxnSpPr/>
          <p:nvPr/>
        </p:nvCxnSpPr>
        <p:spPr>
          <a:xfrm flipH="1">
            <a:off x="6405372" y="2203704"/>
            <a:ext cx="484632" cy="2706624"/>
          </a:xfrm>
          <a:prstGeom prst="line">
            <a:avLst/>
          </a:prstGeom>
          <a:ln w="31750">
            <a:solidFill>
              <a:srgbClr val="C8501E"/>
            </a:solidFill>
            <a:tailEnd type="triangle" w="med" len="med"/>
          </a:ln>
          <a:effectLst/>
        </p:spPr>
      </p:cxnSp>
      <p:cxnSp>
        <p:nvCxnSpPr>
          <p:cNvPr id="18" name="Connector 17"/>
          <p:cNvCxnSpPr/>
          <p:nvPr/>
        </p:nvCxnSpPr>
        <p:spPr>
          <a:xfrm flipH="1">
            <a:off x="4421124" y="2203704"/>
            <a:ext cx="2468880" cy="749807"/>
          </a:xfrm>
          <a:prstGeom prst="line">
            <a:avLst/>
          </a:prstGeom>
          <a:ln w="31750">
            <a:solidFill>
              <a:srgbClr val="C8501E"/>
            </a:solidFill>
            <a:tailEnd type="triangle" w="med" len="med"/>
          </a:ln>
          <a:effectLst/>
        </p:spPr>
      </p:cxnSp>
      <p:cxnSp>
        <p:nvCxnSpPr>
          <p:cNvPr id="19" name="Connector 18"/>
          <p:cNvCxnSpPr/>
          <p:nvPr/>
        </p:nvCxnSpPr>
        <p:spPr>
          <a:xfrm>
            <a:off x="6890004" y="2203704"/>
            <a:ext cx="1965959" cy="749807"/>
          </a:xfrm>
          <a:prstGeom prst="line">
            <a:avLst/>
          </a:prstGeom>
          <a:ln w="31750">
            <a:solidFill>
              <a:srgbClr val="C8501E"/>
            </a:solidFill>
            <a:tailEnd type="triangle" w="med" len="med"/>
          </a:ln>
          <a:effectLst/>
        </p:spPr>
      </p:cxnSp>
      <p:sp>
        <p:nvSpPr>
          <p:cNvPr id="20" name="Rounded Rectangle 19"/>
          <p:cNvSpPr/>
          <p:nvPr/>
        </p:nvSpPr>
        <p:spPr>
          <a:xfrm>
            <a:off x="2510028"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r</a:t>
            </a:r>
          </a:p>
        </p:txBody>
      </p:sp>
      <p:sp>
        <p:nvSpPr>
          <p:cNvPr id="21" name="Rounded Rectangle 20"/>
          <p:cNvSpPr/>
          <p:nvPr/>
        </p:nvSpPr>
        <p:spPr>
          <a:xfrm>
            <a:off x="3131820"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r′</a:t>
            </a:r>
          </a:p>
        </p:txBody>
      </p:sp>
      <p:sp>
        <p:nvSpPr>
          <p:cNvPr id="22" name="Rounded Rectangle 21"/>
          <p:cNvSpPr/>
          <p:nvPr/>
        </p:nvSpPr>
        <p:spPr>
          <a:xfrm>
            <a:off x="4009644"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s</a:t>
            </a:r>
          </a:p>
        </p:txBody>
      </p:sp>
      <p:sp>
        <p:nvSpPr>
          <p:cNvPr id="23" name="Rounded Rectangle 22"/>
          <p:cNvSpPr/>
          <p:nvPr/>
        </p:nvSpPr>
        <p:spPr>
          <a:xfrm>
            <a:off x="4631436"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s′</a:t>
            </a:r>
          </a:p>
        </p:txBody>
      </p:sp>
      <p:sp>
        <p:nvSpPr>
          <p:cNvPr id="24" name="Rounded Rectangle 23"/>
          <p:cNvSpPr/>
          <p:nvPr/>
        </p:nvSpPr>
        <p:spPr>
          <a:xfrm>
            <a:off x="5509259"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c</a:t>
            </a:r>
          </a:p>
        </p:txBody>
      </p:sp>
      <p:sp>
        <p:nvSpPr>
          <p:cNvPr id="25" name="Rounded Rectangle 24"/>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26" name="Rounded Rectangle 25"/>
          <p:cNvSpPr/>
          <p:nvPr/>
        </p:nvSpPr>
        <p:spPr>
          <a:xfrm>
            <a:off x="7008876"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u</a:t>
            </a:r>
          </a:p>
        </p:txBody>
      </p:sp>
      <p:sp>
        <p:nvSpPr>
          <p:cNvPr id="27" name="Rounded Rectangle 26"/>
          <p:cNvSpPr/>
          <p:nvPr/>
        </p:nvSpPr>
        <p:spPr>
          <a:xfrm>
            <a:off x="7630667"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u′</a:t>
            </a:r>
          </a:p>
        </p:txBody>
      </p:sp>
      <p:sp>
        <p:nvSpPr>
          <p:cNvPr id="28" name="Rounded Rectangle 27"/>
          <p:cNvSpPr/>
          <p:nvPr/>
        </p:nvSpPr>
        <p:spPr>
          <a:xfrm>
            <a:off x="8508492"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v</a:t>
            </a:r>
          </a:p>
        </p:txBody>
      </p:sp>
      <p:sp>
        <p:nvSpPr>
          <p:cNvPr id="29" name="Rounded Rectangle 28"/>
          <p:cNvSpPr/>
          <p:nvPr/>
        </p:nvSpPr>
        <p:spPr>
          <a:xfrm>
            <a:off x="9130284"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v′</a:t>
            </a:r>
          </a:p>
        </p:txBody>
      </p:sp>
      <p:sp>
        <p:nvSpPr>
          <p:cNvPr id="30" name="Rounded Rectangle 29"/>
          <p:cNvSpPr/>
          <p:nvPr/>
        </p:nvSpPr>
        <p:spPr>
          <a:xfrm>
            <a:off x="2921508" y="3236975"/>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a:solidFill>
                  <a:srgbClr val="C9CDD3"/>
                </a:solidFill>
                <a:latin typeface="Calibri"/>
              </a:rPr>
              <a:t>AND</a:t>
            </a:r>
          </a:p>
        </p:txBody>
      </p:sp>
      <p:sp>
        <p:nvSpPr>
          <p:cNvPr id="31" name="TextBox 30"/>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C9CDD3"/>
                </a:solidFill>
                <a:latin typeface="Calibri"/>
              </a:rPr>
              <a:t>a₁</a:t>
            </a:r>
          </a:p>
        </p:txBody>
      </p:sp>
      <p:sp>
        <p:nvSpPr>
          <p:cNvPr id="32" name="Rounded Rectangle 31"/>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33" name="TextBox 32"/>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34" name="Rounded Rectangle 33"/>
          <p:cNvSpPr/>
          <p:nvPr/>
        </p:nvSpPr>
        <p:spPr>
          <a:xfrm>
            <a:off x="7356348" y="3236975"/>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a:solidFill>
                  <a:srgbClr val="C9CDD3"/>
                </a:solidFill>
                <a:latin typeface="Calibri"/>
              </a:rPr>
              <a:t>XOR</a:t>
            </a:r>
          </a:p>
        </p:txBody>
      </p:sp>
      <p:sp>
        <p:nvSpPr>
          <p:cNvPr id="35" name="TextBox 34"/>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C9CDD3"/>
                </a:solidFill>
                <a:latin typeface="Calibri"/>
              </a:rPr>
              <a:t>x₁</a:t>
            </a:r>
          </a:p>
        </p:txBody>
      </p:sp>
      <p:sp>
        <p:nvSpPr>
          <p:cNvPr id="36" name="Rounded Rectangle 35"/>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37" name="TextBox 36"/>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38" name="Rounded Rectangle 37"/>
          <p:cNvSpPr/>
          <p:nvPr/>
        </p:nvSpPr>
        <p:spPr>
          <a:xfrm>
            <a:off x="5161788" y="1636776"/>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a:solidFill>
                  <a:srgbClr val="C9CDD3"/>
                </a:solidFill>
                <a:latin typeface="Calibri"/>
              </a:rPr>
              <a:t>ITE</a:t>
            </a:r>
          </a:p>
        </p:txBody>
      </p:sp>
      <p:sp>
        <p:nvSpPr>
          <p:cNvPr id="39" name="TextBox 38"/>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C9CDD3"/>
                </a:solidFill>
                <a:latin typeface="Calibri"/>
              </a:rPr>
              <a:t>m₁</a:t>
            </a:r>
          </a:p>
        </p:txBody>
      </p:sp>
      <p:sp>
        <p:nvSpPr>
          <p:cNvPr id="40" name="Rounded Rectangle 39"/>
          <p:cNvSpPr/>
          <p:nvPr/>
        </p:nvSpPr>
        <p:spPr>
          <a:xfrm>
            <a:off x="6487668" y="1636776"/>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ITE</a:t>
            </a:r>
          </a:p>
        </p:txBody>
      </p:sp>
      <p:sp>
        <p:nvSpPr>
          <p:cNvPr id="41" name="TextBox 40"/>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
        <p:nvSpPr>
          <p:cNvPr id="42" name="Rounded Rectangle 41"/>
          <p:cNvSpPr/>
          <p:nvPr/>
        </p:nvSpPr>
        <p:spPr>
          <a:xfrm>
            <a:off x="7575804" y="1115568"/>
            <a:ext cx="2286000" cy="420624"/>
          </a:xfrm>
          <a:prstGeom prst="roundRect">
            <a:avLst>
              <a:gd name="adj" fmla="val 15000"/>
            </a:avLst>
          </a:prstGeom>
          <a:solidFill>
            <a:srgbClr val="FFF3CC"/>
          </a:solidFill>
          <a:ln w="19050">
            <a:solidFill>
              <a:srgbClr val="E0A300"/>
            </a:solidFill>
          </a:ln>
          <a:effectLst/>
        </p:spPr>
        <p:txBody>
          <a:bodyPr wrap="square" lIns="54864" tIns="27432" rIns="54864" bIns="27432" rtlCol="0" anchor="ctr"/>
          <a:lstStyle/>
          <a:p>
            <a:pPr algn="ctr"/>
            <a:r>
              <a:rPr sz="1500" b="1" i="0">
                <a:solidFill>
                  <a:srgbClr val="2B2F36"/>
                </a:solidFill>
                <a:latin typeface="Calibri"/>
              </a:rPr>
              <a:t>m₂ = ITE(c′, a₂, x₂)</a:t>
            </a:r>
          </a:p>
        </p:txBody>
      </p:sp>
      <p:cxnSp>
        <p:nvCxnSpPr>
          <p:cNvPr id="43" name="Connector 42"/>
          <p:cNvCxnSpPr/>
          <p:nvPr/>
        </p:nvCxnSpPr>
        <p:spPr>
          <a:xfrm flipH="1">
            <a:off x="7091172" y="1325880"/>
            <a:ext cx="484632" cy="292608"/>
          </a:xfrm>
          <a:prstGeom prst="line">
            <a:avLst/>
          </a:prstGeom>
          <a:ln w="28575">
            <a:solidFill>
              <a:srgbClr val="E0A300"/>
            </a:solidFill>
            <a:tailEnd type="triangle" w="med" len="med"/>
          </a:ln>
          <a:effectLst/>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Reading the diagram</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22</a:t>
            </a:r>
          </a:p>
        </p:txBody>
      </p:sp>
      <p:cxnSp>
        <p:nvCxnSpPr>
          <p:cNvPr id="6" name="Connector 5"/>
          <p:cNvCxnSpPr/>
          <p:nvPr/>
        </p:nvCxnSpPr>
        <p:spPr>
          <a:xfrm flipH="1">
            <a:off x="2784348" y="3803903"/>
            <a:ext cx="539496" cy="1106425"/>
          </a:xfrm>
          <a:prstGeom prst="line">
            <a:avLst/>
          </a:prstGeom>
          <a:ln w="15875">
            <a:solidFill>
              <a:srgbClr val="C9CDD3"/>
            </a:solidFill>
          </a:ln>
          <a:effectLst/>
        </p:spPr>
      </p:cxnSp>
      <p:cxnSp>
        <p:nvCxnSpPr>
          <p:cNvPr id="7" name="Connector 6"/>
          <p:cNvCxnSpPr/>
          <p:nvPr/>
        </p:nvCxnSpPr>
        <p:spPr>
          <a:xfrm>
            <a:off x="3323844" y="3803903"/>
            <a:ext cx="960120" cy="1106425"/>
          </a:xfrm>
          <a:prstGeom prst="line">
            <a:avLst/>
          </a:prstGeom>
          <a:ln w="15875">
            <a:solidFill>
              <a:srgbClr val="C9CDD3"/>
            </a:solidFill>
          </a:ln>
          <a:effectLst/>
        </p:spPr>
      </p:cxnSp>
      <p:cxnSp>
        <p:nvCxnSpPr>
          <p:cNvPr id="8" name="Connector 7"/>
          <p:cNvCxnSpPr/>
          <p:nvPr/>
        </p:nvCxnSpPr>
        <p:spPr>
          <a:xfrm flipH="1">
            <a:off x="3406139" y="3803903"/>
            <a:ext cx="1014985" cy="1106425"/>
          </a:xfrm>
          <a:prstGeom prst="line">
            <a:avLst/>
          </a:prstGeom>
          <a:ln w="15875">
            <a:solidFill>
              <a:srgbClr val="C9CDD3"/>
            </a:solidFill>
          </a:ln>
          <a:effectLst/>
        </p:spPr>
      </p:cxnSp>
      <p:cxnSp>
        <p:nvCxnSpPr>
          <p:cNvPr id="9" name="Connector 8"/>
          <p:cNvCxnSpPr/>
          <p:nvPr/>
        </p:nvCxnSpPr>
        <p:spPr>
          <a:xfrm>
            <a:off x="4421124" y="3803903"/>
            <a:ext cx="484632" cy="1106425"/>
          </a:xfrm>
          <a:prstGeom prst="line">
            <a:avLst/>
          </a:prstGeom>
          <a:ln w="15875">
            <a:solidFill>
              <a:srgbClr val="C9CDD3"/>
            </a:solidFill>
          </a:ln>
          <a:effectLst/>
        </p:spPr>
      </p:cxnSp>
      <p:cxnSp>
        <p:nvCxnSpPr>
          <p:cNvPr id="10" name="Connector 9"/>
          <p:cNvCxnSpPr/>
          <p:nvPr/>
        </p:nvCxnSpPr>
        <p:spPr>
          <a:xfrm flipH="1">
            <a:off x="7283196" y="3803903"/>
            <a:ext cx="475487" cy="1106425"/>
          </a:xfrm>
          <a:prstGeom prst="line">
            <a:avLst/>
          </a:prstGeom>
          <a:ln w="15875">
            <a:solidFill>
              <a:srgbClr val="C9CDD3"/>
            </a:solidFill>
          </a:ln>
          <a:effectLst/>
        </p:spPr>
      </p:cxnSp>
      <p:cxnSp>
        <p:nvCxnSpPr>
          <p:cNvPr id="11" name="Connector 10"/>
          <p:cNvCxnSpPr/>
          <p:nvPr/>
        </p:nvCxnSpPr>
        <p:spPr>
          <a:xfrm>
            <a:off x="7758683" y="3803903"/>
            <a:ext cx="1024129" cy="1106425"/>
          </a:xfrm>
          <a:prstGeom prst="line">
            <a:avLst/>
          </a:prstGeom>
          <a:ln w="15875">
            <a:solidFill>
              <a:srgbClr val="C9CDD3"/>
            </a:solidFill>
          </a:ln>
          <a:effectLst/>
        </p:spPr>
      </p:cxnSp>
      <p:cxnSp>
        <p:nvCxnSpPr>
          <p:cNvPr id="12" name="Connector 11"/>
          <p:cNvCxnSpPr/>
          <p:nvPr/>
        </p:nvCxnSpPr>
        <p:spPr>
          <a:xfrm flipH="1">
            <a:off x="7904988" y="3803903"/>
            <a:ext cx="950975" cy="1106425"/>
          </a:xfrm>
          <a:prstGeom prst="line">
            <a:avLst/>
          </a:prstGeom>
          <a:ln w="15875">
            <a:solidFill>
              <a:srgbClr val="C9CDD3"/>
            </a:solidFill>
          </a:ln>
          <a:effectLst/>
        </p:spPr>
      </p:cxnSp>
      <p:cxnSp>
        <p:nvCxnSpPr>
          <p:cNvPr id="13" name="Connector 12"/>
          <p:cNvCxnSpPr/>
          <p:nvPr/>
        </p:nvCxnSpPr>
        <p:spPr>
          <a:xfrm>
            <a:off x="8855963" y="3803903"/>
            <a:ext cx="548641" cy="1106425"/>
          </a:xfrm>
          <a:prstGeom prst="line">
            <a:avLst/>
          </a:prstGeom>
          <a:ln w="15875">
            <a:solidFill>
              <a:srgbClr val="C9CDD3"/>
            </a:solidFill>
          </a:ln>
          <a:effectLst/>
        </p:spPr>
      </p:cxnSp>
      <p:cxnSp>
        <p:nvCxnSpPr>
          <p:cNvPr id="14" name="Connector 13"/>
          <p:cNvCxnSpPr/>
          <p:nvPr/>
        </p:nvCxnSpPr>
        <p:spPr>
          <a:xfrm>
            <a:off x="5564124" y="2203704"/>
            <a:ext cx="219455" cy="2706624"/>
          </a:xfrm>
          <a:prstGeom prst="line">
            <a:avLst/>
          </a:prstGeom>
          <a:ln w="15875">
            <a:solidFill>
              <a:srgbClr val="C9CDD3"/>
            </a:solidFill>
          </a:ln>
          <a:effectLst/>
        </p:spPr>
      </p:cxnSp>
      <p:cxnSp>
        <p:nvCxnSpPr>
          <p:cNvPr id="15" name="Connector 14"/>
          <p:cNvCxnSpPr/>
          <p:nvPr/>
        </p:nvCxnSpPr>
        <p:spPr>
          <a:xfrm flipH="1">
            <a:off x="3323844" y="2203704"/>
            <a:ext cx="2240280" cy="749807"/>
          </a:xfrm>
          <a:prstGeom prst="line">
            <a:avLst/>
          </a:prstGeom>
          <a:ln w="15875">
            <a:solidFill>
              <a:srgbClr val="C9CDD3"/>
            </a:solidFill>
          </a:ln>
          <a:effectLst/>
        </p:spPr>
      </p:cxnSp>
      <p:cxnSp>
        <p:nvCxnSpPr>
          <p:cNvPr id="16" name="Connector 15"/>
          <p:cNvCxnSpPr/>
          <p:nvPr/>
        </p:nvCxnSpPr>
        <p:spPr>
          <a:xfrm>
            <a:off x="5564124" y="2203704"/>
            <a:ext cx="2194559" cy="749807"/>
          </a:xfrm>
          <a:prstGeom prst="line">
            <a:avLst/>
          </a:prstGeom>
          <a:ln w="15875">
            <a:solidFill>
              <a:srgbClr val="C9CDD3"/>
            </a:solidFill>
          </a:ln>
          <a:effectLst/>
        </p:spPr>
      </p:cxnSp>
      <p:cxnSp>
        <p:nvCxnSpPr>
          <p:cNvPr id="17" name="Connector 16"/>
          <p:cNvCxnSpPr/>
          <p:nvPr/>
        </p:nvCxnSpPr>
        <p:spPr>
          <a:xfrm flipH="1">
            <a:off x="6405372" y="2203704"/>
            <a:ext cx="484632" cy="2706624"/>
          </a:xfrm>
          <a:prstGeom prst="line">
            <a:avLst/>
          </a:prstGeom>
          <a:ln w="31750">
            <a:solidFill>
              <a:srgbClr val="C8501E"/>
            </a:solidFill>
            <a:tailEnd type="triangle" w="med" len="med"/>
          </a:ln>
          <a:effectLst/>
        </p:spPr>
      </p:cxnSp>
      <p:cxnSp>
        <p:nvCxnSpPr>
          <p:cNvPr id="18" name="Connector 17"/>
          <p:cNvCxnSpPr/>
          <p:nvPr/>
        </p:nvCxnSpPr>
        <p:spPr>
          <a:xfrm flipH="1">
            <a:off x="4421124" y="2203704"/>
            <a:ext cx="2468880" cy="749807"/>
          </a:xfrm>
          <a:prstGeom prst="line">
            <a:avLst/>
          </a:prstGeom>
          <a:ln w="31750">
            <a:solidFill>
              <a:srgbClr val="C8501E"/>
            </a:solidFill>
            <a:tailEnd type="triangle" w="med" len="med"/>
          </a:ln>
          <a:effectLst/>
        </p:spPr>
      </p:cxnSp>
      <p:cxnSp>
        <p:nvCxnSpPr>
          <p:cNvPr id="19" name="Connector 18"/>
          <p:cNvCxnSpPr/>
          <p:nvPr/>
        </p:nvCxnSpPr>
        <p:spPr>
          <a:xfrm>
            <a:off x="6890004" y="2203704"/>
            <a:ext cx="1965959" cy="749807"/>
          </a:xfrm>
          <a:prstGeom prst="line">
            <a:avLst/>
          </a:prstGeom>
          <a:ln w="31750">
            <a:solidFill>
              <a:srgbClr val="C8501E"/>
            </a:solidFill>
            <a:tailEnd type="triangle" w="med" len="med"/>
          </a:ln>
          <a:effectLst/>
        </p:spPr>
      </p:cxnSp>
      <p:sp>
        <p:nvSpPr>
          <p:cNvPr id="20" name="Rounded Rectangle 19"/>
          <p:cNvSpPr/>
          <p:nvPr/>
        </p:nvSpPr>
        <p:spPr>
          <a:xfrm>
            <a:off x="2510028"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r</a:t>
            </a:r>
          </a:p>
        </p:txBody>
      </p:sp>
      <p:sp>
        <p:nvSpPr>
          <p:cNvPr id="21" name="Rounded Rectangle 20"/>
          <p:cNvSpPr/>
          <p:nvPr/>
        </p:nvSpPr>
        <p:spPr>
          <a:xfrm>
            <a:off x="3131820"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r′</a:t>
            </a:r>
          </a:p>
        </p:txBody>
      </p:sp>
      <p:sp>
        <p:nvSpPr>
          <p:cNvPr id="22" name="Rounded Rectangle 21"/>
          <p:cNvSpPr/>
          <p:nvPr/>
        </p:nvSpPr>
        <p:spPr>
          <a:xfrm>
            <a:off x="4009644"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s</a:t>
            </a:r>
          </a:p>
        </p:txBody>
      </p:sp>
      <p:sp>
        <p:nvSpPr>
          <p:cNvPr id="23" name="Rounded Rectangle 22"/>
          <p:cNvSpPr/>
          <p:nvPr/>
        </p:nvSpPr>
        <p:spPr>
          <a:xfrm>
            <a:off x="4631436"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s′</a:t>
            </a:r>
          </a:p>
        </p:txBody>
      </p:sp>
      <p:sp>
        <p:nvSpPr>
          <p:cNvPr id="24" name="Rounded Rectangle 23"/>
          <p:cNvSpPr/>
          <p:nvPr/>
        </p:nvSpPr>
        <p:spPr>
          <a:xfrm>
            <a:off x="5509259"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c</a:t>
            </a:r>
          </a:p>
        </p:txBody>
      </p:sp>
      <p:sp>
        <p:nvSpPr>
          <p:cNvPr id="25" name="Rounded Rectangle 24"/>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26" name="Rounded Rectangle 25"/>
          <p:cNvSpPr/>
          <p:nvPr/>
        </p:nvSpPr>
        <p:spPr>
          <a:xfrm>
            <a:off x="7008876"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u</a:t>
            </a:r>
          </a:p>
        </p:txBody>
      </p:sp>
      <p:sp>
        <p:nvSpPr>
          <p:cNvPr id="27" name="Rounded Rectangle 26"/>
          <p:cNvSpPr/>
          <p:nvPr/>
        </p:nvSpPr>
        <p:spPr>
          <a:xfrm>
            <a:off x="7630667"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u′</a:t>
            </a:r>
          </a:p>
        </p:txBody>
      </p:sp>
      <p:sp>
        <p:nvSpPr>
          <p:cNvPr id="28" name="Rounded Rectangle 27"/>
          <p:cNvSpPr/>
          <p:nvPr/>
        </p:nvSpPr>
        <p:spPr>
          <a:xfrm>
            <a:off x="8508492"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v</a:t>
            </a:r>
          </a:p>
        </p:txBody>
      </p:sp>
      <p:sp>
        <p:nvSpPr>
          <p:cNvPr id="29" name="Rounded Rectangle 28"/>
          <p:cNvSpPr/>
          <p:nvPr/>
        </p:nvSpPr>
        <p:spPr>
          <a:xfrm>
            <a:off x="9130284"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v′</a:t>
            </a:r>
          </a:p>
        </p:txBody>
      </p:sp>
      <p:sp>
        <p:nvSpPr>
          <p:cNvPr id="30" name="Rounded Rectangle 29"/>
          <p:cNvSpPr/>
          <p:nvPr/>
        </p:nvSpPr>
        <p:spPr>
          <a:xfrm>
            <a:off x="2921508" y="3236975"/>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a:solidFill>
                  <a:srgbClr val="C9CDD3"/>
                </a:solidFill>
                <a:latin typeface="Calibri"/>
              </a:rPr>
              <a:t>AND</a:t>
            </a:r>
          </a:p>
        </p:txBody>
      </p:sp>
      <p:sp>
        <p:nvSpPr>
          <p:cNvPr id="31" name="TextBox 30"/>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C9CDD3"/>
                </a:solidFill>
                <a:latin typeface="Calibri"/>
              </a:rPr>
              <a:t>a₁</a:t>
            </a:r>
          </a:p>
        </p:txBody>
      </p:sp>
      <p:sp>
        <p:nvSpPr>
          <p:cNvPr id="32" name="Rounded Rectangle 31"/>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33" name="TextBox 32"/>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34" name="Rounded Rectangle 33"/>
          <p:cNvSpPr/>
          <p:nvPr/>
        </p:nvSpPr>
        <p:spPr>
          <a:xfrm>
            <a:off x="7356348" y="3236975"/>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a:solidFill>
                  <a:srgbClr val="C9CDD3"/>
                </a:solidFill>
                <a:latin typeface="Calibri"/>
              </a:rPr>
              <a:t>XOR</a:t>
            </a:r>
          </a:p>
        </p:txBody>
      </p:sp>
      <p:sp>
        <p:nvSpPr>
          <p:cNvPr id="35" name="TextBox 34"/>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C9CDD3"/>
                </a:solidFill>
                <a:latin typeface="Calibri"/>
              </a:rPr>
              <a:t>x₁</a:t>
            </a:r>
          </a:p>
        </p:txBody>
      </p:sp>
      <p:sp>
        <p:nvSpPr>
          <p:cNvPr id="36" name="Rounded Rectangle 35"/>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37" name="TextBox 36"/>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38" name="Rounded Rectangle 37"/>
          <p:cNvSpPr/>
          <p:nvPr/>
        </p:nvSpPr>
        <p:spPr>
          <a:xfrm>
            <a:off x="5161788" y="1636776"/>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a:solidFill>
                  <a:srgbClr val="C9CDD3"/>
                </a:solidFill>
                <a:latin typeface="Calibri"/>
              </a:rPr>
              <a:t>ITE</a:t>
            </a:r>
          </a:p>
        </p:txBody>
      </p:sp>
      <p:sp>
        <p:nvSpPr>
          <p:cNvPr id="39" name="TextBox 38"/>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C9CDD3"/>
                </a:solidFill>
                <a:latin typeface="Calibri"/>
              </a:rPr>
              <a:t>m₁</a:t>
            </a:r>
          </a:p>
        </p:txBody>
      </p:sp>
      <p:sp>
        <p:nvSpPr>
          <p:cNvPr id="40" name="Rounded Rectangle 39"/>
          <p:cNvSpPr/>
          <p:nvPr/>
        </p:nvSpPr>
        <p:spPr>
          <a:xfrm>
            <a:off x="6487668" y="1636776"/>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ITE</a:t>
            </a:r>
          </a:p>
        </p:txBody>
      </p:sp>
      <p:sp>
        <p:nvSpPr>
          <p:cNvPr id="41" name="TextBox 40"/>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
        <p:nvSpPr>
          <p:cNvPr id="42" name="TextBox 41"/>
          <p:cNvSpPr txBox="1"/>
          <p:nvPr/>
        </p:nvSpPr>
        <p:spPr>
          <a:xfrm>
            <a:off x="7712964" y="1764792"/>
            <a:ext cx="822960" cy="310896"/>
          </a:xfrm>
          <a:prstGeom prst="rect">
            <a:avLst/>
          </a:prstGeom>
          <a:noFill/>
        </p:spPr>
        <p:txBody>
          <a:bodyPr wrap="square" lIns="45720" tIns="27432" rIns="45720" bIns="27432" anchor="ctr">
            <a:spAutoFit/>
          </a:bodyPr>
          <a:lstStyle/>
          <a:p>
            <a:pPr algn="ctr"/>
            <a:r>
              <a:rPr sz="1700" b="1" i="0">
                <a:solidFill>
                  <a:srgbClr val="C8501E"/>
                </a:solidFill>
                <a:latin typeface="Calibri"/>
              </a:rPr>
              <a:t>parent</a:t>
            </a:r>
          </a:p>
        </p:txBody>
      </p:sp>
      <p:sp>
        <p:nvSpPr>
          <p:cNvPr id="43" name="TextBox 42"/>
          <p:cNvSpPr txBox="1"/>
          <p:nvPr/>
        </p:nvSpPr>
        <p:spPr>
          <a:xfrm>
            <a:off x="5993892" y="5358383"/>
            <a:ext cx="822960" cy="292608"/>
          </a:xfrm>
          <a:prstGeom prst="rect">
            <a:avLst/>
          </a:prstGeom>
          <a:noFill/>
        </p:spPr>
        <p:txBody>
          <a:bodyPr wrap="square" lIns="45720" tIns="27432" rIns="45720" bIns="27432" anchor="ctr">
            <a:spAutoFit/>
          </a:bodyPr>
          <a:lstStyle/>
          <a:p>
            <a:pPr algn="ctr"/>
            <a:r>
              <a:rPr sz="1500" b="1" i="0">
                <a:solidFill>
                  <a:srgbClr val="C8501E"/>
                </a:solidFill>
                <a:latin typeface="Calibri"/>
              </a:rPr>
              <a:t>child</a:t>
            </a:r>
          </a:p>
        </p:txBody>
      </p:sp>
      <p:sp>
        <p:nvSpPr>
          <p:cNvPr id="44" name="TextBox 43"/>
          <p:cNvSpPr txBox="1"/>
          <p:nvPr/>
        </p:nvSpPr>
        <p:spPr>
          <a:xfrm>
            <a:off x="4814316" y="3374135"/>
            <a:ext cx="822960" cy="292608"/>
          </a:xfrm>
          <a:prstGeom prst="rect">
            <a:avLst/>
          </a:prstGeom>
          <a:noFill/>
        </p:spPr>
        <p:txBody>
          <a:bodyPr wrap="square" lIns="45720" tIns="27432" rIns="45720" bIns="27432" anchor="ctr">
            <a:spAutoFit/>
          </a:bodyPr>
          <a:lstStyle/>
          <a:p>
            <a:pPr algn="ctr"/>
            <a:r>
              <a:rPr sz="1500" b="1" i="0">
                <a:solidFill>
                  <a:srgbClr val="C8501E"/>
                </a:solidFill>
                <a:latin typeface="Calibri"/>
              </a:rPr>
              <a:t>child</a:t>
            </a:r>
          </a:p>
        </p:txBody>
      </p:sp>
      <p:sp>
        <p:nvSpPr>
          <p:cNvPr id="45" name="TextBox 44"/>
          <p:cNvSpPr txBox="1"/>
          <p:nvPr/>
        </p:nvSpPr>
        <p:spPr>
          <a:xfrm>
            <a:off x="9249156" y="3374135"/>
            <a:ext cx="822960" cy="292608"/>
          </a:xfrm>
          <a:prstGeom prst="rect">
            <a:avLst/>
          </a:prstGeom>
          <a:noFill/>
        </p:spPr>
        <p:txBody>
          <a:bodyPr wrap="square" lIns="45720" tIns="27432" rIns="45720" bIns="27432" anchor="ctr">
            <a:spAutoFit/>
          </a:bodyPr>
          <a:lstStyle/>
          <a:p>
            <a:pPr algn="ctr"/>
            <a:r>
              <a:rPr sz="1500" b="1" i="0">
                <a:solidFill>
                  <a:srgbClr val="C8501E"/>
                </a:solidFill>
                <a:latin typeface="Calibri"/>
              </a:rPr>
              <a:t>child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Closure by hand</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23</a:t>
            </a:r>
          </a:p>
        </p:txBody>
      </p:sp>
      <p:cxnSp>
        <p:nvCxnSpPr>
          <p:cNvPr id="6" name="Connector 5"/>
          <p:cNvCxnSpPr/>
          <p:nvPr/>
        </p:nvCxnSpPr>
        <p:spPr>
          <a:xfrm flipH="1">
            <a:off x="2784348" y="3803903"/>
            <a:ext cx="539496" cy="1106425"/>
          </a:xfrm>
          <a:prstGeom prst="line">
            <a:avLst/>
          </a:prstGeom>
          <a:ln w="15875">
            <a:solidFill>
              <a:srgbClr val="8A8F98"/>
            </a:solidFill>
          </a:ln>
          <a:effectLst/>
        </p:spPr>
      </p:cxnSp>
      <p:cxnSp>
        <p:nvCxnSpPr>
          <p:cNvPr id="7" name="Connector 6"/>
          <p:cNvCxnSpPr/>
          <p:nvPr/>
        </p:nvCxnSpPr>
        <p:spPr>
          <a:xfrm>
            <a:off x="3323844" y="3803903"/>
            <a:ext cx="960120" cy="1106425"/>
          </a:xfrm>
          <a:prstGeom prst="line">
            <a:avLst/>
          </a:prstGeom>
          <a:ln w="15875">
            <a:solidFill>
              <a:srgbClr val="8A8F98"/>
            </a:solidFill>
          </a:ln>
          <a:effectLst/>
        </p:spPr>
      </p:cxnSp>
      <p:cxnSp>
        <p:nvCxnSpPr>
          <p:cNvPr id="8" name="Connector 7"/>
          <p:cNvCxnSpPr/>
          <p:nvPr/>
        </p:nvCxnSpPr>
        <p:spPr>
          <a:xfrm flipH="1">
            <a:off x="3406139" y="3803903"/>
            <a:ext cx="1014985" cy="1106425"/>
          </a:xfrm>
          <a:prstGeom prst="line">
            <a:avLst/>
          </a:prstGeom>
          <a:ln w="15875">
            <a:solidFill>
              <a:srgbClr val="8A8F98"/>
            </a:solidFill>
          </a:ln>
          <a:effectLst/>
        </p:spPr>
      </p:cxnSp>
      <p:cxnSp>
        <p:nvCxnSpPr>
          <p:cNvPr id="9" name="Connector 8"/>
          <p:cNvCxnSpPr/>
          <p:nvPr/>
        </p:nvCxnSpPr>
        <p:spPr>
          <a:xfrm>
            <a:off x="4421124" y="3803903"/>
            <a:ext cx="484632" cy="1106425"/>
          </a:xfrm>
          <a:prstGeom prst="line">
            <a:avLst/>
          </a:prstGeom>
          <a:ln w="15875">
            <a:solidFill>
              <a:srgbClr val="8A8F98"/>
            </a:solidFill>
          </a:ln>
          <a:effectLst/>
        </p:spPr>
      </p:cxnSp>
      <p:cxnSp>
        <p:nvCxnSpPr>
          <p:cNvPr id="10" name="Connector 9"/>
          <p:cNvCxnSpPr/>
          <p:nvPr/>
        </p:nvCxnSpPr>
        <p:spPr>
          <a:xfrm flipH="1">
            <a:off x="7283196" y="3803903"/>
            <a:ext cx="475487" cy="1106425"/>
          </a:xfrm>
          <a:prstGeom prst="line">
            <a:avLst/>
          </a:prstGeom>
          <a:ln w="15875">
            <a:solidFill>
              <a:srgbClr val="8A8F98"/>
            </a:solidFill>
          </a:ln>
          <a:effectLst/>
        </p:spPr>
      </p:cxnSp>
      <p:cxnSp>
        <p:nvCxnSpPr>
          <p:cNvPr id="11" name="Connector 10"/>
          <p:cNvCxnSpPr/>
          <p:nvPr/>
        </p:nvCxnSpPr>
        <p:spPr>
          <a:xfrm>
            <a:off x="7758683" y="3803903"/>
            <a:ext cx="1024129" cy="1106425"/>
          </a:xfrm>
          <a:prstGeom prst="line">
            <a:avLst/>
          </a:prstGeom>
          <a:ln w="15875">
            <a:solidFill>
              <a:srgbClr val="8A8F98"/>
            </a:solidFill>
          </a:ln>
          <a:effectLst/>
        </p:spPr>
      </p:cxnSp>
      <p:cxnSp>
        <p:nvCxnSpPr>
          <p:cNvPr id="12" name="Connector 11"/>
          <p:cNvCxnSpPr/>
          <p:nvPr/>
        </p:nvCxnSpPr>
        <p:spPr>
          <a:xfrm flipH="1">
            <a:off x="7904988" y="3803903"/>
            <a:ext cx="950975" cy="1106425"/>
          </a:xfrm>
          <a:prstGeom prst="line">
            <a:avLst/>
          </a:prstGeom>
          <a:ln w="15875">
            <a:solidFill>
              <a:srgbClr val="8A8F98"/>
            </a:solidFill>
          </a:ln>
          <a:effectLst/>
        </p:spPr>
      </p:cxnSp>
      <p:cxnSp>
        <p:nvCxnSpPr>
          <p:cNvPr id="13" name="Connector 12"/>
          <p:cNvCxnSpPr/>
          <p:nvPr/>
        </p:nvCxnSpPr>
        <p:spPr>
          <a:xfrm>
            <a:off x="8855963" y="3803903"/>
            <a:ext cx="548641" cy="1106425"/>
          </a:xfrm>
          <a:prstGeom prst="line">
            <a:avLst/>
          </a:prstGeom>
          <a:ln w="15875">
            <a:solidFill>
              <a:srgbClr val="8A8F98"/>
            </a:solidFill>
          </a:ln>
          <a:effectLst/>
        </p:spPr>
      </p:cxnSp>
      <p:cxnSp>
        <p:nvCxnSpPr>
          <p:cNvPr id="14" name="Connector 13"/>
          <p:cNvCxnSpPr/>
          <p:nvPr/>
        </p:nvCxnSpPr>
        <p:spPr>
          <a:xfrm>
            <a:off x="5564124" y="2203704"/>
            <a:ext cx="219455" cy="2706624"/>
          </a:xfrm>
          <a:prstGeom prst="line">
            <a:avLst/>
          </a:prstGeom>
          <a:ln w="15875">
            <a:solidFill>
              <a:srgbClr val="8A8F98"/>
            </a:solidFill>
          </a:ln>
          <a:effectLst/>
        </p:spPr>
      </p:cxnSp>
      <p:cxnSp>
        <p:nvCxnSpPr>
          <p:cNvPr id="15" name="Connector 14"/>
          <p:cNvCxnSpPr/>
          <p:nvPr/>
        </p:nvCxnSpPr>
        <p:spPr>
          <a:xfrm flipH="1">
            <a:off x="3323844" y="2203704"/>
            <a:ext cx="2240280" cy="749807"/>
          </a:xfrm>
          <a:prstGeom prst="line">
            <a:avLst/>
          </a:prstGeom>
          <a:ln w="15875">
            <a:solidFill>
              <a:srgbClr val="8A8F98"/>
            </a:solidFill>
          </a:ln>
          <a:effectLst/>
        </p:spPr>
      </p:cxnSp>
      <p:cxnSp>
        <p:nvCxnSpPr>
          <p:cNvPr id="16" name="Connector 15"/>
          <p:cNvCxnSpPr/>
          <p:nvPr/>
        </p:nvCxnSpPr>
        <p:spPr>
          <a:xfrm>
            <a:off x="5564124" y="2203704"/>
            <a:ext cx="2194559" cy="749807"/>
          </a:xfrm>
          <a:prstGeom prst="line">
            <a:avLst/>
          </a:prstGeom>
          <a:ln w="15875">
            <a:solidFill>
              <a:srgbClr val="8A8F98"/>
            </a:solidFill>
          </a:ln>
          <a:effectLst/>
        </p:spPr>
      </p:cxnSp>
      <p:cxnSp>
        <p:nvCxnSpPr>
          <p:cNvPr id="17" name="Connector 16"/>
          <p:cNvCxnSpPr/>
          <p:nvPr/>
        </p:nvCxnSpPr>
        <p:spPr>
          <a:xfrm flipH="1">
            <a:off x="6405372" y="2203704"/>
            <a:ext cx="484632" cy="2706624"/>
          </a:xfrm>
          <a:prstGeom prst="line">
            <a:avLst/>
          </a:prstGeom>
          <a:ln w="15875">
            <a:solidFill>
              <a:srgbClr val="8A8F98"/>
            </a:solidFill>
          </a:ln>
          <a:effectLst/>
        </p:spPr>
      </p:cxnSp>
      <p:cxnSp>
        <p:nvCxnSpPr>
          <p:cNvPr id="18" name="Connector 17"/>
          <p:cNvCxnSpPr/>
          <p:nvPr/>
        </p:nvCxnSpPr>
        <p:spPr>
          <a:xfrm flipH="1">
            <a:off x="4421124" y="2203704"/>
            <a:ext cx="2468880" cy="749807"/>
          </a:xfrm>
          <a:prstGeom prst="line">
            <a:avLst/>
          </a:prstGeom>
          <a:ln w="15875">
            <a:solidFill>
              <a:srgbClr val="8A8F98"/>
            </a:solidFill>
          </a:ln>
          <a:effectLst/>
        </p:spPr>
      </p:cxnSp>
      <p:cxnSp>
        <p:nvCxnSpPr>
          <p:cNvPr id="19" name="Connector 18"/>
          <p:cNvCxnSpPr/>
          <p:nvPr/>
        </p:nvCxnSpPr>
        <p:spPr>
          <a:xfrm>
            <a:off x="6890004" y="2203704"/>
            <a:ext cx="1965959" cy="749807"/>
          </a:xfrm>
          <a:prstGeom prst="line">
            <a:avLst/>
          </a:prstGeom>
          <a:ln w="15875">
            <a:solidFill>
              <a:srgbClr val="8A8F98"/>
            </a:solidFill>
          </a:ln>
          <a:effectLst/>
        </p:spPr>
      </p:cxnSp>
      <p:sp>
        <p:nvSpPr>
          <p:cNvPr id="20" name="Rounded Rectangle 19"/>
          <p:cNvSpPr/>
          <p:nvPr/>
        </p:nvSpPr>
        <p:spPr>
          <a:xfrm>
            <a:off x="2510028" y="4910327"/>
            <a:ext cx="548640" cy="420624"/>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400" b="1" i="0">
                <a:solidFill>
                  <a:srgbClr val="2B2F36"/>
                </a:solidFill>
                <a:latin typeface="Calibri"/>
              </a:rPr>
              <a:t>r</a:t>
            </a:r>
          </a:p>
        </p:txBody>
      </p:sp>
      <p:sp>
        <p:nvSpPr>
          <p:cNvPr id="21" name="Rounded Rectangle 20"/>
          <p:cNvSpPr/>
          <p:nvPr/>
        </p:nvSpPr>
        <p:spPr>
          <a:xfrm>
            <a:off x="3131820" y="4910327"/>
            <a:ext cx="548640" cy="420624"/>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400" b="1" i="0">
                <a:solidFill>
                  <a:srgbClr val="2B2F36"/>
                </a:solidFill>
                <a:latin typeface="Calibri"/>
              </a:rPr>
              <a:t>r′</a:t>
            </a:r>
          </a:p>
        </p:txBody>
      </p:sp>
      <p:sp>
        <p:nvSpPr>
          <p:cNvPr id="22" name="Rounded Rectangle 21"/>
          <p:cNvSpPr/>
          <p:nvPr/>
        </p:nvSpPr>
        <p:spPr>
          <a:xfrm>
            <a:off x="4009644" y="4910327"/>
            <a:ext cx="548640" cy="420624"/>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400" b="1" i="0">
                <a:solidFill>
                  <a:srgbClr val="2B2F36"/>
                </a:solidFill>
                <a:latin typeface="Calibri"/>
              </a:rPr>
              <a:t>s</a:t>
            </a:r>
          </a:p>
        </p:txBody>
      </p:sp>
      <p:sp>
        <p:nvSpPr>
          <p:cNvPr id="23" name="Rounded Rectangle 22"/>
          <p:cNvSpPr/>
          <p:nvPr/>
        </p:nvSpPr>
        <p:spPr>
          <a:xfrm>
            <a:off x="4631436" y="4910327"/>
            <a:ext cx="548640" cy="420624"/>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400" b="1" i="0">
                <a:solidFill>
                  <a:srgbClr val="2B2F36"/>
                </a:solidFill>
                <a:latin typeface="Calibri"/>
              </a:rPr>
              <a:t>s′</a:t>
            </a:r>
          </a:p>
        </p:txBody>
      </p:sp>
      <p:sp>
        <p:nvSpPr>
          <p:cNvPr id="24" name="Rounded Rectangle 23"/>
          <p:cNvSpPr/>
          <p:nvPr/>
        </p:nvSpPr>
        <p:spPr>
          <a:xfrm>
            <a:off x="5509259" y="4910327"/>
            <a:ext cx="548640" cy="420624"/>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400" b="1" i="0">
                <a:solidFill>
                  <a:srgbClr val="2B2F36"/>
                </a:solidFill>
                <a:latin typeface="Calibri"/>
              </a:rPr>
              <a:t>c</a:t>
            </a:r>
          </a:p>
        </p:txBody>
      </p:sp>
      <p:sp>
        <p:nvSpPr>
          <p:cNvPr id="25" name="Rounded Rectangle 24"/>
          <p:cNvSpPr/>
          <p:nvPr/>
        </p:nvSpPr>
        <p:spPr>
          <a:xfrm>
            <a:off x="6131052" y="4910327"/>
            <a:ext cx="548640" cy="420624"/>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400" b="1" i="0">
                <a:solidFill>
                  <a:srgbClr val="2B2F36"/>
                </a:solidFill>
                <a:latin typeface="Calibri"/>
              </a:rPr>
              <a:t>c′</a:t>
            </a:r>
          </a:p>
        </p:txBody>
      </p:sp>
      <p:sp>
        <p:nvSpPr>
          <p:cNvPr id="26" name="Rounded Rectangle 25"/>
          <p:cNvSpPr/>
          <p:nvPr/>
        </p:nvSpPr>
        <p:spPr>
          <a:xfrm>
            <a:off x="7008876" y="4910327"/>
            <a:ext cx="548640" cy="420624"/>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400" b="1" i="0">
                <a:solidFill>
                  <a:srgbClr val="2B2F36"/>
                </a:solidFill>
                <a:latin typeface="Calibri"/>
              </a:rPr>
              <a:t>u</a:t>
            </a:r>
          </a:p>
        </p:txBody>
      </p:sp>
      <p:sp>
        <p:nvSpPr>
          <p:cNvPr id="27" name="Rounded Rectangle 26"/>
          <p:cNvSpPr/>
          <p:nvPr/>
        </p:nvSpPr>
        <p:spPr>
          <a:xfrm>
            <a:off x="7630667" y="4910327"/>
            <a:ext cx="548640" cy="420624"/>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400" b="1" i="0">
                <a:solidFill>
                  <a:srgbClr val="2B2F36"/>
                </a:solidFill>
                <a:latin typeface="Calibri"/>
              </a:rPr>
              <a:t>u′</a:t>
            </a:r>
          </a:p>
        </p:txBody>
      </p:sp>
      <p:sp>
        <p:nvSpPr>
          <p:cNvPr id="28" name="Rounded Rectangle 27"/>
          <p:cNvSpPr/>
          <p:nvPr/>
        </p:nvSpPr>
        <p:spPr>
          <a:xfrm>
            <a:off x="8508492" y="4910327"/>
            <a:ext cx="548640" cy="420624"/>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400" b="1" i="0">
                <a:solidFill>
                  <a:srgbClr val="2B2F36"/>
                </a:solidFill>
                <a:latin typeface="Calibri"/>
              </a:rPr>
              <a:t>v</a:t>
            </a:r>
          </a:p>
        </p:txBody>
      </p:sp>
      <p:sp>
        <p:nvSpPr>
          <p:cNvPr id="29" name="Rounded Rectangle 28"/>
          <p:cNvSpPr/>
          <p:nvPr/>
        </p:nvSpPr>
        <p:spPr>
          <a:xfrm>
            <a:off x="9130284" y="4910327"/>
            <a:ext cx="548640" cy="420624"/>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400" b="1" i="0">
                <a:solidFill>
                  <a:srgbClr val="2B2F36"/>
                </a:solidFill>
                <a:latin typeface="Calibri"/>
              </a:rPr>
              <a:t>v′</a:t>
            </a:r>
          </a:p>
        </p:txBody>
      </p:sp>
      <p:sp>
        <p:nvSpPr>
          <p:cNvPr id="30" name="Rounded Rectangle 29"/>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31" name="TextBox 30"/>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a₁</a:t>
            </a:r>
          </a:p>
        </p:txBody>
      </p:sp>
      <p:sp>
        <p:nvSpPr>
          <p:cNvPr id="32" name="Rounded Rectangle 31"/>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33" name="TextBox 32"/>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34" name="Rounded Rectangle 33"/>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35" name="TextBox 34"/>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x₁</a:t>
            </a:r>
          </a:p>
        </p:txBody>
      </p:sp>
      <p:sp>
        <p:nvSpPr>
          <p:cNvPr id="36" name="Rounded Rectangle 35"/>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37" name="TextBox 36"/>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38" name="Rounded Rectangle 37"/>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39" name="TextBox 38"/>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0" name="Rounded Rectangle 39"/>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1" name="TextBox 40"/>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
        <p:nvSpPr>
          <p:cNvPr id="42" name="TextBox 41"/>
          <p:cNvSpPr txBox="1"/>
          <p:nvPr/>
        </p:nvSpPr>
        <p:spPr>
          <a:xfrm>
            <a:off x="2775203" y="5458968"/>
            <a:ext cx="640080" cy="457200"/>
          </a:xfrm>
          <a:prstGeom prst="rect">
            <a:avLst/>
          </a:prstGeom>
          <a:noFill/>
        </p:spPr>
        <p:txBody>
          <a:bodyPr wrap="square" lIns="45720" tIns="27432" rIns="45720" bIns="27432" anchor="ctr">
            <a:spAutoFit/>
          </a:bodyPr>
          <a:lstStyle/>
          <a:p>
            <a:pPr algn="ctr"/>
            <a:r>
              <a:rPr sz="3200" b="1" i="0">
                <a:solidFill>
                  <a:srgbClr val="C8501E"/>
                </a:solidFill>
                <a:latin typeface="Calibri"/>
              </a:rPr>
              <a:t>=</a:t>
            </a:r>
          </a:p>
        </p:txBody>
      </p:sp>
      <p:sp>
        <p:nvSpPr>
          <p:cNvPr id="43" name="TextBox 42"/>
          <p:cNvSpPr txBox="1"/>
          <p:nvPr/>
        </p:nvSpPr>
        <p:spPr>
          <a:xfrm>
            <a:off x="4274820" y="5458968"/>
            <a:ext cx="640080" cy="457200"/>
          </a:xfrm>
          <a:prstGeom prst="rect">
            <a:avLst/>
          </a:prstGeom>
          <a:noFill/>
        </p:spPr>
        <p:txBody>
          <a:bodyPr wrap="square" lIns="45720" tIns="27432" rIns="45720" bIns="27432" anchor="ctr">
            <a:spAutoFit/>
          </a:bodyPr>
          <a:lstStyle/>
          <a:p>
            <a:pPr algn="ctr"/>
            <a:r>
              <a:rPr sz="3200" b="1" i="0">
                <a:solidFill>
                  <a:srgbClr val="C8501E"/>
                </a:solidFill>
                <a:latin typeface="Calibri"/>
              </a:rPr>
              <a:t>=</a:t>
            </a:r>
          </a:p>
        </p:txBody>
      </p:sp>
      <p:sp>
        <p:nvSpPr>
          <p:cNvPr id="44" name="TextBox 43"/>
          <p:cNvSpPr txBox="1"/>
          <p:nvPr/>
        </p:nvSpPr>
        <p:spPr>
          <a:xfrm>
            <a:off x="5774436" y="5458968"/>
            <a:ext cx="640080" cy="457200"/>
          </a:xfrm>
          <a:prstGeom prst="rect">
            <a:avLst/>
          </a:prstGeom>
          <a:noFill/>
        </p:spPr>
        <p:txBody>
          <a:bodyPr wrap="square" lIns="45720" tIns="27432" rIns="45720" bIns="27432" anchor="ctr">
            <a:spAutoFit/>
          </a:bodyPr>
          <a:lstStyle/>
          <a:p>
            <a:pPr algn="ctr"/>
            <a:r>
              <a:rPr sz="3200" b="1" i="0">
                <a:solidFill>
                  <a:srgbClr val="C8501E"/>
                </a:solidFill>
                <a:latin typeface="Calibri"/>
              </a:rPr>
              <a:t>=</a:t>
            </a:r>
          </a:p>
        </p:txBody>
      </p:sp>
      <p:sp>
        <p:nvSpPr>
          <p:cNvPr id="45" name="TextBox 44"/>
          <p:cNvSpPr txBox="1"/>
          <p:nvPr/>
        </p:nvSpPr>
        <p:spPr>
          <a:xfrm>
            <a:off x="7274052" y="5458968"/>
            <a:ext cx="640080" cy="457200"/>
          </a:xfrm>
          <a:prstGeom prst="rect">
            <a:avLst/>
          </a:prstGeom>
          <a:noFill/>
        </p:spPr>
        <p:txBody>
          <a:bodyPr wrap="square" lIns="45720" tIns="27432" rIns="45720" bIns="27432" anchor="ctr">
            <a:spAutoFit/>
          </a:bodyPr>
          <a:lstStyle/>
          <a:p>
            <a:pPr algn="ctr"/>
            <a:r>
              <a:rPr sz="3200" b="1" i="0">
                <a:solidFill>
                  <a:srgbClr val="C8501E"/>
                </a:solidFill>
                <a:latin typeface="Calibri"/>
              </a:rPr>
              <a:t>=</a:t>
            </a:r>
          </a:p>
        </p:txBody>
      </p:sp>
      <p:sp>
        <p:nvSpPr>
          <p:cNvPr id="46" name="TextBox 45"/>
          <p:cNvSpPr txBox="1"/>
          <p:nvPr/>
        </p:nvSpPr>
        <p:spPr>
          <a:xfrm>
            <a:off x="8773668" y="5458968"/>
            <a:ext cx="640080" cy="457200"/>
          </a:xfrm>
          <a:prstGeom prst="rect">
            <a:avLst/>
          </a:prstGeom>
          <a:noFill/>
        </p:spPr>
        <p:txBody>
          <a:bodyPr wrap="square" lIns="45720" tIns="27432" rIns="45720" bIns="27432" anchor="ctr">
            <a:spAutoFit/>
          </a:bodyPr>
          <a:lstStyle/>
          <a:p>
            <a:pPr algn="ctr"/>
            <a:r>
              <a:rPr sz="3200" b="1" i="0">
                <a:solidFill>
                  <a:srgbClr val="C8501E"/>
                </a:solidFill>
                <a:latin typeface="Calibri"/>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Closure by hand</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24</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cxnSp>
        <p:nvCxnSpPr>
          <p:cNvPr id="11" name="Connector 10"/>
          <p:cNvCxnSpPr/>
          <p:nvPr/>
        </p:nvCxnSpPr>
        <p:spPr>
          <a:xfrm flipH="1">
            <a:off x="2784348" y="3803903"/>
            <a:ext cx="539496" cy="1106425"/>
          </a:xfrm>
          <a:prstGeom prst="line">
            <a:avLst/>
          </a:prstGeom>
          <a:ln w="15875">
            <a:solidFill>
              <a:srgbClr val="8A8F98"/>
            </a:solidFill>
          </a:ln>
          <a:effectLst/>
        </p:spPr>
      </p:cxnSp>
      <p:cxnSp>
        <p:nvCxnSpPr>
          <p:cNvPr id="12" name="Connector 11"/>
          <p:cNvCxnSpPr/>
          <p:nvPr/>
        </p:nvCxnSpPr>
        <p:spPr>
          <a:xfrm>
            <a:off x="3323844" y="3803903"/>
            <a:ext cx="960120" cy="1106425"/>
          </a:xfrm>
          <a:prstGeom prst="line">
            <a:avLst/>
          </a:prstGeom>
          <a:ln w="15875">
            <a:solidFill>
              <a:srgbClr val="8A8F98"/>
            </a:solidFill>
          </a:ln>
          <a:effectLst/>
        </p:spPr>
      </p:cxnSp>
      <p:cxnSp>
        <p:nvCxnSpPr>
          <p:cNvPr id="13" name="Connector 12"/>
          <p:cNvCxnSpPr/>
          <p:nvPr/>
        </p:nvCxnSpPr>
        <p:spPr>
          <a:xfrm flipH="1">
            <a:off x="3406139" y="3803903"/>
            <a:ext cx="1014985" cy="1106425"/>
          </a:xfrm>
          <a:prstGeom prst="line">
            <a:avLst/>
          </a:prstGeom>
          <a:ln w="15875">
            <a:solidFill>
              <a:srgbClr val="8A8F98"/>
            </a:solidFill>
          </a:ln>
          <a:effectLst/>
        </p:spPr>
      </p:cxnSp>
      <p:cxnSp>
        <p:nvCxnSpPr>
          <p:cNvPr id="14" name="Connector 13"/>
          <p:cNvCxnSpPr/>
          <p:nvPr/>
        </p:nvCxnSpPr>
        <p:spPr>
          <a:xfrm>
            <a:off x="4421124" y="3803903"/>
            <a:ext cx="484632" cy="1106425"/>
          </a:xfrm>
          <a:prstGeom prst="line">
            <a:avLst/>
          </a:prstGeom>
          <a:ln w="15875">
            <a:solidFill>
              <a:srgbClr val="8A8F98"/>
            </a:solidFill>
          </a:ln>
          <a:effectLst/>
        </p:spPr>
      </p:cxnSp>
      <p:cxnSp>
        <p:nvCxnSpPr>
          <p:cNvPr id="15" name="Connector 14"/>
          <p:cNvCxnSpPr/>
          <p:nvPr/>
        </p:nvCxnSpPr>
        <p:spPr>
          <a:xfrm flipH="1">
            <a:off x="7283196" y="3803903"/>
            <a:ext cx="475487" cy="1106425"/>
          </a:xfrm>
          <a:prstGeom prst="line">
            <a:avLst/>
          </a:prstGeom>
          <a:ln w="15875">
            <a:solidFill>
              <a:srgbClr val="8A8F98"/>
            </a:solidFill>
          </a:ln>
          <a:effectLst/>
        </p:spPr>
      </p:cxnSp>
      <p:cxnSp>
        <p:nvCxnSpPr>
          <p:cNvPr id="16" name="Connector 15"/>
          <p:cNvCxnSpPr/>
          <p:nvPr/>
        </p:nvCxnSpPr>
        <p:spPr>
          <a:xfrm>
            <a:off x="7758683" y="3803903"/>
            <a:ext cx="1024129" cy="1106425"/>
          </a:xfrm>
          <a:prstGeom prst="line">
            <a:avLst/>
          </a:prstGeom>
          <a:ln w="15875">
            <a:solidFill>
              <a:srgbClr val="8A8F98"/>
            </a:solidFill>
          </a:ln>
          <a:effectLst/>
        </p:spPr>
      </p:cxnSp>
      <p:cxnSp>
        <p:nvCxnSpPr>
          <p:cNvPr id="17" name="Connector 16"/>
          <p:cNvCxnSpPr/>
          <p:nvPr/>
        </p:nvCxnSpPr>
        <p:spPr>
          <a:xfrm flipH="1">
            <a:off x="7904988" y="3803903"/>
            <a:ext cx="950975" cy="1106425"/>
          </a:xfrm>
          <a:prstGeom prst="line">
            <a:avLst/>
          </a:prstGeom>
          <a:ln w="15875">
            <a:solidFill>
              <a:srgbClr val="8A8F98"/>
            </a:solidFill>
          </a:ln>
          <a:effectLst/>
        </p:spPr>
      </p:cxnSp>
      <p:cxnSp>
        <p:nvCxnSpPr>
          <p:cNvPr id="18" name="Connector 17"/>
          <p:cNvCxnSpPr/>
          <p:nvPr/>
        </p:nvCxnSpPr>
        <p:spPr>
          <a:xfrm>
            <a:off x="8855963" y="3803903"/>
            <a:ext cx="548641" cy="1106425"/>
          </a:xfrm>
          <a:prstGeom prst="line">
            <a:avLst/>
          </a:prstGeom>
          <a:ln w="15875">
            <a:solidFill>
              <a:srgbClr val="8A8F98"/>
            </a:solidFill>
          </a:ln>
          <a:effectLst/>
        </p:spPr>
      </p:cxnSp>
      <p:cxnSp>
        <p:nvCxnSpPr>
          <p:cNvPr id="19" name="Connector 18"/>
          <p:cNvCxnSpPr/>
          <p:nvPr/>
        </p:nvCxnSpPr>
        <p:spPr>
          <a:xfrm>
            <a:off x="5564124" y="2203704"/>
            <a:ext cx="219455" cy="2706624"/>
          </a:xfrm>
          <a:prstGeom prst="line">
            <a:avLst/>
          </a:prstGeom>
          <a:ln w="15875">
            <a:solidFill>
              <a:srgbClr val="8A8F98"/>
            </a:solidFill>
          </a:ln>
          <a:effectLst/>
        </p:spPr>
      </p:cxnSp>
      <p:cxnSp>
        <p:nvCxnSpPr>
          <p:cNvPr id="20" name="Connector 19"/>
          <p:cNvCxnSpPr/>
          <p:nvPr/>
        </p:nvCxnSpPr>
        <p:spPr>
          <a:xfrm flipH="1">
            <a:off x="3323844" y="2203704"/>
            <a:ext cx="2240280" cy="749807"/>
          </a:xfrm>
          <a:prstGeom prst="line">
            <a:avLst/>
          </a:prstGeom>
          <a:ln w="15875">
            <a:solidFill>
              <a:srgbClr val="8A8F98"/>
            </a:solidFill>
          </a:ln>
          <a:effectLst/>
        </p:spPr>
      </p:cxnSp>
      <p:cxnSp>
        <p:nvCxnSpPr>
          <p:cNvPr id="21" name="Connector 20"/>
          <p:cNvCxnSpPr/>
          <p:nvPr/>
        </p:nvCxnSpPr>
        <p:spPr>
          <a:xfrm>
            <a:off x="5564124" y="2203704"/>
            <a:ext cx="2194559" cy="749807"/>
          </a:xfrm>
          <a:prstGeom prst="line">
            <a:avLst/>
          </a:prstGeom>
          <a:ln w="15875">
            <a:solidFill>
              <a:srgbClr val="8A8F98"/>
            </a:solidFill>
          </a:ln>
          <a:effectLst/>
        </p:spPr>
      </p:cxnSp>
      <p:cxnSp>
        <p:nvCxnSpPr>
          <p:cNvPr id="22" name="Connector 21"/>
          <p:cNvCxnSpPr/>
          <p:nvPr/>
        </p:nvCxnSpPr>
        <p:spPr>
          <a:xfrm flipH="1">
            <a:off x="6405372" y="2203704"/>
            <a:ext cx="484632" cy="2706624"/>
          </a:xfrm>
          <a:prstGeom prst="line">
            <a:avLst/>
          </a:prstGeom>
          <a:ln w="15875">
            <a:solidFill>
              <a:srgbClr val="8A8F98"/>
            </a:solidFill>
          </a:ln>
          <a:effectLst/>
        </p:spPr>
      </p:cxnSp>
      <p:cxnSp>
        <p:nvCxnSpPr>
          <p:cNvPr id="23" name="Connector 22"/>
          <p:cNvCxnSpPr/>
          <p:nvPr/>
        </p:nvCxnSpPr>
        <p:spPr>
          <a:xfrm flipH="1">
            <a:off x="4421124" y="2203704"/>
            <a:ext cx="2468880" cy="749807"/>
          </a:xfrm>
          <a:prstGeom prst="line">
            <a:avLst/>
          </a:prstGeom>
          <a:ln w="15875">
            <a:solidFill>
              <a:srgbClr val="8A8F98"/>
            </a:solidFill>
          </a:ln>
          <a:effectLst/>
        </p:spPr>
      </p:cxnSp>
      <p:cxnSp>
        <p:nvCxnSpPr>
          <p:cNvPr id="24" name="Connector 23"/>
          <p:cNvCxnSpPr/>
          <p:nvPr/>
        </p:nvCxnSpPr>
        <p:spPr>
          <a:xfrm>
            <a:off x="6890004" y="2203704"/>
            <a:ext cx="1965959" cy="749807"/>
          </a:xfrm>
          <a:prstGeom prst="line">
            <a:avLst/>
          </a:prstGeom>
          <a:ln w="15875">
            <a:solidFill>
              <a:srgbClr val="8A8F98"/>
            </a:solidFill>
          </a:ln>
          <a:effectLst/>
        </p:spPr>
      </p:cxnSp>
      <p:sp>
        <p:nvSpPr>
          <p:cNvPr id="25" name="Rounded Rectangle 24"/>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6" name="Rounded Rectangle 25"/>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7" name="Rounded Rectangle 26"/>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28" name="Rounded Rectangle 27"/>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29" name="Rounded Rectangle 28"/>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0" name="Rounded Rectangle 29"/>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1" name="Rounded Rectangle 30"/>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2" name="Rounded Rectangle 31"/>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3" name="Rounded Rectangle 32"/>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4" name="Rounded Rectangle 33"/>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5" name="Rounded Rectangle 34"/>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36" name="TextBox 35"/>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a₁</a:t>
            </a:r>
          </a:p>
        </p:txBody>
      </p:sp>
      <p:sp>
        <p:nvSpPr>
          <p:cNvPr id="37" name="Rounded Rectangle 36"/>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38" name="TextBox 37"/>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39" name="Rounded Rectangle 38"/>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0" name="TextBox 39"/>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x₁</a:t>
            </a:r>
          </a:p>
        </p:txBody>
      </p:sp>
      <p:sp>
        <p:nvSpPr>
          <p:cNvPr id="41" name="Rounded Rectangle 40"/>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2" name="TextBox 41"/>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43" name="Rounded Rectangle 42"/>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4" name="TextBox 43"/>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5" name="Rounded Rectangle 44"/>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6" name="TextBox 45"/>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
        <p:nvSpPr>
          <p:cNvPr id="47" name="TextBox 46"/>
          <p:cNvSpPr txBox="1"/>
          <p:nvPr/>
        </p:nvSpPr>
        <p:spPr>
          <a:xfrm>
            <a:off x="2775203" y="5458968"/>
            <a:ext cx="640080" cy="457200"/>
          </a:xfrm>
          <a:prstGeom prst="rect">
            <a:avLst/>
          </a:prstGeom>
          <a:noFill/>
        </p:spPr>
        <p:txBody>
          <a:bodyPr wrap="square" lIns="45720" tIns="27432" rIns="45720" bIns="27432" anchor="ctr">
            <a:spAutoFit/>
          </a:bodyPr>
          <a:lstStyle/>
          <a:p>
            <a:pPr algn="ctr"/>
            <a:r>
              <a:rPr sz="2400" b="1" i="0">
                <a:solidFill>
                  <a:srgbClr val="C8501E"/>
                </a:solidFill>
                <a:latin typeface="Calibri"/>
              </a:rPr>
              <a:t>∪</a:t>
            </a:r>
          </a:p>
        </p:txBody>
      </p:sp>
      <p:sp>
        <p:nvSpPr>
          <p:cNvPr id="48" name="TextBox 47"/>
          <p:cNvSpPr txBox="1"/>
          <p:nvPr/>
        </p:nvSpPr>
        <p:spPr>
          <a:xfrm>
            <a:off x="4274820" y="5458968"/>
            <a:ext cx="640080" cy="457200"/>
          </a:xfrm>
          <a:prstGeom prst="rect">
            <a:avLst/>
          </a:prstGeom>
          <a:noFill/>
        </p:spPr>
        <p:txBody>
          <a:bodyPr wrap="square" lIns="45720" tIns="27432" rIns="45720" bIns="27432" anchor="ctr">
            <a:spAutoFit/>
          </a:bodyPr>
          <a:lstStyle/>
          <a:p>
            <a:pPr algn="ctr"/>
            <a:r>
              <a:rPr sz="2400" b="1" i="0">
                <a:solidFill>
                  <a:srgbClr val="C8501E"/>
                </a:solidFill>
                <a:latin typeface="Calibri"/>
              </a:rPr>
              <a:t>∪</a:t>
            </a:r>
          </a:p>
        </p:txBody>
      </p:sp>
      <p:sp>
        <p:nvSpPr>
          <p:cNvPr id="49" name="TextBox 48"/>
          <p:cNvSpPr txBox="1"/>
          <p:nvPr/>
        </p:nvSpPr>
        <p:spPr>
          <a:xfrm>
            <a:off x="5774436" y="5458968"/>
            <a:ext cx="640080" cy="457200"/>
          </a:xfrm>
          <a:prstGeom prst="rect">
            <a:avLst/>
          </a:prstGeom>
          <a:noFill/>
        </p:spPr>
        <p:txBody>
          <a:bodyPr wrap="square" lIns="45720" tIns="27432" rIns="45720" bIns="27432" anchor="ctr">
            <a:spAutoFit/>
          </a:bodyPr>
          <a:lstStyle/>
          <a:p>
            <a:pPr algn="ctr"/>
            <a:r>
              <a:rPr sz="2400" b="1" i="0">
                <a:solidFill>
                  <a:srgbClr val="C8501E"/>
                </a:solidFill>
                <a:latin typeface="Calibri"/>
              </a:rPr>
              <a:t>∪</a:t>
            </a:r>
          </a:p>
        </p:txBody>
      </p:sp>
      <p:sp>
        <p:nvSpPr>
          <p:cNvPr id="50" name="TextBox 49"/>
          <p:cNvSpPr txBox="1"/>
          <p:nvPr/>
        </p:nvSpPr>
        <p:spPr>
          <a:xfrm>
            <a:off x="7274052" y="5458968"/>
            <a:ext cx="640080" cy="457200"/>
          </a:xfrm>
          <a:prstGeom prst="rect">
            <a:avLst/>
          </a:prstGeom>
          <a:noFill/>
        </p:spPr>
        <p:txBody>
          <a:bodyPr wrap="square" lIns="45720" tIns="27432" rIns="45720" bIns="27432" anchor="ctr">
            <a:spAutoFit/>
          </a:bodyPr>
          <a:lstStyle/>
          <a:p>
            <a:pPr algn="ctr"/>
            <a:r>
              <a:rPr sz="2400" b="1" i="0">
                <a:solidFill>
                  <a:srgbClr val="C8501E"/>
                </a:solidFill>
                <a:latin typeface="Calibri"/>
              </a:rPr>
              <a:t>∪</a:t>
            </a:r>
          </a:p>
        </p:txBody>
      </p:sp>
      <p:sp>
        <p:nvSpPr>
          <p:cNvPr id="51" name="TextBox 50"/>
          <p:cNvSpPr txBox="1"/>
          <p:nvPr/>
        </p:nvSpPr>
        <p:spPr>
          <a:xfrm>
            <a:off x="8773668" y="5458968"/>
            <a:ext cx="640080" cy="457200"/>
          </a:xfrm>
          <a:prstGeom prst="rect">
            <a:avLst/>
          </a:prstGeom>
          <a:noFill/>
        </p:spPr>
        <p:txBody>
          <a:bodyPr wrap="square" lIns="45720" tIns="27432" rIns="45720" bIns="27432" anchor="ctr">
            <a:spAutoFit/>
          </a:bodyPr>
          <a:lstStyle/>
          <a:p>
            <a:pPr algn="ctr"/>
            <a:r>
              <a:rPr sz="2400" b="1" i="0">
                <a:solidFill>
                  <a:srgbClr val="C8501E"/>
                </a:solidFill>
                <a:latin typeface="Calibri"/>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Closure by hand</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25</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cxnSp>
        <p:nvCxnSpPr>
          <p:cNvPr id="11" name="Connector 10"/>
          <p:cNvCxnSpPr/>
          <p:nvPr/>
        </p:nvCxnSpPr>
        <p:spPr>
          <a:xfrm flipH="1">
            <a:off x="2784348" y="3803903"/>
            <a:ext cx="539496" cy="1106425"/>
          </a:xfrm>
          <a:prstGeom prst="line">
            <a:avLst/>
          </a:prstGeom>
          <a:ln w="15875">
            <a:solidFill>
              <a:srgbClr val="8A8F98"/>
            </a:solidFill>
          </a:ln>
          <a:effectLst/>
        </p:spPr>
      </p:cxnSp>
      <p:cxnSp>
        <p:nvCxnSpPr>
          <p:cNvPr id="12" name="Connector 11"/>
          <p:cNvCxnSpPr/>
          <p:nvPr/>
        </p:nvCxnSpPr>
        <p:spPr>
          <a:xfrm>
            <a:off x="3323844" y="3803903"/>
            <a:ext cx="960120" cy="1106425"/>
          </a:xfrm>
          <a:prstGeom prst="line">
            <a:avLst/>
          </a:prstGeom>
          <a:ln w="15875">
            <a:solidFill>
              <a:srgbClr val="8A8F98"/>
            </a:solidFill>
          </a:ln>
          <a:effectLst/>
        </p:spPr>
      </p:cxnSp>
      <p:cxnSp>
        <p:nvCxnSpPr>
          <p:cNvPr id="13" name="Connector 12"/>
          <p:cNvCxnSpPr/>
          <p:nvPr/>
        </p:nvCxnSpPr>
        <p:spPr>
          <a:xfrm flipH="1">
            <a:off x="3406139" y="3803903"/>
            <a:ext cx="1014985" cy="1106425"/>
          </a:xfrm>
          <a:prstGeom prst="line">
            <a:avLst/>
          </a:prstGeom>
          <a:ln w="15875">
            <a:solidFill>
              <a:srgbClr val="8A8F98"/>
            </a:solidFill>
          </a:ln>
          <a:effectLst/>
        </p:spPr>
      </p:cxnSp>
      <p:cxnSp>
        <p:nvCxnSpPr>
          <p:cNvPr id="14" name="Connector 13"/>
          <p:cNvCxnSpPr/>
          <p:nvPr/>
        </p:nvCxnSpPr>
        <p:spPr>
          <a:xfrm>
            <a:off x="4421124" y="3803903"/>
            <a:ext cx="484632" cy="1106425"/>
          </a:xfrm>
          <a:prstGeom prst="line">
            <a:avLst/>
          </a:prstGeom>
          <a:ln w="15875">
            <a:solidFill>
              <a:srgbClr val="8A8F98"/>
            </a:solidFill>
          </a:ln>
          <a:effectLst/>
        </p:spPr>
      </p:cxnSp>
      <p:cxnSp>
        <p:nvCxnSpPr>
          <p:cNvPr id="15" name="Connector 14"/>
          <p:cNvCxnSpPr/>
          <p:nvPr/>
        </p:nvCxnSpPr>
        <p:spPr>
          <a:xfrm flipH="1">
            <a:off x="7283196" y="3803903"/>
            <a:ext cx="475487" cy="1106425"/>
          </a:xfrm>
          <a:prstGeom prst="line">
            <a:avLst/>
          </a:prstGeom>
          <a:ln w="15875">
            <a:solidFill>
              <a:srgbClr val="8A8F98"/>
            </a:solidFill>
          </a:ln>
          <a:effectLst/>
        </p:spPr>
      </p:cxnSp>
      <p:cxnSp>
        <p:nvCxnSpPr>
          <p:cNvPr id="16" name="Connector 15"/>
          <p:cNvCxnSpPr/>
          <p:nvPr/>
        </p:nvCxnSpPr>
        <p:spPr>
          <a:xfrm>
            <a:off x="7758683" y="3803903"/>
            <a:ext cx="1024129" cy="1106425"/>
          </a:xfrm>
          <a:prstGeom prst="line">
            <a:avLst/>
          </a:prstGeom>
          <a:ln w="15875">
            <a:solidFill>
              <a:srgbClr val="8A8F98"/>
            </a:solidFill>
          </a:ln>
          <a:effectLst/>
        </p:spPr>
      </p:cxnSp>
      <p:cxnSp>
        <p:nvCxnSpPr>
          <p:cNvPr id="17" name="Connector 16"/>
          <p:cNvCxnSpPr/>
          <p:nvPr/>
        </p:nvCxnSpPr>
        <p:spPr>
          <a:xfrm flipH="1">
            <a:off x="7904988" y="3803903"/>
            <a:ext cx="950975" cy="1106425"/>
          </a:xfrm>
          <a:prstGeom prst="line">
            <a:avLst/>
          </a:prstGeom>
          <a:ln w="15875">
            <a:solidFill>
              <a:srgbClr val="8A8F98"/>
            </a:solidFill>
          </a:ln>
          <a:effectLst/>
        </p:spPr>
      </p:cxnSp>
      <p:cxnSp>
        <p:nvCxnSpPr>
          <p:cNvPr id="18" name="Connector 17"/>
          <p:cNvCxnSpPr/>
          <p:nvPr/>
        </p:nvCxnSpPr>
        <p:spPr>
          <a:xfrm>
            <a:off x="8855963" y="3803903"/>
            <a:ext cx="548641" cy="1106425"/>
          </a:xfrm>
          <a:prstGeom prst="line">
            <a:avLst/>
          </a:prstGeom>
          <a:ln w="15875">
            <a:solidFill>
              <a:srgbClr val="8A8F98"/>
            </a:solidFill>
          </a:ln>
          <a:effectLst/>
        </p:spPr>
      </p:cxnSp>
      <p:cxnSp>
        <p:nvCxnSpPr>
          <p:cNvPr id="19" name="Connector 18"/>
          <p:cNvCxnSpPr/>
          <p:nvPr/>
        </p:nvCxnSpPr>
        <p:spPr>
          <a:xfrm>
            <a:off x="5564124" y="2203704"/>
            <a:ext cx="219455" cy="2706624"/>
          </a:xfrm>
          <a:prstGeom prst="line">
            <a:avLst/>
          </a:prstGeom>
          <a:ln w="15875">
            <a:solidFill>
              <a:srgbClr val="8A8F98"/>
            </a:solidFill>
          </a:ln>
          <a:effectLst/>
        </p:spPr>
      </p:cxnSp>
      <p:cxnSp>
        <p:nvCxnSpPr>
          <p:cNvPr id="20" name="Connector 19"/>
          <p:cNvCxnSpPr/>
          <p:nvPr/>
        </p:nvCxnSpPr>
        <p:spPr>
          <a:xfrm flipH="1">
            <a:off x="3323844" y="2203704"/>
            <a:ext cx="2240280" cy="749807"/>
          </a:xfrm>
          <a:prstGeom prst="line">
            <a:avLst/>
          </a:prstGeom>
          <a:ln w="15875">
            <a:solidFill>
              <a:srgbClr val="8A8F98"/>
            </a:solidFill>
          </a:ln>
          <a:effectLst/>
        </p:spPr>
      </p:cxnSp>
      <p:cxnSp>
        <p:nvCxnSpPr>
          <p:cNvPr id="21" name="Connector 20"/>
          <p:cNvCxnSpPr/>
          <p:nvPr/>
        </p:nvCxnSpPr>
        <p:spPr>
          <a:xfrm>
            <a:off x="5564124" y="2203704"/>
            <a:ext cx="2194559" cy="749807"/>
          </a:xfrm>
          <a:prstGeom prst="line">
            <a:avLst/>
          </a:prstGeom>
          <a:ln w="15875">
            <a:solidFill>
              <a:srgbClr val="8A8F98"/>
            </a:solidFill>
          </a:ln>
          <a:effectLst/>
        </p:spPr>
      </p:cxnSp>
      <p:cxnSp>
        <p:nvCxnSpPr>
          <p:cNvPr id="22" name="Connector 21"/>
          <p:cNvCxnSpPr/>
          <p:nvPr/>
        </p:nvCxnSpPr>
        <p:spPr>
          <a:xfrm flipH="1">
            <a:off x="6405372" y="2203704"/>
            <a:ext cx="484632" cy="2706624"/>
          </a:xfrm>
          <a:prstGeom prst="line">
            <a:avLst/>
          </a:prstGeom>
          <a:ln w="15875">
            <a:solidFill>
              <a:srgbClr val="8A8F98"/>
            </a:solidFill>
          </a:ln>
          <a:effectLst/>
        </p:spPr>
      </p:cxnSp>
      <p:cxnSp>
        <p:nvCxnSpPr>
          <p:cNvPr id="23" name="Connector 22"/>
          <p:cNvCxnSpPr/>
          <p:nvPr/>
        </p:nvCxnSpPr>
        <p:spPr>
          <a:xfrm flipH="1">
            <a:off x="4421124" y="2203704"/>
            <a:ext cx="2468880" cy="749807"/>
          </a:xfrm>
          <a:prstGeom prst="line">
            <a:avLst/>
          </a:prstGeom>
          <a:ln w="15875">
            <a:solidFill>
              <a:srgbClr val="8A8F98"/>
            </a:solidFill>
          </a:ln>
          <a:effectLst/>
        </p:spPr>
      </p:cxnSp>
      <p:cxnSp>
        <p:nvCxnSpPr>
          <p:cNvPr id="24" name="Connector 23"/>
          <p:cNvCxnSpPr/>
          <p:nvPr/>
        </p:nvCxnSpPr>
        <p:spPr>
          <a:xfrm>
            <a:off x="6890004" y="2203704"/>
            <a:ext cx="1965959" cy="749807"/>
          </a:xfrm>
          <a:prstGeom prst="line">
            <a:avLst/>
          </a:prstGeom>
          <a:ln w="15875">
            <a:solidFill>
              <a:srgbClr val="8A8F98"/>
            </a:solidFill>
          </a:ln>
          <a:effectLst/>
        </p:spPr>
      </p:cxnSp>
      <p:sp>
        <p:nvSpPr>
          <p:cNvPr id="25" name="Rounded Rectangle 24"/>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6" name="Rounded Rectangle 25"/>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7" name="Rounded Rectangle 26"/>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28" name="Rounded Rectangle 27"/>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29" name="Rounded Rectangle 28"/>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0" name="Rounded Rectangle 29"/>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1" name="Rounded Rectangle 30"/>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2" name="Rounded Rectangle 31"/>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3" name="Rounded Rectangle 32"/>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4" name="Rounded Rectangle 33"/>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5" name="Rounded Rectangle 34"/>
          <p:cNvSpPr/>
          <p:nvPr/>
        </p:nvSpPr>
        <p:spPr>
          <a:xfrm>
            <a:off x="2921508" y="3236975"/>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AND</a:t>
            </a:r>
          </a:p>
        </p:txBody>
      </p:sp>
      <p:sp>
        <p:nvSpPr>
          <p:cNvPr id="36" name="TextBox 35"/>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a₁</a:t>
            </a:r>
          </a:p>
        </p:txBody>
      </p:sp>
      <p:sp>
        <p:nvSpPr>
          <p:cNvPr id="37" name="Rounded Rectangle 36"/>
          <p:cNvSpPr/>
          <p:nvPr/>
        </p:nvSpPr>
        <p:spPr>
          <a:xfrm>
            <a:off x="4018787" y="3236975"/>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AND</a:t>
            </a:r>
          </a:p>
        </p:txBody>
      </p:sp>
      <p:sp>
        <p:nvSpPr>
          <p:cNvPr id="38" name="TextBox 37"/>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39" name="Rounded Rectangle 38"/>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0" name="TextBox 39"/>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x₁</a:t>
            </a:r>
          </a:p>
        </p:txBody>
      </p:sp>
      <p:sp>
        <p:nvSpPr>
          <p:cNvPr id="41" name="Rounded Rectangle 40"/>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2" name="TextBox 41"/>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43" name="Rounded Rectangle 42"/>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4" name="TextBox 43"/>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5" name="Rounded Rectangle 44"/>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6" name="TextBox 45"/>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Closure by hand</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26</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wrap="square" lIns="54864" tIns="27432" rIns="54864" bIns="27432" rtlCol="0" anchor="ctr"/>
          <a:lstStyle/>
          <a:p>
            <a:pPr algn="ctr"/>
            <a:endParaRPr/>
          </a:p>
        </p:txBody>
      </p:sp>
      <p:cxnSp>
        <p:nvCxnSpPr>
          <p:cNvPr id="12" name="Connector 11"/>
          <p:cNvCxnSpPr/>
          <p:nvPr/>
        </p:nvCxnSpPr>
        <p:spPr>
          <a:xfrm flipH="1">
            <a:off x="2784348" y="3803903"/>
            <a:ext cx="539496" cy="1106425"/>
          </a:xfrm>
          <a:prstGeom prst="line">
            <a:avLst/>
          </a:prstGeom>
          <a:ln w="15875">
            <a:solidFill>
              <a:srgbClr val="8A8F98"/>
            </a:solidFill>
          </a:ln>
          <a:effectLst/>
        </p:spPr>
      </p:cxnSp>
      <p:cxnSp>
        <p:nvCxnSpPr>
          <p:cNvPr id="13" name="Connector 12"/>
          <p:cNvCxnSpPr/>
          <p:nvPr/>
        </p:nvCxnSpPr>
        <p:spPr>
          <a:xfrm>
            <a:off x="3323844" y="3803903"/>
            <a:ext cx="960120" cy="1106425"/>
          </a:xfrm>
          <a:prstGeom prst="line">
            <a:avLst/>
          </a:prstGeom>
          <a:ln w="15875">
            <a:solidFill>
              <a:srgbClr val="8A8F98"/>
            </a:solidFill>
          </a:ln>
          <a:effectLst/>
        </p:spPr>
      </p:cxnSp>
      <p:cxnSp>
        <p:nvCxnSpPr>
          <p:cNvPr id="14" name="Connector 13"/>
          <p:cNvCxnSpPr/>
          <p:nvPr/>
        </p:nvCxnSpPr>
        <p:spPr>
          <a:xfrm flipH="1">
            <a:off x="3406139" y="3803903"/>
            <a:ext cx="1014985" cy="1106425"/>
          </a:xfrm>
          <a:prstGeom prst="line">
            <a:avLst/>
          </a:prstGeom>
          <a:ln w="15875">
            <a:solidFill>
              <a:srgbClr val="8A8F98"/>
            </a:solidFill>
          </a:ln>
          <a:effectLst/>
        </p:spPr>
      </p:cxnSp>
      <p:cxnSp>
        <p:nvCxnSpPr>
          <p:cNvPr id="15" name="Connector 14"/>
          <p:cNvCxnSpPr/>
          <p:nvPr/>
        </p:nvCxnSpPr>
        <p:spPr>
          <a:xfrm>
            <a:off x="4421124" y="3803903"/>
            <a:ext cx="484632" cy="1106425"/>
          </a:xfrm>
          <a:prstGeom prst="line">
            <a:avLst/>
          </a:prstGeom>
          <a:ln w="15875">
            <a:solidFill>
              <a:srgbClr val="8A8F98"/>
            </a:solidFill>
          </a:ln>
          <a:effectLst/>
        </p:spPr>
      </p:cxnSp>
      <p:cxnSp>
        <p:nvCxnSpPr>
          <p:cNvPr id="16" name="Connector 15"/>
          <p:cNvCxnSpPr/>
          <p:nvPr/>
        </p:nvCxnSpPr>
        <p:spPr>
          <a:xfrm flipH="1">
            <a:off x="7283196" y="3803903"/>
            <a:ext cx="475487" cy="1106425"/>
          </a:xfrm>
          <a:prstGeom prst="line">
            <a:avLst/>
          </a:prstGeom>
          <a:ln w="15875">
            <a:solidFill>
              <a:srgbClr val="8A8F98"/>
            </a:solidFill>
          </a:ln>
          <a:effectLst/>
        </p:spPr>
      </p:cxnSp>
      <p:cxnSp>
        <p:nvCxnSpPr>
          <p:cNvPr id="17" name="Connector 16"/>
          <p:cNvCxnSpPr/>
          <p:nvPr/>
        </p:nvCxnSpPr>
        <p:spPr>
          <a:xfrm>
            <a:off x="7758683" y="3803903"/>
            <a:ext cx="1024129" cy="1106425"/>
          </a:xfrm>
          <a:prstGeom prst="line">
            <a:avLst/>
          </a:prstGeom>
          <a:ln w="15875">
            <a:solidFill>
              <a:srgbClr val="8A8F98"/>
            </a:solidFill>
          </a:ln>
          <a:effectLst/>
        </p:spPr>
      </p:cxnSp>
      <p:cxnSp>
        <p:nvCxnSpPr>
          <p:cNvPr id="18" name="Connector 17"/>
          <p:cNvCxnSpPr/>
          <p:nvPr/>
        </p:nvCxnSpPr>
        <p:spPr>
          <a:xfrm flipH="1">
            <a:off x="7904988" y="3803903"/>
            <a:ext cx="950975" cy="1106425"/>
          </a:xfrm>
          <a:prstGeom prst="line">
            <a:avLst/>
          </a:prstGeom>
          <a:ln w="15875">
            <a:solidFill>
              <a:srgbClr val="8A8F98"/>
            </a:solidFill>
          </a:ln>
          <a:effectLst/>
        </p:spPr>
      </p:cxnSp>
      <p:cxnSp>
        <p:nvCxnSpPr>
          <p:cNvPr id="19" name="Connector 18"/>
          <p:cNvCxnSpPr/>
          <p:nvPr/>
        </p:nvCxnSpPr>
        <p:spPr>
          <a:xfrm>
            <a:off x="8855963" y="3803903"/>
            <a:ext cx="548641" cy="1106425"/>
          </a:xfrm>
          <a:prstGeom prst="line">
            <a:avLst/>
          </a:prstGeom>
          <a:ln w="15875">
            <a:solidFill>
              <a:srgbClr val="8A8F98"/>
            </a:solidFill>
          </a:ln>
          <a:effectLst/>
        </p:spPr>
      </p:cxnSp>
      <p:cxnSp>
        <p:nvCxnSpPr>
          <p:cNvPr id="20" name="Connector 19"/>
          <p:cNvCxnSpPr/>
          <p:nvPr/>
        </p:nvCxnSpPr>
        <p:spPr>
          <a:xfrm>
            <a:off x="5564124" y="2203704"/>
            <a:ext cx="219455" cy="2706624"/>
          </a:xfrm>
          <a:prstGeom prst="line">
            <a:avLst/>
          </a:prstGeom>
          <a:ln w="15875">
            <a:solidFill>
              <a:srgbClr val="8A8F98"/>
            </a:solidFill>
          </a:ln>
          <a:effectLst/>
        </p:spPr>
      </p:cxnSp>
      <p:cxnSp>
        <p:nvCxnSpPr>
          <p:cNvPr id="21" name="Connector 20"/>
          <p:cNvCxnSpPr/>
          <p:nvPr/>
        </p:nvCxnSpPr>
        <p:spPr>
          <a:xfrm flipH="1">
            <a:off x="3323844" y="2203704"/>
            <a:ext cx="2240280" cy="749807"/>
          </a:xfrm>
          <a:prstGeom prst="line">
            <a:avLst/>
          </a:prstGeom>
          <a:ln w="15875">
            <a:solidFill>
              <a:srgbClr val="8A8F98"/>
            </a:solidFill>
          </a:ln>
          <a:effectLst/>
        </p:spPr>
      </p:cxnSp>
      <p:cxnSp>
        <p:nvCxnSpPr>
          <p:cNvPr id="22" name="Connector 21"/>
          <p:cNvCxnSpPr/>
          <p:nvPr/>
        </p:nvCxnSpPr>
        <p:spPr>
          <a:xfrm>
            <a:off x="5564124" y="2203704"/>
            <a:ext cx="2194559" cy="749807"/>
          </a:xfrm>
          <a:prstGeom prst="line">
            <a:avLst/>
          </a:prstGeom>
          <a:ln w="15875">
            <a:solidFill>
              <a:srgbClr val="8A8F98"/>
            </a:solidFill>
          </a:ln>
          <a:effectLst/>
        </p:spPr>
      </p:cxnSp>
      <p:cxnSp>
        <p:nvCxnSpPr>
          <p:cNvPr id="23" name="Connector 22"/>
          <p:cNvCxnSpPr/>
          <p:nvPr/>
        </p:nvCxnSpPr>
        <p:spPr>
          <a:xfrm flipH="1">
            <a:off x="6405372" y="2203704"/>
            <a:ext cx="484632" cy="2706624"/>
          </a:xfrm>
          <a:prstGeom prst="line">
            <a:avLst/>
          </a:prstGeom>
          <a:ln w="15875">
            <a:solidFill>
              <a:srgbClr val="8A8F98"/>
            </a:solidFill>
          </a:ln>
          <a:effectLst/>
        </p:spPr>
      </p:cxnSp>
      <p:cxnSp>
        <p:nvCxnSpPr>
          <p:cNvPr id="24" name="Connector 23"/>
          <p:cNvCxnSpPr/>
          <p:nvPr/>
        </p:nvCxnSpPr>
        <p:spPr>
          <a:xfrm flipH="1">
            <a:off x="4421124" y="2203704"/>
            <a:ext cx="2468880" cy="749807"/>
          </a:xfrm>
          <a:prstGeom prst="line">
            <a:avLst/>
          </a:prstGeom>
          <a:ln w="15875">
            <a:solidFill>
              <a:srgbClr val="8A8F98"/>
            </a:solidFill>
          </a:ln>
          <a:effectLst/>
        </p:spPr>
      </p:cxnSp>
      <p:cxnSp>
        <p:nvCxnSpPr>
          <p:cNvPr id="25" name="Connector 24"/>
          <p:cNvCxnSpPr/>
          <p:nvPr/>
        </p:nvCxnSpPr>
        <p:spPr>
          <a:xfrm>
            <a:off x="6890004" y="2203704"/>
            <a:ext cx="1965959" cy="749807"/>
          </a:xfrm>
          <a:prstGeom prst="line">
            <a:avLst/>
          </a:prstGeom>
          <a:ln w="15875">
            <a:solidFill>
              <a:srgbClr val="8A8F98"/>
            </a:solidFill>
          </a:ln>
          <a:effectLst/>
        </p:spPr>
      </p:cxnSp>
      <p:sp>
        <p:nvSpPr>
          <p:cNvPr id="26" name="Rounded Rectangle 25"/>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7" name="Rounded Rectangle 26"/>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8" name="Rounded Rectangle 27"/>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29" name="Rounded Rectangle 28"/>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30" name="Rounded Rectangle 29"/>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1" name="Rounded Rectangle 30"/>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2" name="Rounded Rectangle 31"/>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3" name="Rounded Rectangle 32"/>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4" name="Rounded Rectangle 33"/>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5" name="Rounded Rectangle 34"/>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6" name="Rounded Rectangle 35"/>
          <p:cNvSpPr/>
          <p:nvPr/>
        </p:nvSpPr>
        <p:spPr>
          <a:xfrm>
            <a:off x="2921508" y="3236975"/>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AND</a:t>
            </a:r>
          </a:p>
        </p:txBody>
      </p:sp>
      <p:sp>
        <p:nvSpPr>
          <p:cNvPr id="37" name="TextBox 36"/>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a₁</a:t>
            </a:r>
          </a:p>
        </p:txBody>
      </p:sp>
      <p:sp>
        <p:nvSpPr>
          <p:cNvPr id="38" name="Rounded Rectangle 37"/>
          <p:cNvSpPr/>
          <p:nvPr/>
        </p:nvSpPr>
        <p:spPr>
          <a:xfrm>
            <a:off x="4018787" y="3236975"/>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AND</a:t>
            </a:r>
          </a:p>
        </p:txBody>
      </p:sp>
      <p:sp>
        <p:nvSpPr>
          <p:cNvPr id="39" name="TextBox 38"/>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40" name="Rounded Rectangle 39"/>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1" name="TextBox 40"/>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x₁</a:t>
            </a:r>
          </a:p>
        </p:txBody>
      </p:sp>
      <p:sp>
        <p:nvSpPr>
          <p:cNvPr id="42" name="Rounded Rectangle 41"/>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3" name="TextBox 42"/>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44" name="Rounded Rectangle 43"/>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5" name="TextBox 44"/>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6" name="Rounded Rectangle 45"/>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7" name="TextBox 46"/>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
        <p:nvSpPr>
          <p:cNvPr id="48" name="TextBox 47"/>
          <p:cNvSpPr txBox="1"/>
          <p:nvPr/>
        </p:nvSpPr>
        <p:spPr>
          <a:xfrm>
            <a:off x="3506723" y="3246120"/>
            <a:ext cx="731520" cy="548640"/>
          </a:xfrm>
          <a:prstGeom prst="rect">
            <a:avLst/>
          </a:prstGeom>
          <a:noFill/>
        </p:spPr>
        <p:txBody>
          <a:bodyPr wrap="square" lIns="45720" tIns="27432" rIns="45720" bIns="27432" anchor="ctr">
            <a:spAutoFit/>
          </a:bodyPr>
          <a:lstStyle/>
          <a:p>
            <a:pPr algn="ctr"/>
            <a:r>
              <a:rPr sz="2200" b="1" i="0">
                <a:solidFill>
                  <a:srgbClr val="C8501E"/>
                </a:solidFill>
                <a:latin typeface="Calibri"/>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Closure by hand</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27</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wrap="square" lIns="54864" tIns="27432" rIns="54864" bIns="27432" rtlCol="0" anchor="ctr"/>
          <a:lstStyle/>
          <a:p>
            <a:pPr algn="ctr"/>
            <a:endParaRPr/>
          </a:p>
        </p:txBody>
      </p:sp>
      <p:cxnSp>
        <p:nvCxnSpPr>
          <p:cNvPr id="12" name="Connector 11"/>
          <p:cNvCxnSpPr/>
          <p:nvPr/>
        </p:nvCxnSpPr>
        <p:spPr>
          <a:xfrm flipH="1">
            <a:off x="2784348" y="3803903"/>
            <a:ext cx="539496" cy="1106425"/>
          </a:xfrm>
          <a:prstGeom prst="line">
            <a:avLst/>
          </a:prstGeom>
          <a:ln w="15875">
            <a:solidFill>
              <a:srgbClr val="8A8F98"/>
            </a:solidFill>
          </a:ln>
          <a:effectLst/>
        </p:spPr>
      </p:cxnSp>
      <p:cxnSp>
        <p:nvCxnSpPr>
          <p:cNvPr id="13" name="Connector 12"/>
          <p:cNvCxnSpPr/>
          <p:nvPr/>
        </p:nvCxnSpPr>
        <p:spPr>
          <a:xfrm>
            <a:off x="3323844" y="3803903"/>
            <a:ext cx="960120" cy="1106425"/>
          </a:xfrm>
          <a:prstGeom prst="line">
            <a:avLst/>
          </a:prstGeom>
          <a:ln w="15875">
            <a:solidFill>
              <a:srgbClr val="8A8F98"/>
            </a:solidFill>
          </a:ln>
          <a:effectLst/>
        </p:spPr>
      </p:cxnSp>
      <p:cxnSp>
        <p:nvCxnSpPr>
          <p:cNvPr id="14" name="Connector 13"/>
          <p:cNvCxnSpPr/>
          <p:nvPr/>
        </p:nvCxnSpPr>
        <p:spPr>
          <a:xfrm flipH="1">
            <a:off x="3406139" y="3803903"/>
            <a:ext cx="1014985" cy="1106425"/>
          </a:xfrm>
          <a:prstGeom prst="line">
            <a:avLst/>
          </a:prstGeom>
          <a:ln w="15875">
            <a:solidFill>
              <a:srgbClr val="8A8F98"/>
            </a:solidFill>
          </a:ln>
          <a:effectLst/>
        </p:spPr>
      </p:cxnSp>
      <p:cxnSp>
        <p:nvCxnSpPr>
          <p:cNvPr id="15" name="Connector 14"/>
          <p:cNvCxnSpPr/>
          <p:nvPr/>
        </p:nvCxnSpPr>
        <p:spPr>
          <a:xfrm>
            <a:off x="4421124" y="3803903"/>
            <a:ext cx="484632" cy="1106425"/>
          </a:xfrm>
          <a:prstGeom prst="line">
            <a:avLst/>
          </a:prstGeom>
          <a:ln w="15875">
            <a:solidFill>
              <a:srgbClr val="8A8F98"/>
            </a:solidFill>
          </a:ln>
          <a:effectLst/>
        </p:spPr>
      </p:cxnSp>
      <p:cxnSp>
        <p:nvCxnSpPr>
          <p:cNvPr id="16" name="Connector 15"/>
          <p:cNvCxnSpPr/>
          <p:nvPr/>
        </p:nvCxnSpPr>
        <p:spPr>
          <a:xfrm flipH="1">
            <a:off x="7283196" y="3803903"/>
            <a:ext cx="475487" cy="1106425"/>
          </a:xfrm>
          <a:prstGeom prst="line">
            <a:avLst/>
          </a:prstGeom>
          <a:ln w="15875">
            <a:solidFill>
              <a:srgbClr val="8A8F98"/>
            </a:solidFill>
          </a:ln>
          <a:effectLst/>
        </p:spPr>
      </p:cxnSp>
      <p:cxnSp>
        <p:nvCxnSpPr>
          <p:cNvPr id="17" name="Connector 16"/>
          <p:cNvCxnSpPr/>
          <p:nvPr/>
        </p:nvCxnSpPr>
        <p:spPr>
          <a:xfrm>
            <a:off x="7758683" y="3803903"/>
            <a:ext cx="1024129" cy="1106425"/>
          </a:xfrm>
          <a:prstGeom prst="line">
            <a:avLst/>
          </a:prstGeom>
          <a:ln w="15875">
            <a:solidFill>
              <a:srgbClr val="8A8F98"/>
            </a:solidFill>
          </a:ln>
          <a:effectLst/>
        </p:spPr>
      </p:cxnSp>
      <p:cxnSp>
        <p:nvCxnSpPr>
          <p:cNvPr id="18" name="Connector 17"/>
          <p:cNvCxnSpPr/>
          <p:nvPr/>
        </p:nvCxnSpPr>
        <p:spPr>
          <a:xfrm flipH="1">
            <a:off x="7904988" y="3803903"/>
            <a:ext cx="950975" cy="1106425"/>
          </a:xfrm>
          <a:prstGeom prst="line">
            <a:avLst/>
          </a:prstGeom>
          <a:ln w="15875">
            <a:solidFill>
              <a:srgbClr val="8A8F98"/>
            </a:solidFill>
          </a:ln>
          <a:effectLst/>
        </p:spPr>
      </p:cxnSp>
      <p:cxnSp>
        <p:nvCxnSpPr>
          <p:cNvPr id="19" name="Connector 18"/>
          <p:cNvCxnSpPr/>
          <p:nvPr/>
        </p:nvCxnSpPr>
        <p:spPr>
          <a:xfrm>
            <a:off x="8855963" y="3803903"/>
            <a:ext cx="548641" cy="1106425"/>
          </a:xfrm>
          <a:prstGeom prst="line">
            <a:avLst/>
          </a:prstGeom>
          <a:ln w="15875">
            <a:solidFill>
              <a:srgbClr val="8A8F98"/>
            </a:solidFill>
          </a:ln>
          <a:effectLst/>
        </p:spPr>
      </p:cxnSp>
      <p:cxnSp>
        <p:nvCxnSpPr>
          <p:cNvPr id="20" name="Connector 19"/>
          <p:cNvCxnSpPr/>
          <p:nvPr/>
        </p:nvCxnSpPr>
        <p:spPr>
          <a:xfrm>
            <a:off x="5564124" y="2203704"/>
            <a:ext cx="219455" cy="2706624"/>
          </a:xfrm>
          <a:prstGeom prst="line">
            <a:avLst/>
          </a:prstGeom>
          <a:ln w="15875">
            <a:solidFill>
              <a:srgbClr val="8A8F98"/>
            </a:solidFill>
          </a:ln>
          <a:effectLst/>
        </p:spPr>
      </p:cxnSp>
      <p:cxnSp>
        <p:nvCxnSpPr>
          <p:cNvPr id="21" name="Connector 20"/>
          <p:cNvCxnSpPr/>
          <p:nvPr/>
        </p:nvCxnSpPr>
        <p:spPr>
          <a:xfrm flipH="1">
            <a:off x="3323844" y="2203704"/>
            <a:ext cx="2240280" cy="749807"/>
          </a:xfrm>
          <a:prstGeom prst="line">
            <a:avLst/>
          </a:prstGeom>
          <a:ln w="15875">
            <a:solidFill>
              <a:srgbClr val="8A8F98"/>
            </a:solidFill>
          </a:ln>
          <a:effectLst/>
        </p:spPr>
      </p:cxnSp>
      <p:cxnSp>
        <p:nvCxnSpPr>
          <p:cNvPr id="22" name="Connector 21"/>
          <p:cNvCxnSpPr/>
          <p:nvPr/>
        </p:nvCxnSpPr>
        <p:spPr>
          <a:xfrm>
            <a:off x="5564124" y="2203704"/>
            <a:ext cx="2194559" cy="749807"/>
          </a:xfrm>
          <a:prstGeom prst="line">
            <a:avLst/>
          </a:prstGeom>
          <a:ln w="15875">
            <a:solidFill>
              <a:srgbClr val="8A8F98"/>
            </a:solidFill>
          </a:ln>
          <a:effectLst/>
        </p:spPr>
      </p:cxnSp>
      <p:cxnSp>
        <p:nvCxnSpPr>
          <p:cNvPr id="23" name="Connector 22"/>
          <p:cNvCxnSpPr/>
          <p:nvPr/>
        </p:nvCxnSpPr>
        <p:spPr>
          <a:xfrm flipH="1">
            <a:off x="6405372" y="2203704"/>
            <a:ext cx="484632" cy="2706624"/>
          </a:xfrm>
          <a:prstGeom prst="line">
            <a:avLst/>
          </a:prstGeom>
          <a:ln w="15875">
            <a:solidFill>
              <a:srgbClr val="8A8F98"/>
            </a:solidFill>
          </a:ln>
          <a:effectLst/>
        </p:spPr>
      </p:cxnSp>
      <p:cxnSp>
        <p:nvCxnSpPr>
          <p:cNvPr id="24" name="Connector 23"/>
          <p:cNvCxnSpPr/>
          <p:nvPr/>
        </p:nvCxnSpPr>
        <p:spPr>
          <a:xfrm flipH="1">
            <a:off x="4421124" y="2203704"/>
            <a:ext cx="2468880" cy="749807"/>
          </a:xfrm>
          <a:prstGeom prst="line">
            <a:avLst/>
          </a:prstGeom>
          <a:ln w="15875">
            <a:solidFill>
              <a:srgbClr val="8A8F98"/>
            </a:solidFill>
          </a:ln>
          <a:effectLst/>
        </p:spPr>
      </p:cxnSp>
      <p:cxnSp>
        <p:nvCxnSpPr>
          <p:cNvPr id="25" name="Connector 24"/>
          <p:cNvCxnSpPr/>
          <p:nvPr/>
        </p:nvCxnSpPr>
        <p:spPr>
          <a:xfrm>
            <a:off x="6890004" y="2203704"/>
            <a:ext cx="1965959" cy="749807"/>
          </a:xfrm>
          <a:prstGeom prst="line">
            <a:avLst/>
          </a:prstGeom>
          <a:ln w="15875">
            <a:solidFill>
              <a:srgbClr val="8A8F98"/>
            </a:solidFill>
          </a:ln>
          <a:effectLst/>
        </p:spPr>
      </p:cxnSp>
      <p:sp>
        <p:nvSpPr>
          <p:cNvPr id="26" name="Rounded Rectangle 25"/>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7" name="Rounded Rectangle 26"/>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8" name="Rounded Rectangle 27"/>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29" name="Rounded Rectangle 28"/>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30" name="Rounded Rectangle 29"/>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1" name="Rounded Rectangle 30"/>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2" name="Rounded Rectangle 31"/>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3" name="Rounded Rectangle 32"/>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4" name="Rounded Rectangle 33"/>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5" name="Rounded Rectangle 34"/>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6" name="Rounded Rectangle 35"/>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37" name="TextBox 36"/>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a₁</a:t>
            </a:r>
          </a:p>
        </p:txBody>
      </p:sp>
      <p:sp>
        <p:nvSpPr>
          <p:cNvPr id="38" name="Rounded Rectangle 37"/>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39" name="TextBox 38"/>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40" name="Rounded Rectangle 39"/>
          <p:cNvSpPr/>
          <p:nvPr/>
        </p:nvSpPr>
        <p:spPr>
          <a:xfrm>
            <a:off x="7356348" y="3236975"/>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XOR</a:t>
            </a:r>
          </a:p>
        </p:txBody>
      </p:sp>
      <p:sp>
        <p:nvSpPr>
          <p:cNvPr id="41" name="TextBox 40"/>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x₁</a:t>
            </a:r>
          </a:p>
        </p:txBody>
      </p:sp>
      <p:sp>
        <p:nvSpPr>
          <p:cNvPr id="42" name="Rounded Rectangle 41"/>
          <p:cNvSpPr/>
          <p:nvPr/>
        </p:nvSpPr>
        <p:spPr>
          <a:xfrm>
            <a:off x="8453628" y="3236975"/>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XOR</a:t>
            </a:r>
          </a:p>
        </p:txBody>
      </p:sp>
      <p:sp>
        <p:nvSpPr>
          <p:cNvPr id="43" name="TextBox 42"/>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44" name="Rounded Rectangle 43"/>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5" name="TextBox 44"/>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6" name="Rounded Rectangle 45"/>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7" name="TextBox 46"/>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Closure by hand</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28</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wrap="square" lIns="54864" tIns="27432" rIns="54864" bIns="27432" rtlCol="0" anchor="ctr"/>
          <a:lstStyle/>
          <a:p>
            <a:pPr algn="ctr"/>
            <a:endParaRP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wrap="square" lIns="54864" tIns="27432" rIns="54864" bIns="27432" rtlCol="0" anchor="ctr"/>
          <a:lstStyle/>
          <a:p>
            <a:pPr algn="ctr"/>
            <a:endParaRPr/>
          </a:p>
        </p:txBody>
      </p:sp>
      <p:cxnSp>
        <p:nvCxnSpPr>
          <p:cNvPr id="13" name="Connector 12"/>
          <p:cNvCxnSpPr/>
          <p:nvPr/>
        </p:nvCxnSpPr>
        <p:spPr>
          <a:xfrm flipH="1">
            <a:off x="2784348" y="3803903"/>
            <a:ext cx="539496" cy="1106425"/>
          </a:xfrm>
          <a:prstGeom prst="line">
            <a:avLst/>
          </a:prstGeom>
          <a:ln w="15875">
            <a:solidFill>
              <a:srgbClr val="8A8F98"/>
            </a:solidFill>
          </a:ln>
          <a:effectLst/>
        </p:spPr>
      </p:cxnSp>
      <p:cxnSp>
        <p:nvCxnSpPr>
          <p:cNvPr id="14" name="Connector 13"/>
          <p:cNvCxnSpPr/>
          <p:nvPr/>
        </p:nvCxnSpPr>
        <p:spPr>
          <a:xfrm>
            <a:off x="3323844" y="3803903"/>
            <a:ext cx="960120" cy="1106425"/>
          </a:xfrm>
          <a:prstGeom prst="line">
            <a:avLst/>
          </a:prstGeom>
          <a:ln w="15875">
            <a:solidFill>
              <a:srgbClr val="8A8F98"/>
            </a:solidFill>
          </a:ln>
          <a:effectLst/>
        </p:spPr>
      </p:cxnSp>
      <p:cxnSp>
        <p:nvCxnSpPr>
          <p:cNvPr id="15" name="Connector 14"/>
          <p:cNvCxnSpPr/>
          <p:nvPr/>
        </p:nvCxnSpPr>
        <p:spPr>
          <a:xfrm flipH="1">
            <a:off x="3406139" y="3803903"/>
            <a:ext cx="1014985" cy="1106425"/>
          </a:xfrm>
          <a:prstGeom prst="line">
            <a:avLst/>
          </a:prstGeom>
          <a:ln w="15875">
            <a:solidFill>
              <a:srgbClr val="8A8F98"/>
            </a:solidFill>
          </a:ln>
          <a:effectLst/>
        </p:spPr>
      </p:cxnSp>
      <p:cxnSp>
        <p:nvCxnSpPr>
          <p:cNvPr id="16" name="Connector 15"/>
          <p:cNvCxnSpPr/>
          <p:nvPr/>
        </p:nvCxnSpPr>
        <p:spPr>
          <a:xfrm>
            <a:off x="4421124" y="3803903"/>
            <a:ext cx="484632" cy="1106425"/>
          </a:xfrm>
          <a:prstGeom prst="line">
            <a:avLst/>
          </a:prstGeom>
          <a:ln w="15875">
            <a:solidFill>
              <a:srgbClr val="8A8F98"/>
            </a:solidFill>
          </a:ln>
          <a:effectLst/>
        </p:spPr>
      </p:cxnSp>
      <p:cxnSp>
        <p:nvCxnSpPr>
          <p:cNvPr id="17" name="Connector 16"/>
          <p:cNvCxnSpPr/>
          <p:nvPr/>
        </p:nvCxnSpPr>
        <p:spPr>
          <a:xfrm flipH="1">
            <a:off x="7283196" y="3803903"/>
            <a:ext cx="475487" cy="1106425"/>
          </a:xfrm>
          <a:prstGeom prst="line">
            <a:avLst/>
          </a:prstGeom>
          <a:ln w="15875">
            <a:solidFill>
              <a:srgbClr val="8A8F98"/>
            </a:solidFill>
          </a:ln>
          <a:effectLst/>
        </p:spPr>
      </p:cxnSp>
      <p:cxnSp>
        <p:nvCxnSpPr>
          <p:cNvPr id="18" name="Connector 17"/>
          <p:cNvCxnSpPr/>
          <p:nvPr/>
        </p:nvCxnSpPr>
        <p:spPr>
          <a:xfrm>
            <a:off x="7758683" y="3803903"/>
            <a:ext cx="1024129" cy="1106425"/>
          </a:xfrm>
          <a:prstGeom prst="line">
            <a:avLst/>
          </a:prstGeom>
          <a:ln w="15875">
            <a:solidFill>
              <a:srgbClr val="8A8F98"/>
            </a:solidFill>
          </a:ln>
          <a:effectLst/>
        </p:spPr>
      </p:cxnSp>
      <p:cxnSp>
        <p:nvCxnSpPr>
          <p:cNvPr id="19" name="Connector 18"/>
          <p:cNvCxnSpPr/>
          <p:nvPr/>
        </p:nvCxnSpPr>
        <p:spPr>
          <a:xfrm flipH="1">
            <a:off x="7904988" y="3803903"/>
            <a:ext cx="950975" cy="1106425"/>
          </a:xfrm>
          <a:prstGeom prst="line">
            <a:avLst/>
          </a:prstGeom>
          <a:ln w="15875">
            <a:solidFill>
              <a:srgbClr val="8A8F98"/>
            </a:solidFill>
          </a:ln>
          <a:effectLst/>
        </p:spPr>
      </p:cxnSp>
      <p:cxnSp>
        <p:nvCxnSpPr>
          <p:cNvPr id="20" name="Connector 19"/>
          <p:cNvCxnSpPr/>
          <p:nvPr/>
        </p:nvCxnSpPr>
        <p:spPr>
          <a:xfrm>
            <a:off x="8855963" y="3803903"/>
            <a:ext cx="548641" cy="1106425"/>
          </a:xfrm>
          <a:prstGeom prst="line">
            <a:avLst/>
          </a:prstGeom>
          <a:ln w="15875">
            <a:solidFill>
              <a:srgbClr val="8A8F98"/>
            </a:solidFill>
          </a:ln>
          <a:effectLst/>
        </p:spPr>
      </p:cxnSp>
      <p:cxnSp>
        <p:nvCxnSpPr>
          <p:cNvPr id="21" name="Connector 20"/>
          <p:cNvCxnSpPr/>
          <p:nvPr/>
        </p:nvCxnSpPr>
        <p:spPr>
          <a:xfrm>
            <a:off x="5564124" y="2203704"/>
            <a:ext cx="219455" cy="2706624"/>
          </a:xfrm>
          <a:prstGeom prst="line">
            <a:avLst/>
          </a:prstGeom>
          <a:ln w="15875">
            <a:solidFill>
              <a:srgbClr val="8A8F98"/>
            </a:solidFill>
          </a:ln>
          <a:effectLst/>
        </p:spPr>
      </p:cxnSp>
      <p:cxnSp>
        <p:nvCxnSpPr>
          <p:cNvPr id="22" name="Connector 21"/>
          <p:cNvCxnSpPr/>
          <p:nvPr/>
        </p:nvCxnSpPr>
        <p:spPr>
          <a:xfrm flipH="1">
            <a:off x="3323844" y="2203704"/>
            <a:ext cx="2240280" cy="749807"/>
          </a:xfrm>
          <a:prstGeom prst="line">
            <a:avLst/>
          </a:prstGeom>
          <a:ln w="15875">
            <a:solidFill>
              <a:srgbClr val="8A8F98"/>
            </a:solidFill>
          </a:ln>
          <a:effectLst/>
        </p:spPr>
      </p:cxnSp>
      <p:cxnSp>
        <p:nvCxnSpPr>
          <p:cNvPr id="23" name="Connector 22"/>
          <p:cNvCxnSpPr/>
          <p:nvPr/>
        </p:nvCxnSpPr>
        <p:spPr>
          <a:xfrm>
            <a:off x="5564124" y="2203704"/>
            <a:ext cx="2194559" cy="749807"/>
          </a:xfrm>
          <a:prstGeom prst="line">
            <a:avLst/>
          </a:prstGeom>
          <a:ln w="15875">
            <a:solidFill>
              <a:srgbClr val="8A8F98"/>
            </a:solidFill>
          </a:ln>
          <a:effectLst/>
        </p:spPr>
      </p:cxnSp>
      <p:cxnSp>
        <p:nvCxnSpPr>
          <p:cNvPr id="24" name="Connector 23"/>
          <p:cNvCxnSpPr/>
          <p:nvPr/>
        </p:nvCxnSpPr>
        <p:spPr>
          <a:xfrm flipH="1">
            <a:off x="6405372" y="2203704"/>
            <a:ext cx="484632" cy="2706624"/>
          </a:xfrm>
          <a:prstGeom prst="line">
            <a:avLst/>
          </a:prstGeom>
          <a:ln w="15875">
            <a:solidFill>
              <a:srgbClr val="8A8F98"/>
            </a:solidFill>
          </a:ln>
          <a:effectLst/>
        </p:spPr>
      </p:cxnSp>
      <p:cxnSp>
        <p:nvCxnSpPr>
          <p:cNvPr id="25" name="Connector 24"/>
          <p:cNvCxnSpPr/>
          <p:nvPr/>
        </p:nvCxnSpPr>
        <p:spPr>
          <a:xfrm flipH="1">
            <a:off x="4421124" y="2203704"/>
            <a:ext cx="2468880" cy="749807"/>
          </a:xfrm>
          <a:prstGeom prst="line">
            <a:avLst/>
          </a:prstGeom>
          <a:ln w="15875">
            <a:solidFill>
              <a:srgbClr val="8A8F98"/>
            </a:solidFill>
          </a:ln>
          <a:effectLst/>
        </p:spPr>
      </p:cxnSp>
      <p:cxnSp>
        <p:nvCxnSpPr>
          <p:cNvPr id="26" name="Connector 25"/>
          <p:cNvCxnSpPr/>
          <p:nvPr/>
        </p:nvCxnSpPr>
        <p:spPr>
          <a:xfrm>
            <a:off x="6890004" y="2203704"/>
            <a:ext cx="1965959" cy="749807"/>
          </a:xfrm>
          <a:prstGeom prst="line">
            <a:avLst/>
          </a:prstGeom>
          <a:ln w="15875">
            <a:solidFill>
              <a:srgbClr val="8A8F98"/>
            </a:solidFill>
          </a:ln>
          <a:effectLst/>
        </p:spPr>
      </p:cxnSp>
      <p:sp>
        <p:nvSpPr>
          <p:cNvPr id="27" name="Rounded Rectangle 26"/>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8" name="Rounded Rectangle 27"/>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9" name="Rounded Rectangle 28"/>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30" name="Rounded Rectangle 29"/>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31" name="Rounded Rectangle 30"/>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2" name="Rounded Rectangle 31"/>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3" name="Rounded Rectangle 32"/>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4" name="Rounded Rectangle 33"/>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5" name="Rounded Rectangle 34"/>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6" name="Rounded Rectangle 35"/>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7" name="Rounded Rectangle 36"/>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38" name="TextBox 37"/>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a₁</a:t>
            </a:r>
          </a:p>
        </p:txBody>
      </p:sp>
      <p:sp>
        <p:nvSpPr>
          <p:cNvPr id="39" name="Rounded Rectangle 38"/>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40" name="TextBox 39"/>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41" name="Rounded Rectangle 40"/>
          <p:cNvSpPr/>
          <p:nvPr/>
        </p:nvSpPr>
        <p:spPr>
          <a:xfrm>
            <a:off x="7356348" y="3236975"/>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XOR</a:t>
            </a:r>
          </a:p>
        </p:txBody>
      </p:sp>
      <p:sp>
        <p:nvSpPr>
          <p:cNvPr id="42" name="TextBox 41"/>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x₁</a:t>
            </a:r>
          </a:p>
        </p:txBody>
      </p:sp>
      <p:sp>
        <p:nvSpPr>
          <p:cNvPr id="43" name="Rounded Rectangle 42"/>
          <p:cNvSpPr/>
          <p:nvPr/>
        </p:nvSpPr>
        <p:spPr>
          <a:xfrm>
            <a:off x="8453628" y="3236975"/>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XOR</a:t>
            </a:r>
          </a:p>
        </p:txBody>
      </p:sp>
      <p:sp>
        <p:nvSpPr>
          <p:cNvPr id="44" name="TextBox 43"/>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45" name="Rounded Rectangle 44"/>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6" name="TextBox 45"/>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7" name="Rounded Rectangle 46"/>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8" name="TextBox 47"/>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
        <p:nvSpPr>
          <p:cNvPr id="49" name="TextBox 48"/>
          <p:cNvSpPr txBox="1"/>
          <p:nvPr/>
        </p:nvSpPr>
        <p:spPr>
          <a:xfrm>
            <a:off x="7941563" y="3246120"/>
            <a:ext cx="731520" cy="548640"/>
          </a:xfrm>
          <a:prstGeom prst="rect">
            <a:avLst/>
          </a:prstGeom>
          <a:noFill/>
        </p:spPr>
        <p:txBody>
          <a:bodyPr wrap="square" lIns="45720" tIns="27432" rIns="45720" bIns="27432" anchor="ctr">
            <a:spAutoFit/>
          </a:bodyPr>
          <a:lstStyle/>
          <a:p>
            <a:pPr algn="ctr"/>
            <a:r>
              <a:rPr sz="2200" b="1" i="0">
                <a:solidFill>
                  <a:srgbClr val="C8501E"/>
                </a:solidFill>
                <a:latin typeface="Calibri"/>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Closure by hand</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29</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wrap="square" lIns="54864" tIns="27432" rIns="54864" bIns="27432" rtlCol="0" anchor="ctr"/>
          <a:lstStyle/>
          <a:p>
            <a:pPr algn="ctr"/>
            <a:endParaRP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wrap="square" lIns="54864" tIns="27432" rIns="54864" bIns="27432" rtlCol="0" anchor="ctr"/>
          <a:lstStyle/>
          <a:p>
            <a:pPr algn="ctr"/>
            <a:endParaRPr/>
          </a:p>
        </p:txBody>
      </p:sp>
      <p:cxnSp>
        <p:nvCxnSpPr>
          <p:cNvPr id="13" name="Connector 12"/>
          <p:cNvCxnSpPr/>
          <p:nvPr/>
        </p:nvCxnSpPr>
        <p:spPr>
          <a:xfrm flipH="1">
            <a:off x="2784348" y="3803903"/>
            <a:ext cx="539496" cy="1106425"/>
          </a:xfrm>
          <a:prstGeom prst="line">
            <a:avLst/>
          </a:prstGeom>
          <a:ln w="15875">
            <a:solidFill>
              <a:srgbClr val="8A8F98"/>
            </a:solidFill>
          </a:ln>
          <a:effectLst/>
        </p:spPr>
      </p:cxnSp>
      <p:cxnSp>
        <p:nvCxnSpPr>
          <p:cNvPr id="14" name="Connector 13"/>
          <p:cNvCxnSpPr/>
          <p:nvPr/>
        </p:nvCxnSpPr>
        <p:spPr>
          <a:xfrm>
            <a:off x="3323844" y="3803903"/>
            <a:ext cx="960120" cy="1106425"/>
          </a:xfrm>
          <a:prstGeom prst="line">
            <a:avLst/>
          </a:prstGeom>
          <a:ln w="15875">
            <a:solidFill>
              <a:srgbClr val="8A8F98"/>
            </a:solidFill>
          </a:ln>
          <a:effectLst/>
        </p:spPr>
      </p:cxnSp>
      <p:cxnSp>
        <p:nvCxnSpPr>
          <p:cNvPr id="15" name="Connector 14"/>
          <p:cNvCxnSpPr/>
          <p:nvPr/>
        </p:nvCxnSpPr>
        <p:spPr>
          <a:xfrm flipH="1">
            <a:off x="3406139" y="3803903"/>
            <a:ext cx="1014985" cy="1106425"/>
          </a:xfrm>
          <a:prstGeom prst="line">
            <a:avLst/>
          </a:prstGeom>
          <a:ln w="15875">
            <a:solidFill>
              <a:srgbClr val="8A8F98"/>
            </a:solidFill>
          </a:ln>
          <a:effectLst/>
        </p:spPr>
      </p:cxnSp>
      <p:cxnSp>
        <p:nvCxnSpPr>
          <p:cNvPr id="16" name="Connector 15"/>
          <p:cNvCxnSpPr/>
          <p:nvPr/>
        </p:nvCxnSpPr>
        <p:spPr>
          <a:xfrm>
            <a:off x="4421124" y="3803903"/>
            <a:ext cx="484632" cy="1106425"/>
          </a:xfrm>
          <a:prstGeom prst="line">
            <a:avLst/>
          </a:prstGeom>
          <a:ln w="15875">
            <a:solidFill>
              <a:srgbClr val="8A8F98"/>
            </a:solidFill>
          </a:ln>
          <a:effectLst/>
        </p:spPr>
      </p:cxnSp>
      <p:cxnSp>
        <p:nvCxnSpPr>
          <p:cNvPr id="17" name="Connector 16"/>
          <p:cNvCxnSpPr/>
          <p:nvPr/>
        </p:nvCxnSpPr>
        <p:spPr>
          <a:xfrm flipH="1">
            <a:off x="7283196" y="3803903"/>
            <a:ext cx="475487" cy="1106425"/>
          </a:xfrm>
          <a:prstGeom prst="line">
            <a:avLst/>
          </a:prstGeom>
          <a:ln w="15875">
            <a:solidFill>
              <a:srgbClr val="8A8F98"/>
            </a:solidFill>
          </a:ln>
          <a:effectLst/>
        </p:spPr>
      </p:cxnSp>
      <p:cxnSp>
        <p:nvCxnSpPr>
          <p:cNvPr id="18" name="Connector 17"/>
          <p:cNvCxnSpPr/>
          <p:nvPr/>
        </p:nvCxnSpPr>
        <p:spPr>
          <a:xfrm>
            <a:off x="7758683" y="3803903"/>
            <a:ext cx="1024129" cy="1106425"/>
          </a:xfrm>
          <a:prstGeom prst="line">
            <a:avLst/>
          </a:prstGeom>
          <a:ln w="15875">
            <a:solidFill>
              <a:srgbClr val="8A8F98"/>
            </a:solidFill>
          </a:ln>
          <a:effectLst/>
        </p:spPr>
      </p:cxnSp>
      <p:cxnSp>
        <p:nvCxnSpPr>
          <p:cNvPr id="19" name="Connector 18"/>
          <p:cNvCxnSpPr/>
          <p:nvPr/>
        </p:nvCxnSpPr>
        <p:spPr>
          <a:xfrm flipH="1">
            <a:off x="7904988" y="3803903"/>
            <a:ext cx="950975" cy="1106425"/>
          </a:xfrm>
          <a:prstGeom prst="line">
            <a:avLst/>
          </a:prstGeom>
          <a:ln w="15875">
            <a:solidFill>
              <a:srgbClr val="8A8F98"/>
            </a:solidFill>
          </a:ln>
          <a:effectLst/>
        </p:spPr>
      </p:cxnSp>
      <p:cxnSp>
        <p:nvCxnSpPr>
          <p:cNvPr id="20" name="Connector 19"/>
          <p:cNvCxnSpPr/>
          <p:nvPr/>
        </p:nvCxnSpPr>
        <p:spPr>
          <a:xfrm>
            <a:off x="8855963" y="3803903"/>
            <a:ext cx="548641" cy="1106425"/>
          </a:xfrm>
          <a:prstGeom prst="line">
            <a:avLst/>
          </a:prstGeom>
          <a:ln w="15875">
            <a:solidFill>
              <a:srgbClr val="8A8F98"/>
            </a:solidFill>
          </a:ln>
          <a:effectLst/>
        </p:spPr>
      </p:cxnSp>
      <p:cxnSp>
        <p:nvCxnSpPr>
          <p:cNvPr id="21" name="Connector 20"/>
          <p:cNvCxnSpPr/>
          <p:nvPr/>
        </p:nvCxnSpPr>
        <p:spPr>
          <a:xfrm>
            <a:off x="5564124" y="2203704"/>
            <a:ext cx="219455" cy="2706624"/>
          </a:xfrm>
          <a:prstGeom prst="line">
            <a:avLst/>
          </a:prstGeom>
          <a:ln w="15875">
            <a:solidFill>
              <a:srgbClr val="8A8F98"/>
            </a:solidFill>
          </a:ln>
          <a:effectLst/>
        </p:spPr>
      </p:cxnSp>
      <p:cxnSp>
        <p:nvCxnSpPr>
          <p:cNvPr id="22" name="Connector 21"/>
          <p:cNvCxnSpPr/>
          <p:nvPr/>
        </p:nvCxnSpPr>
        <p:spPr>
          <a:xfrm flipH="1">
            <a:off x="3323844" y="2203704"/>
            <a:ext cx="2240280" cy="749807"/>
          </a:xfrm>
          <a:prstGeom prst="line">
            <a:avLst/>
          </a:prstGeom>
          <a:ln w="15875">
            <a:solidFill>
              <a:srgbClr val="8A8F98"/>
            </a:solidFill>
          </a:ln>
          <a:effectLst/>
        </p:spPr>
      </p:cxnSp>
      <p:cxnSp>
        <p:nvCxnSpPr>
          <p:cNvPr id="23" name="Connector 22"/>
          <p:cNvCxnSpPr/>
          <p:nvPr/>
        </p:nvCxnSpPr>
        <p:spPr>
          <a:xfrm>
            <a:off x="5564124" y="2203704"/>
            <a:ext cx="2194559" cy="749807"/>
          </a:xfrm>
          <a:prstGeom prst="line">
            <a:avLst/>
          </a:prstGeom>
          <a:ln w="15875">
            <a:solidFill>
              <a:srgbClr val="8A8F98"/>
            </a:solidFill>
          </a:ln>
          <a:effectLst/>
        </p:spPr>
      </p:cxnSp>
      <p:cxnSp>
        <p:nvCxnSpPr>
          <p:cNvPr id="24" name="Connector 23"/>
          <p:cNvCxnSpPr/>
          <p:nvPr/>
        </p:nvCxnSpPr>
        <p:spPr>
          <a:xfrm flipH="1">
            <a:off x="6405372" y="2203704"/>
            <a:ext cx="484632" cy="2706624"/>
          </a:xfrm>
          <a:prstGeom prst="line">
            <a:avLst/>
          </a:prstGeom>
          <a:ln w="15875">
            <a:solidFill>
              <a:srgbClr val="8A8F98"/>
            </a:solidFill>
          </a:ln>
          <a:effectLst/>
        </p:spPr>
      </p:cxnSp>
      <p:cxnSp>
        <p:nvCxnSpPr>
          <p:cNvPr id="25" name="Connector 24"/>
          <p:cNvCxnSpPr/>
          <p:nvPr/>
        </p:nvCxnSpPr>
        <p:spPr>
          <a:xfrm flipH="1">
            <a:off x="4421124" y="2203704"/>
            <a:ext cx="2468880" cy="749807"/>
          </a:xfrm>
          <a:prstGeom prst="line">
            <a:avLst/>
          </a:prstGeom>
          <a:ln w="15875">
            <a:solidFill>
              <a:srgbClr val="8A8F98"/>
            </a:solidFill>
          </a:ln>
          <a:effectLst/>
        </p:spPr>
      </p:cxnSp>
      <p:cxnSp>
        <p:nvCxnSpPr>
          <p:cNvPr id="26" name="Connector 25"/>
          <p:cNvCxnSpPr/>
          <p:nvPr/>
        </p:nvCxnSpPr>
        <p:spPr>
          <a:xfrm>
            <a:off x="6890004" y="2203704"/>
            <a:ext cx="1965959" cy="749807"/>
          </a:xfrm>
          <a:prstGeom prst="line">
            <a:avLst/>
          </a:prstGeom>
          <a:ln w="15875">
            <a:solidFill>
              <a:srgbClr val="8A8F98"/>
            </a:solidFill>
          </a:ln>
          <a:effectLst/>
        </p:spPr>
      </p:cxnSp>
      <p:sp>
        <p:nvSpPr>
          <p:cNvPr id="27" name="Rounded Rectangle 26"/>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8" name="Rounded Rectangle 27"/>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9" name="Rounded Rectangle 28"/>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30" name="Rounded Rectangle 29"/>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31" name="Rounded Rectangle 30"/>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2" name="Rounded Rectangle 31"/>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3" name="Rounded Rectangle 32"/>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4" name="Rounded Rectangle 33"/>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5" name="Rounded Rectangle 34"/>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6" name="Rounded Rectangle 35"/>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7" name="Rounded Rectangle 36"/>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38" name="TextBox 37"/>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a₁</a:t>
            </a:r>
          </a:p>
        </p:txBody>
      </p:sp>
      <p:sp>
        <p:nvSpPr>
          <p:cNvPr id="39" name="Rounded Rectangle 38"/>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40" name="TextBox 39"/>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41" name="Rounded Rectangle 40"/>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2" name="TextBox 41"/>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x₁</a:t>
            </a:r>
          </a:p>
        </p:txBody>
      </p:sp>
      <p:sp>
        <p:nvSpPr>
          <p:cNvPr id="43" name="Rounded Rectangle 42"/>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4" name="TextBox 43"/>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45" name="Rounded Rectangle 44"/>
          <p:cNvSpPr/>
          <p:nvPr/>
        </p:nvSpPr>
        <p:spPr>
          <a:xfrm>
            <a:off x="5161788" y="1636776"/>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ITE</a:t>
            </a:r>
          </a:p>
        </p:txBody>
      </p:sp>
      <p:sp>
        <p:nvSpPr>
          <p:cNvPr id="46" name="TextBox 45"/>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7" name="Rounded Rectangle 46"/>
          <p:cNvSpPr/>
          <p:nvPr/>
        </p:nvSpPr>
        <p:spPr>
          <a:xfrm>
            <a:off x="6487668" y="1636776"/>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ITE</a:t>
            </a:r>
          </a:p>
        </p:txBody>
      </p:sp>
      <p:sp>
        <p:nvSpPr>
          <p:cNvPr id="48" name="TextBox 47"/>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Closure by hand</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30</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wrap="square" lIns="54864" tIns="27432" rIns="54864" bIns="27432" rtlCol="0" anchor="ctr"/>
          <a:lstStyle/>
          <a:p>
            <a:pPr algn="ctr"/>
            <a:endParaRP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wrap="square" lIns="54864" tIns="27432" rIns="54864" bIns="27432" rtlCol="0" anchor="ctr"/>
          <a:lstStyle/>
          <a:p>
            <a:pPr algn="ctr"/>
            <a:endParaRPr/>
          </a:p>
        </p:txBody>
      </p:sp>
      <p:sp>
        <p:nvSpPr>
          <p:cNvPr id="13" name="Rounded Rectangle 12"/>
          <p:cNvSpPr/>
          <p:nvPr/>
        </p:nvSpPr>
        <p:spPr>
          <a:xfrm>
            <a:off x="4704588" y="1517904"/>
            <a:ext cx="3044952" cy="804672"/>
          </a:xfrm>
          <a:prstGeom prst="roundRect">
            <a:avLst>
              <a:gd name="adj" fmla="val 25000"/>
            </a:avLst>
          </a:prstGeom>
          <a:solidFill>
            <a:srgbClr val="FBE4D3"/>
          </a:solidFill>
          <a:ln w="19050">
            <a:solidFill>
              <a:srgbClr val="C8501E"/>
            </a:solidFill>
            <a:prstDash val="dash"/>
          </a:ln>
          <a:effectLst/>
        </p:spPr>
        <p:txBody>
          <a:bodyPr wrap="square" lIns="54864" tIns="27432" rIns="54864" bIns="27432" rtlCol="0" anchor="ctr"/>
          <a:lstStyle/>
          <a:p>
            <a:pPr algn="ctr"/>
            <a:endParaRPr/>
          </a:p>
        </p:txBody>
      </p:sp>
      <p:cxnSp>
        <p:nvCxnSpPr>
          <p:cNvPr id="14" name="Connector 13"/>
          <p:cNvCxnSpPr/>
          <p:nvPr/>
        </p:nvCxnSpPr>
        <p:spPr>
          <a:xfrm flipH="1">
            <a:off x="2784348" y="3803903"/>
            <a:ext cx="539496" cy="1106425"/>
          </a:xfrm>
          <a:prstGeom prst="line">
            <a:avLst/>
          </a:prstGeom>
          <a:ln w="15875">
            <a:solidFill>
              <a:srgbClr val="8A8F98"/>
            </a:solidFill>
          </a:ln>
          <a:effectLst/>
        </p:spPr>
      </p:cxnSp>
      <p:cxnSp>
        <p:nvCxnSpPr>
          <p:cNvPr id="15" name="Connector 14"/>
          <p:cNvCxnSpPr/>
          <p:nvPr/>
        </p:nvCxnSpPr>
        <p:spPr>
          <a:xfrm>
            <a:off x="3323844" y="3803903"/>
            <a:ext cx="960120" cy="1106425"/>
          </a:xfrm>
          <a:prstGeom prst="line">
            <a:avLst/>
          </a:prstGeom>
          <a:ln w="15875">
            <a:solidFill>
              <a:srgbClr val="8A8F98"/>
            </a:solidFill>
          </a:ln>
          <a:effectLst/>
        </p:spPr>
      </p:cxnSp>
      <p:cxnSp>
        <p:nvCxnSpPr>
          <p:cNvPr id="16" name="Connector 15"/>
          <p:cNvCxnSpPr/>
          <p:nvPr/>
        </p:nvCxnSpPr>
        <p:spPr>
          <a:xfrm flipH="1">
            <a:off x="3406139" y="3803903"/>
            <a:ext cx="1014985" cy="1106425"/>
          </a:xfrm>
          <a:prstGeom prst="line">
            <a:avLst/>
          </a:prstGeom>
          <a:ln w="15875">
            <a:solidFill>
              <a:srgbClr val="8A8F98"/>
            </a:solidFill>
          </a:ln>
          <a:effectLst/>
        </p:spPr>
      </p:cxnSp>
      <p:cxnSp>
        <p:nvCxnSpPr>
          <p:cNvPr id="17" name="Connector 16"/>
          <p:cNvCxnSpPr/>
          <p:nvPr/>
        </p:nvCxnSpPr>
        <p:spPr>
          <a:xfrm>
            <a:off x="4421124" y="3803903"/>
            <a:ext cx="484632" cy="1106425"/>
          </a:xfrm>
          <a:prstGeom prst="line">
            <a:avLst/>
          </a:prstGeom>
          <a:ln w="15875">
            <a:solidFill>
              <a:srgbClr val="8A8F98"/>
            </a:solidFill>
          </a:ln>
          <a:effectLst/>
        </p:spPr>
      </p:cxnSp>
      <p:cxnSp>
        <p:nvCxnSpPr>
          <p:cNvPr id="18" name="Connector 17"/>
          <p:cNvCxnSpPr/>
          <p:nvPr/>
        </p:nvCxnSpPr>
        <p:spPr>
          <a:xfrm flipH="1">
            <a:off x="7283196" y="3803903"/>
            <a:ext cx="475487" cy="1106425"/>
          </a:xfrm>
          <a:prstGeom prst="line">
            <a:avLst/>
          </a:prstGeom>
          <a:ln w="15875">
            <a:solidFill>
              <a:srgbClr val="8A8F98"/>
            </a:solidFill>
          </a:ln>
          <a:effectLst/>
        </p:spPr>
      </p:cxnSp>
      <p:cxnSp>
        <p:nvCxnSpPr>
          <p:cNvPr id="19" name="Connector 18"/>
          <p:cNvCxnSpPr/>
          <p:nvPr/>
        </p:nvCxnSpPr>
        <p:spPr>
          <a:xfrm>
            <a:off x="7758683" y="3803903"/>
            <a:ext cx="1024129" cy="1106425"/>
          </a:xfrm>
          <a:prstGeom prst="line">
            <a:avLst/>
          </a:prstGeom>
          <a:ln w="15875">
            <a:solidFill>
              <a:srgbClr val="8A8F98"/>
            </a:solidFill>
          </a:ln>
          <a:effectLst/>
        </p:spPr>
      </p:cxnSp>
      <p:cxnSp>
        <p:nvCxnSpPr>
          <p:cNvPr id="20" name="Connector 19"/>
          <p:cNvCxnSpPr/>
          <p:nvPr/>
        </p:nvCxnSpPr>
        <p:spPr>
          <a:xfrm flipH="1">
            <a:off x="7904988" y="3803903"/>
            <a:ext cx="950975" cy="1106425"/>
          </a:xfrm>
          <a:prstGeom prst="line">
            <a:avLst/>
          </a:prstGeom>
          <a:ln w="15875">
            <a:solidFill>
              <a:srgbClr val="8A8F98"/>
            </a:solidFill>
          </a:ln>
          <a:effectLst/>
        </p:spPr>
      </p:cxnSp>
      <p:cxnSp>
        <p:nvCxnSpPr>
          <p:cNvPr id="21" name="Connector 20"/>
          <p:cNvCxnSpPr/>
          <p:nvPr/>
        </p:nvCxnSpPr>
        <p:spPr>
          <a:xfrm>
            <a:off x="8855963" y="3803903"/>
            <a:ext cx="548641" cy="1106425"/>
          </a:xfrm>
          <a:prstGeom prst="line">
            <a:avLst/>
          </a:prstGeom>
          <a:ln w="15875">
            <a:solidFill>
              <a:srgbClr val="8A8F98"/>
            </a:solidFill>
          </a:ln>
          <a:effectLst/>
        </p:spPr>
      </p:cxnSp>
      <p:cxnSp>
        <p:nvCxnSpPr>
          <p:cNvPr id="22" name="Connector 21"/>
          <p:cNvCxnSpPr/>
          <p:nvPr/>
        </p:nvCxnSpPr>
        <p:spPr>
          <a:xfrm>
            <a:off x="5564124" y="2203704"/>
            <a:ext cx="219455" cy="2706624"/>
          </a:xfrm>
          <a:prstGeom prst="line">
            <a:avLst/>
          </a:prstGeom>
          <a:ln w="15875">
            <a:solidFill>
              <a:srgbClr val="8A8F98"/>
            </a:solidFill>
          </a:ln>
          <a:effectLst/>
        </p:spPr>
      </p:cxnSp>
      <p:cxnSp>
        <p:nvCxnSpPr>
          <p:cNvPr id="23" name="Connector 22"/>
          <p:cNvCxnSpPr/>
          <p:nvPr/>
        </p:nvCxnSpPr>
        <p:spPr>
          <a:xfrm flipH="1">
            <a:off x="3323844" y="2203704"/>
            <a:ext cx="2240280" cy="749807"/>
          </a:xfrm>
          <a:prstGeom prst="line">
            <a:avLst/>
          </a:prstGeom>
          <a:ln w="15875">
            <a:solidFill>
              <a:srgbClr val="8A8F98"/>
            </a:solidFill>
          </a:ln>
          <a:effectLst/>
        </p:spPr>
      </p:cxnSp>
      <p:cxnSp>
        <p:nvCxnSpPr>
          <p:cNvPr id="24" name="Connector 23"/>
          <p:cNvCxnSpPr/>
          <p:nvPr/>
        </p:nvCxnSpPr>
        <p:spPr>
          <a:xfrm>
            <a:off x="5564124" y="2203704"/>
            <a:ext cx="2194559" cy="749807"/>
          </a:xfrm>
          <a:prstGeom prst="line">
            <a:avLst/>
          </a:prstGeom>
          <a:ln w="15875">
            <a:solidFill>
              <a:srgbClr val="8A8F98"/>
            </a:solidFill>
          </a:ln>
          <a:effectLst/>
        </p:spPr>
      </p:cxnSp>
      <p:cxnSp>
        <p:nvCxnSpPr>
          <p:cNvPr id="25" name="Connector 24"/>
          <p:cNvCxnSpPr/>
          <p:nvPr/>
        </p:nvCxnSpPr>
        <p:spPr>
          <a:xfrm flipH="1">
            <a:off x="6405372" y="2203704"/>
            <a:ext cx="484632" cy="2706624"/>
          </a:xfrm>
          <a:prstGeom prst="line">
            <a:avLst/>
          </a:prstGeom>
          <a:ln w="15875">
            <a:solidFill>
              <a:srgbClr val="8A8F98"/>
            </a:solidFill>
          </a:ln>
          <a:effectLst/>
        </p:spPr>
      </p:cxnSp>
      <p:cxnSp>
        <p:nvCxnSpPr>
          <p:cNvPr id="26" name="Connector 25"/>
          <p:cNvCxnSpPr/>
          <p:nvPr/>
        </p:nvCxnSpPr>
        <p:spPr>
          <a:xfrm flipH="1">
            <a:off x="4421124" y="2203704"/>
            <a:ext cx="2468880" cy="749807"/>
          </a:xfrm>
          <a:prstGeom prst="line">
            <a:avLst/>
          </a:prstGeom>
          <a:ln w="15875">
            <a:solidFill>
              <a:srgbClr val="8A8F98"/>
            </a:solidFill>
          </a:ln>
          <a:effectLst/>
        </p:spPr>
      </p:cxnSp>
      <p:cxnSp>
        <p:nvCxnSpPr>
          <p:cNvPr id="27" name="Connector 26"/>
          <p:cNvCxnSpPr/>
          <p:nvPr/>
        </p:nvCxnSpPr>
        <p:spPr>
          <a:xfrm>
            <a:off x="6890004" y="2203704"/>
            <a:ext cx="1965959" cy="749807"/>
          </a:xfrm>
          <a:prstGeom prst="line">
            <a:avLst/>
          </a:prstGeom>
          <a:ln w="15875">
            <a:solidFill>
              <a:srgbClr val="8A8F98"/>
            </a:solidFill>
          </a:ln>
          <a:effectLst/>
        </p:spPr>
      </p:cxnSp>
      <p:sp>
        <p:nvSpPr>
          <p:cNvPr id="28" name="Rounded Rectangle 27"/>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9" name="Rounded Rectangle 28"/>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30" name="Rounded Rectangle 29"/>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31" name="Rounded Rectangle 30"/>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32" name="Rounded Rectangle 31"/>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3" name="Rounded Rectangle 32"/>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4" name="Rounded Rectangle 33"/>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5" name="Rounded Rectangle 34"/>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6" name="Rounded Rectangle 35"/>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7" name="Rounded Rectangle 36"/>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8" name="Rounded Rectangle 37"/>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39" name="TextBox 38"/>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a₁</a:t>
            </a:r>
          </a:p>
        </p:txBody>
      </p:sp>
      <p:sp>
        <p:nvSpPr>
          <p:cNvPr id="40" name="Rounded Rectangle 39"/>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41" name="TextBox 40"/>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42" name="Rounded Rectangle 41"/>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3" name="TextBox 42"/>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x₁</a:t>
            </a:r>
          </a:p>
        </p:txBody>
      </p:sp>
      <p:sp>
        <p:nvSpPr>
          <p:cNvPr id="44" name="Rounded Rectangle 43"/>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5" name="TextBox 44"/>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46" name="Rounded Rectangle 45"/>
          <p:cNvSpPr/>
          <p:nvPr/>
        </p:nvSpPr>
        <p:spPr>
          <a:xfrm>
            <a:off x="5161788" y="1636776"/>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ITE</a:t>
            </a:r>
          </a:p>
        </p:txBody>
      </p:sp>
      <p:sp>
        <p:nvSpPr>
          <p:cNvPr id="47" name="TextBox 46"/>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8" name="Rounded Rectangle 47"/>
          <p:cNvSpPr/>
          <p:nvPr/>
        </p:nvSpPr>
        <p:spPr>
          <a:xfrm>
            <a:off x="6487668" y="1636776"/>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ITE</a:t>
            </a:r>
          </a:p>
        </p:txBody>
      </p:sp>
      <p:sp>
        <p:nvSpPr>
          <p:cNvPr id="49" name="TextBox 48"/>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
        <p:nvSpPr>
          <p:cNvPr id="50" name="TextBox 49"/>
          <p:cNvSpPr txBox="1"/>
          <p:nvPr/>
        </p:nvSpPr>
        <p:spPr>
          <a:xfrm>
            <a:off x="5861304" y="1645920"/>
            <a:ext cx="731520" cy="548640"/>
          </a:xfrm>
          <a:prstGeom prst="rect">
            <a:avLst/>
          </a:prstGeom>
          <a:noFill/>
        </p:spPr>
        <p:txBody>
          <a:bodyPr wrap="square" lIns="45720" tIns="27432" rIns="45720" bIns="27432" anchor="ctr">
            <a:spAutoFit/>
          </a:bodyPr>
          <a:lstStyle/>
          <a:p>
            <a:pPr algn="ctr"/>
            <a:r>
              <a:rPr sz="2200" b="1" i="0">
                <a:solidFill>
                  <a:srgbClr val="C8501E"/>
                </a:solidFill>
                <a:latin typeface="Calibri"/>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Closure by hand</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31</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wrap="square" lIns="54864" tIns="27432" rIns="54864" bIns="27432" rtlCol="0" anchor="ctr"/>
          <a:lstStyle/>
          <a:p>
            <a:pPr algn="ctr"/>
            <a:endParaRP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wrap="square" lIns="54864" tIns="27432" rIns="54864" bIns="27432" rtlCol="0" anchor="ctr"/>
          <a:lstStyle/>
          <a:p>
            <a:pPr algn="ctr"/>
            <a:endParaRPr/>
          </a:p>
        </p:txBody>
      </p:sp>
      <p:sp>
        <p:nvSpPr>
          <p:cNvPr id="13" name="Rounded Rectangle 12"/>
          <p:cNvSpPr/>
          <p:nvPr/>
        </p:nvSpPr>
        <p:spPr>
          <a:xfrm>
            <a:off x="4704588" y="1517904"/>
            <a:ext cx="3044952" cy="804672"/>
          </a:xfrm>
          <a:prstGeom prst="roundRect">
            <a:avLst>
              <a:gd name="adj" fmla="val 25000"/>
            </a:avLst>
          </a:prstGeom>
          <a:solidFill>
            <a:srgbClr val="FBE4D3"/>
          </a:solidFill>
          <a:ln w="19050">
            <a:solidFill>
              <a:srgbClr val="C8501E"/>
            </a:solidFill>
            <a:prstDash val="dash"/>
          </a:ln>
          <a:effectLst/>
        </p:spPr>
        <p:txBody>
          <a:bodyPr wrap="square" lIns="54864" tIns="27432" rIns="54864" bIns="27432" rtlCol="0" anchor="ctr"/>
          <a:lstStyle/>
          <a:p>
            <a:pPr algn="ctr"/>
            <a:endParaRPr/>
          </a:p>
        </p:txBody>
      </p:sp>
      <p:cxnSp>
        <p:nvCxnSpPr>
          <p:cNvPr id="14" name="Connector 13"/>
          <p:cNvCxnSpPr/>
          <p:nvPr/>
        </p:nvCxnSpPr>
        <p:spPr>
          <a:xfrm flipH="1">
            <a:off x="2784348" y="3803903"/>
            <a:ext cx="539496" cy="1106425"/>
          </a:xfrm>
          <a:prstGeom prst="line">
            <a:avLst/>
          </a:prstGeom>
          <a:ln w="15875">
            <a:solidFill>
              <a:srgbClr val="8A8F98"/>
            </a:solidFill>
          </a:ln>
          <a:effectLst/>
        </p:spPr>
      </p:cxnSp>
      <p:cxnSp>
        <p:nvCxnSpPr>
          <p:cNvPr id="15" name="Connector 14"/>
          <p:cNvCxnSpPr/>
          <p:nvPr/>
        </p:nvCxnSpPr>
        <p:spPr>
          <a:xfrm>
            <a:off x="3323844" y="3803903"/>
            <a:ext cx="960120" cy="1106425"/>
          </a:xfrm>
          <a:prstGeom prst="line">
            <a:avLst/>
          </a:prstGeom>
          <a:ln w="15875">
            <a:solidFill>
              <a:srgbClr val="8A8F98"/>
            </a:solidFill>
          </a:ln>
          <a:effectLst/>
        </p:spPr>
      </p:cxnSp>
      <p:cxnSp>
        <p:nvCxnSpPr>
          <p:cNvPr id="16" name="Connector 15"/>
          <p:cNvCxnSpPr/>
          <p:nvPr/>
        </p:nvCxnSpPr>
        <p:spPr>
          <a:xfrm flipH="1">
            <a:off x="3406139" y="3803903"/>
            <a:ext cx="1014985" cy="1106425"/>
          </a:xfrm>
          <a:prstGeom prst="line">
            <a:avLst/>
          </a:prstGeom>
          <a:ln w="15875">
            <a:solidFill>
              <a:srgbClr val="8A8F98"/>
            </a:solidFill>
          </a:ln>
          <a:effectLst/>
        </p:spPr>
      </p:cxnSp>
      <p:cxnSp>
        <p:nvCxnSpPr>
          <p:cNvPr id="17" name="Connector 16"/>
          <p:cNvCxnSpPr/>
          <p:nvPr/>
        </p:nvCxnSpPr>
        <p:spPr>
          <a:xfrm>
            <a:off x="4421124" y="3803903"/>
            <a:ext cx="484632" cy="1106425"/>
          </a:xfrm>
          <a:prstGeom prst="line">
            <a:avLst/>
          </a:prstGeom>
          <a:ln w="15875">
            <a:solidFill>
              <a:srgbClr val="8A8F98"/>
            </a:solidFill>
          </a:ln>
          <a:effectLst/>
        </p:spPr>
      </p:cxnSp>
      <p:cxnSp>
        <p:nvCxnSpPr>
          <p:cNvPr id="18" name="Connector 17"/>
          <p:cNvCxnSpPr/>
          <p:nvPr/>
        </p:nvCxnSpPr>
        <p:spPr>
          <a:xfrm flipH="1">
            <a:off x="7283196" y="3803903"/>
            <a:ext cx="475487" cy="1106425"/>
          </a:xfrm>
          <a:prstGeom prst="line">
            <a:avLst/>
          </a:prstGeom>
          <a:ln w="15875">
            <a:solidFill>
              <a:srgbClr val="8A8F98"/>
            </a:solidFill>
          </a:ln>
          <a:effectLst/>
        </p:spPr>
      </p:cxnSp>
      <p:cxnSp>
        <p:nvCxnSpPr>
          <p:cNvPr id="19" name="Connector 18"/>
          <p:cNvCxnSpPr/>
          <p:nvPr/>
        </p:nvCxnSpPr>
        <p:spPr>
          <a:xfrm>
            <a:off x="7758683" y="3803903"/>
            <a:ext cx="1024129" cy="1106425"/>
          </a:xfrm>
          <a:prstGeom prst="line">
            <a:avLst/>
          </a:prstGeom>
          <a:ln w="15875">
            <a:solidFill>
              <a:srgbClr val="8A8F98"/>
            </a:solidFill>
          </a:ln>
          <a:effectLst/>
        </p:spPr>
      </p:cxnSp>
      <p:cxnSp>
        <p:nvCxnSpPr>
          <p:cNvPr id="20" name="Connector 19"/>
          <p:cNvCxnSpPr/>
          <p:nvPr/>
        </p:nvCxnSpPr>
        <p:spPr>
          <a:xfrm flipH="1">
            <a:off x="7904988" y="3803903"/>
            <a:ext cx="950975" cy="1106425"/>
          </a:xfrm>
          <a:prstGeom prst="line">
            <a:avLst/>
          </a:prstGeom>
          <a:ln w="15875">
            <a:solidFill>
              <a:srgbClr val="8A8F98"/>
            </a:solidFill>
          </a:ln>
          <a:effectLst/>
        </p:spPr>
      </p:cxnSp>
      <p:cxnSp>
        <p:nvCxnSpPr>
          <p:cNvPr id="21" name="Connector 20"/>
          <p:cNvCxnSpPr/>
          <p:nvPr/>
        </p:nvCxnSpPr>
        <p:spPr>
          <a:xfrm>
            <a:off x="8855963" y="3803903"/>
            <a:ext cx="548641" cy="1106425"/>
          </a:xfrm>
          <a:prstGeom prst="line">
            <a:avLst/>
          </a:prstGeom>
          <a:ln w="15875">
            <a:solidFill>
              <a:srgbClr val="8A8F98"/>
            </a:solidFill>
          </a:ln>
          <a:effectLst/>
        </p:spPr>
      </p:cxnSp>
      <p:cxnSp>
        <p:nvCxnSpPr>
          <p:cNvPr id="22" name="Connector 21"/>
          <p:cNvCxnSpPr/>
          <p:nvPr/>
        </p:nvCxnSpPr>
        <p:spPr>
          <a:xfrm>
            <a:off x="5564124" y="2203704"/>
            <a:ext cx="219455" cy="2706624"/>
          </a:xfrm>
          <a:prstGeom prst="line">
            <a:avLst/>
          </a:prstGeom>
          <a:ln w="15875">
            <a:solidFill>
              <a:srgbClr val="8A8F98"/>
            </a:solidFill>
          </a:ln>
          <a:effectLst/>
        </p:spPr>
      </p:cxnSp>
      <p:cxnSp>
        <p:nvCxnSpPr>
          <p:cNvPr id="23" name="Connector 22"/>
          <p:cNvCxnSpPr/>
          <p:nvPr/>
        </p:nvCxnSpPr>
        <p:spPr>
          <a:xfrm flipH="1">
            <a:off x="3323844" y="2203704"/>
            <a:ext cx="2240280" cy="749807"/>
          </a:xfrm>
          <a:prstGeom prst="line">
            <a:avLst/>
          </a:prstGeom>
          <a:ln w="15875">
            <a:solidFill>
              <a:srgbClr val="8A8F98"/>
            </a:solidFill>
          </a:ln>
          <a:effectLst/>
        </p:spPr>
      </p:cxnSp>
      <p:cxnSp>
        <p:nvCxnSpPr>
          <p:cNvPr id="24" name="Connector 23"/>
          <p:cNvCxnSpPr/>
          <p:nvPr/>
        </p:nvCxnSpPr>
        <p:spPr>
          <a:xfrm>
            <a:off x="5564124" y="2203704"/>
            <a:ext cx="2194559" cy="749807"/>
          </a:xfrm>
          <a:prstGeom prst="line">
            <a:avLst/>
          </a:prstGeom>
          <a:ln w="15875">
            <a:solidFill>
              <a:srgbClr val="8A8F98"/>
            </a:solidFill>
          </a:ln>
          <a:effectLst/>
        </p:spPr>
      </p:cxnSp>
      <p:cxnSp>
        <p:nvCxnSpPr>
          <p:cNvPr id="25" name="Connector 24"/>
          <p:cNvCxnSpPr/>
          <p:nvPr/>
        </p:nvCxnSpPr>
        <p:spPr>
          <a:xfrm flipH="1">
            <a:off x="6405372" y="2203704"/>
            <a:ext cx="484632" cy="2706624"/>
          </a:xfrm>
          <a:prstGeom prst="line">
            <a:avLst/>
          </a:prstGeom>
          <a:ln w="15875">
            <a:solidFill>
              <a:srgbClr val="8A8F98"/>
            </a:solidFill>
          </a:ln>
          <a:effectLst/>
        </p:spPr>
      </p:cxnSp>
      <p:cxnSp>
        <p:nvCxnSpPr>
          <p:cNvPr id="26" name="Connector 25"/>
          <p:cNvCxnSpPr/>
          <p:nvPr/>
        </p:nvCxnSpPr>
        <p:spPr>
          <a:xfrm flipH="1">
            <a:off x="4421124" y="2203704"/>
            <a:ext cx="2468880" cy="749807"/>
          </a:xfrm>
          <a:prstGeom prst="line">
            <a:avLst/>
          </a:prstGeom>
          <a:ln w="15875">
            <a:solidFill>
              <a:srgbClr val="8A8F98"/>
            </a:solidFill>
          </a:ln>
          <a:effectLst/>
        </p:spPr>
      </p:cxnSp>
      <p:cxnSp>
        <p:nvCxnSpPr>
          <p:cNvPr id="27" name="Connector 26"/>
          <p:cNvCxnSpPr/>
          <p:nvPr/>
        </p:nvCxnSpPr>
        <p:spPr>
          <a:xfrm>
            <a:off x="6890004" y="2203704"/>
            <a:ext cx="1965959" cy="749807"/>
          </a:xfrm>
          <a:prstGeom prst="line">
            <a:avLst/>
          </a:prstGeom>
          <a:ln w="15875">
            <a:solidFill>
              <a:srgbClr val="8A8F98"/>
            </a:solidFill>
          </a:ln>
          <a:effectLst/>
        </p:spPr>
      </p:cxnSp>
      <p:sp>
        <p:nvSpPr>
          <p:cNvPr id="28" name="Rounded Rectangle 27"/>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9" name="Rounded Rectangle 28"/>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30" name="Rounded Rectangle 29"/>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31" name="Rounded Rectangle 30"/>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32" name="Rounded Rectangle 31"/>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3" name="Rounded Rectangle 32"/>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4" name="Rounded Rectangle 33"/>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5" name="Rounded Rectangle 34"/>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6" name="Rounded Rectangle 35"/>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7" name="Rounded Rectangle 36"/>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8" name="Rounded Rectangle 37"/>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39" name="TextBox 38"/>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a₁</a:t>
            </a:r>
          </a:p>
        </p:txBody>
      </p:sp>
      <p:sp>
        <p:nvSpPr>
          <p:cNvPr id="40" name="Rounded Rectangle 39"/>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41" name="TextBox 40"/>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42" name="Rounded Rectangle 41"/>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3" name="TextBox 42"/>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x₁</a:t>
            </a:r>
          </a:p>
        </p:txBody>
      </p:sp>
      <p:sp>
        <p:nvSpPr>
          <p:cNvPr id="44" name="Rounded Rectangle 43"/>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5" name="TextBox 44"/>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46" name="Rounded Rectangle 45"/>
          <p:cNvSpPr/>
          <p:nvPr/>
        </p:nvSpPr>
        <p:spPr>
          <a:xfrm>
            <a:off x="5161788" y="1636776"/>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ITE</a:t>
            </a:r>
          </a:p>
        </p:txBody>
      </p:sp>
      <p:sp>
        <p:nvSpPr>
          <p:cNvPr id="47" name="TextBox 46"/>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8" name="Rounded Rectangle 47"/>
          <p:cNvSpPr/>
          <p:nvPr/>
        </p:nvSpPr>
        <p:spPr>
          <a:xfrm>
            <a:off x="6487668" y="1636776"/>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ITE</a:t>
            </a:r>
          </a:p>
        </p:txBody>
      </p:sp>
      <p:sp>
        <p:nvSpPr>
          <p:cNvPr id="49" name="TextBox 48"/>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
        <p:nvSpPr>
          <p:cNvPr id="50" name="TextBox 49"/>
          <p:cNvSpPr txBox="1"/>
          <p:nvPr/>
        </p:nvSpPr>
        <p:spPr>
          <a:xfrm>
            <a:off x="5586984" y="1207008"/>
            <a:ext cx="1280160" cy="329184"/>
          </a:xfrm>
          <a:prstGeom prst="rect">
            <a:avLst/>
          </a:prstGeom>
          <a:noFill/>
        </p:spPr>
        <p:txBody>
          <a:bodyPr wrap="square" lIns="45720" tIns="27432" rIns="45720" bIns="27432" anchor="t">
            <a:spAutoFit/>
          </a:bodyPr>
          <a:lstStyle/>
          <a:p>
            <a:pPr algn="ctr"/>
            <a:r>
              <a:rPr sz="1600" b="1" i="0">
                <a:solidFill>
                  <a:srgbClr val="6B717A"/>
                </a:solidFill>
                <a:latin typeface="Calibri"/>
              </a:rPr>
              <a:t>Query</a:t>
            </a:r>
          </a:p>
        </p:txBody>
      </p:sp>
      <p:sp>
        <p:nvSpPr>
          <p:cNvPr id="51" name="TextBox 50"/>
          <p:cNvSpPr txBox="1"/>
          <p:nvPr/>
        </p:nvSpPr>
        <p:spPr>
          <a:xfrm>
            <a:off x="5724144" y="1682496"/>
            <a:ext cx="1005840" cy="475488"/>
          </a:xfrm>
          <a:prstGeom prst="rect">
            <a:avLst/>
          </a:prstGeom>
          <a:noFill/>
        </p:spPr>
        <p:txBody>
          <a:bodyPr wrap="square" lIns="45720" tIns="27432" rIns="45720" bIns="27432" anchor="ctr">
            <a:spAutoFit/>
          </a:bodyPr>
          <a:lstStyle/>
          <a:p>
            <a:pPr algn="ctr"/>
            <a:r>
              <a:rPr sz="2400" b="1" i="0">
                <a:solidFill>
                  <a:srgbClr val="3A9A5B"/>
                </a:solidFill>
                <a:latin typeface="Calibri"/>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Observation</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32</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wrap="square" lIns="54864" tIns="27432" rIns="54864" bIns="27432" rtlCol="0" anchor="ctr"/>
          <a:lstStyle/>
          <a:p>
            <a:pPr algn="ctr"/>
            <a:endParaRP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wrap="square" lIns="54864" tIns="27432" rIns="54864" bIns="27432" rtlCol="0" anchor="ctr"/>
          <a:lstStyle/>
          <a:p>
            <a:pPr algn="ctr"/>
            <a:endParaRPr/>
          </a:p>
        </p:txBody>
      </p:sp>
      <p:sp>
        <p:nvSpPr>
          <p:cNvPr id="13" name="Rounded Rectangle 12"/>
          <p:cNvSpPr/>
          <p:nvPr/>
        </p:nvSpPr>
        <p:spPr>
          <a:xfrm>
            <a:off x="4704588" y="1517904"/>
            <a:ext cx="3044952" cy="804672"/>
          </a:xfrm>
          <a:prstGeom prst="roundRect">
            <a:avLst>
              <a:gd name="adj" fmla="val 25000"/>
            </a:avLst>
          </a:prstGeom>
          <a:solidFill>
            <a:srgbClr val="FBE4D3"/>
          </a:solidFill>
          <a:ln w="19050">
            <a:solidFill>
              <a:srgbClr val="C8501E"/>
            </a:solidFill>
            <a:prstDash val="dash"/>
          </a:ln>
          <a:effectLst/>
        </p:spPr>
        <p:txBody>
          <a:bodyPr wrap="square" lIns="54864" tIns="27432" rIns="54864" bIns="27432" rtlCol="0" anchor="ctr"/>
          <a:lstStyle/>
          <a:p>
            <a:pPr algn="ctr"/>
            <a:endParaRPr/>
          </a:p>
        </p:txBody>
      </p:sp>
      <p:cxnSp>
        <p:nvCxnSpPr>
          <p:cNvPr id="14" name="Connector 13"/>
          <p:cNvCxnSpPr/>
          <p:nvPr/>
        </p:nvCxnSpPr>
        <p:spPr>
          <a:xfrm flipH="1">
            <a:off x="2784348" y="3803903"/>
            <a:ext cx="539496" cy="1106425"/>
          </a:xfrm>
          <a:prstGeom prst="line">
            <a:avLst/>
          </a:prstGeom>
          <a:ln w="15875">
            <a:solidFill>
              <a:srgbClr val="8A8F98"/>
            </a:solidFill>
          </a:ln>
          <a:effectLst/>
        </p:spPr>
      </p:cxnSp>
      <p:cxnSp>
        <p:nvCxnSpPr>
          <p:cNvPr id="15" name="Connector 14"/>
          <p:cNvCxnSpPr/>
          <p:nvPr/>
        </p:nvCxnSpPr>
        <p:spPr>
          <a:xfrm>
            <a:off x="3323844" y="3803903"/>
            <a:ext cx="960120" cy="1106425"/>
          </a:xfrm>
          <a:prstGeom prst="line">
            <a:avLst/>
          </a:prstGeom>
          <a:ln w="15875">
            <a:solidFill>
              <a:srgbClr val="8A8F98"/>
            </a:solidFill>
          </a:ln>
          <a:effectLst/>
        </p:spPr>
      </p:cxnSp>
      <p:cxnSp>
        <p:nvCxnSpPr>
          <p:cNvPr id="16" name="Connector 15"/>
          <p:cNvCxnSpPr/>
          <p:nvPr/>
        </p:nvCxnSpPr>
        <p:spPr>
          <a:xfrm flipH="1">
            <a:off x="3406139" y="3803903"/>
            <a:ext cx="1014985" cy="1106425"/>
          </a:xfrm>
          <a:prstGeom prst="line">
            <a:avLst/>
          </a:prstGeom>
          <a:ln w="15875">
            <a:solidFill>
              <a:srgbClr val="8A8F98"/>
            </a:solidFill>
          </a:ln>
          <a:effectLst/>
        </p:spPr>
      </p:cxnSp>
      <p:cxnSp>
        <p:nvCxnSpPr>
          <p:cNvPr id="17" name="Connector 16"/>
          <p:cNvCxnSpPr/>
          <p:nvPr/>
        </p:nvCxnSpPr>
        <p:spPr>
          <a:xfrm>
            <a:off x="4421124" y="3803903"/>
            <a:ext cx="484632" cy="1106425"/>
          </a:xfrm>
          <a:prstGeom prst="line">
            <a:avLst/>
          </a:prstGeom>
          <a:ln w="15875">
            <a:solidFill>
              <a:srgbClr val="8A8F98"/>
            </a:solidFill>
          </a:ln>
          <a:effectLst/>
        </p:spPr>
      </p:cxnSp>
      <p:cxnSp>
        <p:nvCxnSpPr>
          <p:cNvPr id="18" name="Connector 17"/>
          <p:cNvCxnSpPr/>
          <p:nvPr/>
        </p:nvCxnSpPr>
        <p:spPr>
          <a:xfrm flipH="1">
            <a:off x="7283196" y="3803903"/>
            <a:ext cx="475487" cy="1106425"/>
          </a:xfrm>
          <a:prstGeom prst="line">
            <a:avLst/>
          </a:prstGeom>
          <a:ln w="15875">
            <a:solidFill>
              <a:srgbClr val="8A8F98"/>
            </a:solidFill>
          </a:ln>
          <a:effectLst/>
        </p:spPr>
      </p:cxnSp>
      <p:cxnSp>
        <p:nvCxnSpPr>
          <p:cNvPr id="19" name="Connector 18"/>
          <p:cNvCxnSpPr/>
          <p:nvPr/>
        </p:nvCxnSpPr>
        <p:spPr>
          <a:xfrm>
            <a:off x="7758683" y="3803903"/>
            <a:ext cx="1024129" cy="1106425"/>
          </a:xfrm>
          <a:prstGeom prst="line">
            <a:avLst/>
          </a:prstGeom>
          <a:ln w="15875">
            <a:solidFill>
              <a:srgbClr val="8A8F98"/>
            </a:solidFill>
          </a:ln>
          <a:effectLst/>
        </p:spPr>
      </p:cxnSp>
      <p:cxnSp>
        <p:nvCxnSpPr>
          <p:cNvPr id="20" name="Connector 19"/>
          <p:cNvCxnSpPr/>
          <p:nvPr/>
        </p:nvCxnSpPr>
        <p:spPr>
          <a:xfrm flipH="1">
            <a:off x="7904988" y="3803903"/>
            <a:ext cx="950975" cy="1106425"/>
          </a:xfrm>
          <a:prstGeom prst="line">
            <a:avLst/>
          </a:prstGeom>
          <a:ln w="15875">
            <a:solidFill>
              <a:srgbClr val="8A8F98"/>
            </a:solidFill>
          </a:ln>
          <a:effectLst/>
        </p:spPr>
      </p:cxnSp>
      <p:cxnSp>
        <p:nvCxnSpPr>
          <p:cNvPr id="21" name="Connector 20"/>
          <p:cNvCxnSpPr/>
          <p:nvPr/>
        </p:nvCxnSpPr>
        <p:spPr>
          <a:xfrm>
            <a:off x="8855963" y="3803903"/>
            <a:ext cx="548641" cy="1106425"/>
          </a:xfrm>
          <a:prstGeom prst="line">
            <a:avLst/>
          </a:prstGeom>
          <a:ln w="15875">
            <a:solidFill>
              <a:srgbClr val="8A8F98"/>
            </a:solidFill>
          </a:ln>
          <a:effectLst/>
        </p:spPr>
      </p:cxnSp>
      <p:cxnSp>
        <p:nvCxnSpPr>
          <p:cNvPr id="22" name="Connector 21"/>
          <p:cNvCxnSpPr/>
          <p:nvPr/>
        </p:nvCxnSpPr>
        <p:spPr>
          <a:xfrm>
            <a:off x="5564124" y="2203704"/>
            <a:ext cx="219455" cy="2706624"/>
          </a:xfrm>
          <a:prstGeom prst="line">
            <a:avLst/>
          </a:prstGeom>
          <a:ln w="15875">
            <a:solidFill>
              <a:srgbClr val="8A8F98"/>
            </a:solidFill>
          </a:ln>
          <a:effectLst/>
        </p:spPr>
      </p:cxnSp>
      <p:cxnSp>
        <p:nvCxnSpPr>
          <p:cNvPr id="23" name="Connector 22"/>
          <p:cNvCxnSpPr/>
          <p:nvPr/>
        </p:nvCxnSpPr>
        <p:spPr>
          <a:xfrm flipH="1">
            <a:off x="6405372" y="2203704"/>
            <a:ext cx="484632" cy="2706624"/>
          </a:xfrm>
          <a:prstGeom prst="line">
            <a:avLst/>
          </a:prstGeom>
          <a:ln w="15875">
            <a:solidFill>
              <a:srgbClr val="8A8F98"/>
            </a:solidFill>
          </a:ln>
          <a:effectLst/>
        </p:spPr>
      </p:cxnSp>
      <p:cxnSp>
        <p:nvCxnSpPr>
          <p:cNvPr id="24" name="Connector 23"/>
          <p:cNvCxnSpPr/>
          <p:nvPr/>
        </p:nvCxnSpPr>
        <p:spPr>
          <a:xfrm flipH="1">
            <a:off x="3323844" y="2203704"/>
            <a:ext cx="2240280" cy="749807"/>
          </a:xfrm>
          <a:prstGeom prst="line">
            <a:avLst/>
          </a:prstGeom>
          <a:ln w="31750">
            <a:solidFill>
              <a:srgbClr val="C8501E"/>
            </a:solidFill>
            <a:tailEnd type="triangle" w="med" len="med"/>
          </a:ln>
          <a:effectLst/>
        </p:spPr>
      </p:cxnSp>
      <p:cxnSp>
        <p:nvCxnSpPr>
          <p:cNvPr id="25" name="Connector 24"/>
          <p:cNvCxnSpPr/>
          <p:nvPr/>
        </p:nvCxnSpPr>
        <p:spPr>
          <a:xfrm>
            <a:off x="5564124" y="2203704"/>
            <a:ext cx="2194559" cy="749807"/>
          </a:xfrm>
          <a:prstGeom prst="line">
            <a:avLst/>
          </a:prstGeom>
          <a:ln w="31750">
            <a:solidFill>
              <a:srgbClr val="C8501E"/>
            </a:solidFill>
            <a:tailEnd type="triangle" w="med" len="med"/>
          </a:ln>
          <a:effectLst/>
        </p:spPr>
      </p:cxnSp>
      <p:cxnSp>
        <p:nvCxnSpPr>
          <p:cNvPr id="26" name="Connector 25"/>
          <p:cNvCxnSpPr/>
          <p:nvPr/>
        </p:nvCxnSpPr>
        <p:spPr>
          <a:xfrm flipH="1">
            <a:off x="4421124" y="2203704"/>
            <a:ext cx="2468880" cy="749807"/>
          </a:xfrm>
          <a:prstGeom prst="line">
            <a:avLst/>
          </a:prstGeom>
          <a:ln w="31750">
            <a:solidFill>
              <a:srgbClr val="C8501E"/>
            </a:solidFill>
            <a:tailEnd type="triangle" w="med" len="med"/>
          </a:ln>
          <a:effectLst/>
        </p:spPr>
      </p:cxnSp>
      <p:cxnSp>
        <p:nvCxnSpPr>
          <p:cNvPr id="27" name="Connector 26"/>
          <p:cNvCxnSpPr/>
          <p:nvPr/>
        </p:nvCxnSpPr>
        <p:spPr>
          <a:xfrm>
            <a:off x="6890004" y="2203704"/>
            <a:ext cx="1965959" cy="749807"/>
          </a:xfrm>
          <a:prstGeom prst="line">
            <a:avLst/>
          </a:prstGeom>
          <a:ln w="31750">
            <a:solidFill>
              <a:srgbClr val="C8501E"/>
            </a:solidFill>
            <a:tailEnd type="triangle" w="med" len="med"/>
          </a:ln>
          <a:effectLst/>
        </p:spPr>
      </p:cxnSp>
      <p:sp>
        <p:nvSpPr>
          <p:cNvPr id="28" name="Rounded Rectangle 27"/>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9" name="Rounded Rectangle 28"/>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30" name="Rounded Rectangle 29"/>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31" name="Rounded Rectangle 30"/>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32" name="Rounded Rectangle 31"/>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3" name="Rounded Rectangle 32"/>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4" name="Rounded Rectangle 33"/>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5" name="Rounded Rectangle 34"/>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6" name="Rounded Rectangle 35"/>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7" name="Rounded Rectangle 36"/>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8" name="Rounded Rectangle 37"/>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39" name="TextBox 38"/>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a₁</a:t>
            </a:r>
          </a:p>
        </p:txBody>
      </p:sp>
      <p:sp>
        <p:nvSpPr>
          <p:cNvPr id="40" name="Rounded Rectangle 39"/>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41" name="TextBox 40"/>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42" name="Rounded Rectangle 41"/>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3" name="TextBox 42"/>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x₁</a:t>
            </a:r>
          </a:p>
        </p:txBody>
      </p:sp>
      <p:sp>
        <p:nvSpPr>
          <p:cNvPr id="44" name="Rounded Rectangle 43"/>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5" name="TextBox 44"/>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46" name="Rounded Rectangle 45"/>
          <p:cNvSpPr/>
          <p:nvPr/>
        </p:nvSpPr>
        <p:spPr>
          <a:xfrm>
            <a:off x="5161788" y="1636776"/>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ITE</a:t>
            </a:r>
          </a:p>
        </p:txBody>
      </p:sp>
      <p:sp>
        <p:nvSpPr>
          <p:cNvPr id="47" name="TextBox 46"/>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8" name="Rounded Rectangle 47"/>
          <p:cNvSpPr/>
          <p:nvPr/>
        </p:nvSpPr>
        <p:spPr>
          <a:xfrm>
            <a:off x="6487668" y="1636776"/>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ITE</a:t>
            </a:r>
          </a:p>
        </p:txBody>
      </p:sp>
      <p:sp>
        <p:nvSpPr>
          <p:cNvPr id="49" name="TextBox 48"/>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
        <p:nvSpPr>
          <p:cNvPr id="50" name="Rounded Rectangle 49"/>
          <p:cNvSpPr/>
          <p:nvPr/>
        </p:nvSpPr>
        <p:spPr>
          <a:xfrm>
            <a:off x="548640" y="5596128"/>
            <a:ext cx="11064240" cy="694944"/>
          </a:xfrm>
          <a:prstGeom prst="roundRect">
            <a:avLst>
              <a:gd name="adj" fmla="val 15000"/>
            </a:avLst>
          </a:prstGeom>
          <a:solidFill>
            <a:srgbClr val="1F2A44"/>
          </a:solidFill>
          <a:ln>
            <a:noFill/>
          </a:ln>
          <a:effectLst/>
        </p:spPr>
        <p:txBody>
          <a:bodyPr wrap="square" lIns="54864" tIns="27432" rIns="54864" bIns="27432" rtlCol="0" anchor="ctr"/>
          <a:lstStyle/>
          <a:p>
            <a:pPr algn="ctr"/>
            <a:r>
              <a:rPr sz="2600" b="1" i="0">
                <a:solidFill>
                  <a:srgbClr val="FFFFFF"/>
                </a:solidFill>
                <a:latin typeface="Calibri"/>
              </a:rPr>
              <a:t>Data dependences are parent–child edges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Observation</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33</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wrap="square" lIns="54864" tIns="27432" rIns="54864" bIns="27432" rtlCol="0" anchor="ctr"/>
          <a:lstStyle/>
          <a:p>
            <a:pPr algn="ctr"/>
            <a:endParaRP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wrap="square" lIns="54864" tIns="27432" rIns="54864" bIns="27432" rtlCol="0" anchor="ctr"/>
          <a:lstStyle/>
          <a:p>
            <a:pPr algn="ctr"/>
            <a:endParaRPr/>
          </a:p>
        </p:txBody>
      </p:sp>
      <p:sp>
        <p:nvSpPr>
          <p:cNvPr id="13" name="Rounded Rectangle 12"/>
          <p:cNvSpPr/>
          <p:nvPr/>
        </p:nvSpPr>
        <p:spPr>
          <a:xfrm>
            <a:off x="4704588" y="1517904"/>
            <a:ext cx="3044952" cy="804672"/>
          </a:xfrm>
          <a:prstGeom prst="roundRect">
            <a:avLst>
              <a:gd name="adj" fmla="val 25000"/>
            </a:avLst>
          </a:prstGeom>
          <a:solidFill>
            <a:srgbClr val="FBE4D3"/>
          </a:solidFill>
          <a:ln w="19050">
            <a:solidFill>
              <a:srgbClr val="C8501E"/>
            </a:solidFill>
            <a:prstDash val="dash"/>
          </a:ln>
          <a:effectLst/>
        </p:spPr>
        <p:txBody>
          <a:bodyPr wrap="square" lIns="54864" tIns="27432" rIns="54864" bIns="27432" rtlCol="0" anchor="ctr"/>
          <a:lstStyle/>
          <a:p>
            <a:pPr algn="ctr"/>
            <a:endParaRPr/>
          </a:p>
        </p:txBody>
      </p:sp>
      <p:cxnSp>
        <p:nvCxnSpPr>
          <p:cNvPr id="14" name="Connector 13"/>
          <p:cNvCxnSpPr/>
          <p:nvPr/>
        </p:nvCxnSpPr>
        <p:spPr>
          <a:xfrm flipH="1">
            <a:off x="2784348" y="3803903"/>
            <a:ext cx="539496" cy="1106425"/>
          </a:xfrm>
          <a:prstGeom prst="line">
            <a:avLst/>
          </a:prstGeom>
          <a:ln w="15875">
            <a:solidFill>
              <a:srgbClr val="8A8F98"/>
            </a:solidFill>
          </a:ln>
          <a:effectLst/>
        </p:spPr>
      </p:cxnSp>
      <p:cxnSp>
        <p:nvCxnSpPr>
          <p:cNvPr id="15" name="Connector 14"/>
          <p:cNvCxnSpPr/>
          <p:nvPr/>
        </p:nvCxnSpPr>
        <p:spPr>
          <a:xfrm>
            <a:off x="3323844" y="3803903"/>
            <a:ext cx="960120" cy="1106425"/>
          </a:xfrm>
          <a:prstGeom prst="line">
            <a:avLst/>
          </a:prstGeom>
          <a:ln w="15875">
            <a:solidFill>
              <a:srgbClr val="8A8F98"/>
            </a:solidFill>
          </a:ln>
          <a:effectLst/>
        </p:spPr>
      </p:cxnSp>
      <p:cxnSp>
        <p:nvCxnSpPr>
          <p:cNvPr id="16" name="Connector 15"/>
          <p:cNvCxnSpPr/>
          <p:nvPr/>
        </p:nvCxnSpPr>
        <p:spPr>
          <a:xfrm flipH="1">
            <a:off x="3406139" y="3803903"/>
            <a:ext cx="1014985" cy="1106425"/>
          </a:xfrm>
          <a:prstGeom prst="line">
            <a:avLst/>
          </a:prstGeom>
          <a:ln w="15875">
            <a:solidFill>
              <a:srgbClr val="8A8F98"/>
            </a:solidFill>
          </a:ln>
          <a:effectLst/>
        </p:spPr>
      </p:cxnSp>
      <p:cxnSp>
        <p:nvCxnSpPr>
          <p:cNvPr id="17" name="Connector 16"/>
          <p:cNvCxnSpPr/>
          <p:nvPr/>
        </p:nvCxnSpPr>
        <p:spPr>
          <a:xfrm>
            <a:off x="4421124" y="3803903"/>
            <a:ext cx="484632" cy="1106425"/>
          </a:xfrm>
          <a:prstGeom prst="line">
            <a:avLst/>
          </a:prstGeom>
          <a:ln w="15875">
            <a:solidFill>
              <a:srgbClr val="8A8F98"/>
            </a:solidFill>
          </a:ln>
          <a:effectLst/>
        </p:spPr>
      </p:cxnSp>
      <p:cxnSp>
        <p:nvCxnSpPr>
          <p:cNvPr id="18" name="Connector 17"/>
          <p:cNvCxnSpPr/>
          <p:nvPr/>
        </p:nvCxnSpPr>
        <p:spPr>
          <a:xfrm flipH="1">
            <a:off x="7283196" y="3803903"/>
            <a:ext cx="475487" cy="1106425"/>
          </a:xfrm>
          <a:prstGeom prst="line">
            <a:avLst/>
          </a:prstGeom>
          <a:ln w="15875">
            <a:solidFill>
              <a:srgbClr val="8A8F98"/>
            </a:solidFill>
          </a:ln>
          <a:effectLst/>
        </p:spPr>
      </p:cxnSp>
      <p:cxnSp>
        <p:nvCxnSpPr>
          <p:cNvPr id="19" name="Connector 18"/>
          <p:cNvCxnSpPr/>
          <p:nvPr/>
        </p:nvCxnSpPr>
        <p:spPr>
          <a:xfrm>
            <a:off x="7758683" y="3803903"/>
            <a:ext cx="1024129" cy="1106425"/>
          </a:xfrm>
          <a:prstGeom prst="line">
            <a:avLst/>
          </a:prstGeom>
          <a:ln w="15875">
            <a:solidFill>
              <a:srgbClr val="8A8F98"/>
            </a:solidFill>
          </a:ln>
          <a:effectLst/>
        </p:spPr>
      </p:cxnSp>
      <p:cxnSp>
        <p:nvCxnSpPr>
          <p:cNvPr id="20" name="Connector 19"/>
          <p:cNvCxnSpPr/>
          <p:nvPr/>
        </p:nvCxnSpPr>
        <p:spPr>
          <a:xfrm flipH="1">
            <a:off x="7904988" y="3803903"/>
            <a:ext cx="950975" cy="1106425"/>
          </a:xfrm>
          <a:prstGeom prst="line">
            <a:avLst/>
          </a:prstGeom>
          <a:ln w="15875">
            <a:solidFill>
              <a:srgbClr val="8A8F98"/>
            </a:solidFill>
          </a:ln>
          <a:effectLst/>
        </p:spPr>
      </p:cxnSp>
      <p:cxnSp>
        <p:nvCxnSpPr>
          <p:cNvPr id="21" name="Connector 20"/>
          <p:cNvCxnSpPr/>
          <p:nvPr/>
        </p:nvCxnSpPr>
        <p:spPr>
          <a:xfrm>
            <a:off x="8855963" y="3803903"/>
            <a:ext cx="548641" cy="1106425"/>
          </a:xfrm>
          <a:prstGeom prst="line">
            <a:avLst/>
          </a:prstGeom>
          <a:ln w="15875">
            <a:solidFill>
              <a:srgbClr val="8A8F98"/>
            </a:solidFill>
          </a:ln>
          <a:effectLst/>
        </p:spPr>
      </p:cxnSp>
      <p:cxnSp>
        <p:nvCxnSpPr>
          <p:cNvPr id="22" name="Connector 21"/>
          <p:cNvCxnSpPr/>
          <p:nvPr/>
        </p:nvCxnSpPr>
        <p:spPr>
          <a:xfrm>
            <a:off x="5564124" y="2203704"/>
            <a:ext cx="219455" cy="2706624"/>
          </a:xfrm>
          <a:prstGeom prst="line">
            <a:avLst/>
          </a:prstGeom>
          <a:ln w="15875">
            <a:solidFill>
              <a:srgbClr val="8A8F98"/>
            </a:solidFill>
          </a:ln>
          <a:effectLst/>
        </p:spPr>
      </p:cxnSp>
      <p:cxnSp>
        <p:nvCxnSpPr>
          <p:cNvPr id="23" name="Connector 22"/>
          <p:cNvCxnSpPr/>
          <p:nvPr/>
        </p:nvCxnSpPr>
        <p:spPr>
          <a:xfrm flipH="1">
            <a:off x="3323844" y="2203704"/>
            <a:ext cx="2240280" cy="749807"/>
          </a:xfrm>
          <a:prstGeom prst="line">
            <a:avLst/>
          </a:prstGeom>
          <a:ln w="15875">
            <a:solidFill>
              <a:srgbClr val="8A8F98"/>
            </a:solidFill>
          </a:ln>
          <a:effectLst/>
        </p:spPr>
      </p:cxnSp>
      <p:cxnSp>
        <p:nvCxnSpPr>
          <p:cNvPr id="24" name="Connector 23"/>
          <p:cNvCxnSpPr/>
          <p:nvPr/>
        </p:nvCxnSpPr>
        <p:spPr>
          <a:xfrm>
            <a:off x="5564124" y="2203704"/>
            <a:ext cx="2194559" cy="749807"/>
          </a:xfrm>
          <a:prstGeom prst="line">
            <a:avLst/>
          </a:prstGeom>
          <a:ln w="15875">
            <a:solidFill>
              <a:srgbClr val="8A8F98"/>
            </a:solidFill>
          </a:ln>
          <a:effectLst/>
        </p:spPr>
      </p:cxnSp>
      <p:cxnSp>
        <p:nvCxnSpPr>
          <p:cNvPr id="25" name="Connector 24"/>
          <p:cNvCxnSpPr/>
          <p:nvPr/>
        </p:nvCxnSpPr>
        <p:spPr>
          <a:xfrm flipH="1">
            <a:off x="6405372" y="2203704"/>
            <a:ext cx="484632" cy="2706624"/>
          </a:xfrm>
          <a:prstGeom prst="line">
            <a:avLst/>
          </a:prstGeom>
          <a:ln w="15875">
            <a:solidFill>
              <a:srgbClr val="8A8F98"/>
            </a:solidFill>
          </a:ln>
          <a:effectLst/>
        </p:spPr>
      </p:cxnSp>
      <p:cxnSp>
        <p:nvCxnSpPr>
          <p:cNvPr id="26" name="Connector 25"/>
          <p:cNvCxnSpPr/>
          <p:nvPr/>
        </p:nvCxnSpPr>
        <p:spPr>
          <a:xfrm flipH="1">
            <a:off x="4421124" y="2203704"/>
            <a:ext cx="2468880" cy="749807"/>
          </a:xfrm>
          <a:prstGeom prst="line">
            <a:avLst/>
          </a:prstGeom>
          <a:ln w="15875">
            <a:solidFill>
              <a:srgbClr val="8A8F98"/>
            </a:solidFill>
          </a:ln>
          <a:effectLst/>
        </p:spPr>
      </p:cxnSp>
      <p:cxnSp>
        <p:nvCxnSpPr>
          <p:cNvPr id="27" name="Connector 26"/>
          <p:cNvCxnSpPr/>
          <p:nvPr/>
        </p:nvCxnSpPr>
        <p:spPr>
          <a:xfrm>
            <a:off x="6890004" y="2203704"/>
            <a:ext cx="1965959" cy="749807"/>
          </a:xfrm>
          <a:prstGeom prst="line">
            <a:avLst/>
          </a:prstGeom>
          <a:ln w="15875">
            <a:solidFill>
              <a:srgbClr val="8A8F98"/>
            </a:solidFill>
          </a:ln>
          <a:effectLst/>
        </p:spPr>
      </p:cxnSp>
      <p:sp>
        <p:nvSpPr>
          <p:cNvPr id="28" name="Rounded Rectangle 27"/>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9" name="Rounded Rectangle 28"/>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30" name="Rounded Rectangle 29"/>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31" name="Rounded Rectangle 30"/>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32" name="Rounded Rectangle 31"/>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3" name="Rounded Rectangle 32"/>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4" name="Rounded Rectangle 33"/>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5" name="Rounded Rectangle 34"/>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6" name="Rounded Rectangle 35"/>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7" name="Rounded Rectangle 36"/>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8" name="Rounded Rectangle 37"/>
          <p:cNvSpPr/>
          <p:nvPr/>
        </p:nvSpPr>
        <p:spPr>
          <a:xfrm>
            <a:off x="2921508" y="3236975"/>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AND</a:t>
            </a:r>
          </a:p>
        </p:txBody>
      </p:sp>
      <p:sp>
        <p:nvSpPr>
          <p:cNvPr id="39" name="TextBox 38"/>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a₁</a:t>
            </a:r>
          </a:p>
        </p:txBody>
      </p:sp>
      <p:sp>
        <p:nvSpPr>
          <p:cNvPr id="40" name="Rounded Rectangle 39"/>
          <p:cNvSpPr/>
          <p:nvPr/>
        </p:nvSpPr>
        <p:spPr>
          <a:xfrm>
            <a:off x="4018787" y="3236975"/>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AND</a:t>
            </a:r>
          </a:p>
        </p:txBody>
      </p:sp>
      <p:sp>
        <p:nvSpPr>
          <p:cNvPr id="41" name="TextBox 40"/>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42" name="Rounded Rectangle 41"/>
          <p:cNvSpPr/>
          <p:nvPr/>
        </p:nvSpPr>
        <p:spPr>
          <a:xfrm>
            <a:off x="7356348" y="3236975"/>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XOR</a:t>
            </a:r>
          </a:p>
        </p:txBody>
      </p:sp>
      <p:sp>
        <p:nvSpPr>
          <p:cNvPr id="43" name="TextBox 42"/>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x₁</a:t>
            </a:r>
          </a:p>
        </p:txBody>
      </p:sp>
      <p:sp>
        <p:nvSpPr>
          <p:cNvPr id="44" name="Rounded Rectangle 43"/>
          <p:cNvSpPr/>
          <p:nvPr/>
        </p:nvSpPr>
        <p:spPr>
          <a:xfrm>
            <a:off x="8453628" y="3236975"/>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XOR</a:t>
            </a:r>
          </a:p>
        </p:txBody>
      </p:sp>
      <p:sp>
        <p:nvSpPr>
          <p:cNvPr id="45" name="TextBox 44"/>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46" name="Rounded Rectangle 45"/>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7" name="TextBox 46"/>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8" name="Rounded Rectangle 47"/>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9" name="TextBox 48"/>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
        <p:nvSpPr>
          <p:cNvPr id="50" name="TextBox 49"/>
          <p:cNvSpPr txBox="1"/>
          <p:nvPr/>
        </p:nvSpPr>
        <p:spPr>
          <a:xfrm>
            <a:off x="5678423" y="3136391"/>
            <a:ext cx="822960" cy="566928"/>
          </a:xfrm>
          <a:prstGeom prst="rect">
            <a:avLst/>
          </a:prstGeom>
          <a:noFill/>
        </p:spPr>
        <p:txBody>
          <a:bodyPr wrap="square" lIns="45720" tIns="27432" rIns="45720" bIns="27432" anchor="ctr">
            <a:spAutoFit/>
          </a:bodyPr>
          <a:lstStyle/>
          <a:p>
            <a:pPr algn="ctr"/>
            <a:r>
              <a:rPr sz="4000" b="1" i="0">
                <a:solidFill>
                  <a:srgbClr val="C8501E"/>
                </a:solidFill>
                <a:latin typeface="Calibri"/>
              </a:rPr>
              <a:t>∥</a:t>
            </a:r>
          </a:p>
        </p:txBody>
      </p:sp>
      <p:sp>
        <p:nvSpPr>
          <p:cNvPr id="51" name="TextBox 50"/>
          <p:cNvSpPr txBox="1"/>
          <p:nvPr/>
        </p:nvSpPr>
        <p:spPr>
          <a:xfrm>
            <a:off x="5404103" y="3739896"/>
            <a:ext cx="1371600" cy="274320"/>
          </a:xfrm>
          <a:prstGeom prst="rect">
            <a:avLst/>
          </a:prstGeom>
          <a:noFill/>
        </p:spPr>
        <p:txBody>
          <a:bodyPr wrap="square" lIns="45720" tIns="27432" rIns="45720" bIns="27432" anchor="t">
            <a:spAutoFit/>
          </a:bodyPr>
          <a:lstStyle/>
          <a:p>
            <a:pPr algn="ctr"/>
            <a:r>
              <a:rPr sz="1300" b="1" i="0">
                <a:solidFill>
                  <a:srgbClr val="C8501E"/>
                </a:solidFill>
                <a:latin typeface="Calibri"/>
              </a:rPr>
              <a:t>independent</a:t>
            </a:r>
          </a:p>
        </p:txBody>
      </p:sp>
      <p:sp>
        <p:nvSpPr>
          <p:cNvPr id="52" name="Rounded Rectangle 51"/>
          <p:cNvSpPr/>
          <p:nvPr/>
        </p:nvSpPr>
        <p:spPr>
          <a:xfrm>
            <a:off x="548640" y="5596128"/>
            <a:ext cx="11064240" cy="694944"/>
          </a:xfrm>
          <a:prstGeom prst="roundRect">
            <a:avLst>
              <a:gd name="adj" fmla="val 15000"/>
            </a:avLst>
          </a:prstGeom>
          <a:solidFill>
            <a:srgbClr val="1F2A44"/>
          </a:solidFill>
          <a:ln>
            <a:noFill/>
          </a:ln>
          <a:effectLst/>
        </p:spPr>
        <p:txBody>
          <a:bodyPr wrap="square" lIns="54864" tIns="27432" rIns="54864" bIns="27432" rtlCol="0" anchor="ctr"/>
          <a:lstStyle/>
          <a:p>
            <a:pPr algn="ctr"/>
            <a:r>
              <a:rPr sz="2600" b="1" i="0">
                <a:solidFill>
                  <a:srgbClr val="FFFFFF"/>
                </a:solidFill>
                <a:latin typeface="Calibri"/>
              </a:rPr>
              <a:t>Unrelated merges run in parallel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urring TOC Marker - Algorithm"/>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Outline</a:t>
            </a:r>
          </a:p>
        </p:txBody>
      </p:sp>
      <p:sp>
        <p:nvSpPr>
          <p:cNvPr id="3" name="Outline title rule"/>
          <p:cNvSpPr/>
          <p:nvPr/>
        </p:nvSpPr>
        <p:spPr>
          <a:xfrm>
            <a:off x="566928" y="1005840"/>
            <a:ext cx="2176272" cy="32004"/>
          </a:xfrm>
          <a:prstGeom prst="rect">
            <a:avLst/>
          </a:prstGeom>
          <a:solidFill>
            <a:srgbClr val="C8501E"/>
          </a:solidFill>
          <a:ln>
            <a:noFill/>
          </a:ln>
        </p:spPr>
        <p:txBody>
          <a:bodyPr/>
          <a:lstStyle/>
          <a:p>
            <a:endParaRPr lang="en-US"/>
          </a:p>
        </p:txBody>
      </p:sp>
      <p:sp>
        <p:nvSpPr>
          <p:cNvPr id="16" name="Outline number Intro"/>
          <p:cNvSpPr txBox="1"/>
          <p:nvPr/>
        </p:nvSpPr>
        <p:spPr>
          <a:xfrm>
            <a:off x="804672" y="1463040"/>
            <a:ext cx="347472" cy="566928"/>
          </a:xfrm>
          <a:prstGeom prst="rect">
            <a:avLst/>
          </a:prstGeom>
          <a:noFill/>
        </p:spPr>
        <p:txBody>
          <a:bodyPr wrap="square" lIns="45720" tIns="27432" rIns="45720" bIns="27432" anchor="ctr">
            <a:spAutoFit/>
          </a:bodyPr>
          <a:lstStyle/>
          <a:p>
            <a:pPr algn="l"/>
            <a:r>
              <a:rPr sz="1200" b="0" i="0">
                <a:solidFill>
                  <a:srgbClr val="C9CDD3"/>
                </a:solidFill>
                <a:latin typeface="Calibri"/>
              </a:rPr>
              <a:t>1</a:t>
            </a:r>
          </a:p>
        </p:txBody>
      </p:sp>
      <p:sp>
        <p:nvSpPr>
          <p:cNvPr id="17" name="Outline label Intro"/>
          <p:cNvSpPr txBox="1"/>
          <p:nvPr/>
        </p:nvSpPr>
        <p:spPr>
          <a:xfrm>
            <a:off x="1298448" y="1417320"/>
            <a:ext cx="7132320" cy="658368"/>
          </a:xfrm>
          <a:prstGeom prst="rect">
            <a:avLst/>
          </a:prstGeom>
          <a:noFill/>
        </p:spPr>
        <p:txBody>
          <a:bodyPr wrap="square" lIns="45720" tIns="27432" rIns="45720" bIns="27432" anchor="ctr">
            <a:spAutoFit/>
          </a:bodyPr>
          <a:lstStyle/>
          <a:p>
            <a:pPr algn="l"/>
            <a:r>
              <a:rPr sz="2400" b="0" i="0">
                <a:solidFill>
                  <a:srgbClr val="6B717A"/>
                </a:solidFill>
                <a:latin typeface="Calibri"/>
              </a:rPr>
              <a:t>Intro</a:t>
            </a:r>
          </a:p>
        </p:txBody>
      </p:sp>
      <p:sp>
        <p:nvSpPr>
          <p:cNvPr id="20" name="Outline number Background"/>
          <p:cNvSpPr txBox="1"/>
          <p:nvPr/>
        </p:nvSpPr>
        <p:spPr>
          <a:xfrm>
            <a:off x="804672" y="2304288"/>
            <a:ext cx="347472" cy="566928"/>
          </a:xfrm>
          <a:prstGeom prst="rect">
            <a:avLst/>
          </a:prstGeom>
          <a:noFill/>
        </p:spPr>
        <p:txBody>
          <a:bodyPr wrap="square" lIns="45720" tIns="27432" rIns="45720" bIns="27432" anchor="ctr">
            <a:spAutoFit/>
          </a:bodyPr>
          <a:lstStyle/>
          <a:p>
            <a:pPr algn="l"/>
            <a:r>
              <a:rPr sz="1200" b="0" i="0">
                <a:solidFill>
                  <a:srgbClr val="C9CDD3"/>
                </a:solidFill>
                <a:latin typeface="Calibri"/>
              </a:rPr>
              <a:t>2</a:t>
            </a:r>
          </a:p>
        </p:txBody>
      </p:sp>
      <p:sp>
        <p:nvSpPr>
          <p:cNvPr id="21" name="Outline label Background"/>
          <p:cNvSpPr txBox="1"/>
          <p:nvPr/>
        </p:nvSpPr>
        <p:spPr>
          <a:xfrm>
            <a:off x="1298448" y="2258568"/>
            <a:ext cx="7132320" cy="658368"/>
          </a:xfrm>
          <a:prstGeom prst="rect">
            <a:avLst/>
          </a:prstGeom>
          <a:noFill/>
        </p:spPr>
        <p:txBody>
          <a:bodyPr wrap="square" lIns="45720" tIns="27432" rIns="45720" bIns="27432" anchor="ctr">
            <a:spAutoFit/>
          </a:bodyPr>
          <a:lstStyle/>
          <a:p>
            <a:pPr algn="l"/>
            <a:r>
              <a:rPr sz="2400" b="0" i="0">
                <a:solidFill>
                  <a:srgbClr val="6B717A"/>
                </a:solidFill>
                <a:latin typeface="Calibri"/>
              </a:rPr>
              <a:t>Background</a:t>
            </a:r>
          </a:p>
        </p:txBody>
      </p:sp>
      <p:sp>
        <p:nvSpPr>
          <p:cNvPr id="24" name="Outline number Motivating example"/>
          <p:cNvSpPr txBox="1"/>
          <p:nvPr/>
        </p:nvSpPr>
        <p:spPr>
          <a:xfrm>
            <a:off x="804672" y="3145536"/>
            <a:ext cx="347472" cy="566928"/>
          </a:xfrm>
          <a:prstGeom prst="rect">
            <a:avLst/>
          </a:prstGeom>
          <a:noFill/>
        </p:spPr>
        <p:txBody>
          <a:bodyPr wrap="square" lIns="45720" tIns="27432" rIns="45720" bIns="27432" anchor="ctr">
            <a:spAutoFit/>
          </a:bodyPr>
          <a:lstStyle/>
          <a:p>
            <a:pPr algn="l"/>
            <a:r>
              <a:rPr sz="1200" b="0" i="0">
                <a:solidFill>
                  <a:srgbClr val="C9CDD3"/>
                </a:solidFill>
                <a:latin typeface="Calibri"/>
              </a:rPr>
              <a:t>3</a:t>
            </a:r>
          </a:p>
        </p:txBody>
      </p:sp>
      <p:sp>
        <p:nvSpPr>
          <p:cNvPr id="25" name="Outline label Motivating example"/>
          <p:cNvSpPr txBox="1"/>
          <p:nvPr/>
        </p:nvSpPr>
        <p:spPr>
          <a:xfrm>
            <a:off x="1298448" y="3099816"/>
            <a:ext cx="7132320" cy="658368"/>
          </a:xfrm>
          <a:prstGeom prst="rect">
            <a:avLst/>
          </a:prstGeom>
          <a:noFill/>
        </p:spPr>
        <p:txBody>
          <a:bodyPr wrap="square" lIns="45720" tIns="27432" rIns="45720" bIns="27432" anchor="ctr">
            <a:spAutoFit/>
          </a:bodyPr>
          <a:lstStyle/>
          <a:p>
            <a:pPr algn="l"/>
            <a:r>
              <a:rPr sz="2400" b="0" i="0">
                <a:solidFill>
                  <a:srgbClr val="6B717A"/>
                </a:solidFill>
                <a:latin typeface="Calibri"/>
              </a:rPr>
              <a:t>Motivating example</a:t>
            </a:r>
          </a:p>
        </p:txBody>
      </p:sp>
      <p:sp>
        <p:nvSpPr>
          <p:cNvPr id="26" name="Outline accent Algorithm"/>
          <p:cNvSpPr/>
          <p:nvPr/>
        </p:nvSpPr>
        <p:spPr>
          <a:xfrm>
            <a:off x="621792" y="4023360"/>
            <a:ext cx="50292" cy="493776"/>
          </a:xfrm>
          <a:prstGeom prst="rect">
            <a:avLst/>
          </a:prstGeom>
          <a:solidFill>
            <a:srgbClr val="C8501E"/>
          </a:solidFill>
          <a:ln>
            <a:noFill/>
          </a:ln>
        </p:spPr>
        <p:txBody>
          <a:bodyPr/>
          <a:lstStyle/>
          <a:p>
            <a:endParaRPr lang="en-US"/>
          </a:p>
        </p:txBody>
      </p:sp>
      <p:sp>
        <p:nvSpPr>
          <p:cNvPr id="28" name="Outline number Algorithm"/>
          <p:cNvSpPr txBox="1"/>
          <p:nvPr/>
        </p:nvSpPr>
        <p:spPr>
          <a:xfrm>
            <a:off x="804672" y="3986784"/>
            <a:ext cx="347472" cy="566928"/>
          </a:xfrm>
          <a:prstGeom prst="rect">
            <a:avLst/>
          </a:prstGeom>
          <a:noFill/>
        </p:spPr>
        <p:txBody>
          <a:bodyPr wrap="square" lIns="45720" tIns="27432" rIns="45720" bIns="27432" anchor="ctr">
            <a:spAutoFit/>
          </a:bodyPr>
          <a:lstStyle/>
          <a:p>
            <a:pPr algn="l"/>
            <a:r>
              <a:rPr sz="1200" b="1" i="0">
                <a:solidFill>
                  <a:srgbClr val="C8501E"/>
                </a:solidFill>
                <a:latin typeface="Calibri"/>
              </a:rPr>
              <a:t>4</a:t>
            </a:r>
          </a:p>
        </p:txBody>
      </p:sp>
      <p:sp>
        <p:nvSpPr>
          <p:cNvPr id="29" name="Outline label Algorithm"/>
          <p:cNvSpPr txBox="1"/>
          <p:nvPr/>
        </p:nvSpPr>
        <p:spPr>
          <a:xfrm>
            <a:off x="1298448" y="3941064"/>
            <a:ext cx="7132320" cy="658368"/>
          </a:xfrm>
          <a:prstGeom prst="rect">
            <a:avLst/>
          </a:prstGeom>
          <a:noFill/>
        </p:spPr>
        <p:txBody>
          <a:bodyPr wrap="square" lIns="45720" tIns="27432" rIns="45720" bIns="27432" anchor="ctr">
            <a:spAutoFit/>
          </a:bodyPr>
          <a:lstStyle/>
          <a:p>
            <a:pPr algn="l"/>
            <a:r>
              <a:rPr sz="2600" b="1" i="0">
                <a:solidFill>
                  <a:srgbClr val="1F2A44"/>
                </a:solidFill>
                <a:latin typeface="Calibri"/>
              </a:rPr>
              <a:t>Algorithm</a:t>
            </a:r>
          </a:p>
        </p:txBody>
      </p:sp>
      <p:sp>
        <p:nvSpPr>
          <p:cNvPr id="32" name="Outline number Evaluation"/>
          <p:cNvSpPr txBox="1"/>
          <p:nvPr/>
        </p:nvSpPr>
        <p:spPr>
          <a:xfrm>
            <a:off x="804672" y="4828032"/>
            <a:ext cx="347472" cy="566928"/>
          </a:xfrm>
          <a:prstGeom prst="rect">
            <a:avLst/>
          </a:prstGeom>
          <a:noFill/>
        </p:spPr>
        <p:txBody>
          <a:bodyPr wrap="square" lIns="45720" tIns="27432" rIns="45720" bIns="27432" anchor="ctr">
            <a:spAutoFit/>
          </a:bodyPr>
          <a:lstStyle/>
          <a:p>
            <a:pPr algn="l"/>
            <a:r>
              <a:rPr sz="1200" b="0" i="0">
                <a:solidFill>
                  <a:srgbClr val="C9CDD3"/>
                </a:solidFill>
                <a:latin typeface="Calibri"/>
              </a:rPr>
              <a:t>5</a:t>
            </a:r>
          </a:p>
        </p:txBody>
      </p:sp>
      <p:sp>
        <p:nvSpPr>
          <p:cNvPr id="33" name="Outline label Evaluation"/>
          <p:cNvSpPr txBox="1"/>
          <p:nvPr/>
        </p:nvSpPr>
        <p:spPr>
          <a:xfrm>
            <a:off x="1298448" y="4782312"/>
            <a:ext cx="7132320" cy="658368"/>
          </a:xfrm>
          <a:prstGeom prst="rect">
            <a:avLst/>
          </a:prstGeom>
          <a:noFill/>
        </p:spPr>
        <p:txBody>
          <a:bodyPr wrap="square" lIns="45720" tIns="27432" rIns="45720" bIns="27432" anchor="ctr">
            <a:spAutoFit/>
          </a:bodyPr>
          <a:lstStyle/>
          <a:p>
            <a:pPr algn="l"/>
            <a:r>
              <a:rPr sz="2400" b="0" i="0">
                <a:solidFill>
                  <a:srgbClr val="6B717A"/>
                </a:solidFill>
                <a:latin typeface="Calibri"/>
              </a:rPr>
              <a:t>Evaluation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Bulk-synchronous schedule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34</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wrap="square" lIns="54864" tIns="27432" rIns="54864" bIns="27432" rtlCol="0" anchor="ctr"/>
          <a:lstStyle/>
          <a:p>
            <a:pPr algn="ctr"/>
            <a:endParaRP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wrap="square" lIns="54864" tIns="27432" rIns="54864" bIns="27432" rtlCol="0" anchor="ctr"/>
          <a:lstStyle/>
          <a:p>
            <a:pPr algn="ctr"/>
            <a:endParaRPr/>
          </a:p>
        </p:txBody>
      </p:sp>
      <p:sp>
        <p:nvSpPr>
          <p:cNvPr id="13" name="Rounded Rectangle 12"/>
          <p:cNvSpPr/>
          <p:nvPr/>
        </p:nvSpPr>
        <p:spPr>
          <a:xfrm>
            <a:off x="4704588" y="1517904"/>
            <a:ext cx="3044952" cy="804672"/>
          </a:xfrm>
          <a:prstGeom prst="roundRect">
            <a:avLst>
              <a:gd name="adj" fmla="val 25000"/>
            </a:avLst>
          </a:prstGeom>
          <a:solidFill>
            <a:srgbClr val="FBE4D3"/>
          </a:solidFill>
          <a:ln w="19050">
            <a:solidFill>
              <a:srgbClr val="C8501E"/>
            </a:solidFill>
            <a:prstDash val="dash"/>
          </a:ln>
          <a:effectLst/>
        </p:spPr>
        <p:txBody>
          <a:bodyPr wrap="square" lIns="54864" tIns="27432" rIns="54864" bIns="27432" rtlCol="0" anchor="ctr"/>
          <a:lstStyle/>
          <a:p>
            <a:pPr algn="ctr"/>
            <a:endParaRPr/>
          </a:p>
        </p:txBody>
      </p:sp>
      <p:cxnSp>
        <p:nvCxnSpPr>
          <p:cNvPr id="14" name="Connector 13"/>
          <p:cNvCxnSpPr/>
          <p:nvPr/>
        </p:nvCxnSpPr>
        <p:spPr>
          <a:xfrm flipH="1">
            <a:off x="2784348" y="3803903"/>
            <a:ext cx="539496" cy="1106425"/>
          </a:xfrm>
          <a:prstGeom prst="line">
            <a:avLst/>
          </a:prstGeom>
          <a:ln w="15875">
            <a:solidFill>
              <a:srgbClr val="8A8F98"/>
            </a:solidFill>
          </a:ln>
          <a:effectLst/>
        </p:spPr>
      </p:cxnSp>
      <p:cxnSp>
        <p:nvCxnSpPr>
          <p:cNvPr id="15" name="Connector 14"/>
          <p:cNvCxnSpPr/>
          <p:nvPr/>
        </p:nvCxnSpPr>
        <p:spPr>
          <a:xfrm>
            <a:off x="3323844" y="3803903"/>
            <a:ext cx="960120" cy="1106425"/>
          </a:xfrm>
          <a:prstGeom prst="line">
            <a:avLst/>
          </a:prstGeom>
          <a:ln w="15875">
            <a:solidFill>
              <a:srgbClr val="8A8F98"/>
            </a:solidFill>
          </a:ln>
          <a:effectLst/>
        </p:spPr>
      </p:cxnSp>
      <p:cxnSp>
        <p:nvCxnSpPr>
          <p:cNvPr id="16" name="Connector 15"/>
          <p:cNvCxnSpPr/>
          <p:nvPr/>
        </p:nvCxnSpPr>
        <p:spPr>
          <a:xfrm flipH="1">
            <a:off x="3406139" y="3803903"/>
            <a:ext cx="1014985" cy="1106425"/>
          </a:xfrm>
          <a:prstGeom prst="line">
            <a:avLst/>
          </a:prstGeom>
          <a:ln w="15875">
            <a:solidFill>
              <a:srgbClr val="8A8F98"/>
            </a:solidFill>
          </a:ln>
          <a:effectLst/>
        </p:spPr>
      </p:cxnSp>
      <p:cxnSp>
        <p:nvCxnSpPr>
          <p:cNvPr id="17" name="Connector 16"/>
          <p:cNvCxnSpPr/>
          <p:nvPr/>
        </p:nvCxnSpPr>
        <p:spPr>
          <a:xfrm>
            <a:off x="4421124" y="3803903"/>
            <a:ext cx="484632" cy="1106425"/>
          </a:xfrm>
          <a:prstGeom prst="line">
            <a:avLst/>
          </a:prstGeom>
          <a:ln w="15875">
            <a:solidFill>
              <a:srgbClr val="8A8F98"/>
            </a:solidFill>
          </a:ln>
          <a:effectLst/>
        </p:spPr>
      </p:cxnSp>
      <p:cxnSp>
        <p:nvCxnSpPr>
          <p:cNvPr id="18" name="Connector 17"/>
          <p:cNvCxnSpPr/>
          <p:nvPr/>
        </p:nvCxnSpPr>
        <p:spPr>
          <a:xfrm flipH="1">
            <a:off x="7283196" y="3803903"/>
            <a:ext cx="475487" cy="1106425"/>
          </a:xfrm>
          <a:prstGeom prst="line">
            <a:avLst/>
          </a:prstGeom>
          <a:ln w="15875">
            <a:solidFill>
              <a:srgbClr val="8A8F98"/>
            </a:solidFill>
          </a:ln>
          <a:effectLst/>
        </p:spPr>
      </p:cxnSp>
      <p:cxnSp>
        <p:nvCxnSpPr>
          <p:cNvPr id="19" name="Connector 18"/>
          <p:cNvCxnSpPr/>
          <p:nvPr/>
        </p:nvCxnSpPr>
        <p:spPr>
          <a:xfrm>
            <a:off x="7758683" y="3803903"/>
            <a:ext cx="1024129" cy="1106425"/>
          </a:xfrm>
          <a:prstGeom prst="line">
            <a:avLst/>
          </a:prstGeom>
          <a:ln w="15875">
            <a:solidFill>
              <a:srgbClr val="8A8F98"/>
            </a:solidFill>
          </a:ln>
          <a:effectLst/>
        </p:spPr>
      </p:cxnSp>
      <p:cxnSp>
        <p:nvCxnSpPr>
          <p:cNvPr id="20" name="Connector 19"/>
          <p:cNvCxnSpPr/>
          <p:nvPr/>
        </p:nvCxnSpPr>
        <p:spPr>
          <a:xfrm flipH="1">
            <a:off x="7904988" y="3803903"/>
            <a:ext cx="950975" cy="1106425"/>
          </a:xfrm>
          <a:prstGeom prst="line">
            <a:avLst/>
          </a:prstGeom>
          <a:ln w="15875">
            <a:solidFill>
              <a:srgbClr val="8A8F98"/>
            </a:solidFill>
          </a:ln>
          <a:effectLst/>
        </p:spPr>
      </p:cxnSp>
      <p:cxnSp>
        <p:nvCxnSpPr>
          <p:cNvPr id="21" name="Connector 20"/>
          <p:cNvCxnSpPr/>
          <p:nvPr/>
        </p:nvCxnSpPr>
        <p:spPr>
          <a:xfrm>
            <a:off x="8855963" y="3803903"/>
            <a:ext cx="548641" cy="1106425"/>
          </a:xfrm>
          <a:prstGeom prst="line">
            <a:avLst/>
          </a:prstGeom>
          <a:ln w="15875">
            <a:solidFill>
              <a:srgbClr val="8A8F98"/>
            </a:solidFill>
          </a:ln>
          <a:effectLst/>
        </p:spPr>
      </p:cxnSp>
      <p:cxnSp>
        <p:nvCxnSpPr>
          <p:cNvPr id="22" name="Connector 21"/>
          <p:cNvCxnSpPr/>
          <p:nvPr/>
        </p:nvCxnSpPr>
        <p:spPr>
          <a:xfrm>
            <a:off x="5564124" y="2203704"/>
            <a:ext cx="219455" cy="2706624"/>
          </a:xfrm>
          <a:prstGeom prst="line">
            <a:avLst/>
          </a:prstGeom>
          <a:ln w="15875">
            <a:solidFill>
              <a:srgbClr val="8A8F98"/>
            </a:solidFill>
          </a:ln>
          <a:effectLst/>
        </p:spPr>
      </p:cxnSp>
      <p:cxnSp>
        <p:nvCxnSpPr>
          <p:cNvPr id="23" name="Connector 22"/>
          <p:cNvCxnSpPr/>
          <p:nvPr/>
        </p:nvCxnSpPr>
        <p:spPr>
          <a:xfrm flipH="1">
            <a:off x="3323844" y="2203704"/>
            <a:ext cx="2240280" cy="749807"/>
          </a:xfrm>
          <a:prstGeom prst="line">
            <a:avLst/>
          </a:prstGeom>
          <a:ln w="15875">
            <a:solidFill>
              <a:srgbClr val="8A8F98"/>
            </a:solidFill>
          </a:ln>
          <a:effectLst/>
        </p:spPr>
      </p:cxnSp>
      <p:cxnSp>
        <p:nvCxnSpPr>
          <p:cNvPr id="24" name="Connector 23"/>
          <p:cNvCxnSpPr/>
          <p:nvPr/>
        </p:nvCxnSpPr>
        <p:spPr>
          <a:xfrm>
            <a:off x="5564124" y="2203704"/>
            <a:ext cx="2194559" cy="749807"/>
          </a:xfrm>
          <a:prstGeom prst="line">
            <a:avLst/>
          </a:prstGeom>
          <a:ln w="15875">
            <a:solidFill>
              <a:srgbClr val="8A8F98"/>
            </a:solidFill>
          </a:ln>
          <a:effectLst/>
        </p:spPr>
      </p:cxnSp>
      <p:cxnSp>
        <p:nvCxnSpPr>
          <p:cNvPr id="25" name="Connector 24"/>
          <p:cNvCxnSpPr/>
          <p:nvPr/>
        </p:nvCxnSpPr>
        <p:spPr>
          <a:xfrm flipH="1">
            <a:off x="6405372" y="2203704"/>
            <a:ext cx="484632" cy="2706624"/>
          </a:xfrm>
          <a:prstGeom prst="line">
            <a:avLst/>
          </a:prstGeom>
          <a:ln w="15875">
            <a:solidFill>
              <a:srgbClr val="8A8F98"/>
            </a:solidFill>
          </a:ln>
          <a:effectLst/>
        </p:spPr>
      </p:cxnSp>
      <p:cxnSp>
        <p:nvCxnSpPr>
          <p:cNvPr id="26" name="Connector 25"/>
          <p:cNvCxnSpPr/>
          <p:nvPr/>
        </p:nvCxnSpPr>
        <p:spPr>
          <a:xfrm flipH="1">
            <a:off x="4421124" y="2203704"/>
            <a:ext cx="2468880" cy="749807"/>
          </a:xfrm>
          <a:prstGeom prst="line">
            <a:avLst/>
          </a:prstGeom>
          <a:ln w="15875">
            <a:solidFill>
              <a:srgbClr val="8A8F98"/>
            </a:solidFill>
          </a:ln>
          <a:effectLst/>
        </p:spPr>
      </p:cxnSp>
      <p:cxnSp>
        <p:nvCxnSpPr>
          <p:cNvPr id="27" name="Connector 26"/>
          <p:cNvCxnSpPr/>
          <p:nvPr/>
        </p:nvCxnSpPr>
        <p:spPr>
          <a:xfrm>
            <a:off x="6890004" y="2203704"/>
            <a:ext cx="1965959" cy="749807"/>
          </a:xfrm>
          <a:prstGeom prst="line">
            <a:avLst/>
          </a:prstGeom>
          <a:ln w="15875">
            <a:solidFill>
              <a:srgbClr val="8A8F98"/>
            </a:solidFill>
          </a:ln>
          <a:effectLst/>
        </p:spPr>
      </p:cxnSp>
      <p:sp>
        <p:nvSpPr>
          <p:cNvPr id="28" name="Rounded Rectangle 27"/>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9" name="Rounded Rectangle 28"/>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30" name="Rounded Rectangle 29"/>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31" name="Rounded Rectangle 30"/>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32" name="Rounded Rectangle 31"/>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3" name="Rounded Rectangle 32"/>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4" name="Rounded Rectangle 33"/>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5" name="Rounded Rectangle 34"/>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6" name="Rounded Rectangle 35"/>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7" name="Rounded Rectangle 36"/>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8" name="Rounded Rectangle 37"/>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39" name="TextBox 38"/>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a₁</a:t>
            </a:r>
          </a:p>
        </p:txBody>
      </p:sp>
      <p:sp>
        <p:nvSpPr>
          <p:cNvPr id="40" name="Rounded Rectangle 39"/>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41" name="TextBox 40"/>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42" name="Rounded Rectangle 41"/>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3" name="TextBox 42"/>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x₁</a:t>
            </a:r>
          </a:p>
        </p:txBody>
      </p:sp>
      <p:sp>
        <p:nvSpPr>
          <p:cNvPr id="44" name="Rounded Rectangle 43"/>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5" name="TextBox 44"/>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46" name="Rounded Rectangle 45"/>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7" name="TextBox 46"/>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8" name="Rounded Rectangle 47"/>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9" name="TextBox 48"/>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
        <p:nvSpPr>
          <p:cNvPr id="50" name="Rounded Rectangle 49"/>
          <p:cNvSpPr/>
          <p:nvPr/>
        </p:nvSpPr>
        <p:spPr>
          <a:xfrm>
            <a:off x="2263139" y="4663440"/>
            <a:ext cx="7662672" cy="914400"/>
          </a:xfrm>
          <a:prstGeom prst="roundRect">
            <a:avLst>
              <a:gd name="adj" fmla="val 35000"/>
            </a:avLst>
          </a:prstGeom>
          <a:noFill/>
          <a:ln w="28575">
            <a:solidFill>
              <a:srgbClr val="1F2A44"/>
            </a:solidFill>
            <a:prstDash val="lgDash"/>
          </a:ln>
          <a:effectLst/>
        </p:spPr>
        <p:txBody>
          <a:bodyPr wrap="square" lIns="54864" tIns="27432" rIns="54864" bIns="27432" rtlCol="0" anchor="ctr"/>
          <a:lstStyle/>
          <a:p>
            <a:pPr algn="ctr"/>
            <a:endParaRPr/>
          </a:p>
        </p:txBody>
      </p:sp>
      <p:sp>
        <p:nvSpPr>
          <p:cNvPr id="51" name="TextBox 50"/>
          <p:cNvSpPr txBox="1"/>
          <p:nvPr/>
        </p:nvSpPr>
        <p:spPr>
          <a:xfrm>
            <a:off x="10017252" y="4937759"/>
            <a:ext cx="1188720" cy="365760"/>
          </a:xfrm>
          <a:prstGeom prst="rect">
            <a:avLst/>
          </a:prstGeom>
          <a:noFill/>
        </p:spPr>
        <p:txBody>
          <a:bodyPr wrap="square" lIns="45720" tIns="27432" rIns="45720" bIns="27432" anchor="ctr">
            <a:spAutoFit/>
          </a:bodyPr>
          <a:lstStyle/>
          <a:p>
            <a:pPr algn="l"/>
            <a:r>
              <a:rPr sz="1600" b="1" i="0">
                <a:solidFill>
                  <a:srgbClr val="1F2A44"/>
                </a:solidFill>
                <a:latin typeface="Calibri"/>
              </a:rPr>
              <a:t>round 0</a:t>
            </a:r>
          </a:p>
        </p:txBody>
      </p:sp>
      <p:sp>
        <p:nvSpPr>
          <p:cNvPr id="52" name="Rounded Rectangle 51"/>
          <p:cNvSpPr/>
          <p:nvPr/>
        </p:nvSpPr>
        <p:spPr>
          <a:xfrm>
            <a:off x="548640" y="5596128"/>
            <a:ext cx="11064240" cy="694944"/>
          </a:xfrm>
          <a:prstGeom prst="roundRect">
            <a:avLst>
              <a:gd name="adj" fmla="val 15000"/>
            </a:avLst>
          </a:prstGeom>
          <a:solidFill>
            <a:srgbClr val="1F2A44"/>
          </a:solidFill>
          <a:ln>
            <a:noFill/>
          </a:ln>
          <a:effectLst/>
        </p:spPr>
        <p:txBody>
          <a:bodyPr wrap="square" lIns="54864" tIns="27432" rIns="54864" bIns="27432" rtlCol="0" anchor="ctr"/>
          <a:lstStyle/>
          <a:p>
            <a:pPr algn="ctr"/>
            <a:r>
              <a:rPr sz="2600" b="1" i="0">
                <a:solidFill>
                  <a:srgbClr val="FFFFFF"/>
                </a:solidFill>
                <a:latin typeface="Calibri"/>
              </a:rPr>
              <a:t>Bulk-synchronous parallel: rounds of independent merges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Bulk-synchronous schedule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35</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wrap="square" lIns="54864" tIns="27432" rIns="54864" bIns="27432" rtlCol="0" anchor="ctr"/>
          <a:lstStyle/>
          <a:p>
            <a:pPr algn="ctr"/>
            <a:endParaRP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wrap="square" lIns="54864" tIns="27432" rIns="54864" bIns="27432" rtlCol="0" anchor="ctr"/>
          <a:lstStyle/>
          <a:p>
            <a:pPr algn="ctr"/>
            <a:endParaRPr/>
          </a:p>
        </p:txBody>
      </p:sp>
      <p:sp>
        <p:nvSpPr>
          <p:cNvPr id="13" name="Rounded Rectangle 12"/>
          <p:cNvSpPr/>
          <p:nvPr/>
        </p:nvSpPr>
        <p:spPr>
          <a:xfrm>
            <a:off x="4704588" y="1517904"/>
            <a:ext cx="3044952" cy="804672"/>
          </a:xfrm>
          <a:prstGeom prst="roundRect">
            <a:avLst>
              <a:gd name="adj" fmla="val 25000"/>
            </a:avLst>
          </a:prstGeom>
          <a:solidFill>
            <a:srgbClr val="FBE4D3"/>
          </a:solidFill>
          <a:ln w="19050">
            <a:solidFill>
              <a:srgbClr val="C8501E"/>
            </a:solidFill>
            <a:prstDash val="dash"/>
          </a:ln>
          <a:effectLst/>
        </p:spPr>
        <p:txBody>
          <a:bodyPr wrap="square" lIns="54864" tIns="27432" rIns="54864" bIns="27432" rtlCol="0" anchor="ctr"/>
          <a:lstStyle/>
          <a:p>
            <a:pPr algn="ctr"/>
            <a:endParaRPr/>
          </a:p>
        </p:txBody>
      </p:sp>
      <p:cxnSp>
        <p:nvCxnSpPr>
          <p:cNvPr id="14" name="Connector 13"/>
          <p:cNvCxnSpPr/>
          <p:nvPr/>
        </p:nvCxnSpPr>
        <p:spPr>
          <a:xfrm flipH="1">
            <a:off x="2784348" y="3803903"/>
            <a:ext cx="539496" cy="1106425"/>
          </a:xfrm>
          <a:prstGeom prst="line">
            <a:avLst/>
          </a:prstGeom>
          <a:ln w="15875">
            <a:solidFill>
              <a:srgbClr val="8A8F98"/>
            </a:solidFill>
          </a:ln>
          <a:effectLst/>
        </p:spPr>
      </p:cxnSp>
      <p:cxnSp>
        <p:nvCxnSpPr>
          <p:cNvPr id="15" name="Connector 14"/>
          <p:cNvCxnSpPr/>
          <p:nvPr/>
        </p:nvCxnSpPr>
        <p:spPr>
          <a:xfrm>
            <a:off x="3323844" y="3803903"/>
            <a:ext cx="960120" cy="1106425"/>
          </a:xfrm>
          <a:prstGeom prst="line">
            <a:avLst/>
          </a:prstGeom>
          <a:ln w="15875">
            <a:solidFill>
              <a:srgbClr val="8A8F98"/>
            </a:solidFill>
          </a:ln>
          <a:effectLst/>
        </p:spPr>
      </p:cxnSp>
      <p:cxnSp>
        <p:nvCxnSpPr>
          <p:cNvPr id="16" name="Connector 15"/>
          <p:cNvCxnSpPr/>
          <p:nvPr/>
        </p:nvCxnSpPr>
        <p:spPr>
          <a:xfrm flipH="1">
            <a:off x="3406139" y="3803903"/>
            <a:ext cx="1014985" cy="1106425"/>
          </a:xfrm>
          <a:prstGeom prst="line">
            <a:avLst/>
          </a:prstGeom>
          <a:ln w="15875">
            <a:solidFill>
              <a:srgbClr val="8A8F98"/>
            </a:solidFill>
          </a:ln>
          <a:effectLst/>
        </p:spPr>
      </p:cxnSp>
      <p:cxnSp>
        <p:nvCxnSpPr>
          <p:cNvPr id="17" name="Connector 16"/>
          <p:cNvCxnSpPr/>
          <p:nvPr/>
        </p:nvCxnSpPr>
        <p:spPr>
          <a:xfrm>
            <a:off x="4421124" y="3803903"/>
            <a:ext cx="484632" cy="1106425"/>
          </a:xfrm>
          <a:prstGeom prst="line">
            <a:avLst/>
          </a:prstGeom>
          <a:ln w="15875">
            <a:solidFill>
              <a:srgbClr val="8A8F98"/>
            </a:solidFill>
          </a:ln>
          <a:effectLst/>
        </p:spPr>
      </p:cxnSp>
      <p:cxnSp>
        <p:nvCxnSpPr>
          <p:cNvPr id="18" name="Connector 17"/>
          <p:cNvCxnSpPr/>
          <p:nvPr/>
        </p:nvCxnSpPr>
        <p:spPr>
          <a:xfrm flipH="1">
            <a:off x="7283196" y="3803903"/>
            <a:ext cx="475487" cy="1106425"/>
          </a:xfrm>
          <a:prstGeom prst="line">
            <a:avLst/>
          </a:prstGeom>
          <a:ln w="15875">
            <a:solidFill>
              <a:srgbClr val="8A8F98"/>
            </a:solidFill>
          </a:ln>
          <a:effectLst/>
        </p:spPr>
      </p:cxnSp>
      <p:cxnSp>
        <p:nvCxnSpPr>
          <p:cNvPr id="19" name="Connector 18"/>
          <p:cNvCxnSpPr/>
          <p:nvPr/>
        </p:nvCxnSpPr>
        <p:spPr>
          <a:xfrm>
            <a:off x="7758683" y="3803903"/>
            <a:ext cx="1024129" cy="1106425"/>
          </a:xfrm>
          <a:prstGeom prst="line">
            <a:avLst/>
          </a:prstGeom>
          <a:ln w="15875">
            <a:solidFill>
              <a:srgbClr val="8A8F98"/>
            </a:solidFill>
          </a:ln>
          <a:effectLst/>
        </p:spPr>
      </p:cxnSp>
      <p:cxnSp>
        <p:nvCxnSpPr>
          <p:cNvPr id="20" name="Connector 19"/>
          <p:cNvCxnSpPr/>
          <p:nvPr/>
        </p:nvCxnSpPr>
        <p:spPr>
          <a:xfrm flipH="1">
            <a:off x="7904988" y="3803903"/>
            <a:ext cx="950975" cy="1106425"/>
          </a:xfrm>
          <a:prstGeom prst="line">
            <a:avLst/>
          </a:prstGeom>
          <a:ln w="15875">
            <a:solidFill>
              <a:srgbClr val="8A8F98"/>
            </a:solidFill>
          </a:ln>
          <a:effectLst/>
        </p:spPr>
      </p:cxnSp>
      <p:cxnSp>
        <p:nvCxnSpPr>
          <p:cNvPr id="21" name="Connector 20"/>
          <p:cNvCxnSpPr/>
          <p:nvPr/>
        </p:nvCxnSpPr>
        <p:spPr>
          <a:xfrm>
            <a:off x="8855963" y="3803903"/>
            <a:ext cx="548641" cy="1106425"/>
          </a:xfrm>
          <a:prstGeom prst="line">
            <a:avLst/>
          </a:prstGeom>
          <a:ln w="15875">
            <a:solidFill>
              <a:srgbClr val="8A8F98"/>
            </a:solidFill>
          </a:ln>
          <a:effectLst/>
        </p:spPr>
      </p:cxnSp>
      <p:cxnSp>
        <p:nvCxnSpPr>
          <p:cNvPr id="22" name="Connector 21"/>
          <p:cNvCxnSpPr/>
          <p:nvPr/>
        </p:nvCxnSpPr>
        <p:spPr>
          <a:xfrm>
            <a:off x="5564124" y="2203704"/>
            <a:ext cx="219455" cy="2706624"/>
          </a:xfrm>
          <a:prstGeom prst="line">
            <a:avLst/>
          </a:prstGeom>
          <a:ln w="15875">
            <a:solidFill>
              <a:srgbClr val="8A8F98"/>
            </a:solidFill>
          </a:ln>
          <a:effectLst/>
        </p:spPr>
      </p:cxnSp>
      <p:cxnSp>
        <p:nvCxnSpPr>
          <p:cNvPr id="23" name="Connector 22"/>
          <p:cNvCxnSpPr/>
          <p:nvPr/>
        </p:nvCxnSpPr>
        <p:spPr>
          <a:xfrm flipH="1">
            <a:off x="3323844" y="2203704"/>
            <a:ext cx="2240280" cy="749807"/>
          </a:xfrm>
          <a:prstGeom prst="line">
            <a:avLst/>
          </a:prstGeom>
          <a:ln w="15875">
            <a:solidFill>
              <a:srgbClr val="8A8F98"/>
            </a:solidFill>
          </a:ln>
          <a:effectLst/>
        </p:spPr>
      </p:cxnSp>
      <p:cxnSp>
        <p:nvCxnSpPr>
          <p:cNvPr id="24" name="Connector 23"/>
          <p:cNvCxnSpPr/>
          <p:nvPr/>
        </p:nvCxnSpPr>
        <p:spPr>
          <a:xfrm>
            <a:off x="5564124" y="2203704"/>
            <a:ext cx="2194559" cy="749807"/>
          </a:xfrm>
          <a:prstGeom prst="line">
            <a:avLst/>
          </a:prstGeom>
          <a:ln w="15875">
            <a:solidFill>
              <a:srgbClr val="8A8F98"/>
            </a:solidFill>
          </a:ln>
          <a:effectLst/>
        </p:spPr>
      </p:cxnSp>
      <p:cxnSp>
        <p:nvCxnSpPr>
          <p:cNvPr id="25" name="Connector 24"/>
          <p:cNvCxnSpPr/>
          <p:nvPr/>
        </p:nvCxnSpPr>
        <p:spPr>
          <a:xfrm flipH="1">
            <a:off x="6405372" y="2203704"/>
            <a:ext cx="484632" cy="2706624"/>
          </a:xfrm>
          <a:prstGeom prst="line">
            <a:avLst/>
          </a:prstGeom>
          <a:ln w="15875">
            <a:solidFill>
              <a:srgbClr val="8A8F98"/>
            </a:solidFill>
          </a:ln>
          <a:effectLst/>
        </p:spPr>
      </p:cxnSp>
      <p:cxnSp>
        <p:nvCxnSpPr>
          <p:cNvPr id="26" name="Connector 25"/>
          <p:cNvCxnSpPr/>
          <p:nvPr/>
        </p:nvCxnSpPr>
        <p:spPr>
          <a:xfrm flipH="1">
            <a:off x="4421124" y="2203704"/>
            <a:ext cx="2468880" cy="749807"/>
          </a:xfrm>
          <a:prstGeom prst="line">
            <a:avLst/>
          </a:prstGeom>
          <a:ln w="15875">
            <a:solidFill>
              <a:srgbClr val="8A8F98"/>
            </a:solidFill>
          </a:ln>
          <a:effectLst/>
        </p:spPr>
      </p:cxnSp>
      <p:cxnSp>
        <p:nvCxnSpPr>
          <p:cNvPr id="27" name="Connector 26"/>
          <p:cNvCxnSpPr/>
          <p:nvPr/>
        </p:nvCxnSpPr>
        <p:spPr>
          <a:xfrm>
            <a:off x="6890004" y="2203704"/>
            <a:ext cx="1965959" cy="749807"/>
          </a:xfrm>
          <a:prstGeom prst="line">
            <a:avLst/>
          </a:prstGeom>
          <a:ln w="15875">
            <a:solidFill>
              <a:srgbClr val="8A8F98"/>
            </a:solidFill>
          </a:ln>
          <a:effectLst/>
        </p:spPr>
      </p:cxnSp>
      <p:sp>
        <p:nvSpPr>
          <p:cNvPr id="28" name="Rounded Rectangle 27"/>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9" name="Rounded Rectangle 28"/>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30" name="Rounded Rectangle 29"/>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31" name="Rounded Rectangle 30"/>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32" name="Rounded Rectangle 31"/>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3" name="Rounded Rectangle 32"/>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4" name="Rounded Rectangle 33"/>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5" name="Rounded Rectangle 34"/>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6" name="Rounded Rectangle 35"/>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7" name="Rounded Rectangle 36"/>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8" name="Rounded Rectangle 37"/>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39" name="TextBox 38"/>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a₁</a:t>
            </a:r>
          </a:p>
        </p:txBody>
      </p:sp>
      <p:sp>
        <p:nvSpPr>
          <p:cNvPr id="40" name="Rounded Rectangle 39"/>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41" name="TextBox 40"/>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42" name="Rounded Rectangle 41"/>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3" name="TextBox 42"/>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x₁</a:t>
            </a:r>
          </a:p>
        </p:txBody>
      </p:sp>
      <p:sp>
        <p:nvSpPr>
          <p:cNvPr id="44" name="Rounded Rectangle 43"/>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5" name="TextBox 44"/>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46" name="Rounded Rectangle 45"/>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7" name="TextBox 46"/>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8" name="Rounded Rectangle 47"/>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9" name="TextBox 48"/>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
        <p:nvSpPr>
          <p:cNvPr id="50" name="Rounded Rectangle 49"/>
          <p:cNvSpPr/>
          <p:nvPr/>
        </p:nvSpPr>
        <p:spPr>
          <a:xfrm>
            <a:off x="2263139" y="4663440"/>
            <a:ext cx="7662672" cy="914400"/>
          </a:xfrm>
          <a:prstGeom prst="roundRect">
            <a:avLst>
              <a:gd name="adj" fmla="val 35000"/>
            </a:avLst>
          </a:prstGeom>
          <a:noFill/>
          <a:ln w="28575">
            <a:solidFill>
              <a:srgbClr val="1F2A44"/>
            </a:solidFill>
            <a:prstDash val="lgDash"/>
          </a:ln>
          <a:effectLst/>
        </p:spPr>
        <p:txBody>
          <a:bodyPr wrap="square" lIns="54864" tIns="27432" rIns="54864" bIns="27432" rtlCol="0" anchor="ctr"/>
          <a:lstStyle/>
          <a:p>
            <a:pPr algn="ctr"/>
            <a:endParaRPr/>
          </a:p>
        </p:txBody>
      </p:sp>
      <p:sp>
        <p:nvSpPr>
          <p:cNvPr id="51" name="TextBox 50"/>
          <p:cNvSpPr txBox="1"/>
          <p:nvPr/>
        </p:nvSpPr>
        <p:spPr>
          <a:xfrm>
            <a:off x="10017252" y="4937759"/>
            <a:ext cx="1188720" cy="365760"/>
          </a:xfrm>
          <a:prstGeom prst="rect">
            <a:avLst/>
          </a:prstGeom>
          <a:noFill/>
        </p:spPr>
        <p:txBody>
          <a:bodyPr wrap="square" lIns="45720" tIns="27432" rIns="45720" bIns="27432" anchor="ctr">
            <a:spAutoFit/>
          </a:bodyPr>
          <a:lstStyle/>
          <a:p>
            <a:pPr algn="l"/>
            <a:r>
              <a:rPr sz="1600" b="1" i="0">
                <a:solidFill>
                  <a:srgbClr val="1F2A44"/>
                </a:solidFill>
                <a:latin typeface="Calibri"/>
              </a:rPr>
              <a:t>round 0</a:t>
            </a:r>
          </a:p>
        </p:txBody>
      </p:sp>
      <p:sp>
        <p:nvSpPr>
          <p:cNvPr id="52" name="Rounded Rectangle 51"/>
          <p:cNvSpPr/>
          <p:nvPr/>
        </p:nvSpPr>
        <p:spPr>
          <a:xfrm>
            <a:off x="2674620" y="2715768"/>
            <a:ext cx="6830568" cy="1335024"/>
          </a:xfrm>
          <a:prstGeom prst="roundRect">
            <a:avLst>
              <a:gd name="adj" fmla="val 35000"/>
            </a:avLst>
          </a:prstGeom>
          <a:noFill/>
          <a:ln w="28575">
            <a:solidFill>
              <a:srgbClr val="1F2A44"/>
            </a:solidFill>
            <a:prstDash val="lgDash"/>
          </a:ln>
          <a:effectLst/>
        </p:spPr>
        <p:txBody>
          <a:bodyPr wrap="square" lIns="54864" tIns="27432" rIns="54864" bIns="27432" rtlCol="0" anchor="ctr"/>
          <a:lstStyle/>
          <a:p>
            <a:pPr algn="ctr"/>
            <a:endParaRPr/>
          </a:p>
        </p:txBody>
      </p:sp>
      <p:sp>
        <p:nvSpPr>
          <p:cNvPr id="53" name="TextBox 52"/>
          <p:cNvSpPr txBox="1"/>
          <p:nvPr/>
        </p:nvSpPr>
        <p:spPr>
          <a:xfrm>
            <a:off x="9596628" y="3200399"/>
            <a:ext cx="1188720" cy="365760"/>
          </a:xfrm>
          <a:prstGeom prst="rect">
            <a:avLst/>
          </a:prstGeom>
          <a:noFill/>
        </p:spPr>
        <p:txBody>
          <a:bodyPr wrap="square" lIns="45720" tIns="27432" rIns="45720" bIns="27432" anchor="ctr">
            <a:spAutoFit/>
          </a:bodyPr>
          <a:lstStyle/>
          <a:p>
            <a:pPr algn="l"/>
            <a:r>
              <a:rPr sz="1600" b="1" i="0">
                <a:solidFill>
                  <a:srgbClr val="1F2A44"/>
                </a:solidFill>
                <a:latin typeface="Calibri"/>
              </a:rPr>
              <a:t>round 1</a:t>
            </a:r>
          </a:p>
        </p:txBody>
      </p:sp>
      <p:sp>
        <p:nvSpPr>
          <p:cNvPr id="54" name="Rounded Rectangle 53"/>
          <p:cNvSpPr/>
          <p:nvPr/>
        </p:nvSpPr>
        <p:spPr>
          <a:xfrm>
            <a:off x="548640" y="5596128"/>
            <a:ext cx="11064240" cy="694944"/>
          </a:xfrm>
          <a:prstGeom prst="roundRect">
            <a:avLst>
              <a:gd name="adj" fmla="val 15000"/>
            </a:avLst>
          </a:prstGeom>
          <a:solidFill>
            <a:srgbClr val="1F2A44"/>
          </a:solidFill>
          <a:ln>
            <a:noFill/>
          </a:ln>
          <a:effectLst/>
        </p:spPr>
        <p:txBody>
          <a:bodyPr wrap="square" lIns="54864" tIns="27432" rIns="54864" bIns="27432" rtlCol="0" anchor="ctr"/>
          <a:lstStyle/>
          <a:p>
            <a:pPr algn="ctr"/>
            <a:r>
              <a:rPr sz="2600" b="1" i="0">
                <a:solidFill>
                  <a:srgbClr val="FFFFFF"/>
                </a:solidFill>
                <a:latin typeface="Calibri"/>
              </a:rPr>
              <a:t>Bulk-synchronous parallel: rounds of independent merges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Bulk-synchronous schedule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36</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wrap="square" lIns="54864" tIns="27432" rIns="54864" bIns="27432" rtlCol="0" anchor="ctr"/>
          <a:lstStyle/>
          <a:p>
            <a:pPr algn="ctr"/>
            <a:endParaRP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wrap="square" lIns="54864" tIns="27432" rIns="54864" bIns="27432" rtlCol="0" anchor="ctr"/>
          <a:lstStyle/>
          <a:p>
            <a:pPr algn="ctr"/>
            <a:endParaRPr/>
          </a:p>
        </p:txBody>
      </p:sp>
      <p:sp>
        <p:nvSpPr>
          <p:cNvPr id="13" name="Rounded Rectangle 12"/>
          <p:cNvSpPr/>
          <p:nvPr/>
        </p:nvSpPr>
        <p:spPr>
          <a:xfrm>
            <a:off x="4704588" y="1517904"/>
            <a:ext cx="3044952" cy="804672"/>
          </a:xfrm>
          <a:prstGeom prst="roundRect">
            <a:avLst>
              <a:gd name="adj" fmla="val 25000"/>
            </a:avLst>
          </a:prstGeom>
          <a:solidFill>
            <a:srgbClr val="FBE4D3"/>
          </a:solidFill>
          <a:ln w="19050">
            <a:solidFill>
              <a:srgbClr val="C8501E"/>
            </a:solidFill>
            <a:prstDash val="dash"/>
          </a:ln>
          <a:effectLst/>
        </p:spPr>
        <p:txBody>
          <a:bodyPr wrap="square" lIns="54864" tIns="27432" rIns="54864" bIns="27432" rtlCol="0" anchor="ctr"/>
          <a:lstStyle/>
          <a:p>
            <a:pPr algn="ctr"/>
            <a:endParaRPr/>
          </a:p>
        </p:txBody>
      </p:sp>
      <p:cxnSp>
        <p:nvCxnSpPr>
          <p:cNvPr id="14" name="Connector 13"/>
          <p:cNvCxnSpPr/>
          <p:nvPr/>
        </p:nvCxnSpPr>
        <p:spPr>
          <a:xfrm flipH="1">
            <a:off x="2784348" y="3803903"/>
            <a:ext cx="539496" cy="1106425"/>
          </a:xfrm>
          <a:prstGeom prst="line">
            <a:avLst/>
          </a:prstGeom>
          <a:ln w="15875">
            <a:solidFill>
              <a:srgbClr val="8A8F98"/>
            </a:solidFill>
          </a:ln>
          <a:effectLst/>
        </p:spPr>
      </p:cxnSp>
      <p:cxnSp>
        <p:nvCxnSpPr>
          <p:cNvPr id="15" name="Connector 14"/>
          <p:cNvCxnSpPr/>
          <p:nvPr/>
        </p:nvCxnSpPr>
        <p:spPr>
          <a:xfrm>
            <a:off x="3323844" y="3803903"/>
            <a:ext cx="960120" cy="1106425"/>
          </a:xfrm>
          <a:prstGeom prst="line">
            <a:avLst/>
          </a:prstGeom>
          <a:ln w="15875">
            <a:solidFill>
              <a:srgbClr val="8A8F98"/>
            </a:solidFill>
          </a:ln>
          <a:effectLst/>
        </p:spPr>
      </p:cxnSp>
      <p:cxnSp>
        <p:nvCxnSpPr>
          <p:cNvPr id="16" name="Connector 15"/>
          <p:cNvCxnSpPr/>
          <p:nvPr/>
        </p:nvCxnSpPr>
        <p:spPr>
          <a:xfrm flipH="1">
            <a:off x="3406139" y="3803903"/>
            <a:ext cx="1014985" cy="1106425"/>
          </a:xfrm>
          <a:prstGeom prst="line">
            <a:avLst/>
          </a:prstGeom>
          <a:ln w="15875">
            <a:solidFill>
              <a:srgbClr val="8A8F98"/>
            </a:solidFill>
          </a:ln>
          <a:effectLst/>
        </p:spPr>
      </p:cxnSp>
      <p:cxnSp>
        <p:nvCxnSpPr>
          <p:cNvPr id="17" name="Connector 16"/>
          <p:cNvCxnSpPr/>
          <p:nvPr/>
        </p:nvCxnSpPr>
        <p:spPr>
          <a:xfrm>
            <a:off x="4421124" y="3803903"/>
            <a:ext cx="484632" cy="1106425"/>
          </a:xfrm>
          <a:prstGeom prst="line">
            <a:avLst/>
          </a:prstGeom>
          <a:ln w="15875">
            <a:solidFill>
              <a:srgbClr val="8A8F98"/>
            </a:solidFill>
          </a:ln>
          <a:effectLst/>
        </p:spPr>
      </p:cxnSp>
      <p:cxnSp>
        <p:nvCxnSpPr>
          <p:cNvPr id="18" name="Connector 17"/>
          <p:cNvCxnSpPr/>
          <p:nvPr/>
        </p:nvCxnSpPr>
        <p:spPr>
          <a:xfrm flipH="1">
            <a:off x="7283196" y="3803903"/>
            <a:ext cx="475487" cy="1106425"/>
          </a:xfrm>
          <a:prstGeom prst="line">
            <a:avLst/>
          </a:prstGeom>
          <a:ln w="15875">
            <a:solidFill>
              <a:srgbClr val="8A8F98"/>
            </a:solidFill>
          </a:ln>
          <a:effectLst/>
        </p:spPr>
      </p:cxnSp>
      <p:cxnSp>
        <p:nvCxnSpPr>
          <p:cNvPr id="19" name="Connector 18"/>
          <p:cNvCxnSpPr/>
          <p:nvPr/>
        </p:nvCxnSpPr>
        <p:spPr>
          <a:xfrm>
            <a:off x="7758683" y="3803903"/>
            <a:ext cx="1024129" cy="1106425"/>
          </a:xfrm>
          <a:prstGeom prst="line">
            <a:avLst/>
          </a:prstGeom>
          <a:ln w="15875">
            <a:solidFill>
              <a:srgbClr val="8A8F98"/>
            </a:solidFill>
          </a:ln>
          <a:effectLst/>
        </p:spPr>
      </p:cxnSp>
      <p:cxnSp>
        <p:nvCxnSpPr>
          <p:cNvPr id="20" name="Connector 19"/>
          <p:cNvCxnSpPr/>
          <p:nvPr/>
        </p:nvCxnSpPr>
        <p:spPr>
          <a:xfrm flipH="1">
            <a:off x="7904988" y="3803903"/>
            <a:ext cx="950975" cy="1106425"/>
          </a:xfrm>
          <a:prstGeom prst="line">
            <a:avLst/>
          </a:prstGeom>
          <a:ln w="15875">
            <a:solidFill>
              <a:srgbClr val="8A8F98"/>
            </a:solidFill>
          </a:ln>
          <a:effectLst/>
        </p:spPr>
      </p:cxnSp>
      <p:cxnSp>
        <p:nvCxnSpPr>
          <p:cNvPr id="21" name="Connector 20"/>
          <p:cNvCxnSpPr/>
          <p:nvPr/>
        </p:nvCxnSpPr>
        <p:spPr>
          <a:xfrm>
            <a:off x="8855963" y="3803903"/>
            <a:ext cx="548641" cy="1106425"/>
          </a:xfrm>
          <a:prstGeom prst="line">
            <a:avLst/>
          </a:prstGeom>
          <a:ln w="15875">
            <a:solidFill>
              <a:srgbClr val="8A8F98"/>
            </a:solidFill>
          </a:ln>
          <a:effectLst/>
        </p:spPr>
      </p:cxnSp>
      <p:cxnSp>
        <p:nvCxnSpPr>
          <p:cNvPr id="22" name="Connector 21"/>
          <p:cNvCxnSpPr/>
          <p:nvPr/>
        </p:nvCxnSpPr>
        <p:spPr>
          <a:xfrm>
            <a:off x="5564124" y="2203704"/>
            <a:ext cx="219455" cy="2706624"/>
          </a:xfrm>
          <a:prstGeom prst="line">
            <a:avLst/>
          </a:prstGeom>
          <a:ln w="15875">
            <a:solidFill>
              <a:srgbClr val="8A8F98"/>
            </a:solidFill>
          </a:ln>
          <a:effectLst/>
        </p:spPr>
      </p:cxnSp>
      <p:cxnSp>
        <p:nvCxnSpPr>
          <p:cNvPr id="23" name="Connector 22"/>
          <p:cNvCxnSpPr/>
          <p:nvPr/>
        </p:nvCxnSpPr>
        <p:spPr>
          <a:xfrm flipH="1">
            <a:off x="3323844" y="2203704"/>
            <a:ext cx="2240280" cy="749807"/>
          </a:xfrm>
          <a:prstGeom prst="line">
            <a:avLst/>
          </a:prstGeom>
          <a:ln w="15875">
            <a:solidFill>
              <a:srgbClr val="8A8F98"/>
            </a:solidFill>
          </a:ln>
          <a:effectLst/>
        </p:spPr>
      </p:cxnSp>
      <p:cxnSp>
        <p:nvCxnSpPr>
          <p:cNvPr id="24" name="Connector 23"/>
          <p:cNvCxnSpPr/>
          <p:nvPr/>
        </p:nvCxnSpPr>
        <p:spPr>
          <a:xfrm>
            <a:off x="5564124" y="2203704"/>
            <a:ext cx="2194559" cy="749807"/>
          </a:xfrm>
          <a:prstGeom prst="line">
            <a:avLst/>
          </a:prstGeom>
          <a:ln w="15875">
            <a:solidFill>
              <a:srgbClr val="8A8F98"/>
            </a:solidFill>
          </a:ln>
          <a:effectLst/>
        </p:spPr>
      </p:cxnSp>
      <p:cxnSp>
        <p:nvCxnSpPr>
          <p:cNvPr id="25" name="Connector 24"/>
          <p:cNvCxnSpPr/>
          <p:nvPr/>
        </p:nvCxnSpPr>
        <p:spPr>
          <a:xfrm flipH="1">
            <a:off x="6405372" y="2203704"/>
            <a:ext cx="484632" cy="2706624"/>
          </a:xfrm>
          <a:prstGeom prst="line">
            <a:avLst/>
          </a:prstGeom>
          <a:ln w="15875">
            <a:solidFill>
              <a:srgbClr val="8A8F98"/>
            </a:solidFill>
          </a:ln>
          <a:effectLst/>
        </p:spPr>
      </p:cxnSp>
      <p:cxnSp>
        <p:nvCxnSpPr>
          <p:cNvPr id="26" name="Connector 25"/>
          <p:cNvCxnSpPr/>
          <p:nvPr/>
        </p:nvCxnSpPr>
        <p:spPr>
          <a:xfrm flipH="1">
            <a:off x="4421124" y="2203704"/>
            <a:ext cx="2468880" cy="749807"/>
          </a:xfrm>
          <a:prstGeom prst="line">
            <a:avLst/>
          </a:prstGeom>
          <a:ln w="15875">
            <a:solidFill>
              <a:srgbClr val="8A8F98"/>
            </a:solidFill>
          </a:ln>
          <a:effectLst/>
        </p:spPr>
      </p:cxnSp>
      <p:cxnSp>
        <p:nvCxnSpPr>
          <p:cNvPr id="27" name="Connector 26"/>
          <p:cNvCxnSpPr/>
          <p:nvPr/>
        </p:nvCxnSpPr>
        <p:spPr>
          <a:xfrm>
            <a:off x="6890004" y="2203704"/>
            <a:ext cx="1965959" cy="749807"/>
          </a:xfrm>
          <a:prstGeom prst="line">
            <a:avLst/>
          </a:prstGeom>
          <a:ln w="15875">
            <a:solidFill>
              <a:srgbClr val="8A8F98"/>
            </a:solidFill>
          </a:ln>
          <a:effectLst/>
        </p:spPr>
      </p:cxnSp>
      <p:sp>
        <p:nvSpPr>
          <p:cNvPr id="28" name="Rounded Rectangle 27"/>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9" name="Rounded Rectangle 28"/>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30" name="Rounded Rectangle 29"/>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31" name="Rounded Rectangle 30"/>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32" name="Rounded Rectangle 31"/>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3" name="Rounded Rectangle 32"/>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4" name="Rounded Rectangle 33"/>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5" name="Rounded Rectangle 34"/>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6" name="Rounded Rectangle 35"/>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7" name="Rounded Rectangle 36"/>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8" name="Rounded Rectangle 37"/>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39" name="TextBox 38"/>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a₁</a:t>
            </a:r>
          </a:p>
        </p:txBody>
      </p:sp>
      <p:sp>
        <p:nvSpPr>
          <p:cNvPr id="40" name="Rounded Rectangle 39"/>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41" name="TextBox 40"/>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42" name="Rounded Rectangle 41"/>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3" name="TextBox 42"/>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x₁</a:t>
            </a:r>
          </a:p>
        </p:txBody>
      </p:sp>
      <p:sp>
        <p:nvSpPr>
          <p:cNvPr id="44" name="Rounded Rectangle 43"/>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5" name="TextBox 44"/>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46" name="Rounded Rectangle 45"/>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7" name="TextBox 46"/>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8" name="Rounded Rectangle 47"/>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9" name="TextBox 48"/>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
        <p:nvSpPr>
          <p:cNvPr id="50" name="Rounded Rectangle 49"/>
          <p:cNvSpPr/>
          <p:nvPr/>
        </p:nvSpPr>
        <p:spPr>
          <a:xfrm>
            <a:off x="2263139" y="4663440"/>
            <a:ext cx="7662672" cy="914400"/>
          </a:xfrm>
          <a:prstGeom prst="roundRect">
            <a:avLst>
              <a:gd name="adj" fmla="val 35000"/>
            </a:avLst>
          </a:prstGeom>
          <a:noFill/>
          <a:ln w="28575">
            <a:solidFill>
              <a:srgbClr val="1F2A44"/>
            </a:solidFill>
            <a:prstDash val="lgDash"/>
          </a:ln>
          <a:effectLst/>
        </p:spPr>
        <p:txBody>
          <a:bodyPr wrap="square" lIns="54864" tIns="27432" rIns="54864" bIns="27432" rtlCol="0" anchor="ctr"/>
          <a:lstStyle/>
          <a:p>
            <a:pPr algn="ctr"/>
            <a:endParaRPr/>
          </a:p>
        </p:txBody>
      </p:sp>
      <p:sp>
        <p:nvSpPr>
          <p:cNvPr id="51" name="TextBox 50"/>
          <p:cNvSpPr txBox="1"/>
          <p:nvPr/>
        </p:nvSpPr>
        <p:spPr>
          <a:xfrm>
            <a:off x="10017252" y="4937759"/>
            <a:ext cx="1188720" cy="365760"/>
          </a:xfrm>
          <a:prstGeom prst="rect">
            <a:avLst/>
          </a:prstGeom>
          <a:noFill/>
        </p:spPr>
        <p:txBody>
          <a:bodyPr wrap="square" lIns="45720" tIns="27432" rIns="45720" bIns="27432" anchor="ctr">
            <a:spAutoFit/>
          </a:bodyPr>
          <a:lstStyle/>
          <a:p>
            <a:pPr algn="l"/>
            <a:r>
              <a:rPr sz="1600" b="1" i="0">
                <a:solidFill>
                  <a:srgbClr val="1F2A44"/>
                </a:solidFill>
                <a:latin typeface="Calibri"/>
              </a:rPr>
              <a:t>round 0</a:t>
            </a:r>
          </a:p>
        </p:txBody>
      </p:sp>
      <p:sp>
        <p:nvSpPr>
          <p:cNvPr id="52" name="Rounded Rectangle 51"/>
          <p:cNvSpPr/>
          <p:nvPr/>
        </p:nvSpPr>
        <p:spPr>
          <a:xfrm>
            <a:off x="2674620" y="2715768"/>
            <a:ext cx="6830568" cy="1335024"/>
          </a:xfrm>
          <a:prstGeom prst="roundRect">
            <a:avLst>
              <a:gd name="adj" fmla="val 35000"/>
            </a:avLst>
          </a:prstGeom>
          <a:noFill/>
          <a:ln w="28575">
            <a:solidFill>
              <a:srgbClr val="1F2A44"/>
            </a:solidFill>
            <a:prstDash val="lgDash"/>
          </a:ln>
          <a:effectLst/>
        </p:spPr>
        <p:txBody>
          <a:bodyPr wrap="square" lIns="54864" tIns="27432" rIns="54864" bIns="27432" rtlCol="0" anchor="ctr"/>
          <a:lstStyle/>
          <a:p>
            <a:pPr algn="ctr"/>
            <a:endParaRPr/>
          </a:p>
        </p:txBody>
      </p:sp>
      <p:sp>
        <p:nvSpPr>
          <p:cNvPr id="53" name="TextBox 52"/>
          <p:cNvSpPr txBox="1"/>
          <p:nvPr/>
        </p:nvSpPr>
        <p:spPr>
          <a:xfrm>
            <a:off x="9596628" y="3200399"/>
            <a:ext cx="1188720" cy="365760"/>
          </a:xfrm>
          <a:prstGeom prst="rect">
            <a:avLst/>
          </a:prstGeom>
          <a:noFill/>
        </p:spPr>
        <p:txBody>
          <a:bodyPr wrap="square" lIns="45720" tIns="27432" rIns="45720" bIns="27432" anchor="ctr">
            <a:spAutoFit/>
          </a:bodyPr>
          <a:lstStyle/>
          <a:p>
            <a:pPr algn="l"/>
            <a:r>
              <a:rPr sz="1600" b="1" i="0">
                <a:solidFill>
                  <a:srgbClr val="1F2A44"/>
                </a:solidFill>
                <a:latin typeface="Calibri"/>
              </a:rPr>
              <a:t>round 1</a:t>
            </a:r>
          </a:p>
        </p:txBody>
      </p:sp>
      <p:sp>
        <p:nvSpPr>
          <p:cNvPr id="54" name="Rounded Rectangle 53"/>
          <p:cNvSpPr/>
          <p:nvPr/>
        </p:nvSpPr>
        <p:spPr>
          <a:xfrm>
            <a:off x="4576572" y="1389888"/>
            <a:ext cx="3300984" cy="1060704"/>
          </a:xfrm>
          <a:prstGeom prst="roundRect">
            <a:avLst>
              <a:gd name="adj" fmla="val 35000"/>
            </a:avLst>
          </a:prstGeom>
          <a:noFill/>
          <a:ln w="28575">
            <a:solidFill>
              <a:srgbClr val="1F2A44"/>
            </a:solidFill>
            <a:prstDash val="lgDash"/>
          </a:ln>
          <a:effectLst/>
        </p:spPr>
        <p:txBody>
          <a:bodyPr wrap="square" lIns="54864" tIns="27432" rIns="54864" bIns="27432" rtlCol="0" anchor="ctr"/>
          <a:lstStyle/>
          <a:p>
            <a:pPr algn="ctr"/>
            <a:endParaRPr/>
          </a:p>
        </p:txBody>
      </p:sp>
      <p:sp>
        <p:nvSpPr>
          <p:cNvPr id="55" name="TextBox 54"/>
          <p:cNvSpPr txBox="1"/>
          <p:nvPr/>
        </p:nvSpPr>
        <p:spPr>
          <a:xfrm>
            <a:off x="7968996" y="1737360"/>
            <a:ext cx="1188720" cy="365760"/>
          </a:xfrm>
          <a:prstGeom prst="rect">
            <a:avLst/>
          </a:prstGeom>
          <a:noFill/>
        </p:spPr>
        <p:txBody>
          <a:bodyPr wrap="square" lIns="45720" tIns="27432" rIns="45720" bIns="27432" anchor="ctr">
            <a:spAutoFit/>
          </a:bodyPr>
          <a:lstStyle/>
          <a:p>
            <a:pPr algn="l"/>
            <a:r>
              <a:rPr sz="1600" b="1" i="0">
                <a:solidFill>
                  <a:srgbClr val="1F2A44"/>
                </a:solidFill>
                <a:latin typeface="Calibri"/>
              </a:rPr>
              <a:t>round 2</a:t>
            </a:r>
          </a:p>
        </p:txBody>
      </p:sp>
      <p:sp>
        <p:nvSpPr>
          <p:cNvPr id="56" name="Rounded Rectangle 55"/>
          <p:cNvSpPr/>
          <p:nvPr/>
        </p:nvSpPr>
        <p:spPr>
          <a:xfrm>
            <a:off x="548640" y="5596128"/>
            <a:ext cx="11064240" cy="694944"/>
          </a:xfrm>
          <a:prstGeom prst="roundRect">
            <a:avLst>
              <a:gd name="adj" fmla="val 15000"/>
            </a:avLst>
          </a:prstGeom>
          <a:solidFill>
            <a:srgbClr val="1F2A44"/>
          </a:solidFill>
          <a:ln>
            <a:noFill/>
          </a:ln>
          <a:effectLst/>
        </p:spPr>
        <p:txBody>
          <a:bodyPr wrap="square" lIns="54864" tIns="27432" rIns="54864" bIns="27432" rtlCol="0" anchor="ctr"/>
          <a:lstStyle/>
          <a:p>
            <a:pPr algn="ctr"/>
            <a:r>
              <a:rPr sz="2600" b="1" i="0">
                <a:solidFill>
                  <a:srgbClr val="FFFFFF"/>
                </a:solidFill>
                <a:latin typeface="Calibri"/>
              </a:rPr>
              <a:t>Bulk-synchronous parallel: rounds of independent merges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Bulk-synchronous schedule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37</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wrap="square" lIns="54864" tIns="27432" rIns="54864" bIns="27432" rtlCol="0" anchor="ctr"/>
          <a:lstStyle/>
          <a:p>
            <a:pPr algn="ctr"/>
            <a:endParaRP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wrap="square" lIns="54864" tIns="27432" rIns="54864" bIns="27432" rtlCol="0" anchor="ctr"/>
          <a:lstStyle/>
          <a:p>
            <a:pPr algn="ctr"/>
            <a:endParaRPr/>
          </a:p>
        </p:txBody>
      </p:sp>
      <p:sp>
        <p:nvSpPr>
          <p:cNvPr id="13" name="Rounded Rectangle 12"/>
          <p:cNvSpPr/>
          <p:nvPr/>
        </p:nvSpPr>
        <p:spPr>
          <a:xfrm>
            <a:off x="4704588" y="1517904"/>
            <a:ext cx="3044952" cy="804672"/>
          </a:xfrm>
          <a:prstGeom prst="roundRect">
            <a:avLst>
              <a:gd name="adj" fmla="val 25000"/>
            </a:avLst>
          </a:prstGeom>
          <a:solidFill>
            <a:srgbClr val="FBE4D3"/>
          </a:solidFill>
          <a:ln w="19050">
            <a:solidFill>
              <a:srgbClr val="C8501E"/>
            </a:solidFill>
            <a:prstDash val="dash"/>
          </a:ln>
          <a:effectLst/>
        </p:spPr>
        <p:txBody>
          <a:bodyPr wrap="square" lIns="54864" tIns="27432" rIns="54864" bIns="27432" rtlCol="0" anchor="ctr"/>
          <a:lstStyle/>
          <a:p>
            <a:pPr algn="ctr"/>
            <a:endParaRPr/>
          </a:p>
        </p:txBody>
      </p:sp>
      <p:cxnSp>
        <p:nvCxnSpPr>
          <p:cNvPr id="14" name="Connector 13"/>
          <p:cNvCxnSpPr/>
          <p:nvPr/>
        </p:nvCxnSpPr>
        <p:spPr>
          <a:xfrm flipH="1">
            <a:off x="2784348" y="3803903"/>
            <a:ext cx="539496" cy="1106425"/>
          </a:xfrm>
          <a:prstGeom prst="line">
            <a:avLst/>
          </a:prstGeom>
          <a:ln w="15875">
            <a:solidFill>
              <a:srgbClr val="8A8F98"/>
            </a:solidFill>
          </a:ln>
          <a:effectLst/>
        </p:spPr>
      </p:cxnSp>
      <p:cxnSp>
        <p:nvCxnSpPr>
          <p:cNvPr id="15" name="Connector 14"/>
          <p:cNvCxnSpPr/>
          <p:nvPr/>
        </p:nvCxnSpPr>
        <p:spPr>
          <a:xfrm>
            <a:off x="3323844" y="3803903"/>
            <a:ext cx="960120" cy="1106425"/>
          </a:xfrm>
          <a:prstGeom prst="line">
            <a:avLst/>
          </a:prstGeom>
          <a:ln w="15875">
            <a:solidFill>
              <a:srgbClr val="8A8F98"/>
            </a:solidFill>
          </a:ln>
          <a:effectLst/>
        </p:spPr>
      </p:cxnSp>
      <p:cxnSp>
        <p:nvCxnSpPr>
          <p:cNvPr id="16" name="Connector 15"/>
          <p:cNvCxnSpPr/>
          <p:nvPr/>
        </p:nvCxnSpPr>
        <p:spPr>
          <a:xfrm flipH="1">
            <a:off x="3406139" y="3803903"/>
            <a:ext cx="1014985" cy="1106425"/>
          </a:xfrm>
          <a:prstGeom prst="line">
            <a:avLst/>
          </a:prstGeom>
          <a:ln w="15875">
            <a:solidFill>
              <a:srgbClr val="8A8F98"/>
            </a:solidFill>
          </a:ln>
          <a:effectLst/>
        </p:spPr>
      </p:cxnSp>
      <p:cxnSp>
        <p:nvCxnSpPr>
          <p:cNvPr id="17" name="Connector 16"/>
          <p:cNvCxnSpPr/>
          <p:nvPr/>
        </p:nvCxnSpPr>
        <p:spPr>
          <a:xfrm>
            <a:off x="4421124" y="3803903"/>
            <a:ext cx="484632" cy="1106425"/>
          </a:xfrm>
          <a:prstGeom prst="line">
            <a:avLst/>
          </a:prstGeom>
          <a:ln w="15875">
            <a:solidFill>
              <a:srgbClr val="8A8F98"/>
            </a:solidFill>
          </a:ln>
          <a:effectLst/>
        </p:spPr>
      </p:cxnSp>
      <p:cxnSp>
        <p:nvCxnSpPr>
          <p:cNvPr id="18" name="Connector 17"/>
          <p:cNvCxnSpPr/>
          <p:nvPr/>
        </p:nvCxnSpPr>
        <p:spPr>
          <a:xfrm flipH="1">
            <a:off x="7283196" y="3803903"/>
            <a:ext cx="475487" cy="1106425"/>
          </a:xfrm>
          <a:prstGeom prst="line">
            <a:avLst/>
          </a:prstGeom>
          <a:ln w="15875">
            <a:solidFill>
              <a:srgbClr val="8A8F98"/>
            </a:solidFill>
          </a:ln>
          <a:effectLst/>
        </p:spPr>
      </p:cxnSp>
      <p:cxnSp>
        <p:nvCxnSpPr>
          <p:cNvPr id="19" name="Connector 18"/>
          <p:cNvCxnSpPr/>
          <p:nvPr/>
        </p:nvCxnSpPr>
        <p:spPr>
          <a:xfrm>
            <a:off x="7758683" y="3803903"/>
            <a:ext cx="1024129" cy="1106425"/>
          </a:xfrm>
          <a:prstGeom prst="line">
            <a:avLst/>
          </a:prstGeom>
          <a:ln w="15875">
            <a:solidFill>
              <a:srgbClr val="8A8F98"/>
            </a:solidFill>
          </a:ln>
          <a:effectLst/>
        </p:spPr>
      </p:cxnSp>
      <p:cxnSp>
        <p:nvCxnSpPr>
          <p:cNvPr id="20" name="Connector 19"/>
          <p:cNvCxnSpPr/>
          <p:nvPr/>
        </p:nvCxnSpPr>
        <p:spPr>
          <a:xfrm flipH="1">
            <a:off x="7904988" y="3803903"/>
            <a:ext cx="950975" cy="1106425"/>
          </a:xfrm>
          <a:prstGeom prst="line">
            <a:avLst/>
          </a:prstGeom>
          <a:ln w="15875">
            <a:solidFill>
              <a:srgbClr val="8A8F98"/>
            </a:solidFill>
          </a:ln>
          <a:effectLst/>
        </p:spPr>
      </p:cxnSp>
      <p:cxnSp>
        <p:nvCxnSpPr>
          <p:cNvPr id="21" name="Connector 20"/>
          <p:cNvCxnSpPr/>
          <p:nvPr/>
        </p:nvCxnSpPr>
        <p:spPr>
          <a:xfrm>
            <a:off x="8855963" y="3803903"/>
            <a:ext cx="548641" cy="1106425"/>
          </a:xfrm>
          <a:prstGeom prst="line">
            <a:avLst/>
          </a:prstGeom>
          <a:ln w="15875">
            <a:solidFill>
              <a:srgbClr val="8A8F98"/>
            </a:solidFill>
          </a:ln>
          <a:effectLst/>
        </p:spPr>
      </p:cxnSp>
      <p:cxnSp>
        <p:nvCxnSpPr>
          <p:cNvPr id="22" name="Connector 21"/>
          <p:cNvCxnSpPr/>
          <p:nvPr/>
        </p:nvCxnSpPr>
        <p:spPr>
          <a:xfrm>
            <a:off x="5564124" y="2203704"/>
            <a:ext cx="219455" cy="2706624"/>
          </a:xfrm>
          <a:prstGeom prst="line">
            <a:avLst/>
          </a:prstGeom>
          <a:ln w="15875">
            <a:solidFill>
              <a:srgbClr val="8A8F98"/>
            </a:solidFill>
          </a:ln>
          <a:effectLst/>
        </p:spPr>
      </p:cxnSp>
      <p:cxnSp>
        <p:nvCxnSpPr>
          <p:cNvPr id="23" name="Connector 22"/>
          <p:cNvCxnSpPr/>
          <p:nvPr/>
        </p:nvCxnSpPr>
        <p:spPr>
          <a:xfrm flipH="1">
            <a:off x="3323844" y="2203704"/>
            <a:ext cx="2240280" cy="749807"/>
          </a:xfrm>
          <a:prstGeom prst="line">
            <a:avLst/>
          </a:prstGeom>
          <a:ln w="15875">
            <a:solidFill>
              <a:srgbClr val="8A8F98"/>
            </a:solidFill>
          </a:ln>
          <a:effectLst/>
        </p:spPr>
      </p:cxnSp>
      <p:cxnSp>
        <p:nvCxnSpPr>
          <p:cNvPr id="24" name="Connector 23"/>
          <p:cNvCxnSpPr/>
          <p:nvPr/>
        </p:nvCxnSpPr>
        <p:spPr>
          <a:xfrm>
            <a:off x="5564124" y="2203704"/>
            <a:ext cx="2194559" cy="749807"/>
          </a:xfrm>
          <a:prstGeom prst="line">
            <a:avLst/>
          </a:prstGeom>
          <a:ln w="15875">
            <a:solidFill>
              <a:srgbClr val="8A8F98"/>
            </a:solidFill>
          </a:ln>
          <a:effectLst/>
        </p:spPr>
      </p:cxnSp>
      <p:cxnSp>
        <p:nvCxnSpPr>
          <p:cNvPr id="25" name="Connector 24"/>
          <p:cNvCxnSpPr/>
          <p:nvPr/>
        </p:nvCxnSpPr>
        <p:spPr>
          <a:xfrm flipH="1">
            <a:off x="6405372" y="2203704"/>
            <a:ext cx="484632" cy="2706624"/>
          </a:xfrm>
          <a:prstGeom prst="line">
            <a:avLst/>
          </a:prstGeom>
          <a:ln w="15875">
            <a:solidFill>
              <a:srgbClr val="8A8F98"/>
            </a:solidFill>
          </a:ln>
          <a:effectLst/>
        </p:spPr>
      </p:cxnSp>
      <p:cxnSp>
        <p:nvCxnSpPr>
          <p:cNvPr id="26" name="Connector 25"/>
          <p:cNvCxnSpPr/>
          <p:nvPr/>
        </p:nvCxnSpPr>
        <p:spPr>
          <a:xfrm flipH="1">
            <a:off x="4421124" y="2203704"/>
            <a:ext cx="2468880" cy="749807"/>
          </a:xfrm>
          <a:prstGeom prst="line">
            <a:avLst/>
          </a:prstGeom>
          <a:ln w="15875">
            <a:solidFill>
              <a:srgbClr val="8A8F98"/>
            </a:solidFill>
          </a:ln>
          <a:effectLst/>
        </p:spPr>
      </p:cxnSp>
      <p:cxnSp>
        <p:nvCxnSpPr>
          <p:cNvPr id="27" name="Connector 26"/>
          <p:cNvCxnSpPr/>
          <p:nvPr/>
        </p:nvCxnSpPr>
        <p:spPr>
          <a:xfrm>
            <a:off x="6890004" y="2203704"/>
            <a:ext cx="1965959" cy="749807"/>
          </a:xfrm>
          <a:prstGeom prst="line">
            <a:avLst/>
          </a:prstGeom>
          <a:ln w="15875">
            <a:solidFill>
              <a:srgbClr val="8A8F98"/>
            </a:solidFill>
          </a:ln>
          <a:effectLst/>
        </p:spPr>
      </p:cxnSp>
      <p:sp>
        <p:nvSpPr>
          <p:cNvPr id="28" name="Rounded Rectangle 27"/>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9" name="Rounded Rectangle 28"/>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30" name="Rounded Rectangle 29"/>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31" name="Rounded Rectangle 30"/>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32" name="Rounded Rectangle 31"/>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3" name="Rounded Rectangle 32"/>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4" name="Rounded Rectangle 33"/>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5" name="Rounded Rectangle 34"/>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6" name="Rounded Rectangle 35"/>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7" name="Rounded Rectangle 36"/>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8" name="Rounded Rectangle 37"/>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39" name="TextBox 38"/>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a₁</a:t>
            </a:r>
          </a:p>
        </p:txBody>
      </p:sp>
      <p:sp>
        <p:nvSpPr>
          <p:cNvPr id="40" name="Rounded Rectangle 39"/>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41" name="TextBox 40"/>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42" name="Rounded Rectangle 41"/>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3" name="TextBox 42"/>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x₁</a:t>
            </a:r>
          </a:p>
        </p:txBody>
      </p:sp>
      <p:sp>
        <p:nvSpPr>
          <p:cNvPr id="44" name="Rounded Rectangle 43"/>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5" name="TextBox 44"/>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46" name="Rounded Rectangle 45"/>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7" name="TextBox 46"/>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8" name="Rounded Rectangle 47"/>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9" name="TextBox 48"/>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
        <p:nvSpPr>
          <p:cNvPr id="50" name="Rounded Rectangle 49"/>
          <p:cNvSpPr/>
          <p:nvPr/>
        </p:nvSpPr>
        <p:spPr>
          <a:xfrm>
            <a:off x="2263139" y="4663440"/>
            <a:ext cx="7662672" cy="914400"/>
          </a:xfrm>
          <a:prstGeom prst="roundRect">
            <a:avLst>
              <a:gd name="adj" fmla="val 35000"/>
            </a:avLst>
          </a:prstGeom>
          <a:noFill/>
          <a:ln w="28575">
            <a:solidFill>
              <a:srgbClr val="1F2A44"/>
            </a:solidFill>
            <a:prstDash val="lgDash"/>
          </a:ln>
          <a:effectLst/>
        </p:spPr>
        <p:txBody>
          <a:bodyPr wrap="square" lIns="54864" tIns="27432" rIns="54864" bIns="27432" rtlCol="0" anchor="ctr"/>
          <a:lstStyle/>
          <a:p>
            <a:pPr algn="ctr"/>
            <a:endParaRPr/>
          </a:p>
        </p:txBody>
      </p:sp>
      <p:sp>
        <p:nvSpPr>
          <p:cNvPr id="51" name="TextBox 50"/>
          <p:cNvSpPr txBox="1"/>
          <p:nvPr/>
        </p:nvSpPr>
        <p:spPr>
          <a:xfrm>
            <a:off x="10017252" y="4937759"/>
            <a:ext cx="1188720" cy="365760"/>
          </a:xfrm>
          <a:prstGeom prst="rect">
            <a:avLst/>
          </a:prstGeom>
          <a:noFill/>
        </p:spPr>
        <p:txBody>
          <a:bodyPr wrap="square" lIns="45720" tIns="27432" rIns="45720" bIns="27432" anchor="ctr">
            <a:spAutoFit/>
          </a:bodyPr>
          <a:lstStyle/>
          <a:p>
            <a:pPr algn="l"/>
            <a:r>
              <a:rPr sz="1600" b="1" i="0">
                <a:solidFill>
                  <a:srgbClr val="1F2A44"/>
                </a:solidFill>
                <a:latin typeface="Calibri"/>
              </a:rPr>
              <a:t>round 0</a:t>
            </a:r>
          </a:p>
        </p:txBody>
      </p:sp>
      <p:sp>
        <p:nvSpPr>
          <p:cNvPr id="52" name="Rounded Rectangle 51"/>
          <p:cNvSpPr/>
          <p:nvPr/>
        </p:nvSpPr>
        <p:spPr>
          <a:xfrm>
            <a:off x="2674620" y="2715768"/>
            <a:ext cx="6830568" cy="1335024"/>
          </a:xfrm>
          <a:prstGeom prst="roundRect">
            <a:avLst>
              <a:gd name="adj" fmla="val 35000"/>
            </a:avLst>
          </a:prstGeom>
          <a:noFill/>
          <a:ln w="28575">
            <a:solidFill>
              <a:srgbClr val="1F2A44"/>
            </a:solidFill>
            <a:prstDash val="lgDash"/>
          </a:ln>
          <a:effectLst/>
        </p:spPr>
        <p:txBody>
          <a:bodyPr wrap="square" lIns="54864" tIns="27432" rIns="54864" bIns="27432" rtlCol="0" anchor="ctr"/>
          <a:lstStyle/>
          <a:p>
            <a:pPr algn="ctr"/>
            <a:endParaRPr/>
          </a:p>
        </p:txBody>
      </p:sp>
      <p:sp>
        <p:nvSpPr>
          <p:cNvPr id="53" name="TextBox 52"/>
          <p:cNvSpPr txBox="1"/>
          <p:nvPr/>
        </p:nvSpPr>
        <p:spPr>
          <a:xfrm>
            <a:off x="9596628" y="3200399"/>
            <a:ext cx="1188720" cy="365760"/>
          </a:xfrm>
          <a:prstGeom prst="rect">
            <a:avLst/>
          </a:prstGeom>
          <a:noFill/>
        </p:spPr>
        <p:txBody>
          <a:bodyPr wrap="square" lIns="45720" tIns="27432" rIns="45720" bIns="27432" anchor="ctr">
            <a:spAutoFit/>
          </a:bodyPr>
          <a:lstStyle/>
          <a:p>
            <a:pPr algn="l"/>
            <a:r>
              <a:rPr sz="1600" b="1" i="0">
                <a:solidFill>
                  <a:srgbClr val="1F2A44"/>
                </a:solidFill>
                <a:latin typeface="Calibri"/>
              </a:rPr>
              <a:t>round 1</a:t>
            </a:r>
          </a:p>
        </p:txBody>
      </p:sp>
      <p:sp>
        <p:nvSpPr>
          <p:cNvPr id="54" name="Rounded Rectangle 53"/>
          <p:cNvSpPr/>
          <p:nvPr/>
        </p:nvSpPr>
        <p:spPr>
          <a:xfrm>
            <a:off x="4576572" y="1389888"/>
            <a:ext cx="3300984" cy="1060704"/>
          </a:xfrm>
          <a:prstGeom prst="roundRect">
            <a:avLst>
              <a:gd name="adj" fmla="val 35000"/>
            </a:avLst>
          </a:prstGeom>
          <a:noFill/>
          <a:ln w="28575">
            <a:solidFill>
              <a:srgbClr val="1F2A44"/>
            </a:solidFill>
            <a:prstDash val="lgDash"/>
          </a:ln>
          <a:effectLst/>
        </p:spPr>
        <p:txBody>
          <a:bodyPr wrap="square" lIns="54864" tIns="27432" rIns="54864" bIns="27432" rtlCol="0" anchor="ctr"/>
          <a:lstStyle/>
          <a:p>
            <a:pPr algn="ctr"/>
            <a:endParaRPr/>
          </a:p>
        </p:txBody>
      </p:sp>
      <p:sp>
        <p:nvSpPr>
          <p:cNvPr id="55" name="TextBox 54"/>
          <p:cNvSpPr txBox="1"/>
          <p:nvPr/>
        </p:nvSpPr>
        <p:spPr>
          <a:xfrm>
            <a:off x="7968996" y="1737360"/>
            <a:ext cx="1188720" cy="365760"/>
          </a:xfrm>
          <a:prstGeom prst="rect">
            <a:avLst/>
          </a:prstGeom>
          <a:noFill/>
        </p:spPr>
        <p:txBody>
          <a:bodyPr wrap="square" lIns="45720" tIns="27432" rIns="45720" bIns="27432" anchor="ctr">
            <a:spAutoFit/>
          </a:bodyPr>
          <a:lstStyle/>
          <a:p>
            <a:pPr algn="l"/>
            <a:r>
              <a:rPr sz="1600" b="1" i="0">
                <a:solidFill>
                  <a:srgbClr val="1F2A44"/>
                </a:solidFill>
                <a:latin typeface="Calibri"/>
              </a:rPr>
              <a:t>round 2</a:t>
            </a:r>
          </a:p>
        </p:txBody>
      </p:sp>
      <p:sp>
        <p:nvSpPr>
          <p:cNvPr id="56" name="Rounded Rectangle 55"/>
          <p:cNvSpPr/>
          <p:nvPr/>
        </p:nvSpPr>
        <p:spPr>
          <a:xfrm>
            <a:off x="548640" y="5596128"/>
            <a:ext cx="11064240" cy="694944"/>
          </a:xfrm>
          <a:prstGeom prst="roundRect">
            <a:avLst>
              <a:gd name="adj" fmla="val 15000"/>
            </a:avLst>
          </a:prstGeom>
          <a:solidFill>
            <a:srgbClr val="1F2A44"/>
          </a:solidFill>
          <a:ln>
            <a:noFill/>
          </a:ln>
          <a:effectLst/>
        </p:spPr>
        <p:txBody>
          <a:bodyPr wrap="square" lIns="54864" tIns="27432" rIns="54864" bIns="27432" rtlCol="0" anchor="ctr"/>
          <a:lstStyle/>
          <a:p>
            <a:pPr algn="ctr"/>
            <a:r>
              <a:rPr sz="2200" b="1" i="0">
                <a:solidFill>
                  <a:srgbClr val="FFFFFF"/>
                </a:solidFill>
                <a:latin typeface="Calibri"/>
              </a:rPr>
              <a:t>depth: congruence rounds (2)      width: most merges in a round (5)</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ParentCC title"/>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ParentCC: one round</a:t>
            </a:r>
          </a:p>
        </p:txBody>
      </p:sp>
      <p:sp>
        <p:nvSpPr>
          <p:cNvPr id="3" name="ParentCC title rule"/>
          <p:cNvSpPr/>
          <p:nvPr/>
        </p:nvSpPr>
        <p:spPr>
          <a:xfrm>
            <a:off x="566928" y="1005840"/>
            <a:ext cx="2176272" cy="32004"/>
          </a:xfrm>
          <a:prstGeom prst="rect">
            <a:avLst/>
          </a:prstGeom>
          <a:solidFill>
            <a:srgbClr val="C8501E"/>
          </a:solidFill>
          <a:ln>
            <a:noFill/>
          </a:ln>
        </p:spPr>
        <p:txBody>
          <a:bodyPr/>
          <a:lstStyle/>
          <a:p>
            <a:endParaRPr lang="en-US"/>
          </a:p>
        </p:txBody>
      </p:sp>
      <p:sp>
        <p:nvSpPr>
          <p:cNvPr id="4" name="ParentCC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38</a:t>
            </a:r>
          </a:p>
        </p:txBody>
      </p:sp>
      <p:sp>
        <p:nvSpPr>
          <p:cNvPr id="5" name="ParentCC body"/>
          <p:cNvSpPr txBox="1"/>
          <p:nvPr/>
        </p:nvSpPr>
        <p:spPr>
          <a:xfrm>
            <a:off x="914400" y="1417320"/>
            <a:ext cx="10149840" cy="4297680"/>
          </a:xfrm>
          <a:prstGeom prst="rect">
            <a:avLst/>
          </a:prstGeom>
          <a:noFill/>
        </p:spPr>
        <p:txBody>
          <a:bodyPr wrap="square" lIns="45720" tIns="27432" rIns="45720" bIns="27432" anchor="t">
            <a:spAutoFit/>
          </a:bodyPr>
          <a:lstStyle/>
          <a:p>
            <a:pPr algn="l">
              <a:spcAft>
                <a:spcPts val="1600"/>
              </a:spcAft>
            </a:pPr>
            <a:r>
              <a:rPr sz="2000" b="1" i="0">
                <a:solidFill>
                  <a:srgbClr val="1F2A44"/>
                </a:solidFill>
                <a:latin typeface="Calibri"/>
              </a:rPr>
              <a:t>1. Find candidates</a:t>
            </a:r>
            <a:r>
              <a:rPr sz="2000" b="0" i="0">
                <a:solidFill>
                  <a:srgbClr val="2B2F36"/>
                </a:solidFill>
                <a:latin typeface="Calibri"/>
              </a:rPr>
              <a:t> — Parents of classes merged last round.</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ParentCC title"/>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ParentCC: one round</a:t>
            </a:r>
          </a:p>
        </p:txBody>
      </p:sp>
      <p:sp>
        <p:nvSpPr>
          <p:cNvPr id="3" name="ParentCC title rule"/>
          <p:cNvSpPr/>
          <p:nvPr/>
        </p:nvSpPr>
        <p:spPr>
          <a:xfrm>
            <a:off x="566928" y="1005840"/>
            <a:ext cx="2176272" cy="32004"/>
          </a:xfrm>
          <a:prstGeom prst="rect">
            <a:avLst/>
          </a:prstGeom>
          <a:solidFill>
            <a:srgbClr val="C8501E"/>
          </a:solidFill>
          <a:ln>
            <a:noFill/>
          </a:ln>
        </p:spPr>
        <p:txBody>
          <a:bodyPr/>
          <a:lstStyle/>
          <a:p>
            <a:endParaRPr lang="en-US"/>
          </a:p>
        </p:txBody>
      </p:sp>
      <p:sp>
        <p:nvSpPr>
          <p:cNvPr id="4" name="ParentCC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39</a:t>
            </a:r>
          </a:p>
        </p:txBody>
      </p:sp>
      <p:sp>
        <p:nvSpPr>
          <p:cNvPr id="5" name="ParentCC body"/>
          <p:cNvSpPr txBox="1"/>
          <p:nvPr/>
        </p:nvSpPr>
        <p:spPr>
          <a:xfrm>
            <a:off x="914400" y="1417320"/>
            <a:ext cx="10149840" cy="4297680"/>
          </a:xfrm>
          <a:prstGeom prst="rect">
            <a:avLst/>
          </a:prstGeom>
          <a:noFill/>
        </p:spPr>
        <p:txBody>
          <a:bodyPr wrap="square" lIns="45720" tIns="27432" rIns="45720" bIns="27432" anchor="t">
            <a:spAutoFit/>
          </a:bodyPr>
          <a:lstStyle/>
          <a:p>
            <a:pPr algn="l">
              <a:spcAft>
                <a:spcPts val="1600"/>
              </a:spcAft>
            </a:pPr>
            <a:r>
              <a:rPr sz="2000" b="1" i="0">
                <a:solidFill>
                  <a:srgbClr val="1F2A44"/>
                </a:solidFill>
                <a:latin typeface="Calibri"/>
              </a:rPr>
              <a:t>1. Find candidates</a:t>
            </a:r>
            <a:r>
              <a:rPr sz="2000" b="0" i="0">
                <a:solidFill>
                  <a:srgbClr val="2B2F36"/>
                </a:solidFill>
                <a:latin typeface="Calibri"/>
              </a:rPr>
              <a:t> — Parents of classes merged last round.</a:t>
            </a:r>
          </a:p>
          <a:p>
            <a:pPr algn="l">
              <a:spcAft>
                <a:spcPts val="1600"/>
              </a:spcAft>
            </a:pPr>
            <a:r>
              <a:rPr sz="2000" b="1" i="0">
                <a:solidFill>
                  <a:srgbClr val="1F2A44"/>
                </a:solidFill>
                <a:latin typeface="Calibri"/>
              </a:rPr>
              <a:t>2. Group by signature</a:t>
            </a:r>
            <a:r>
              <a:rPr sz="2000" b="0" i="0">
                <a:solidFill>
                  <a:srgbClr val="2B2F36"/>
                </a:solidFill>
                <a:latin typeface="Calibri"/>
              </a:rPr>
              <a:t> — Equal signatures identify congruences.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ParentCC title"/>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ParentCC: one round</a:t>
            </a:r>
          </a:p>
        </p:txBody>
      </p:sp>
      <p:sp>
        <p:nvSpPr>
          <p:cNvPr id="3" name="ParentCC title rule"/>
          <p:cNvSpPr/>
          <p:nvPr/>
        </p:nvSpPr>
        <p:spPr>
          <a:xfrm>
            <a:off x="566928" y="1005840"/>
            <a:ext cx="2176272" cy="32004"/>
          </a:xfrm>
          <a:prstGeom prst="rect">
            <a:avLst/>
          </a:prstGeom>
          <a:solidFill>
            <a:srgbClr val="C8501E"/>
          </a:solidFill>
          <a:ln>
            <a:noFill/>
          </a:ln>
        </p:spPr>
        <p:txBody>
          <a:bodyPr/>
          <a:lstStyle/>
          <a:p>
            <a:endParaRPr lang="en-US"/>
          </a:p>
        </p:txBody>
      </p:sp>
      <p:sp>
        <p:nvSpPr>
          <p:cNvPr id="4" name="ParentCC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40</a:t>
            </a:r>
          </a:p>
        </p:txBody>
      </p:sp>
      <p:sp>
        <p:nvSpPr>
          <p:cNvPr id="5" name="ParentCC body"/>
          <p:cNvSpPr txBox="1"/>
          <p:nvPr/>
        </p:nvSpPr>
        <p:spPr>
          <a:xfrm>
            <a:off x="914400" y="1417320"/>
            <a:ext cx="10149840" cy="4297680"/>
          </a:xfrm>
          <a:prstGeom prst="rect">
            <a:avLst/>
          </a:prstGeom>
          <a:noFill/>
        </p:spPr>
        <p:txBody>
          <a:bodyPr wrap="square" lIns="45720" tIns="27432" rIns="45720" bIns="27432" anchor="t">
            <a:spAutoFit/>
          </a:bodyPr>
          <a:lstStyle/>
          <a:p>
            <a:pPr algn="l">
              <a:spcAft>
                <a:spcPts val="1600"/>
              </a:spcAft>
            </a:pPr>
            <a:r>
              <a:rPr sz="2000" b="1" i="0">
                <a:solidFill>
                  <a:srgbClr val="1F2A44"/>
                </a:solidFill>
                <a:latin typeface="Calibri"/>
              </a:rPr>
              <a:t>1. Find candidates</a:t>
            </a:r>
            <a:r>
              <a:rPr sz="2000" b="0" i="0">
                <a:solidFill>
                  <a:srgbClr val="2B2F36"/>
                </a:solidFill>
                <a:latin typeface="Calibri"/>
              </a:rPr>
              <a:t> — Parents of classes merged last round.</a:t>
            </a:r>
          </a:p>
          <a:p>
            <a:pPr algn="l">
              <a:spcAft>
                <a:spcPts val="1600"/>
              </a:spcAft>
            </a:pPr>
            <a:r>
              <a:rPr sz="2000" b="1" i="0">
                <a:solidFill>
                  <a:srgbClr val="1F2A44"/>
                </a:solidFill>
                <a:latin typeface="Calibri"/>
              </a:rPr>
              <a:t>2. Group by signature</a:t>
            </a:r>
            <a:r>
              <a:rPr sz="2000" b="0" i="0">
                <a:solidFill>
                  <a:srgbClr val="2B2F36"/>
                </a:solidFill>
                <a:latin typeface="Calibri"/>
              </a:rPr>
              <a:t> — Equal signatures identify congruences.</a:t>
            </a:r>
          </a:p>
          <a:p>
            <a:pPr algn="l">
              <a:spcAft>
                <a:spcPts val="1600"/>
              </a:spcAft>
            </a:pPr>
            <a:r>
              <a:rPr sz="2000" b="1" i="0">
                <a:solidFill>
                  <a:srgbClr val="1F2A44"/>
                </a:solidFill>
                <a:latin typeface="Calibri"/>
              </a:rPr>
              <a:t>3. Merge each group</a:t>
            </a:r>
            <a:r>
              <a:rPr sz="2000" b="0" i="0">
                <a:solidFill>
                  <a:srgbClr val="2B2F36"/>
                </a:solidFill>
                <a:latin typeface="Calibri"/>
              </a:rPr>
              <a:t> — All groups can merge in parallel.</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ParentCC title"/>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ParentCC: one round</a:t>
            </a:r>
          </a:p>
        </p:txBody>
      </p:sp>
      <p:sp>
        <p:nvSpPr>
          <p:cNvPr id="3" name="ParentCC title rule"/>
          <p:cNvSpPr/>
          <p:nvPr/>
        </p:nvSpPr>
        <p:spPr>
          <a:xfrm>
            <a:off x="566928" y="1005840"/>
            <a:ext cx="2176272" cy="32004"/>
          </a:xfrm>
          <a:prstGeom prst="rect">
            <a:avLst/>
          </a:prstGeom>
          <a:solidFill>
            <a:srgbClr val="C8501E"/>
          </a:solidFill>
          <a:ln>
            <a:noFill/>
          </a:ln>
        </p:spPr>
        <p:txBody>
          <a:bodyPr/>
          <a:lstStyle/>
          <a:p>
            <a:endParaRPr lang="en-US"/>
          </a:p>
        </p:txBody>
      </p:sp>
      <p:sp>
        <p:nvSpPr>
          <p:cNvPr id="4" name="ParentCC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41</a:t>
            </a:r>
          </a:p>
        </p:txBody>
      </p:sp>
      <p:sp>
        <p:nvSpPr>
          <p:cNvPr id="5" name="ParentCC body"/>
          <p:cNvSpPr txBox="1"/>
          <p:nvPr/>
        </p:nvSpPr>
        <p:spPr>
          <a:xfrm>
            <a:off x="914400" y="1417320"/>
            <a:ext cx="10149840" cy="2415020"/>
          </a:xfrm>
          <a:prstGeom prst="rect">
            <a:avLst/>
          </a:prstGeom>
          <a:noFill/>
        </p:spPr>
        <p:txBody>
          <a:bodyPr wrap="square" lIns="45720" tIns="27432" rIns="45720" bIns="27432" anchor="t">
            <a:spAutoFit/>
          </a:bodyPr>
          <a:lstStyle/>
          <a:p>
            <a:pPr algn="l">
              <a:spcAft>
                <a:spcPts val="1600"/>
              </a:spcAft>
            </a:pPr>
            <a:r>
              <a:rPr sz="2000" b="1" i="0" dirty="0">
                <a:solidFill>
                  <a:srgbClr val="1F2A44"/>
                </a:solidFill>
                <a:latin typeface="Calibri"/>
              </a:rPr>
              <a:t>1. Find candidates</a:t>
            </a:r>
            <a:r>
              <a:rPr lang="en-US" sz="2000" b="1" i="0" dirty="0">
                <a:solidFill>
                  <a:srgbClr val="1F2A44"/>
                </a:solidFill>
                <a:latin typeface="Calibri"/>
              </a:rPr>
              <a:t> to merge</a:t>
            </a:r>
            <a:r>
              <a:rPr sz="2000" b="0" i="0" dirty="0">
                <a:solidFill>
                  <a:srgbClr val="2B2F36"/>
                </a:solidFill>
                <a:latin typeface="Calibri"/>
              </a:rPr>
              <a:t> — Parents of classes merged last round.</a:t>
            </a:r>
          </a:p>
          <a:p>
            <a:pPr algn="l">
              <a:spcAft>
                <a:spcPts val="1600"/>
              </a:spcAft>
            </a:pPr>
            <a:r>
              <a:rPr sz="2000" b="1" i="0" dirty="0">
                <a:solidFill>
                  <a:srgbClr val="1F2A44"/>
                </a:solidFill>
                <a:latin typeface="Calibri"/>
              </a:rPr>
              <a:t>2. Group by signature</a:t>
            </a:r>
            <a:r>
              <a:rPr sz="2000" b="0" i="0" dirty="0">
                <a:solidFill>
                  <a:srgbClr val="2B2F36"/>
                </a:solidFill>
                <a:latin typeface="Calibri"/>
              </a:rPr>
              <a:t> — Equal signatures identify congruences.</a:t>
            </a:r>
          </a:p>
          <a:p>
            <a:pPr algn="l">
              <a:spcAft>
                <a:spcPts val="1600"/>
              </a:spcAft>
            </a:pPr>
            <a:r>
              <a:rPr sz="2000" b="1" i="0" dirty="0">
                <a:solidFill>
                  <a:srgbClr val="1F2A44"/>
                </a:solidFill>
                <a:latin typeface="Calibri"/>
              </a:rPr>
              <a:t>3. Merge each group</a:t>
            </a:r>
            <a:r>
              <a:rPr sz="2000" b="0" i="0" dirty="0">
                <a:solidFill>
                  <a:srgbClr val="2B2F36"/>
                </a:solidFill>
                <a:latin typeface="Calibri"/>
              </a:rPr>
              <a:t> — All groups can merge in parallel.</a:t>
            </a:r>
          </a:p>
          <a:p>
            <a:pPr algn="l">
              <a:spcAft>
                <a:spcPts val="1600"/>
              </a:spcAft>
            </a:pPr>
            <a:r>
              <a:rPr sz="2000" b="1" i="0" dirty="0">
                <a:solidFill>
                  <a:srgbClr val="1F2A44"/>
                </a:solidFill>
                <a:latin typeface="Calibri"/>
              </a:rPr>
              <a:t>Repeat</a:t>
            </a:r>
            <a:r>
              <a:rPr sz="2000" b="0" i="0" dirty="0">
                <a:solidFill>
                  <a:srgbClr val="2B2F36"/>
                </a:solidFill>
                <a:latin typeface="Calibri"/>
              </a:rPr>
              <a:t> — Until a round performs no merges.</a:t>
            </a:r>
          </a:p>
          <a:p>
            <a:pPr algn="l">
              <a:spcAft>
                <a:spcPts val="1600"/>
              </a:spcAft>
            </a:pPr>
            <a:r>
              <a:rPr sz="2000" b="1" i="0" dirty="0">
                <a:solidFill>
                  <a:srgbClr val="1F2A44"/>
                </a:solidFill>
                <a:latin typeface="Calibri"/>
              </a:rPr>
              <a:t>Initial round</a:t>
            </a:r>
            <a:r>
              <a:rPr sz="2000" b="0" i="0" dirty="0">
                <a:solidFill>
                  <a:srgbClr val="2B2F36"/>
                </a:solidFill>
                <a:latin typeface="Calibri"/>
              </a:rPr>
              <a:t> — Every term is a candidate.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entCC pseudocode title"/>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ParentCC pseudocode</a:t>
            </a:r>
          </a:p>
        </p:txBody>
      </p:sp>
      <p:sp>
        <p:nvSpPr>
          <p:cNvPr id="3" name="ParentCC title rule"/>
          <p:cNvSpPr/>
          <p:nvPr/>
        </p:nvSpPr>
        <p:spPr>
          <a:xfrm>
            <a:off x="566928" y="1005840"/>
            <a:ext cx="2176272" cy="32004"/>
          </a:xfrm>
          <a:prstGeom prst="rect">
            <a:avLst/>
          </a:prstGeom>
          <a:solidFill>
            <a:srgbClr val="C8501E"/>
          </a:solidFill>
          <a:ln>
            <a:noFill/>
          </a:ln>
        </p:spPr>
        <p:txBody>
          <a:bodyPr/>
          <a:lstStyle/>
          <a:p>
            <a:endParaRPr lang="en-US"/>
          </a:p>
        </p:txBody>
      </p:sp>
      <p:sp>
        <p:nvSpPr>
          <p:cNvPr id="4" name="ParentCC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38</a:t>
            </a:r>
          </a:p>
        </p:txBody>
      </p:sp>
      <p:sp>
        <p:nvSpPr>
          <p:cNvPr id="5" name="ParentCC code background"/>
          <p:cNvSpPr/>
          <p:nvPr/>
        </p:nvSpPr>
        <p:spPr>
          <a:xfrm>
            <a:off x="502920" y="1234440"/>
            <a:ext cx="7662672" cy="4892040"/>
          </a:xfrm>
          <a:prstGeom prst="rect">
            <a:avLst/>
          </a:prstGeom>
          <a:solidFill>
            <a:srgbClr val="F7F7F9"/>
          </a:solidFill>
          <a:ln>
            <a:noFill/>
          </a:ln>
        </p:spPr>
        <p:txBody>
          <a:bodyPr/>
          <a:lstStyle/>
          <a:p>
            <a:endParaRPr lang="en-US"/>
          </a:p>
        </p:txBody>
      </p:sp>
      <p:sp>
        <p:nvSpPr>
          <p:cNvPr id="10" name="ParentCC code line 0"/>
          <p:cNvSpPr txBox="1"/>
          <p:nvPr/>
        </p:nvSpPr>
        <p:spPr>
          <a:xfrm>
            <a:off x="658368" y="1353312"/>
            <a:ext cx="7333488" cy="257861"/>
          </a:xfrm>
          <a:prstGeom prst="rect">
            <a:avLst/>
          </a:prstGeom>
          <a:noFill/>
        </p:spPr>
        <p:txBody>
          <a:bodyPr wrap="none" lIns="0" tIns="0" rIns="0" bIns="0" anchor="ctr">
            <a:spAutoFit/>
          </a:bodyPr>
          <a:lstStyle/>
          <a:p>
            <a:r>
              <a:rPr sz="1150" b="1" i="0">
                <a:solidFill>
                  <a:srgbClr val="1F2A44"/>
                </a:solidFill>
                <a:latin typeface="Consolas"/>
              </a:rPr>
              <a:t>ParentCC(E):</a:t>
            </a:r>
          </a:p>
        </p:txBody>
      </p:sp>
      <p:sp>
        <p:nvSpPr>
          <p:cNvPr id="11" name="ParentCC code line 1"/>
          <p:cNvSpPr txBox="1"/>
          <p:nvPr/>
        </p:nvSpPr>
        <p:spPr>
          <a:xfrm>
            <a:off x="658368" y="1611173"/>
            <a:ext cx="7333488" cy="257861"/>
          </a:xfrm>
          <a:prstGeom prst="rect">
            <a:avLst/>
          </a:prstGeom>
          <a:noFill/>
        </p:spPr>
        <p:txBody>
          <a:bodyPr wrap="none" lIns="0" tIns="0" rIns="0" bIns="0" anchor="ctr">
            <a:spAutoFit/>
          </a:bodyPr>
          <a:lstStyle/>
          <a:p>
            <a:r>
              <a:rPr sz="1150" b="0" i="0">
                <a:solidFill>
                  <a:srgbClr val="3F444C"/>
                </a:solidFill>
                <a:latin typeface="Consolas"/>
              </a:rPr>
              <a:t>    parfor (u = v) ∈ E:  Union(u, v)</a:t>
            </a:r>
          </a:p>
        </p:txBody>
      </p:sp>
      <p:sp>
        <p:nvSpPr>
          <p:cNvPr id="12" name="ParentCC code line 2"/>
          <p:cNvSpPr txBox="1"/>
          <p:nvPr/>
        </p:nvSpPr>
        <p:spPr>
          <a:xfrm>
            <a:off x="658368" y="1869034"/>
            <a:ext cx="7333488" cy="257861"/>
          </a:xfrm>
          <a:prstGeom prst="rect">
            <a:avLst/>
          </a:prstGeom>
          <a:noFill/>
        </p:spPr>
        <p:txBody>
          <a:bodyPr wrap="none" lIns="0" tIns="0" rIns="0" bIns="0" anchor="ctr">
            <a:spAutoFit/>
          </a:bodyPr>
          <a:lstStyle/>
          <a:p>
            <a:r>
              <a:rPr sz="1150" b="0" i="0">
                <a:solidFill>
                  <a:srgbClr val="3F444C"/>
                </a:solidFill>
                <a:latin typeface="Consolas"/>
              </a:rPr>
              <a:t>    Work ← terms of E</a:t>
            </a:r>
          </a:p>
        </p:txBody>
      </p:sp>
      <p:sp>
        <p:nvSpPr>
          <p:cNvPr id="13" name="ParentCC code line 3"/>
          <p:cNvSpPr txBox="1"/>
          <p:nvPr/>
        </p:nvSpPr>
        <p:spPr>
          <a:xfrm>
            <a:off x="658368" y="2126894"/>
            <a:ext cx="7333488" cy="257861"/>
          </a:xfrm>
          <a:prstGeom prst="rect">
            <a:avLst/>
          </a:prstGeom>
          <a:noFill/>
        </p:spPr>
        <p:txBody>
          <a:bodyPr wrap="none" lIns="0" tIns="0" rIns="0" bIns="0" anchor="ctr">
            <a:spAutoFit/>
          </a:bodyPr>
          <a:lstStyle/>
          <a:p>
            <a:r>
              <a:rPr sz="1150" b="0" i="0">
                <a:solidFill>
                  <a:srgbClr val="3F444C"/>
                </a:solidFill>
                <a:latin typeface="Consolas"/>
              </a:rPr>
              <a:t>    while Work ≠ ∅:</a:t>
            </a:r>
          </a:p>
        </p:txBody>
      </p:sp>
      <p:sp>
        <p:nvSpPr>
          <p:cNvPr id="14" name="ParentCC code line 4"/>
          <p:cNvSpPr txBox="1"/>
          <p:nvPr/>
        </p:nvSpPr>
        <p:spPr>
          <a:xfrm>
            <a:off x="658368" y="2384755"/>
            <a:ext cx="7333488" cy="257861"/>
          </a:xfrm>
          <a:prstGeom prst="rect">
            <a:avLst/>
          </a:prstGeom>
          <a:noFill/>
        </p:spPr>
        <p:txBody>
          <a:bodyPr wrap="none" lIns="0" tIns="0" rIns="0" bIns="0" anchor="ctr">
            <a:spAutoFit/>
          </a:bodyPr>
          <a:lstStyle/>
          <a:p>
            <a:r>
              <a:rPr sz="1150" b="0" i="0">
                <a:solidFill>
                  <a:srgbClr val="3F444C"/>
                </a:solidFill>
                <a:latin typeface="Consolas"/>
              </a:rPr>
              <a:t>        parfor c ∈ Work with c ≠ Find(c):                 </a:t>
            </a:r>
            <a:r>
              <a:rPr sz="1150" b="0" i="0">
                <a:solidFill>
                  <a:srgbClr val="7D838C"/>
                </a:solidFill>
                <a:latin typeface="Consolas"/>
              </a:rPr>
              <a:t>▹ fold parent lists</a:t>
            </a:r>
          </a:p>
        </p:txBody>
      </p:sp>
      <p:sp>
        <p:nvSpPr>
          <p:cNvPr id="15" name="ParentCC code line 5"/>
          <p:cNvSpPr txBox="1"/>
          <p:nvPr/>
        </p:nvSpPr>
        <p:spPr>
          <a:xfrm>
            <a:off x="658368" y="2642616"/>
            <a:ext cx="7333488" cy="257861"/>
          </a:xfrm>
          <a:prstGeom prst="rect">
            <a:avLst/>
          </a:prstGeom>
          <a:noFill/>
        </p:spPr>
        <p:txBody>
          <a:bodyPr wrap="none" lIns="0" tIns="0" rIns="0" bIns="0" anchor="ctr">
            <a:spAutoFit/>
          </a:bodyPr>
          <a:lstStyle/>
          <a:p>
            <a:r>
              <a:rPr sz="1150" b="0" i="0">
                <a:solidFill>
                  <a:srgbClr val="3F444C"/>
                </a:solidFill>
                <a:latin typeface="Consolas"/>
              </a:rPr>
              <a:t>            Parents[Find(c)] ← Parents[Find(c)] ∪ Parents[c]</a:t>
            </a:r>
          </a:p>
        </p:txBody>
      </p:sp>
      <p:sp>
        <p:nvSpPr>
          <p:cNvPr id="16" name="ParentCC code line 6"/>
          <p:cNvSpPr txBox="1"/>
          <p:nvPr/>
        </p:nvSpPr>
        <p:spPr>
          <a:xfrm>
            <a:off x="658368" y="2900477"/>
            <a:ext cx="7333488" cy="257861"/>
          </a:xfrm>
          <a:prstGeom prst="rect">
            <a:avLst/>
          </a:prstGeom>
          <a:noFill/>
        </p:spPr>
        <p:txBody>
          <a:bodyPr wrap="none" lIns="0" tIns="0" rIns="0" bIns="0" anchor="ctr">
            <a:spAutoFit/>
          </a:bodyPr>
          <a:lstStyle/>
          <a:p>
            <a:r>
              <a:rPr sz="1150" b="0" i="0">
                <a:solidFill>
                  <a:srgbClr val="3F444C"/>
                </a:solidFill>
                <a:latin typeface="Consolas"/>
              </a:rPr>
              <a:t>        Frontier ← all compound terms          on round 0   </a:t>
            </a:r>
            <a:r>
              <a:rPr sz="1150" b="0" i="0">
                <a:solidFill>
                  <a:srgbClr val="7D838C"/>
                </a:solidFill>
                <a:latin typeface="Consolas"/>
              </a:rPr>
              <a:t>▹ seed round</a:t>
            </a:r>
          </a:p>
        </p:txBody>
      </p:sp>
      <p:sp>
        <p:nvSpPr>
          <p:cNvPr id="17" name="ParentCC code line 7"/>
          <p:cNvSpPr txBox="1"/>
          <p:nvPr/>
        </p:nvSpPr>
        <p:spPr>
          <a:xfrm>
            <a:off x="658368" y="3158338"/>
            <a:ext cx="7333488" cy="257861"/>
          </a:xfrm>
          <a:prstGeom prst="rect">
            <a:avLst/>
          </a:prstGeom>
          <a:noFill/>
        </p:spPr>
        <p:txBody>
          <a:bodyPr wrap="none" lIns="0" tIns="0" rIns="0" bIns="0" anchor="ctr">
            <a:spAutoFit/>
          </a:bodyPr>
          <a:lstStyle/>
          <a:p>
            <a:r>
              <a:rPr sz="1150" b="0" i="0">
                <a:solidFill>
                  <a:srgbClr val="3F444C"/>
                </a:solidFill>
                <a:latin typeface="Consolas"/>
              </a:rPr>
              <a:t>        Frontier ← ⋃ Parents[Find(c)] for c ∈ Work   otherwise</a:t>
            </a:r>
          </a:p>
        </p:txBody>
      </p:sp>
      <p:sp>
        <p:nvSpPr>
          <p:cNvPr id="18" name="ParentCC code line 8"/>
          <p:cNvSpPr txBox="1"/>
          <p:nvPr/>
        </p:nvSpPr>
        <p:spPr>
          <a:xfrm>
            <a:off x="658368" y="3416198"/>
            <a:ext cx="7333488" cy="257861"/>
          </a:xfrm>
          <a:prstGeom prst="rect">
            <a:avLst/>
          </a:prstGeom>
          <a:noFill/>
        </p:spPr>
        <p:txBody>
          <a:bodyPr wrap="none" lIns="0" tIns="0" rIns="0" bIns="0" anchor="ctr">
            <a:spAutoFit/>
          </a:bodyPr>
          <a:lstStyle/>
          <a:p>
            <a:r>
              <a:rPr sz="1150" b="0" i="0">
                <a:solidFill>
                  <a:srgbClr val="3F444C"/>
                </a:solidFill>
                <a:latin typeface="Consolas"/>
              </a:rPr>
              <a:t>        groups ← GroupBy(Congruent, Frontier)          </a:t>
            </a:r>
            <a:r>
              <a:rPr sz="1150" b="0" i="0">
                <a:solidFill>
                  <a:srgbClr val="7D838C"/>
                </a:solidFill>
                <a:latin typeface="Consolas"/>
              </a:rPr>
              <a:t>▹ semisort on sigs</a:t>
            </a:r>
          </a:p>
        </p:txBody>
      </p:sp>
      <p:sp>
        <p:nvSpPr>
          <p:cNvPr id="19" name="ParentCC code line 9"/>
          <p:cNvSpPr txBox="1"/>
          <p:nvPr/>
        </p:nvSpPr>
        <p:spPr>
          <a:xfrm>
            <a:off x="658368" y="3674059"/>
            <a:ext cx="7333488" cy="257861"/>
          </a:xfrm>
          <a:prstGeom prst="rect">
            <a:avLst/>
          </a:prstGeom>
          <a:noFill/>
        </p:spPr>
        <p:txBody>
          <a:bodyPr wrap="none" lIns="0" tIns="0" rIns="0" bIns="0" anchor="ctr">
            <a:spAutoFit/>
          </a:bodyPr>
          <a:lstStyle/>
          <a:p>
            <a:r>
              <a:rPr sz="1150" b="0" i="0">
                <a:solidFill>
                  <a:srgbClr val="3F444C"/>
                </a:solidFill>
                <a:latin typeface="Consolas"/>
              </a:rPr>
              <a:t>        Work ← ∅</a:t>
            </a:r>
          </a:p>
        </p:txBody>
      </p:sp>
      <p:sp>
        <p:nvSpPr>
          <p:cNvPr id="20" name="ParentCC code line 10"/>
          <p:cNvSpPr txBox="1"/>
          <p:nvPr/>
        </p:nvSpPr>
        <p:spPr>
          <a:xfrm>
            <a:off x="658368" y="3931920"/>
            <a:ext cx="7333488" cy="257861"/>
          </a:xfrm>
          <a:prstGeom prst="rect">
            <a:avLst/>
          </a:prstGeom>
          <a:noFill/>
        </p:spPr>
        <p:txBody>
          <a:bodyPr wrap="none" lIns="0" tIns="0" rIns="0" bIns="0" anchor="ctr">
            <a:spAutoFit/>
          </a:bodyPr>
          <a:lstStyle/>
          <a:p>
            <a:r>
              <a:rPr sz="1150" b="0" i="0">
                <a:solidFill>
                  <a:srgbClr val="3F444C"/>
                </a:solidFill>
                <a:latin typeface="Consolas"/>
              </a:rPr>
              <a:t>        parfor g ∈ groups spanning &gt; 1 class:</a:t>
            </a:r>
          </a:p>
        </p:txBody>
      </p:sp>
      <p:sp>
        <p:nvSpPr>
          <p:cNvPr id="21" name="ParentCC code line 11"/>
          <p:cNvSpPr txBox="1"/>
          <p:nvPr/>
        </p:nvSpPr>
        <p:spPr>
          <a:xfrm>
            <a:off x="658368" y="4189781"/>
            <a:ext cx="7333488" cy="257861"/>
          </a:xfrm>
          <a:prstGeom prst="rect">
            <a:avLst/>
          </a:prstGeom>
          <a:noFill/>
        </p:spPr>
        <p:txBody>
          <a:bodyPr wrap="none" lIns="0" tIns="0" rIns="0" bIns="0" anchor="ctr">
            <a:spAutoFit/>
          </a:bodyPr>
          <a:lstStyle/>
          <a:p>
            <a:r>
              <a:rPr sz="1150" b="0" i="0">
                <a:solidFill>
                  <a:srgbClr val="3F444C"/>
                </a:solidFill>
                <a:latin typeface="Consolas"/>
              </a:rPr>
              <a:t>            MergeCongruenceClass(g)                          </a:t>
            </a:r>
            <a:r>
              <a:rPr sz="1150" b="0" i="0">
                <a:solidFill>
                  <a:srgbClr val="7D838C"/>
                </a:solidFill>
                <a:latin typeface="Consolas"/>
              </a:rPr>
              <a:t>▹ parallel unions</a:t>
            </a:r>
          </a:p>
        </p:txBody>
      </p:sp>
      <p:sp>
        <p:nvSpPr>
          <p:cNvPr id="22" name="ParentCC code line 12"/>
          <p:cNvSpPr txBox="1"/>
          <p:nvPr/>
        </p:nvSpPr>
        <p:spPr>
          <a:xfrm>
            <a:off x="658368" y="4447642"/>
            <a:ext cx="7333488" cy="257861"/>
          </a:xfrm>
          <a:prstGeom prst="rect">
            <a:avLst/>
          </a:prstGeom>
          <a:noFill/>
        </p:spPr>
        <p:txBody>
          <a:bodyPr wrap="none" lIns="0" tIns="0" rIns="0" bIns="0" anchor="ctr">
            <a:spAutoFit/>
          </a:bodyPr>
          <a:lstStyle/>
          <a:p>
            <a:r>
              <a:rPr sz="1150" b="0" i="0">
                <a:solidFill>
                  <a:srgbClr val="3F444C"/>
                </a:solidFill>
                <a:latin typeface="Consolas"/>
              </a:rPr>
              <a:t>            Work ← Work ∪ pre-merge roots of g</a:t>
            </a:r>
          </a:p>
        </p:txBody>
      </p:sp>
      <p:sp>
        <p:nvSpPr>
          <p:cNvPr id="23" name="ParentCC code line 13"/>
          <p:cNvSpPr txBox="1"/>
          <p:nvPr/>
        </p:nvSpPr>
        <p:spPr>
          <a:xfrm>
            <a:off x="658368" y="4705502"/>
            <a:ext cx="7333488" cy="257861"/>
          </a:xfrm>
          <a:prstGeom prst="rect">
            <a:avLst/>
          </a:prstGeom>
          <a:noFill/>
        </p:spPr>
        <p:txBody>
          <a:bodyPr wrap="none" lIns="0" tIns="0" rIns="0" bIns="0" anchor="ctr">
            <a:spAutoFit/>
          </a:bodyPr>
          <a:lstStyle/>
          <a:p>
            <a:endParaRPr/>
          </a:p>
        </p:txBody>
      </p:sp>
      <p:sp>
        <p:nvSpPr>
          <p:cNvPr id="24" name="ParentCC code line 14"/>
          <p:cNvSpPr txBox="1"/>
          <p:nvPr/>
        </p:nvSpPr>
        <p:spPr>
          <a:xfrm>
            <a:off x="658368" y="4963363"/>
            <a:ext cx="7333488" cy="257861"/>
          </a:xfrm>
          <a:prstGeom prst="rect">
            <a:avLst/>
          </a:prstGeom>
          <a:noFill/>
        </p:spPr>
        <p:txBody>
          <a:bodyPr wrap="none" lIns="0" tIns="0" rIns="0" bIns="0" anchor="ctr">
            <a:spAutoFit/>
          </a:bodyPr>
          <a:lstStyle/>
          <a:p>
            <a:r>
              <a:rPr sz="1150" b="1" i="0">
                <a:solidFill>
                  <a:srgbClr val="1F2A44"/>
                </a:solidFill>
                <a:latin typeface="Consolas"/>
              </a:rPr>
              <a:t>MergeCongruenceClass(S):                             </a:t>
            </a:r>
            <a:r>
              <a:rPr sz="1150" b="0" i="0">
                <a:solidFill>
                  <a:srgbClr val="7D838C"/>
                </a:solidFill>
                <a:latin typeface="Consolas"/>
              </a:rPr>
              <a:t>▹ divide and conquer</a:t>
            </a:r>
          </a:p>
        </p:txBody>
      </p:sp>
      <p:sp>
        <p:nvSpPr>
          <p:cNvPr id="25" name="ParentCC code line 15"/>
          <p:cNvSpPr txBox="1"/>
          <p:nvPr/>
        </p:nvSpPr>
        <p:spPr>
          <a:xfrm>
            <a:off x="658368" y="5221224"/>
            <a:ext cx="7333488" cy="257861"/>
          </a:xfrm>
          <a:prstGeom prst="rect">
            <a:avLst/>
          </a:prstGeom>
          <a:noFill/>
        </p:spPr>
        <p:txBody>
          <a:bodyPr wrap="none" lIns="0" tIns="0" rIns="0" bIns="0" anchor="ctr">
            <a:spAutoFit/>
          </a:bodyPr>
          <a:lstStyle/>
          <a:p>
            <a:r>
              <a:rPr sz="1150" b="0" i="0">
                <a:solidFill>
                  <a:srgbClr val="3F444C"/>
                </a:solidFill>
                <a:latin typeface="Consolas"/>
              </a:rPr>
              <a:t>    if |S| = 1: return the element</a:t>
            </a:r>
          </a:p>
        </p:txBody>
      </p:sp>
      <p:sp>
        <p:nvSpPr>
          <p:cNvPr id="26" name="ParentCC code line 16"/>
          <p:cNvSpPr txBox="1"/>
          <p:nvPr/>
        </p:nvSpPr>
        <p:spPr>
          <a:xfrm>
            <a:off x="658368" y="5479085"/>
            <a:ext cx="7333488" cy="257861"/>
          </a:xfrm>
          <a:prstGeom prst="rect">
            <a:avLst/>
          </a:prstGeom>
          <a:noFill/>
        </p:spPr>
        <p:txBody>
          <a:bodyPr wrap="none" lIns="0" tIns="0" rIns="0" bIns="0" anchor="ctr">
            <a:spAutoFit/>
          </a:bodyPr>
          <a:lstStyle/>
          <a:p>
            <a:r>
              <a:rPr sz="1150" b="0" i="0">
                <a:solidFill>
                  <a:srgbClr val="3F444C"/>
                </a:solidFill>
                <a:latin typeface="Consolas"/>
              </a:rPr>
              <a:t>    l, r ← MergeCongruenceClass(S[0..n/2]) ∥ MergeCongruenceClass(S[n/2..n])</a:t>
            </a:r>
          </a:p>
        </p:txBody>
      </p:sp>
      <p:sp>
        <p:nvSpPr>
          <p:cNvPr id="27" name="ParentCC code line 17"/>
          <p:cNvSpPr txBox="1"/>
          <p:nvPr/>
        </p:nvSpPr>
        <p:spPr>
          <a:xfrm>
            <a:off x="658368" y="5736946"/>
            <a:ext cx="7333488" cy="257861"/>
          </a:xfrm>
          <a:prstGeom prst="rect">
            <a:avLst/>
          </a:prstGeom>
          <a:noFill/>
        </p:spPr>
        <p:txBody>
          <a:bodyPr wrap="none" lIns="0" tIns="0" rIns="0" bIns="0" anchor="ctr">
            <a:spAutoFit/>
          </a:bodyPr>
          <a:lstStyle/>
          <a:p>
            <a:r>
              <a:rPr sz="1150" b="0" i="0">
                <a:solidFill>
                  <a:srgbClr val="3F444C"/>
                </a:solidFill>
                <a:latin typeface="Consolas"/>
              </a:rPr>
              <a:t>    return Union(l, r)</a:t>
            </a:r>
          </a:p>
        </p:txBody>
      </p:sp>
      <p:sp>
        <p:nvSpPr>
          <p:cNvPr id="28" name="ParentCC Highlight - Base"/>
          <p:cNvSpPr txBox="1"/>
          <p:nvPr/>
        </p:nvSpPr>
        <p:spPr>
          <a:xfrm>
            <a:off x="11612880" y="6675120"/>
            <a:ext cx="9144" cy="9144"/>
          </a:xfrm>
          <a:prstGeom prst="rect">
            <a:avLst/>
          </a:prstGeom>
          <a:noFill/>
        </p:spPr>
        <p:txBody>
          <a:bodyPr wrap="square" lIns="45720" tIns="27432" rIns="45720" bIns="27432" anchor="ctr">
            <a:spAutoFit/>
          </a:bodyPr>
          <a:lstStyle/>
          <a:p>
            <a:pPr algn="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entCC pseudocode title"/>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ParentCC pseudocode</a:t>
            </a:r>
          </a:p>
        </p:txBody>
      </p:sp>
      <p:sp>
        <p:nvSpPr>
          <p:cNvPr id="3" name="ParentCC title rule"/>
          <p:cNvSpPr/>
          <p:nvPr/>
        </p:nvSpPr>
        <p:spPr>
          <a:xfrm>
            <a:off x="566928" y="1005840"/>
            <a:ext cx="2176272" cy="32004"/>
          </a:xfrm>
          <a:prstGeom prst="rect">
            <a:avLst/>
          </a:prstGeom>
          <a:solidFill>
            <a:srgbClr val="C8501E"/>
          </a:solidFill>
          <a:ln>
            <a:noFill/>
          </a:ln>
        </p:spPr>
        <p:txBody>
          <a:bodyPr/>
          <a:lstStyle/>
          <a:p>
            <a:endParaRPr lang="en-US"/>
          </a:p>
        </p:txBody>
      </p:sp>
      <p:sp>
        <p:nvSpPr>
          <p:cNvPr id="4" name="ParentCC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39</a:t>
            </a:r>
          </a:p>
        </p:txBody>
      </p:sp>
      <p:sp>
        <p:nvSpPr>
          <p:cNvPr id="5" name="ParentCC code background"/>
          <p:cNvSpPr/>
          <p:nvPr/>
        </p:nvSpPr>
        <p:spPr>
          <a:xfrm>
            <a:off x="502920" y="1234440"/>
            <a:ext cx="7662672" cy="4892040"/>
          </a:xfrm>
          <a:prstGeom prst="rect">
            <a:avLst/>
          </a:prstGeom>
          <a:solidFill>
            <a:srgbClr val="F7F7F9"/>
          </a:solidFill>
          <a:ln>
            <a:noFill/>
          </a:ln>
        </p:spPr>
        <p:txBody>
          <a:bodyPr/>
          <a:lstStyle/>
          <a:p>
            <a:endParaRPr lang="en-US"/>
          </a:p>
        </p:txBody>
      </p:sp>
      <p:sp>
        <p:nvSpPr>
          <p:cNvPr id="10" name="ParentCC active band 4-7"/>
          <p:cNvSpPr/>
          <p:nvPr/>
        </p:nvSpPr>
        <p:spPr>
          <a:xfrm>
            <a:off x="585216" y="2371039"/>
            <a:ext cx="7479792" cy="1054303"/>
          </a:xfrm>
          <a:prstGeom prst="rect">
            <a:avLst/>
          </a:prstGeom>
          <a:solidFill>
            <a:srgbClr val="FFF0DA"/>
          </a:solidFill>
          <a:ln>
            <a:noFill/>
          </a:ln>
        </p:spPr>
        <p:txBody>
          <a:bodyPr/>
          <a:lstStyle/>
          <a:p>
            <a:endParaRPr lang="en-US"/>
          </a:p>
        </p:txBody>
      </p:sp>
      <p:sp>
        <p:nvSpPr>
          <p:cNvPr id="11" name="ParentCC active bar 4-7"/>
          <p:cNvSpPr/>
          <p:nvPr/>
        </p:nvSpPr>
        <p:spPr>
          <a:xfrm>
            <a:off x="566928" y="2371039"/>
            <a:ext cx="50292" cy="1054303"/>
          </a:xfrm>
          <a:prstGeom prst="rect">
            <a:avLst/>
          </a:prstGeom>
          <a:solidFill>
            <a:srgbClr val="C8501E"/>
          </a:solidFill>
          <a:ln>
            <a:noFill/>
          </a:ln>
        </p:spPr>
        <p:txBody>
          <a:bodyPr/>
          <a:lstStyle/>
          <a:p>
            <a:endParaRPr lang="en-US"/>
          </a:p>
        </p:txBody>
      </p:sp>
      <p:sp>
        <p:nvSpPr>
          <p:cNvPr id="12" name="ParentCC code line 0"/>
          <p:cNvSpPr txBox="1"/>
          <p:nvPr/>
        </p:nvSpPr>
        <p:spPr>
          <a:xfrm>
            <a:off x="658368" y="1353312"/>
            <a:ext cx="7333488" cy="257861"/>
          </a:xfrm>
          <a:prstGeom prst="rect">
            <a:avLst/>
          </a:prstGeom>
          <a:noFill/>
        </p:spPr>
        <p:txBody>
          <a:bodyPr wrap="none" lIns="0" tIns="0" rIns="0" bIns="0" anchor="ctr">
            <a:spAutoFit/>
          </a:bodyPr>
          <a:lstStyle/>
          <a:p>
            <a:r>
              <a:rPr sz="1150" b="1" i="0">
                <a:solidFill>
                  <a:srgbClr val="1F2A44"/>
                </a:solidFill>
                <a:latin typeface="Consolas"/>
              </a:rPr>
              <a:t>ParentCC(E):</a:t>
            </a:r>
          </a:p>
        </p:txBody>
      </p:sp>
      <p:sp>
        <p:nvSpPr>
          <p:cNvPr id="13" name="ParentCC code line 1"/>
          <p:cNvSpPr txBox="1"/>
          <p:nvPr/>
        </p:nvSpPr>
        <p:spPr>
          <a:xfrm>
            <a:off x="658368" y="1611173"/>
            <a:ext cx="7333488" cy="257861"/>
          </a:xfrm>
          <a:prstGeom prst="rect">
            <a:avLst/>
          </a:prstGeom>
          <a:noFill/>
        </p:spPr>
        <p:txBody>
          <a:bodyPr wrap="none" lIns="0" tIns="0" rIns="0" bIns="0" anchor="ctr">
            <a:spAutoFit/>
          </a:bodyPr>
          <a:lstStyle/>
          <a:p>
            <a:r>
              <a:rPr sz="1150" b="0" i="0">
                <a:solidFill>
                  <a:srgbClr val="3F444C"/>
                </a:solidFill>
                <a:latin typeface="Consolas"/>
              </a:rPr>
              <a:t>    parfor (u = v) ∈ E:  Union(u, v)</a:t>
            </a:r>
          </a:p>
        </p:txBody>
      </p:sp>
      <p:sp>
        <p:nvSpPr>
          <p:cNvPr id="14" name="ParentCC code line 2"/>
          <p:cNvSpPr txBox="1"/>
          <p:nvPr/>
        </p:nvSpPr>
        <p:spPr>
          <a:xfrm>
            <a:off x="658368" y="1869034"/>
            <a:ext cx="7333488" cy="257861"/>
          </a:xfrm>
          <a:prstGeom prst="rect">
            <a:avLst/>
          </a:prstGeom>
          <a:noFill/>
        </p:spPr>
        <p:txBody>
          <a:bodyPr wrap="none" lIns="0" tIns="0" rIns="0" bIns="0" anchor="ctr">
            <a:spAutoFit/>
          </a:bodyPr>
          <a:lstStyle/>
          <a:p>
            <a:r>
              <a:rPr sz="1150" b="0" i="0">
                <a:solidFill>
                  <a:srgbClr val="3F444C"/>
                </a:solidFill>
                <a:latin typeface="Consolas"/>
              </a:rPr>
              <a:t>    Work ← terms of E</a:t>
            </a:r>
          </a:p>
        </p:txBody>
      </p:sp>
      <p:sp>
        <p:nvSpPr>
          <p:cNvPr id="15" name="ParentCC code line 3"/>
          <p:cNvSpPr txBox="1"/>
          <p:nvPr/>
        </p:nvSpPr>
        <p:spPr>
          <a:xfrm>
            <a:off x="658368" y="2126894"/>
            <a:ext cx="7333488" cy="257861"/>
          </a:xfrm>
          <a:prstGeom prst="rect">
            <a:avLst/>
          </a:prstGeom>
          <a:noFill/>
        </p:spPr>
        <p:txBody>
          <a:bodyPr wrap="none" lIns="0" tIns="0" rIns="0" bIns="0" anchor="ctr">
            <a:spAutoFit/>
          </a:bodyPr>
          <a:lstStyle/>
          <a:p>
            <a:r>
              <a:rPr sz="1150" b="0" i="0">
                <a:solidFill>
                  <a:srgbClr val="3F444C"/>
                </a:solidFill>
                <a:latin typeface="Consolas"/>
              </a:rPr>
              <a:t>    while Work ≠ ∅:</a:t>
            </a:r>
          </a:p>
        </p:txBody>
      </p:sp>
      <p:sp>
        <p:nvSpPr>
          <p:cNvPr id="16" name="ParentCC code line 4"/>
          <p:cNvSpPr txBox="1"/>
          <p:nvPr/>
        </p:nvSpPr>
        <p:spPr>
          <a:xfrm>
            <a:off x="658368" y="2384755"/>
            <a:ext cx="7333488" cy="257861"/>
          </a:xfrm>
          <a:prstGeom prst="rect">
            <a:avLst/>
          </a:prstGeom>
          <a:noFill/>
        </p:spPr>
        <p:txBody>
          <a:bodyPr wrap="none" lIns="0" tIns="0" rIns="0" bIns="0" anchor="ctr">
            <a:spAutoFit/>
          </a:bodyPr>
          <a:lstStyle/>
          <a:p>
            <a:r>
              <a:rPr sz="1150" b="1" i="0">
                <a:solidFill>
                  <a:srgbClr val="A64018"/>
                </a:solidFill>
                <a:latin typeface="Consolas"/>
              </a:rPr>
              <a:t>        parfor c ∈ Work with c ≠ Find(c):                 ▹ fold parent lists</a:t>
            </a:r>
          </a:p>
        </p:txBody>
      </p:sp>
      <p:sp>
        <p:nvSpPr>
          <p:cNvPr id="17" name="ParentCC code line 5"/>
          <p:cNvSpPr txBox="1"/>
          <p:nvPr/>
        </p:nvSpPr>
        <p:spPr>
          <a:xfrm>
            <a:off x="658368" y="2642616"/>
            <a:ext cx="7333488" cy="257861"/>
          </a:xfrm>
          <a:prstGeom prst="rect">
            <a:avLst/>
          </a:prstGeom>
          <a:noFill/>
        </p:spPr>
        <p:txBody>
          <a:bodyPr wrap="none" lIns="0" tIns="0" rIns="0" bIns="0" anchor="ctr">
            <a:spAutoFit/>
          </a:bodyPr>
          <a:lstStyle/>
          <a:p>
            <a:r>
              <a:rPr sz="1150" b="1" i="0">
                <a:solidFill>
                  <a:srgbClr val="A64018"/>
                </a:solidFill>
                <a:latin typeface="Consolas"/>
              </a:rPr>
              <a:t>            Parents[Find(c)] ← Parents[Find(c)] ∪ Parents[c]</a:t>
            </a:r>
          </a:p>
        </p:txBody>
      </p:sp>
      <p:sp>
        <p:nvSpPr>
          <p:cNvPr id="18" name="ParentCC code line 6"/>
          <p:cNvSpPr txBox="1"/>
          <p:nvPr/>
        </p:nvSpPr>
        <p:spPr>
          <a:xfrm>
            <a:off x="658368" y="2900477"/>
            <a:ext cx="7333488" cy="257861"/>
          </a:xfrm>
          <a:prstGeom prst="rect">
            <a:avLst/>
          </a:prstGeom>
          <a:noFill/>
        </p:spPr>
        <p:txBody>
          <a:bodyPr wrap="none" lIns="0" tIns="0" rIns="0" bIns="0" anchor="ctr">
            <a:spAutoFit/>
          </a:bodyPr>
          <a:lstStyle/>
          <a:p>
            <a:r>
              <a:rPr sz="1150" b="1" i="0">
                <a:solidFill>
                  <a:srgbClr val="A64018"/>
                </a:solidFill>
                <a:latin typeface="Consolas"/>
              </a:rPr>
              <a:t>        Frontier ← all compound terms          on round 0   ▹ seed round</a:t>
            </a:r>
          </a:p>
        </p:txBody>
      </p:sp>
      <p:sp>
        <p:nvSpPr>
          <p:cNvPr id="19" name="ParentCC code line 7"/>
          <p:cNvSpPr txBox="1"/>
          <p:nvPr/>
        </p:nvSpPr>
        <p:spPr>
          <a:xfrm>
            <a:off x="658368" y="3158338"/>
            <a:ext cx="7333488" cy="257861"/>
          </a:xfrm>
          <a:prstGeom prst="rect">
            <a:avLst/>
          </a:prstGeom>
          <a:noFill/>
        </p:spPr>
        <p:txBody>
          <a:bodyPr wrap="none" lIns="0" tIns="0" rIns="0" bIns="0" anchor="ctr">
            <a:spAutoFit/>
          </a:bodyPr>
          <a:lstStyle/>
          <a:p>
            <a:r>
              <a:rPr sz="1150" b="1" i="0">
                <a:solidFill>
                  <a:srgbClr val="A64018"/>
                </a:solidFill>
                <a:latin typeface="Consolas"/>
              </a:rPr>
              <a:t>        Frontier ← ⋃ Parents[Find(c)] for c ∈ Work   otherwise</a:t>
            </a:r>
          </a:p>
        </p:txBody>
      </p:sp>
      <p:sp>
        <p:nvSpPr>
          <p:cNvPr id="20" name="ParentCC code line 8"/>
          <p:cNvSpPr txBox="1"/>
          <p:nvPr/>
        </p:nvSpPr>
        <p:spPr>
          <a:xfrm>
            <a:off x="658368" y="3416198"/>
            <a:ext cx="7333488" cy="257861"/>
          </a:xfrm>
          <a:prstGeom prst="rect">
            <a:avLst/>
          </a:prstGeom>
          <a:noFill/>
        </p:spPr>
        <p:txBody>
          <a:bodyPr wrap="none" lIns="0" tIns="0" rIns="0" bIns="0" anchor="ctr">
            <a:spAutoFit/>
          </a:bodyPr>
          <a:lstStyle/>
          <a:p>
            <a:r>
              <a:rPr sz="1150" b="0" i="0">
                <a:solidFill>
                  <a:srgbClr val="3F444C"/>
                </a:solidFill>
                <a:latin typeface="Consolas"/>
              </a:rPr>
              <a:t>        groups ← GroupBy(Congruent, Frontier)          </a:t>
            </a:r>
            <a:r>
              <a:rPr sz="1150" b="0" i="0">
                <a:solidFill>
                  <a:srgbClr val="7D838C"/>
                </a:solidFill>
                <a:latin typeface="Consolas"/>
              </a:rPr>
              <a:t>▹ semisort on sigs</a:t>
            </a:r>
          </a:p>
        </p:txBody>
      </p:sp>
      <p:sp>
        <p:nvSpPr>
          <p:cNvPr id="21" name="ParentCC code line 9"/>
          <p:cNvSpPr txBox="1"/>
          <p:nvPr/>
        </p:nvSpPr>
        <p:spPr>
          <a:xfrm>
            <a:off x="658368" y="3674059"/>
            <a:ext cx="7333488" cy="257861"/>
          </a:xfrm>
          <a:prstGeom prst="rect">
            <a:avLst/>
          </a:prstGeom>
          <a:noFill/>
        </p:spPr>
        <p:txBody>
          <a:bodyPr wrap="none" lIns="0" tIns="0" rIns="0" bIns="0" anchor="ctr">
            <a:spAutoFit/>
          </a:bodyPr>
          <a:lstStyle/>
          <a:p>
            <a:r>
              <a:rPr sz="1150" b="0" i="0">
                <a:solidFill>
                  <a:srgbClr val="3F444C"/>
                </a:solidFill>
                <a:latin typeface="Consolas"/>
              </a:rPr>
              <a:t>        Work ← ∅</a:t>
            </a:r>
          </a:p>
        </p:txBody>
      </p:sp>
      <p:sp>
        <p:nvSpPr>
          <p:cNvPr id="22" name="ParentCC code line 10"/>
          <p:cNvSpPr txBox="1"/>
          <p:nvPr/>
        </p:nvSpPr>
        <p:spPr>
          <a:xfrm>
            <a:off x="658368" y="3931920"/>
            <a:ext cx="7333488" cy="257861"/>
          </a:xfrm>
          <a:prstGeom prst="rect">
            <a:avLst/>
          </a:prstGeom>
          <a:noFill/>
        </p:spPr>
        <p:txBody>
          <a:bodyPr wrap="none" lIns="0" tIns="0" rIns="0" bIns="0" anchor="ctr">
            <a:spAutoFit/>
          </a:bodyPr>
          <a:lstStyle/>
          <a:p>
            <a:r>
              <a:rPr sz="1150" b="0" i="0">
                <a:solidFill>
                  <a:srgbClr val="3F444C"/>
                </a:solidFill>
                <a:latin typeface="Consolas"/>
              </a:rPr>
              <a:t>        parfor g ∈ groups spanning &gt; 1 class:</a:t>
            </a:r>
          </a:p>
        </p:txBody>
      </p:sp>
      <p:sp>
        <p:nvSpPr>
          <p:cNvPr id="23" name="ParentCC code line 11"/>
          <p:cNvSpPr txBox="1"/>
          <p:nvPr/>
        </p:nvSpPr>
        <p:spPr>
          <a:xfrm>
            <a:off x="658368" y="4189781"/>
            <a:ext cx="7333488" cy="257861"/>
          </a:xfrm>
          <a:prstGeom prst="rect">
            <a:avLst/>
          </a:prstGeom>
          <a:noFill/>
        </p:spPr>
        <p:txBody>
          <a:bodyPr wrap="none" lIns="0" tIns="0" rIns="0" bIns="0" anchor="ctr">
            <a:spAutoFit/>
          </a:bodyPr>
          <a:lstStyle/>
          <a:p>
            <a:r>
              <a:rPr sz="1150" b="0" i="0">
                <a:solidFill>
                  <a:srgbClr val="3F444C"/>
                </a:solidFill>
                <a:latin typeface="Consolas"/>
              </a:rPr>
              <a:t>            MergeCongruenceClass(g)                          </a:t>
            </a:r>
            <a:r>
              <a:rPr sz="1150" b="0" i="0">
                <a:solidFill>
                  <a:srgbClr val="7D838C"/>
                </a:solidFill>
                <a:latin typeface="Consolas"/>
              </a:rPr>
              <a:t>▹ parallel unions</a:t>
            </a:r>
          </a:p>
        </p:txBody>
      </p:sp>
      <p:sp>
        <p:nvSpPr>
          <p:cNvPr id="24" name="ParentCC code line 12"/>
          <p:cNvSpPr txBox="1"/>
          <p:nvPr/>
        </p:nvSpPr>
        <p:spPr>
          <a:xfrm>
            <a:off x="658368" y="4447642"/>
            <a:ext cx="7333488" cy="257861"/>
          </a:xfrm>
          <a:prstGeom prst="rect">
            <a:avLst/>
          </a:prstGeom>
          <a:noFill/>
        </p:spPr>
        <p:txBody>
          <a:bodyPr wrap="none" lIns="0" tIns="0" rIns="0" bIns="0" anchor="ctr">
            <a:spAutoFit/>
          </a:bodyPr>
          <a:lstStyle/>
          <a:p>
            <a:r>
              <a:rPr sz="1150" b="0" i="0">
                <a:solidFill>
                  <a:srgbClr val="3F444C"/>
                </a:solidFill>
                <a:latin typeface="Consolas"/>
              </a:rPr>
              <a:t>            Work ← Work ∪ pre-merge roots of g</a:t>
            </a:r>
          </a:p>
        </p:txBody>
      </p:sp>
      <p:sp>
        <p:nvSpPr>
          <p:cNvPr id="25" name="ParentCC code line 13"/>
          <p:cNvSpPr txBox="1"/>
          <p:nvPr/>
        </p:nvSpPr>
        <p:spPr>
          <a:xfrm>
            <a:off x="658368" y="4705502"/>
            <a:ext cx="7333488" cy="257861"/>
          </a:xfrm>
          <a:prstGeom prst="rect">
            <a:avLst/>
          </a:prstGeom>
          <a:noFill/>
        </p:spPr>
        <p:txBody>
          <a:bodyPr wrap="none" lIns="0" tIns="0" rIns="0" bIns="0" anchor="ctr">
            <a:spAutoFit/>
          </a:bodyPr>
          <a:lstStyle/>
          <a:p>
            <a:endParaRPr/>
          </a:p>
        </p:txBody>
      </p:sp>
      <p:sp>
        <p:nvSpPr>
          <p:cNvPr id="26" name="ParentCC code line 14"/>
          <p:cNvSpPr txBox="1"/>
          <p:nvPr/>
        </p:nvSpPr>
        <p:spPr>
          <a:xfrm>
            <a:off x="658368" y="4963363"/>
            <a:ext cx="7333488" cy="257861"/>
          </a:xfrm>
          <a:prstGeom prst="rect">
            <a:avLst/>
          </a:prstGeom>
          <a:noFill/>
        </p:spPr>
        <p:txBody>
          <a:bodyPr wrap="none" lIns="0" tIns="0" rIns="0" bIns="0" anchor="ctr">
            <a:spAutoFit/>
          </a:bodyPr>
          <a:lstStyle/>
          <a:p>
            <a:r>
              <a:rPr sz="1150" b="1" i="0">
                <a:solidFill>
                  <a:srgbClr val="1F2A44"/>
                </a:solidFill>
                <a:latin typeface="Consolas"/>
              </a:rPr>
              <a:t>MergeCongruenceClass(S):                             </a:t>
            </a:r>
            <a:r>
              <a:rPr sz="1150" b="0" i="0">
                <a:solidFill>
                  <a:srgbClr val="7D838C"/>
                </a:solidFill>
                <a:latin typeface="Consolas"/>
              </a:rPr>
              <a:t>▹ divide and conquer</a:t>
            </a:r>
          </a:p>
        </p:txBody>
      </p:sp>
      <p:sp>
        <p:nvSpPr>
          <p:cNvPr id="27" name="ParentCC code line 15"/>
          <p:cNvSpPr txBox="1"/>
          <p:nvPr/>
        </p:nvSpPr>
        <p:spPr>
          <a:xfrm>
            <a:off x="658368" y="5221224"/>
            <a:ext cx="7333488" cy="257861"/>
          </a:xfrm>
          <a:prstGeom prst="rect">
            <a:avLst/>
          </a:prstGeom>
          <a:noFill/>
        </p:spPr>
        <p:txBody>
          <a:bodyPr wrap="none" lIns="0" tIns="0" rIns="0" bIns="0" anchor="ctr">
            <a:spAutoFit/>
          </a:bodyPr>
          <a:lstStyle/>
          <a:p>
            <a:r>
              <a:rPr sz="1150" b="0" i="0">
                <a:solidFill>
                  <a:srgbClr val="3F444C"/>
                </a:solidFill>
                <a:latin typeface="Consolas"/>
              </a:rPr>
              <a:t>    if |S| = 1: return the element</a:t>
            </a:r>
          </a:p>
        </p:txBody>
      </p:sp>
      <p:sp>
        <p:nvSpPr>
          <p:cNvPr id="28" name="ParentCC code line 16"/>
          <p:cNvSpPr txBox="1"/>
          <p:nvPr/>
        </p:nvSpPr>
        <p:spPr>
          <a:xfrm>
            <a:off x="658368" y="5479085"/>
            <a:ext cx="7333488" cy="257861"/>
          </a:xfrm>
          <a:prstGeom prst="rect">
            <a:avLst/>
          </a:prstGeom>
          <a:noFill/>
        </p:spPr>
        <p:txBody>
          <a:bodyPr wrap="none" lIns="0" tIns="0" rIns="0" bIns="0" anchor="ctr">
            <a:spAutoFit/>
          </a:bodyPr>
          <a:lstStyle/>
          <a:p>
            <a:r>
              <a:rPr sz="1150" b="0" i="0">
                <a:solidFill>
                  <a:srgbClr val="3F444C"/>
                </a:solidFill>
                <a:latin typeface="Consolas"/>
              </a:rPr>
              <a:t>    l, r ← MergeCongruenceClass(S[0..n/2]) ∥ MergeCongruenceClass(S[n/2..n])</a:t>
            </a:r>
          </a:p>
        </p:txBody>
      </p:sp>
      <p:sp>
        <p:nvSpPr>
          <p:cNvPr id="29" name="ParentCC code line 17"/>
          <p:cNvSpPr txBox="1"/>
          <p:nvPr/>
        </p:nvSpPr>
        <p:spPr>
          <a:xfrm>
            <a:off x="658368" y="5736946"/>
            <a:ext cx="7333488" cy="257861"/>
          </a:xfrm>
          <a:prstGeom prst="rect">
            <a:avLst/>
          </a:prstGeom>
          <a:noFill/>
        </p:spPr>
        <p:txBody>
          <a:bodyPr wrap="none" lIns="0" tIns="0" rIns="0" bIns="0" anchor="ctr">
            <a:spAutoFit/>
          </a:bodyPr>
          <a:lstStyle/>
          <a:p>
            <a:r>
              <a:rPr sz="1150" b="0" i="0">
                <a:solidFill>
                  <a:srgbClr val="3F444C"/>
                </a:solidFill>
                <a:latin typeface="Consolas"/>
              </a:rPr>
              <a:t>    return Union(l, r)</a:t>
            </a:r>
          </a:p>
        </p:txBody>
      </p:sp>
      <p:sp>
        <p:nvSpPr>
          <p:cNvPr id="30" name="ParentCC irrelevant veil 0-3"/>
          <p:cNvSpPr/>
          <p:nvPr/>
        </p:nvSpPr>
        <p:spPr>
          <a:xfrm>
            <a:off x="585216" y="1339596"/>
            <a:ext cx="7479792" cy="1054303"/>
          </a:xfrm>
          <a:prstGeom prst="rect">
            <a:avLst/>
          </a:prstGeom>
          <a:solidFill>
            <a:srgbClr val="D5D8DD">
              <a:alpha val="80000"/>
            </a:srgbClr>
          </a:solidFill>
          <a:ln>
            <a:noFill/>
          </a:ln>
        </p:spPr>
        <p:txBody>
          <a:bodyPr/>
          <a:lstStyle/>
          <a:p>
            <a:endParaRPr lang="en-US">
              <a:highlight>
                <a:srgbClr val="808080"/>
              </a:highlight>
            </a:endParaRPr>
          </a:p>
        </p:txBody>
      </p:sp>
      <p:sp>
        <p:nvSpPr>
          <p:cNvPr id="31" name="ParentCC irrelevant veil 8-17"/>
          <p:cNvSpPr/>
          <p:nvPr/>
        </p:nvSpPr>
        <p:spPr>
          <a:xfrm>
            <a:off x="585216" y="3402482"/>
            <a:ext cx="7479792" cy="2601468"/>
          </a:xfrm>
          <a:prstGeom prst="rect">
            <a:avLst/>
          </a:prstGeom>
          <a:solidFill>
            <a:srgbClr val="D5D8DD">
              <a:alpha val="80000"/>
            </a:srgbClr>
          </a:solidFill>
          <a:ln>
            <a:noFill/>
          </a:ln>
        </p:spPr>
        <p:txBody>
          <a:bodyPr/>
          <a:lstStyle/>
          <a:p>
            <a:endParaRPr lang="en-US">
              <a:highlight>
                <a:srgbClr val="808080"/>
              </a:highlight>
            </a:endParaRPr>
          </a:p>
        </p:txBody>
      </p:sp>
      <p:sp>
        <p:nvSpPr>
          <p:cNvPr id="33" name="ParentCC annotation heading - Find candidates"/>
          <p:cNvSpPr txBox="1"/>
          <p:nvPr/>
        </p:nvSpPr>
        <p:spPr>
          <a:xfrm>
            <a:off x="8247888" y="1270553"/>
            <a:ext cx="3944112" cy="424732"/>
          </a:xfrm>
          <a:prstGeom prst="rect">
            <a:avLst/>
          </a:prstGeom>
          <a:noFill/>
        </p:spPr>
        <p:txBody>
          <a:bodyPr wrap="square" lIns="45720" tIns="27432" rIns="45720" bIns="27432" anchor="ctr">
            <a:spAutoFit/>
          </a:bodyPr>
          <a:lstStyle/>
          <a:p>
            <a:pPr algn="l"/>
            <a:r>
              <a:rPr lang="en-US" sz="2400" b="1" i="0" dirty="0">
                <a:solidFill>
                  <a:srgbClr val="C8501E"/>
                </a:solidFill>
                <a:latin typeface="Calibri"/>
              </a:rPr>
              <a:t>1. </a:t>
            </a:r>
            <a:r>
              <a:rPr sz="2400" b="1" i="0" dirty="0">
                <a:solidFill>
                  <a:srgbClr val="C8501E"/>
                </a:solidFill>
                <a:latin typeface="Calibri"/>
              </a:rPr>
              <a:t>Find candidates</a:t>
            </a:r>
            <a:r>
              <a:rPr lang="en-US" sz="2400" b="1" i="0" dirty="0">
                <a:solidFill>
                  <a:srgbClr val="C8501E"/>
                </a:solidFill>
                <a:latin typeface="Calibri"/>
              </a:rPr>
              <a:t> for merging</a:t>
            </a:r>
            <a:endParaRPr sz="2400" b="1" i="0" dirty="0">
              <a:solidFill>
                <a:srgbClr val="C8501E"/>
              </a:solidFill>
              <a:latin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entCC pseudocode title"/>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ParentCC pseudocode</a:t>
            </a:r>
          </a:p>
        </p:txBody>
      </p:sp>
      <p:sp>
        <p:nvSpPr>
          <p:cNvPr id="3" name="ParentCC title rule"/>
          <p:cNvSpPr/>
          <p:nvPr/>
        </p:nvSpPr>
        <p:spPr>
          <a:xfrm>
            <a:off x="566928" y="1005840"/>
            <a:ext cx="2176272" cy="32004"/>
          </a:xfrm>
          <a:prstGeom prst="rect">
            <a:avLst/>
          </a:prstGeom>
          <a:solidFill>
            <a:srgbClr val="C8501E"/>
          </a:solidFill>
          <a:ln>
            <a:noFill/>
          </a:ln>
        </p:spPr>
        <p:txBody>
          <a:bodyPr/>
          <a:lstStyle/>
          <a:p>
            <a:endParaRPr lang="en-US"/>
          </a:p>
        </p:txBody>
      </p:sp>
      <p:sp>
        <p:nvSpPr>
          <p:cNvPr id="4" name="ParentCC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40</a:t>
            </a:r>
          </a:p>
        </p:txBody>
      </p:sp>
      <p:sp>
        <p:nvSpPr>
          <p:cNvPr id="5" name="ParentCC code background"/>
          <p:cNvSpPr/>
          <p:nvPr/>
        </p:nvSpPr>
        <p:spPr>
          <a:xfrm>
            <a:off x="502920" y="1234440"/>
            <a:ext cx="7662672" cy="4892040"/>
          </a:xfrm>
          <a:prstGeom prst="rect">
            <a:avLst/>
          </a:prstGeom>
          <a:solidFill>
            <a:srgbClr val="F7F7F9"/>
          </a:solidFill>
          <a:ln>
            <a:noFill/>
          </a:ln>
        </p:spPr>
        <p:txBody>
          <a:bodyPr/>
          <a:lstStyle/>
          <a:p>
            <a:endParaRPr lang="en-US"/>
          </a:p>
        </p:txBody>
      </p:sp>
      <p:sp>
        <p:nvSpPr>
          <p:cNvPr id="10" name="ParentCC active band 8-8"/>
          <p:cNvSpPr/>
          <p:nvPr/>
        </p:nvSpPr>
        <p:spPr>
          <a:xfrm>
            <a:off x="585216" y="3402482"/>
            <a:ext cx="7479792" cy="280721"/>
          </a:xfrm>
          <a:prstGeom prst="rect">
            <a:avLst/>
          </a:prstGeom>
          <a:solidFill>
            <a:srgbClr val="FFF0DA"/>
          </a:solidFill>
          <a:ln>
            <a:noFill/>
          </a:ln>
        </p:spPr>
        <p:txBody>
          <a:bodyPr/>
          <a:lstStyle/>
          <a:p>
            <a:endParaRPr lang="en-US"/>
          </a:p>
        </p:txBody>
      </p:sp>
      <p:sp>
        <p:nvSpPr>
          <p:cNvPr id="11" name="ParentCC active bar 8-8"/>
          <p:cNvSpPr/>
          <p:nvPr/>
        </p:nvSpPr>
        <p:spPr>
          <a:xfrm>
            <a:off x="566928" y="3402482"/>
            <a:ext cx="50292" cy="280721"/>
          </a:xfrm>
          <a:prstGeom prst="rect">
            <a:avLst/>
          </a:prstGeom>
          <a:solidFill>
            <a:srgbClr val="C8501E"/>
          </a:solidFill>
          <a:ln>
            <a:noFill/>
          </a:ln>
        </p:spPr>
        <p:txBody>
          <a:bodyPr/>
          <a:lstStyle/>
          <a:p>
            <a:endParaRPr lang="en-US"/>
          </a:p>
        </p:txBody>
      </p:sp>
      <p:sp>
        <p:nvSpPr>
          <p:cNvPr id="12" name="ParentCC code line 0"/>
          <p:cNvSpPr txBox="1"/>
          <p:nvPr/>
        </p:nvSpPr>
        <p:spPr>
          <a:xfrm>
            <a:off x="658368" y="1353312"/>
            <a:ext cx="7333488" cy="257861"/>
          </a:xfrm>
          <a:prstGeom prst="rect">
            <a:avLst/>
          </a:prstGeom>
          <a:noFill/>
        </p:spPr>
        <p:txBody>
          <a:bodyPr wrap="none" lIns="0" tIns="0" rIns="0" bIns="0" anchor="ctr">
            <a:spAutoFit/>
          </a:bodyPr>
          <a:lstStyle/>
          <a:p>
            <a:r>
              <a:rPr sz="1150" b="1" i="0">
                <a:solidFill>
                  <a:srgbClr val="1F2A44"/>
                </a:solidFill>
                <a:latin typeface="Consolas"/>
              </a:rPr>
              <a:t>ParentCC(E):</a:t>
            </a:r>
          </a:p>
        </p:txBody>
      </p:sp>
      <p:sp>
        <p:nvSpPr>
          <p:cNvPr id="13" name="ParentCC code line 1"/>
          <p:cNvSpPr txBox="1"/>
          <p:nvPr/>
        </p:nvSpPr>
        <p:spPr>
          <a:xfrm>
            <a:off x="658368" y="1611173"/>
            <a:ext cx="7333488" cy="257861"/>
          </a:xfrm>
          <a:prstGeom prst="rect">
            <a:avLst/>
          </a:prstGeom>
          <a:noFill/>
        </p:spPr>
        <p:txBody>
          <a:bodyPr wrap="none" lIns="0" tIns="0" rIns="0" bIns="0" anchor="ctr">
            <a:spAutoFit/>
          </a:bodyPr>
          <a:lstStyle/>
          <a:p>
            <a:r>
              <a:rPr sz="1150" b="0" i="0">
                <a:solidFill>
                  <a:srgbClr val="3F444C"/>
                </a:solidFill>
                <a:latin typeface="Consolas"/>
              </a:rPr>
              <a:t>    parfor (u = v) ∈ E:  Union(u, v)</a:t>
            </a:r>
          </a:p>
        </p:txBody>
      </p:sp>
      <p:sp>
        <p:nvSpPr>
          <p:cNvPr id="14" name="ParentCC code line 2"/>
          <p:cNvSpPr txBox="1"/>
          <p:nvPr/>
        </p:nvSpPr>
        <p:spPr>
          <a:xfrm>
            <a:off x="658368" y="1869034"/>
            <a:ext cx="7333488" cy="257861"/>
          </a:xfrm>
          <a:prstGeom prst="rect">
            <a:avLst/>
          </a:prstGeom>
          <a:noFill/>
        </p:spPr>
        <p:txBody>
          <a:bodyPr wrap="none" lIns="0" tIns="0" rIns="0" bIns="0" anchor="ctr">
            <a:spAutoFit/>
          </a:bodyPr>
          <a:lstStyle/>
          <a:p>
            <a:r>
              <a:rPr sz="1150" b="0" i="0">
                <a:solidFill>
                  <a:srgbClr val="3F444C"/>
                </a:solidFill>
                <a:latin typeface="Consolas"/>
              </a:rPr>
              <a:t>    Work ← terms of E</a:t>
            </a:r>
          </a:p>
        </p:txBody>
      </p:sp>
      <p:sp>
        <p:nvSpPr>
          <p:cNvPr id="15" name="ParentCC code line 3"/>
          <p:cNvSpPr txBox="1"/>
          <p:nvPr/>
        </p:nvSpPr>
        <p:spPr>
          <a:xfrm>
            <a:off x="658368" y="2126894"/>
            <a:ext cx="7333488" cy="257861"/>
          </a:xfrm>
          <a:prstGeom prst="rect">
            <a:avLst/>
          </a:prstGeom>
          <a:noFill/>
        </p:spPr>
        <p:txBody>
          <a:bodyPr wrap="none" lIns="0" tIns="0" rIns="0" bIns="0" anchor="ctr">
            <a:spAutoFit/>
          </a:bodyPr>
          <a:lstStyle/>
          <a:p>
            <a:r>
              <a:rPr sz="1150" b="0" i="0">
                <a:solidFill>
                  <a:srgbClr val="3F444C"/>
                </a:solidFill>
                <a:latin typeface="Consolas"/>
              </a:rPr>
              <a:t>    while Work ≠ ∅:</a:t>
            </a:r>
          </a:p>
        </p:txBody>
      </p:sp>
      <p:sp>
        <p:nvSpPr>
          <p:cNvPr id="16" name="ParentCC code line 4"/>
          <p:cNvSpPr txBox="1"/>
          <p:nvPr/>
        </p:nvSpPr>
        <p:spPr>
          <a:xfrm>
            <a:off x="658368" y="2384755"/>
            <a:ext cx="7333488" cy="257861"/>
          </a:xfrm>
          <a:prstGeom prst="rect">
            <a:avLst/>
          </a:prstGeom>
          <a:noFill/>
        </p:spPr>
        <p:txBody>
          <a:bodyPr wrap="none" lIns="0" tIns="0" rIns="0" bIns="0" anchor="ctr">
            <a:spAutoFit/>
          </a:bodyPr>
          <a:lstStyle/>
          <a:p>
            <a:r>
              <a:rPr sz="1150" b="0" i="0">
                <a:solidFill>
                  <a:srgbClr val="3F444C"/>
                </a:solidFill>
                <a:latin typeface="Consolas"/>
              </a:rPr>
              <a:t>        parfor c ∈ Work with c ≠ Find(c):                 </a:t>
            </a:r>
            <a:r>
              <a:rPr sz="1150" b="0" i="0">
                <a:solidFill>
                  <a:srgbClr val="7D838C"/>
                </a:solidFill>
                <a:latin typeface="Consolas"/>
              </a:rPr>
              <a:t>▹ fold parent lists</a:t>
            </a:r>
          </a:p>
        </p:txBody>
      </p:sp>
      <p:sp>
        <p:nvSpPr>
          <p:cNvPr id="17" name="ParentCC code line 5"/>
          <p:cNvSpPr txBox="1"/>
          <p:nvPr/>
        </p:nvSpPr>
        <p:spPr>
          <a:xfrm>
            <a:off x="658368" y="2642616"/>
            <a:ext cx="7333488" cy="257861"/>
          </a:xfrm>
          <a:prstGeom prst="rect">
            <a:avLst/>
          </a:prstGeom>
          <a:noFill/>
        </p:spPr>
        <p:txBody>
          <a:bodyPr wrap="none" lIns="0" tIns="0" rIns="0" bIns="0" anchor="ctr">
            <a:spAutoFit/>
          </a:bodyPr>
          <a:lstStyle/>
          <a:p>
            <a:r>
              <a:rPr sz="1150" b="0" i="0">
                <a:solidFill>
                  <a:srgbClr val="3F444C"/>
                </a:solidFill>
                <a:latin typeface="Consolas"/>
              </a:rPr>
              <a:t>            Parents[Find(c)] ← Parents[Find(c)] ∪ Parents[c]</a:t>
            </a:r>
          </a:p>
        </p:txBody>
      </p:sp>
      <p:sp>
        <p:nvSpPr>
          <p:cNvPr id="18" name="ParentCC code line 6"/>
          <p:cNvSpPr txBox="1"/>
          <p:nvPr/>
        </p:nvSpPr>
        <p:spPr>
          <a:xfrm>
            <a:off x="658368" y="2900477"/>
            <a:ext cx="7333488" cy="257861"/>
          </a:xfrm>
          <a:prstGeom prst="rect">
            <a:avLst/>
          </a:prstGeom>
          <a:noFill/>
        </p:spPr>
        <p:txBody>
          <a:bodyPr wrap="none" lIns="0" tIns="0" rIns="0" bIns="0" anchor="ctr">
            <a:spAutoFit/>
          </a:bodyPr>
          <a:lstStyle/>
          <a:p>
            <a:r>
              <a:rPr sz="1150" b="0" i="0">
                <a:solidFill>
                  <a:srgbClr val="3F444C"/>
                </a:solidFill>
                <a:latin typeface="Consolas"/>
              </a:rPr>
              <a:t>        Frontier ← all compound terms          on round 0   </a:t>
            </a:r>
            <a:r>
              <a:rPr sz="1150" b="0" i="0">
                <a:solidFill>
                  <a:srgbClr val="7D838C"/>
                </a:solidFill>
                <a:latin typeface="Consolas"/>
              </a:rPr>
              <a:t>▹ seed round</a:t>
            </a:r>
          </a:p>
        </p:txBody>
      </p:sp>
      <p:sp>
        <p:nvSpPr>
          <p:cNvPr id="19" name="ParentCC code line 7"/>
          <p:cNvSpPr txBox="1"/>
          <p:nvPr/>
        </p:nvSpPr>
        <p:spPr>
          <a:xfrm>
            <a:off x="658368" y="3158338"/>
            <a:ext cx="7333488" cy="257861"/>
          </a:xfrm>
          <a:prstGeom prst="rect">
            <a:avLst/>
          </a:prstGeom>
          <a:noFill/>
        </p:spPr>
        <p:txBody>
          <a:bodyPr wrap="none" lIns="0" tIns="0" rIns="0" bIns="0" anchor="ctr">
            <a:spAutoFit/>
          </a:bodyPr>
          <a:lstStyle/>
          <a:p>
            <a:r>
              <a:rPr sz="1150" b="0" i="0">
                <a:solidFill>
                  <a:srgbClr val="3F444C"/>
                </a:solidFill>
                <a:latin typeface="Consolas"/>
              </a:rPr>
              <a:t>        Frontier ← ⋃ Parents[Find(c)] for c ∈ Work   otherwise</a:t>
            </a:r>
          </a:p>
        </p:txBody>
      </p:sp>
      <p:sp>
        <p:nvSpPr>
          <p:cNvPr id="20" name="ParentCC code line 8"/>
          <p:cNvSpPr txBox="1"/>
          <p:nvPr/>
        </p:nvSpPr>
        <p:spPr>
          <a:xfrm>
            <a:off x="658368" y="3416198"/>
            <a:ext cx="7333488" cy="257861"/>
          </a:xfrm>
          <a:prstGeom prst="rect">
            <a:avLst/>
          </a:prstGeom>
          <a:noFill/>
        </p:spPr>
        <p:txBody>
          <a:bodyPr wrap="none" lIns="0" tIns="0" rIns="0" bIns="0" anchor="ctr">
            <a:spAutoFit/>
          </a:bodyPr>
          <a:lstStyle/>
          <a:p>
            <a:r>
              <a:rPr sz="1150" b="1" i="0">
                <a:solidFill>
                  <a:srgbClr val="A64018"/>
                </a:solidFill>
                <a:latin typeface="Consolas"/>
              </a:rPr>
              <a:t>        groups ← GroupBy(Congruent, Frontier)          ▹ semisort on sigs</a:t>
            </a:r>
          </a:p>
        </p:txBody>
      </p:sp>
      <p:sp>
        <p:nvSpPr>
          <p:cNvPr id="21" name="ParentCC code line 9"/>
          <p:cNvSpPr txBox="1"/>
          <p:nvPr/>
        </p:nvSpPr>
        <p:spPr>
          <a:xfrm>
            <a:off x="658368" y="3674059"/>
            <a:ext cx="7333488" cy="257861"/>
          </a:xfrm>
          <a:prstGeom prst="rect">
            <a:avLst/>
          </a:prstGeom>
          <a:noFill/>
        </p:spPr>
        <p:txBody>
          <a:bodyPr wrap="none" lIns="0" tIns="0" rIns="0" bIns="0" anchor="ctr">
            <a:spAutoFit/>
          </a:bodyPr>
          <a:lstStyle/>
          <a:p>
            <a:r>
              <a:rPr sz="1150" b="0" i="0">
                <a:solidFill>
                  <a:srgbClr val="3F444C"/>
                </a:solidFill>
                <a:latin typeface="Consolas"/>
              </a:rPr>
              <a:t>        Work ← ∅</a:t>
            </a:r>
          </a:p>
        </p:txBody>
      </p:sp>
      <p:sp>
        <p:nvSpPr>
          <p:cNvPr id="22" name="ParentCC code line 10"/>
          <p:cNvSpPr txBox="1"/>
          <p:nvPr/>
        </p:nvSpPr>
        <p:spPr>
          <a:xfrm>
            <a:off x="658368" y="3931920"/>
            <a:ext cx="7333488" cy="257861"/>
          </a:xfrm>
          <a:prstGeom prst="rect">
            <a:avLst/>
          </a:prstGeom>
          <a:noFill/>
        </p:spPr>
        <p:txBody>
          <a:bodyPr wrap="none" lIns="0" tIns="0" rIns="0" bIns="0" anchor="ctr">
            <a:spAutoFit/>
          </a:bodyPr>
          <a:lstStyle/>
          <a:p>
            <a:r>
              <a:rPr sz="1150" b="0" i="0">
                <a:solidFill>
                  <a:srgbClr val="3F444C"/>
                </a:solidFill>
                <a:latin typeface="Consolas"/>
              </a:rPr>
              <a:t>        parfor g ∈ groups spanning &gt; 1 class:</a:t>
            </a:r>
          </a:p>
        </p:txBody>
      </p:sp>
      <p:sp>
        <p:nvSpPr>
          <p:cNvPr id="23" name="ParentCC code line 11"/>
          <p:cNvSpPr txBox="1"/>
          <p:nvPr/>
        </p:nvSpPr>
        <p:spPr>
          <a:xfrm>
            <a:off x="658368" y="4189781"/>
            <a:ext cx="7333488" cy="257861"/>
          </a:xfrm>
          <a:prstGeom prst="rect">
            <a:avLst/>
          </a:prstGeom>
          <a:noFill/>
        </p:spPr>
        <p:txBody>
          <a:bodyPr wrap="none" lIns="0" tIns="0" rIns="0" bIns="0" anchor="ctr">
            <a:spAutoFit/>
          </a:bodyPr>
          <a:lstStyle/>
          <a:p>
            <a:r>
              <a:rPr sz="1150" b="0" i="0">
                <a:solidFill>
                  <a:srgbClr val="3F444C"/>
                </a:solidFill>
                <a:latin typeface="Consolas"/>
              </a:rPr>
              <a:t>            MergeCongruenceClass(g)                          </a:t>
            </a:r>
            <a:r>
              <a:rPr sz="1150" b="0" i="0">
                <a:solidFill>
                  <a:srgbClr val="7D838C"/>
                </a:solidFill>
                <a:latin typeface="Consolas"/>
              </a:rPr>
              <a:t>▹ parallel unions</a:t>
            </a:r>
          </a:p>
        </p:txBody>
      </p:sp>
      <p:sp>
        <p:nvSpPr>
          <p:cNvPr id="24" name="ParentCC code line 12"/>
          <p:cNvSpPr txBox="1"/>
          <p:nvPr/>
        </p:nvSpPr>
        <p:spPr>
          <a:xfrm>
            <a:off x="658368" y="4447642"/>
            <a:ext cx="7333488" cy="257861"/>
          </a:xfrm>
          <a:prstGeom prst="rect">
            <a:avLst/>
          </a:prstGeom>
          <a:noFill/>
        </p:spPr>
        <p:txBody>
          <a:bodyPr wrap="none" lIns="0" tIns="0" rIns="0" bIns="0" anchor="ctr">
            <a:spAutoFit/>
          </a:bodyPr>
          <a:lstStyle/>
          <a:p>
            <a:r>
              <a:rPr sz="1150" b="0" i="0">
                <a:solidFill>
                  <a:srgbClr val="3F444C"/>
                </a:solidFill>
                <a:latin typeface="Consolas"/>
              </a:rPr>
              <a:t>            Work ← Work ∪ pre-merge roots of g</a:t>
            </a:r>
          </a:p>
        </p:txBody>
      </p:sp>
      <p:sp>
        <p:nvSpPr>
          <p:cNvPr id="25" name="ParentCC code line 13"/>
          <p:cNvSpPr txBox="1"/>
          <p:nvPr/>
        </p:nvSpPr>
        <p:spPr>
          <a:xfrm>
            <a:off x="658368" y="4705502"/>
            <a:ext cx="7333488" cy="257861"/>
          </a:xfrm>
          <a:prstGeom prst="rect">
            <a:avLst/>
          </a:prstGeom>
          <a:noFill/>
        </p:spPr>
        <p:txBody>
          <a:bodyPr wrap="none" lIns="0" tIns="0" rIns="0" bIns="0" anchor="ctr">
            <a:spAutoFit/>
          </a:bodyPr>
          <a:lstStyle/>
          <a:p>
            <a:endParaRPr/>
          </a:p>
        </p:txBody>
      </p:sp>
      <p:sp>
        <p:nvSpPr>
          <p:cNvPr id="26" name="ParentCC code line 14"/>
          <p:cNvSpPr txBox="1"/>
          <p:nvPr/>
        </p:nvSpPr>
        <p:spPr>
          <a:xfrm>
            <a:off x="658368" y="4963363"/>
            <a:ext cx="7333488" cy="257861"/>
          </a:xfrm>
          <a:prstGeom prst="rect">
            <a:avLst/>
          </a:prstGeom>
          <a:noFill/>
        </p:spPr>
        <p:txBody>
          <a:bodyPr wrap="none" lIns="0" tIns="0" rIns="0" bIns="0" anchor="ctr">
            <a:spAutoFit/>
          </a:bodyPr>
          <a:lstStyle/>
          <a:p>
            <a:r>
              <a:rPr sz="1150" b="1" i="0">
                <a:solidFill>
                  <a:srgbClr val="1F2A44"/>
                </a:solidFill>
                <a:latin typeface="Consolas"/>
              </a:rPr>
              <a:t>MergeCongruenceClass(S):                             </a:t>
            </a:r>
            <a:r>
              <a:rPr sz="1150" b="0" i="0">
                <a:solidFill>
                  <a:srgbClr val="7D838C"/>
                </a:solidFill>
                <a:latin typeface="Consolas"/>
              </a:rPr>
              <a:t>▹ divide and conquer</a:t>
            </a:r>
          </a:p>
        </p:txBody>
      </p:sp>
      <p:sp>
        <p:nvSpPr>
          <p:cNvPr id="27" name="ParentCC code line 15"/>
          <p:cNvSpPr txBox="1"/>
          <p:nvPr/>
        </p:nvSpPr>
        <p:spPr>
          <a:xfrm>
            <a:off x="658368" y="5221224"/>
            <a:ext cx="7333488" cy="257861"/>
          </a:xfrm>
          <a:prstGeom prst="rect">
            <a:avLst/>
          </a:prstGeom>
          <a:noFill/>
        </p:spPr>
        <p:txBody>
          <a:bodyPr wrap="none" lIns="0" tIns="0" rIns="0" bIns="0" anchor="ctr">
            <a:spAutoFit/>
          </a:bodyPr>
          <a:lstStyle/>
          <a:p>
            <a:r>
              <a:rPr sz="1150" b="0" i="0">
                <a:solidFill>
                  <a:srgbClr val="3F444C"/>
                </a:solidFill>
                <a:latin typeface="Consolas"/>
              </a:rPr>
              <a:t>    if |S| = 1: return the element</a:t>
            </a:r>
          </a:p>
        </p:txBody>
      </p:sp>
      <p:sp>
        <p:nvSpPr>
          <p:cNvPr id="28" name="ParentCC code line 16"/>
          <p:cNvSpPr txBox="1"/>
          <p:nvPr/>
        </p:nvSpPr>
        <p:spPr>
          <a:xfrm>
            <a:off x="658368" y="5479085"/>
            <a:ext cx="7333488" cy="257861"/>
          </a:xfrm>
          <a:prstGeom prst="rect">
            <a:avLst/>
          </a:prstGeom>
          <a:noFill/>
        </p:spPr>
        <p:txBody>
          <a:bodyPr wrap="none" lIns="0" tIns="0" rIns="0" bIns="0" anchor="ctr">
            <a:spAutoFit/>
          </a:bodyPr>
          <a:lstStyle/>
          <a:p>
            <a:r>
              <a:rPr sz="1150" b="0" i="0">
                <a:solidFill>
                  <a:srgbClr val="3F444C"/>
                </a:solidFill>
                <a:latin typeface="Consolas"/>
              </a:rPr>
              <a:t>    l, r ← MergeCongruenceClass(S[0..n/2]) ∥ MergeCongruenceClass(S[n/2..n])</a:t>
            </a:r>
          </a:p>
        </p:txBody>
      </p:sp>
      <p:sp>
        <p:nvSpPr>
          <p:cNvPr id="29" name="ParentCC code line 17"/>
          <p:cNvSpPr txBox="1"/>
          <p:nvPr/>
        </p:nvSpPr>
        <p:spPr>
          <a:xfrm>
            <a:off x="658368" y="5736946"/>
            <a:ext cx="7333488" cy="257861"/>
          </a:xfrm>
          <a:prstGeom prst="rect">
            <a:avLst/>
          </a:prstGeom>
          <a:noFill/>
        </p:spPr>
        <p:txBody>
          <a:bodyPr wrap="none" lIns="0" tIns="0" rIns="0" bIns="0" anchor="ctr">
            <a:spAutoFit/>
          </a:bodyPr>
          <a:lstStyle/>
          <a:p>
            <a:r>
              <a:rPr sz="1150" b="0" i="0">
                <a:solidFill>
                  <a:srgbClr val="3F444C"/>
                </a:solidFill>
                <a:latin typeface="Consolas"/>
              </a:rPr>
              <a:t>    return Union(l, r)</a:t>
            </a:r>
          </a:p>
        </p:txBody>
      </p:sp>
      <p:sp>
        <p:nvSpPr>
          <p:cNvPr id="30" name="ParentCC completed veil 4-7"/>
          <p:cNvSpPr/>
          <p:nvPr/>
        </p:nvSpPr>
        <p:spPr>
          <a:xfrm>
            <a:off x="585216" y="2371039"/>
            <a:ext cx="7479792" cy="1054303"/>
          </a:xfrm>
          <a:prstGeom prst="rect">
            <a:avLst/>
          </a:prstGeom>
          <a:solidFill>
            <a:srgbClr val="D5D8DD">
              <a:alpha val="18000"/>
            </a:srgbClr>
          </a:solidFill>
          <a:ln>
            <a:noFill/>
          </a:ln>
        </p:spPr>
        <p:txBody>
          <a:bodyPr/>
          <a:lstStyle/>
          <a:p>
            <a:endParaRPr lang="en-US"/>
          </a:p>
        </p:txBody>
      </p:sp>
      <p:sp>
        <p:nvSpPr>
          <p:cNvPr id="31" name="ParentCC irrelevant veil 0-3"/>
          <p:cNvSpPr/>
          <p:nvPr/>
        </p:nvSpPr>
        <p:spPr>
          <a:xfrm>
            <a:off x="585216" y="1339596"/>
            <a:ext cx="7479792" cy="2053742"/>
          </a:xfrm>
          <a:prstGeom prst="rect">
            <a:avLst/>
          </a:prstGeom>
          <a:solidFill>
            <a:srgbClr val="D5D8DD">
              <a:alpha val="80000"/>
            </a:srgbClr>
          </a:solidFill>
          <a:ln>
            <a:noFill/>
          </a:ln>
        </p:spPr>
        <p:txBody>
          <a:bodyPr/>
          <a:lstStyle/>
          <a:p>
            <a:endParaRPr lang="en-US"/>
          </a:p>
        </p:txBody>
      </p:sp>
      <p:sp>
        <p:nvSpPr>
          <p:cNvPr id="32" name="ParentCC irrelevant veil 9-17"/>
          <p:cNvSpPr/>
          <p:nvPr/>
        </p:nvSpPr>
        <p:spPr>
          <a:xfrm>
            <a:off x="585216" y="3660343"/>
            <a:ext cx="7479792" cy="2343607"/>
          </a:xfrm>
          <a:prstGeom prst="rect">
            <a:avLst/>
          </a:prstGeom>
          <a:solidFill>
            <a:srgbClr val="D5D8DD">
              <a:alpha val="80000"/>
            </a:srgbClr>
          </a:solidFill>
          <a:ln>
            <a:noFill/>
          </a:ln>
        </p:spPr>
        <p:txBody>
          <a:bodyPr/>
          <a:lstStyle/>
          <a:p>
            <a:endParaRPr lang="en-US"/>
          </a:p>
        </p:txBody>
      </p:sp>
      <p:sp>
        <p:nvSpPr>
          <p:cNvPr id="6" name="ParentCC annotation heading - Find candidates">
            <a:extLst>
              <a:ext uri="{FF2B5EF4-FFF2-40B4-BE49-F238E27FC236}">
                <a16:creationId xmlns:a16="http://schemas.microsoft.com/office/drawing/2014/main" id="{FD311867-97FC-0C85-3339-C1EDE88D566A}"/>
              </a:ext>
            </a:extLst>
          </p:cNvPr>
          <p:cNvSpPr txBox="1"/>
          <p:nvPr/>
        </p:nvSpPr>
        <p:spPr>
          <a:xfrm>
            <a:off x="8247888" y="1234440"/>
            <a:ext cx="3944112" cy="1532727"/>
          </a:xfrm>
          <a:prstGeom prst="rect">
            <a:avLst/>
          </a:prstGeom>
          <a:noFill/>
        </p:spPr>
        <p:txBody>
          <a:bodyPr wrap="square" lIns="45720" tIns="27432" rIns="45720" bIns="27432" anchor="ctr">
            <a:spAutoFit/>
          </a:bodyPr>
          <a:lstStyle/>
          <a:p>
            <a:pPr marL="457200" indent="-457200" algn="l">
              <a:buAutoNum type="arabicPeriod"/>
            </a:pPr>
            <a:r>
              <a:rPr sz="2400" b="1" i="0" dirty="0">
                <a:solidFill>
                  <a:srgbClr val="C8501E"/>
                </a:solidFill>
                <a:latin typeface="Calibri"/>
              </a:rPr>
              <a:t>Find candidates</a:t>
            </a:r>
            <a:r>
              <a:rPr lang="en-US" sz="2400" b="1" i="0" dirty="0">
                <a:solidFill>
                  <a:srgbClr val="C8501E"/>
                </a:solidFill>
                <a:latin typeface="Calibri"/>
              </a:rPr>
              <a:t> for merging</a:t>
            </a:r>
          </a:p>
          <a:p>
            <a:pPr marL="457200" indent="-457200" algn="l">
              <a:buAutoNum type="arabicPeriod"/>
            </a:pPr>
            <a:r>
              <a:rPr lang="en-US" sz="2400" b="1" dirty="0">
                <a:solidFill>
                  <a:srgbClr val="C8501E"/>
                </a:solidFill>
                <a:latin typeface="Calibri"/>
              </a:rPr>
              <a:t>Group by signature</a:t>
            </a:r>
            <a:endParaRPr lang="en-US" sz="2400" b="1" i="0" dirty="0">
              <a:solidFill>
                <a:srgbClr val="C8501E"/>
              </a:solidFill>
              <a:latin typeface="Calibri"/>
            </a:endParaRPr>
          </a:p>
          <a:p>
            <a:pPr marL="457200" indent="-457200" algn="l">
              <a:buAutoNum type="arabicPeriod"/>
            </a:pPr>
            <a:endParaRPr sz="2400" b="1" i="0" dirty="0">
              <a:solidFill>
                <a:srgbClr val="C8501E"/>
              </a:solidFill>
              <a:latin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entCC pseudocode title"/>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ParentCC pseudocode</a:t>
            </a:r>
          </a:p>
        </p:txBody>
      </p:sp>
      <p:sp>
        <p:nvSpPr>
          <p:cNvPr id="3" name="ParentCC title rule"/>
          <p:cNvSpPr/>
          <p:nvPr/>
        </p:nvSpPr>
        <p:spPr>
          <a:xfrm>
            <a:off x="566928" y="1005840"/>
            <a:ext cx="2176272" cy="32004"/>
          </a:xfrm>
          <a:prstGeom prst="rect">
            <a:avLst/>
          </a:prstGeom>
          <a:solidFill>
            <a:srgbClr val="C8501E"/>
          </a:solidFill>
          <a:ln>
            <a:noFill/>
          </a:ln>
        </p:spPr>
        <p:txBody>
          <a:bodyPr/>
          <a:lstStyle/>
          <a:p>
            <a:endParaRPr lang="en-US"/>
          </a:p>
        </p:txBody>
      </p:sp>
      <p:sp>
        <p:nvSpPr>
          <p:cNvPr id="4" name="ParentCC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41</a:t>
            </a:r>
          </a:p>
        </p:txBody>
      </p:sp>
      <p:sp>
        <p:nvSpPr>
          <p:cNvPr id="5" name="ParentCC code background"/>
          <p:cNvSpPr/>
          <p:nvPr/>
        </p:nvSpPr>
        <p:spPr>
          <a:xfrm>
            <a:off x="502920" y="1234440"/>
            <a:ext cx="7662672" cy="4892040"/>
          </a:xfrm>
          <a:prstGeom prst="rect">
            <a:avLst/>
          </a:prstGeom>
          <a:solidFill>
            <a:srgbClr val="F7F7F9"/>
          </a:solidFill>
          <a:ln>
            <a:noFill/>
          </a:ln>
        </p:spPr>
        <p:txBody>
          <a:bodyPr/>
          <a:lstStyle/>
          <a:p>
            <a:endParaRPr lang="en-US"/>
          </a:p>
        </p:txBody>
      </p:sp>
      <p:sp>
        <p:nvSpPr>
          <p:cNvPr id="10" name="ParentCC active band 10-11"/>
          <p:cNvSpPr/>
          <p:nvPr/>
        </p:nvSpPr>
        <p:spPr>
          <a:xfrm>
            <a:off x="585216" y="3918204"/>
            <a:ext cx="7479792" cy="538582"/>
          </a:xfrm>
          <a:prstGeom prst="rect">
            <a:avLst/>
          </a:prstGeom>
          <a:solidFill>
            <a:srgbClr val="FFF0DA"/>
          </a:solidFill>
          <a:ln>
            <a:noFill/>
          </a:ln>
        </p:spPr>
        <p:txBody>
          <a:bodyPr/>
          <a:lstStyle/>
          <a:p>
            <a:endParaRPr lang="en-US"/>
          </a:p>
        </p:txBody>
      </p:sp>
      <p:sp>
        <p:nvSpPr>
          <p:cNvPr id="11" name="ParentCC active bar 10-11"/>
          <p:cNvSpPr/>
          <p:nvPr/>
        </p:nvSpPr>
        <p:spPr>
          <a:xfrm>
            <a:off x="566928" y="3918204"/>
            <a:ext cx="50292" cy="538582"/>
          </a:xfrm>
          <a:prstGeom prst="rect">
            <a:avLst/>
          </a:prstGeom>
          <a:solidFill>
            <a:srgbClr val="C8501E"/>
          </a:solidFill>
          <a:ln>
            <a:noFill/>
          </a:ln>
        </p:spPr>
        <p:txBody>
          <a:bodyPr/>
          <a:lstStyle/>
          <a:p>
            <a:endParaRPr lang="en-US"/>
          </a:p>
        </p:txBody>
      </p:sp>
      <p:sp>
        <p:nvSpPr>
          <p:cNvPr id="12" name="ParentCC active band 14-17"/>
          <p:cNvSpPr/>
          <p:nvPr/>
        </p:nvSpPr>
        <p:spPr>
          <a:xfrm>
            <a:off x="585216" y="4949647"/>
            <a:ext cx="7479792" cy="1054303"/>
          </a:xfrm>
          <a:prstGeom prst="rect">
            <a:avLst/>
          </a:prstGeom>
          <a:solidFill>
            <a:srgbClr val="FFF0DA"/>
          </a:solidFill>
          <a:ln>
            <a:noFill/>
          </a:ln>
        </p:spPr>
        <p:txBody>
          <a:bodyPr/>
          <a:lstStyle/>
          <a:p>
            <a:endParaRPr lang="en-US"/>
          </a:p>
        </p:txBody>
      </p:sp>
      <p:sp>
        <p:nvSpPr>
          <p:cNvPr id="13" name="ParentCC active bar 14-17"/>
          <p:cNvSpPr/>
          <p:nvPr/>
        </p:nvSpPr>
        <p:spPr>
          <a:xfrm>
            <a:off x="566928" y="4949647"/>
            <a:ext cx="50292" cy="1054303"/>
          </a:xfrm>
          <a:prstGeom prst="rect">
            <a:avLst/>
          </a:prstGeom>
          <a:solidFill>
            <a:srgbClr val="C8501E"/>
          </a:solidFill>
          <a:ln>
            <a:noFill/>
          </a:ln>
        </p:spPr>
        <p:txBody>
          <a:bodyPr/>
          <a:lstStyle/>
          <a:p>
            <a:endParaRPr lang="en-US"/>
          </a:p>
        </p:txBody>
      </p:sp>
      <p:sp>
        <p:nvSpPr>
          <p:cNvPr id="14" name="ParentCC code line 0"/>
          <p:cNvSpPr txBox="1"/>
          <p:nvPr/>
        </p:nvSpPr>
        <p:spPr>
          <a:xfrm>
            <a:off x="658368" y="1353312"/>
            <a:ext cx="7333488" cy="257861"/>
          </a:xfrm>
          <a:prstGeom prst="rect">
            <a:avLst/>
          </a:prstGeom>
          <a:noFill/>
        </p:spPr>
        <p:txBody>
          <a:bodyPr wrap="none" lIns="0" tIns="0" rIns="0" bIns="0" anchor="ctr">
            <a:spAutoFit/>
          </a:bodyPr>
          <a:lstStyle/>
          <a:p>
            <a:r>
              <a:rPr sz="1150" b="1" i="0">
                <a:solidFill>
                  <a:srgbClr val="1F2A44"/>
                </a:solidFill>
                <a:latin typeface="Consolas"/>
              </a:rPr>
              <a:t>ParentCC(E):</a:t>
            </a:r>
          </a:p>
        </p:txBody>
      </p:sp>
      <p:sp>
        <p:nvSpPr>
          <p:cNvPr id="15" name="ParentCC code line 1"/>
          <p:cNvSpPr txBox="1"/>
          <p:nvPr/>
        </p:nvSpPr>
        <p:spPr>
          <a:xfrm>
            <a:off x="658368" y="1611173"/>
            <a:ext cx="7333488" cy="257861"/>
          </a:xfrm>
          <a:prstGeom prst="rect">
            <a:avLst/>
          </a:prstGeom>
          <a:noFill/>
        </p:spPr>
        <p:txBody>
          <a:bodyPr wrap="none" lIns="0" tIns="0" rIns="0" bIns="0" anchor="ctr">
            <a:spAutoFit/>
          </a:bodyPr>
          <a:lstStyle/>
          <a:p>
            <a:r>
              <a:rPr sz="1150" b="0" i="0">
                <a:solidFill>
                  <a:srgbClr val="3F444C"/>
                </a:solidFill>
                <a:latin typeface="Consolas"/>
              </a:rPr>
              <a:t>    parfor (u = v) ∈ E:  Union(u, v)</a:t>
            </a:r>
          </a:p>
        </p:txBody>
      </p:sp>
      <p:sp>
        <p:nvSpPr>
          <p:cNvPr id="16" name="ParentCC code line 2"/>
          <p:cNvSpPr txBox="1"/>
          <p:nvPr/>
        </p:nvSpPr>
        <p:spPr>
          <a:xfrm>
            <a:off x="658368" y="1869034"/>
            <a:ext cx="7333488" cy="257861"/>
          </a:xfrm>
          <a:prstGeom prst="rect">
            <a:avLst/>
          </a:prstGeom>
          <a:noFill/>
        </p:spPr>
        <p:txBody>
          <a:bodyPr wrap="none" lIns="0" tIns="0" rIns="0" bIns="0" anchor="ctr">
            <a:spAutoFit/>
          </a:bodyPr>
          <a:lstStyle/>
          <a:p>
            <a:r>
              <a:rPr sz="1150" b="0" i="0">
                <a:solidFill>
                  <a:srgbClr val="3F444C"/>
                </a:solidFill>
                <a:latin typeface="Consolas"/>
              </a:rPr>
              <a:t>    Work ← terms of E</a:t>
            </a:r>
          </a:p>
        </p:txBody>
      </p:sp>
      <p:sp>
        <p:nvSpPr>
          <p:cNvPr id="17" name="ParentCC code line 3"/>
          <p:cNvSpPr txBox="1"/>
          <p:nvPr/>
        </p:nvSpPr>
        <p:spPr>
          <a:xfrm>
            <a:off x="658368" y="2126894"/>
            <a:ext cx="7333488" cy="257861"/>
          </a:xfrm>
          <a:prstGeom prst="rect">
            <a:avLst/>
          </a:prstGeom>
          <a:noFill/>
        </p:spPr>
        <p:txBody>
          <a:bodyPr wrap="none" lIns="0" tIns="0" rIns="0" bIns="0" anchor="ctr">
            <a:spAutoFit/>
          </a:bodyPr>
          <a:lstStyle/>
          <a:p>
            <a:r>
              <a:rPr sz="1150" b="0" i="0">
                <a:solidFill>
                  <a:srgbClr val="3F444C"/>
                </a:solidFill>
                <a:latin typeface="Consolas"/>
              </a:rPr>
              <a:t>    while Work ≠ ∅:</a:t>
            </a:r>
          </a:p>
        </p:txBody>
      </p:sp>
      <p:sp>
        <p:nvSpPr>
          <p:cNvPr id="18" name="ParentCC code line 4"/>
          <p:cNvSpPr txBox="1"/>
          <p:nvPr/>
        </p:nvSpPr>
        <p:spPr>
          <a:xfrm>
            <a:off x="658368" y="2384755"/>
            <a:ext cx="7333488" cy="257861"/>
          </a:xfrm>
          <a:prstGeom prst="rect">
            <a:avLst/>
          </a:prstGeom>
          <a:noFill/>
        </p:spPr>
        <p:txBody>
          <a:bodyPr wrap="none" lIns="0" tIns="0" rIns="0" bIns="0" anchor="ctr">
            <a:spAutoFit/>
          </a:bodyPr>
          <a:lstStyle/>
          <a:p>
            <a:r>
              <a:rPr sz="1150" b="0" i="0">
                <a:solidFill>
                  <a:srgbClr val="3F444C"/>
                </a:solidFill>
                <a:latin typeface="Consolas"/>
              </a:rPr>
              <a:t>        parfor c ∈ Work with c ≠ Find(c):                 </a:t>
            </a:r>
            <a:r>
              <a:rPr sz="1150" b="0" i="0">
                <a:solidFill>
                  <a:srgbClr val="7D838C"/>
                </a:solidFill>
                <a:latin typeface="Consolas"/>
              </a:rPr>
              <a:t>▹ fold parent lists</a:t>
            </a:r>
          </a:p>
        </p:txBody>
      </p:sp>
      <p:sp>
        <p:nvSpPr>
          <p:cNvPr id="19" name="ParentCC code line 5"/>
          <p:cNvSpPr txBox="1"/>
          <p:nvPr/>
        </p:nvSpPr>
        <p:spPr>
          <a:xfrm>
            <a:off x="658368" y="2642616"/>
            <a:ext cx="7333488" cy="257861"/>
          </a:xfrm>
          <a:prstGeom prst="rect">
            <a:avLst/>
          </a:prstGeom>
          <a:noFill/>
        </p:spPr>
        <p:txBody>
          <a:bodyPr wrap="none" lIns="0" tIns="0" rIns="0" bIns="0" anchor="ctr">
            <a:spAutoFit/>
          </a:bodyPr>
          <a:lstStyle/>
          <a:p>
            <a:r>
              <a:rPr sz="1150" b="0" i="0">
                <a:solidFill>
                  <a:srgbClr val="3F444C"/>
                </a:solidFill>
                <a:latin typeface="Consolas"/>
              </a:rPr>
              <a:t>            Parents[Find(c)] ← Parents[Find(c)] ∪ Parents[c]</a:t>
            </a:r>
          </a:p>
        </p:txBody>
      </p:sp>
      <p:sp>
        <p:nvSpPr>
          <p:cNvPr id="20" name="ParentCC code line 6"/>
          <p:cNvSpPr txBox="1"/>
          <p:nvPr/>
        </p:nvSpPr>
        <p:spPr>
          <a:xfrm>
            <a:off x="658368" y="2900477"/>
            <a:ext cx="7333488" cy="257861"/>
          </a:xfrm>
          <a:prstGeom prst="rect">
            <a:avLst/>
          </a:prstGeom>
          <a:noFill/>
        </p:spPr>
        <p:txBody>
          <a:bodyPr wrap="none" lIns="0" tIns="0" rIns="0" bIns="0" anchor="ctr">
            <a:spAutoFit/>
          </a:bodyPr>
          <a:lstStyle/>
          <a:p>
            <a:r>
              <a:rPr sz="1150" b="0" i="0">
                <a:solidFill>
                  <a:srgbClr val="3F444C"/>
                </a:solidFill>
                <a:latin typeface="Consolas"/>
              </a:rPr>
              <a:t>        Frontier ← all compound terms          on round 0   </a:t>
            </a:r>
            <a:r>
              <a:rPr sz="1150" b="0" i="0">
                <a:solidFill>
                  <a:srgbClr val="7D838C"/>
                </a:solidFill>
                <a:latin typeface="Consolas"/>
              </a:rPr>
              <a:t>▹ seed round</a:t>
            </a:r>
          </a:p>
        </p:txBody>
      </p:sp>
      <p:sp>
        <p:nvSpPr>
          <p:cNvPr id="21" name="ParentCC code line 7"/>
          <p:cNvSpPr txBox="1"/>
          <p:nvPr/>
        </p:nvSpPr>
        <p:spPr>
          <a:xfrm>
            <a:off x="658368" y="3158338"/>
            <a:ext cx="7333488" cy="257861"/>
          </a:xfrm>
          <a:prstGeom prst="rect">
            <a:avLst/>
          </a:prstGeom>
          <a:noFill/>
        </p:spPr>
        <p:txBody>
          <a:bodyPr wrap="none" lIns="0" tIns="0" rIns="0" bIns="0" anchor="ctr">
            <a:spAutoFit/>
          </a:bodyPr>
          <a:lstStyle/>
          <a:p>
            <a:r>
              <a:rPr sz="1150" b="0" i="0">
                <a:solidFill>
                  <a:srgbClr val="3F444C"/>
                </a:solidFill>
                <a:latin typeface="Consolas"/>
              </a:rPr>
              <a:t>        Frontier ← ⋃ Parents[Find(c)] for c ∈ Work   otherwise</a:t>
            </a:r>
          </a:p>
        </p:txBody>
      </p:sp>
      <p:sp>
        <p:nvSpPr>
          <p:cNvPr id="22" name="ParentCC code line 8"/>
          <p:cNvSpPr txBox="1"/>
          <p:nvPr/>
        </p:nvSpPr>
        <p:spPr>
          <a:xfrm>
            <a:off x="658368" y="3416198"/>
            <a:ext cx="7333488" cy="257861"/>
          </a:xfrm>
          <a:prstGeom prst="rect">
            <a:avLst/>
          </a:prstGeom>
          <a:noFill/>
        </p:spPr>
        <p:txBody>
          <a:bodyPr wrap="none" lIns="0" tIns="0" rIns="0" bIns="0" anchor="ctr">
            <a:spAutoFit/>
          </a:bodyPr>
          <a:lstStyle/>
          <a:p>
            <a:r>
              <a:rPr sz="1150" b="0" i="0">
                <a:solidFill>
                  <a:srgbClr val="3F444C"/>
                </a:solidFill>
                <a:latin typeface="Consolas"/>
              </a:rPr>
              <a:t>        groups ← GroupBy(Congruent, Frontier)          </a:t>
            </a:r>
            <a:r>
              <a:rPr sz="1150" b="0" i="0">
                <a:solidFill>
                  <a:srgbClr val="7D838C"/>
                </a:solidFill>
                <a:latin typeface="Consolas"/>
              </a:rPr>
              <a:t>▹ semisort on sigs</a:t>
            </a:r>
          </a:p>
        </p:txBody>
      </p:sp>
      <p:sp>
        <p:nvSpPr>
          <p:cNvPr id="23" name="ParentCC code line 9"/>
          <p:cNvSpPr txBox="1"/>
          <p:nvPr/>
        </p:nvSpPr>
        <p:spPr>
          <a:xfrm>
            <a:off x="658368" y="3674059"/>
            <a:ext cx="7333488" cy="257861"/>
          </a:xfrm>
          <a:prstGeom prst="rect">
            <a:avLst/>
          </a:prstGeom>
          <a:noFill/>
        </p:spPr>
        <p:txBody>
          <a:bodyPr wrap="none" lIns="0" tIns="0" rIns="0" bIns="0" anchor="ctr">
            <a:spAutoFit/>
          </a:bodyPr>
          <a:lstStyle/>
          <a:p>
            <a:r>
              <a:rPr sz="1150" b="0" i="0">
                <a:solidFill>
                  <a:srgbClr val="3F444C"/>
                </a:solidFill>
                <a:latin typeface="Consolas"/>
              </a:rPr>
              <a:t>        Work ← ∅</a:t>
            </a:r>
          </a:p>
        </p:txBody>
      </p:sp>
      <p:sp>
        <p:nvSpPr>
          <p:cNvPr id="24" name="ParentCC code line 10"/>
          <p:cNvSpPr txBox="1"/>
          <p:nvPr/>
        </p:nvSpPr>
        <p:spPr>
          <a:xfrm>
            <a:off x="658368" y="3931920"/>
            <a:ext cx="7333488" cy="257861"/>
          </a:xfrm>
          <a:prstGeom prst="rect">
            <a:avLst/>
          </a:prstGeom>
          <a:noFill/>
        </p:spPr>
        <p:txBody>
          <a:bodyPr wrap="none" lIns="0" tIns="0" rIns="0" bIns="0" anchor="ctr">
            <a:spAutoFit/>
          </a:bodyPr>
          <a:lstStyle/>
          <a:p>
            <a:r>
              <a:rPr sz="1150" b="1" i="0">
                <a:solidFill>
                  <a:srgbClr val="A64018"/>
                </a:solidFill>
                <a:latin typeface="Consolas"/>
              </a:rPr>
              <a:t>        parfor g ∈ groups spanning &gt; 1 class:</a:t>
            </a:r>
          </a:p>
        </p:txBody>
      </p:sp>
      <p:sp>
        <p:nvSpPr>
          <p:cNvPr id="25" name="ParentCC code line 11"/>
          <p:cNvSpPr txBox="1"/>
          <p:nvPr/>
        </p:nvSpPr>
        <p:spPr>
          <a:xfrm>
            <a:off x="658368" y="4189781"/>
            <a:ext cx="7333488" cy="257861"/>
          </a:xfrm>
          <a:prstGeom prst="rect">
            <a:avLst/>
          </a:prstGeom>
          <a:noFill/>
        </p:spPr>
        <p:txBody>
          <a:bodyPr wrap="none" lIns="0" tIns="0" rIns="0" bIns="0" anchor="ctr">
            <a:spAutoFit/>
          </a:bodyPr>
          <a:lstStyle/>
          <a:p>
            <a:r>
              <a:rPr sz="1150" b="1" i="0">
                <a:solidFill>
                  <a:srgbClr val="A64018"/>
                </a:solidFill>
                <a:latin typeface="Consolas"/>
              </a:rPr>
              <a:t>            MergeCongruenceClass(g)                          ▹ parallel unions</a:t>
            </a:r>
          </a:p>
        </p:txBody>
      </p:sp>
      <p:sp>
        <p:nvSpPr>
          <p:cNvPr id="26" name="ParentCC code line 12"/>
          <p:cNvSpPr txBox="1"/>
          <p:nvPr/>
        </p:nvSpPr>
        <p:spPr>
          <a:xfrm>
            <a:off x="658368" y="4447642"/>
            <a:ext cx="7333488" cy="257861"/>
          </a:xfrm>
          <a:prstGeom prst="rect">
            <a:avLst/>
          </a:prstGeom>
          <a:noFill/>
        </p:spPr>
        <p:txBody>
          <a:bodyPr wrap="none" lIns="0" tIns="0" rIns="0" bIns="0" anchor="ctr">
            <a:spAutoFit/>
          </a:bodyPr>
          <a:lstStyle/>
          <a:p>
            <a:r>
              <a:rPr sz="1150" b="0" i="0">
                <a:solidFill>
                  <a:srgbClr val="3F444C"/>
                </a:solidFill>
                <a:latin typeface="Consolas"/>
              </a:rPr>
              <a:t>            Work ← Work ∪ pre-merge roots of g</a:t>
            </a:r>
          </a:p>
        </p:txBody>
      </p:sp>
      <p:sp>
        <p:nvSpPr>
          <p:cNvPr id="27" name="ParentCC code line 13"/>
          <p:cNvSpPr txBox="1"/>
          <p:nvPr/>
        </p:nvSpPr>
        <p:spPr>
          <a:xfrm>
            <a:off x="658368" y="4705502"/>
            <a:ext cx="7333488" cy="257861"/>
          </a:xfrm>
          <a:prstGeom prst="rect">
            <a:avLst/>
          </a:prstGeom>
          <a:noFill/>
        </p:spPr>
        <p:txBody>
          <a:bodyPr wrap="none" lIns="0" tIns="0" rIns="0" bIns="0" anchor="ctr">
            <a:spAutoFit/>
          </a:bodyPr>
          <a:lstStyle/>
          <a:p>
            <a:endParaRPr/>
          </a:p>
        </p:txBody>
      </p:sp>
      <p:sp>
        <p:nvSpPr>
          <p:cNvPr id="28" name="ParentCC code line 14"/>
          <p:cNvSpPr txBox="1"/>
          <p:nvPr/>
        </p:nvSpPr>
        <p:spPr>
          <a:xfrm>
            <a:off x="658368" y="4963363"/>
            <a:ext cx="7333488" cy="257861"/>
          </a:xfrm>
          <a:prstGeom prst="rect">
            <a:avLst/>
          </a:prstGeom>
          <a:noFill/>
        </p:spPr>
        <p:txBody>
          <a:bodyPr wrap="none" lIns="0" tIns="0" rIns="0" bIns="0" anchor="ctr">
            <a:spAutoFit/>
          </a:bodyPr>
          <a:lstStyle/>
          <a:p>
            <a:r>
              <a:rPr sz="1150" b="1" i="0">
                <a:solidFill>
                  <a:srgbClr val="A64018"/>
                </a:solidFill>
                <a:latin typeface="Consolas"/>
              </a:rPr>
              <a:t>MergeCongruenceClass(S):                             ▹ divide and conquer</a:t>
            </a:r>
          </a:p>
        </p:txBody>
      </p:sp>
      <p:sp>
        <p:nvSpPr>
          <p:cNvPr id="29" name="ParentCC code line 15"/>
          <p:cNvSpPr txBox="1"/>
          <p:nvPr/>
        </p:nvSpPr>
        <p:spPr>
          <a:xfrm>
            <a:off x="658368" y="5221224"/>
            <a:ext cx="7333488" cy="257861"/>
          </a:xfrm>
          <a:prstGeom prst="rect">
            <a:avLst/>
          </a:prstGeom>
          <a:noFill/>
        </p:spPr>
        <p:txBody>
          <a:bodyPr wrap="none" lIns="0" tIns="0" rIns="0" bIns="0" anchor="ctr">
            <a:spAutoFit/>
          </a:bodyPr>
          <a:lstStyle/>
          <a:p>
            <a:r>
              <a:rPr sz="1150" b="1" i="0">
                <a:solidFill>
                  <a:srgbClr val="A64018"/>
                </a:solidFill>
                <a:latin typeface="Consolas"/>
              </a:rPr>
              <a:t>    if |S| = 1: return the element</a:t>
            </a:r>
          </a:p>
        </p:txBody>
      </p:sp>
      <p:sp>
        <p:nvSpPr>
          <p:cNvPr id="30" name="ParentCC code line 16"/>
          <p:cNvSpPr txBox="1"/>
          <p:nvPr/>
        </p:nvSpPr>
        <p:spPr>
          <a:xfrm>
            <a:off x="658368" y="5479085"/>
            <a:ext cx="7333488" cy="257861"/>
          </a:xfrm>
          <a:prstGeom prst="rect">
            <a:avLst/>
          </a:prstGeom>
          <a:noFill/>
        </p:spPr>
        <p:txBody>
          <a:bodyPr wrap="none" lIns="0" tIns="0" rIns="0" bIns="0" anchor="ctr">
            <a:spAutoFit/>
          </a:bodyPr>
          <a:lstStyle/>
          <a:p>
            <a:r>
              <a:rPr sz="1150" b="1" i="0">
                <a:solidFill>
                  <a:srgbClr val="A64018"/>
                </a:solidFill>
                <a:latin typeface="Consolas"/>
              </a:rPr>
              <a:t>    l, r ← MergeCongruenceClass(S[0..n/2]) ∥ MergeCongruenceClass(S[n/2..n])</a:t>
            </a:r>
          </a:p>
        </p:txBody>
      </p:sp>
      <p:sp>
        <p:nvSpPr>
          <p:cNvPr id="31" name="ParentCC code line 17"/>
          <p:cNvSpPr txBox="1"/>
          <p:nvPr/>
        </p:nvSpPr>
        <p:spPr>
          <a:xfrm>
            <a:off x="658368" y="5736946"/>
            <a:ext cx="7333488" cy="257861"/>
          </a:xfrm>
          <a:prstGeom prst="rect">
            <a:avLst/>
          </a:prstGeom>
          <a:noFill/>
        </p:spPr>
        <p:txBody>
          <a:bodyPr wrap="none" lIns="0" tIns="0" rIns="0" bIns="0" anchor="ctr">
            <a:spAutoFit/>
          </a:bodyPr>
          <a:lstStyle/>
          <a:p>
            <a:r>
              <a:rPr sz="1150" b="1" i="0">
                <a:solidFill>
                  <a:srgbClr val="A64018"/>
                </a:solidFill>
                <a:latin typeface="Consolas"/>
              </a:rPr>
              <a:t>    return Union(l, r)</a:t>
            </a:r>
          </a:p>
        </p:txBody>
      </p:sp>
      <p:sp>
        <p:nvSpPr>
          <p:cNvPr id="32" name="ParentCC completed veil 4-8"/>
          <p:cNvSpPr/>
          <p:nvPr/>
        </p:nvSpPr>
        <p:spPr>
          <a:xfrm>
            <a:off x="585216" y="2371039"/>
            <a:ext cx="7479792" cy="1312164"/>
          </a:xfrm>
          <a:prstGeom prst="rect">
            <a:avLst/>
          </a:prstGeom>
          <a:solidFill>
            <a:srgbClr val="D5D8DD">
              <a:alpha val="18000"/>
            </a:srgbClr>
          </a:solidFill>
          <a:ln>
            <a:noFill/>
          </a:ln>
        </p:spPr>
        <p:txBody>
          <a:bodyPr/>
          <a:lstStyle/>
          <a:p>
            <a:endParaRPr lang="en-US"/>
          </a:p>
        </p:txBody>
      </p:sp>
      <p:sp>
        <p:nvSpPr>
          <p:cNvPr id="33" name="ParentCC irrelevant veil 0-3"/>
          <p:cNvSpPr/>
          <p:nvPr/>
        </p:nvSpPr>
        <p:spPr>
          <a:xfrm>
            <a:off x="585216" y="1339596"/>
            <a:ext cx="7479792" cy="2615185"/>
          </a:xfrm>
          <a:prstGeom prst="rect">
            <a:avLst/>
          </a:prstGeom>
          <a:solidFill>
            <a:srgbClr val="D5D8DD">
              <a:alpha val="80000"/>
            </a:srgbClr>
          </a:solidFill>
          <a:ln>
            <a:noFill/>
          </a:ln>
        </p:spPr>
        <p:txBody>
          <a:bodyPr/>
          <a:lstStyle/>
          <a:p>
            <a:endParaRPr lang="en-US"/>
          </a:p>
        </p:txBody>
      </p:sp>
      <p:sp>
        <p:nvSpPr>
          <p:cNvPr id="34" name="ParentCC irrelevant veil 9-9"/>
          <p:cNvSpPr/>
          <p:nvPr/>
        </p:nvSpPr>
        <p:spPr>
          <a:xfrm>
            <a:off x="585216" y="3660343"/>
            <a:ext cx="7479792" cy="280721"/>
          </a:xfrm>
          <a:prstGeom prst="rect">
            <a:avLst/>
          </a:prstGeom>
          <a:solidFill>
            <a:srgbClr val="D5D8DD">
              <a:alpha val="56000"/>
            </a:srgbClr>
          </a:solidFill>
          <a:ln>
            <a:noFill/>
          </a:ln>
        </p:spPr>
        <p:txBody>
          <a:bodyPr/>
          <a:lstStyle/>
          <a:p>
            <a:endParaRPr lang="en-US"/>
          </a:p>
        </p:txBody>
      </p:sp>
      <p:sp>
        <p:nvSpPr>
          <p:cNvPr id="35" name="ParentCC irrelevant veil 12-13"/>
          <p:cNvSpPr/>
          <p:nvPr/>
        </p:nvSpPr>
        <p:spPr>
          <a:xfrm>
            <a:off x="585216" y="4433926"/>
            <a:ext cx="7479792" cy="538582"/>
          </a:xfrm>
          <a:prstGeom prst="rect">
            <a:avLst/>
          </a:prstGeom>
          <a:solidFill>
            <a:srgbClr val="D5D8DD">
              <a:alpha val="80000"/>
            </a:srgbClr>
          </a:solidFill>
          <a:ln>
            <a:noFill/>
          </a:ln>
        </p:spPr>
        <p:txBody>
          <a:bodyPr/>
          <a:lstStyle/>
          <a:p>
            <a:endParaRPr lang="en-US"/>
          </a:p>
        </p:txBody>
      </p:sp>
      <p:sp>
        <p:nvSpPr>
          <p:cNvPr id="6" name="ParentCC annotation heading - Find candidates">
            <a:extLst>
              <a:ext uri="{FF2B5EF4-FFF2-40B4-BE49-F238E27FC236}">
                <a16:creationId xmlns:a16="http://schemas.microsoft.com/office/drawing/2014/main" id="{AE0FF2A1-129F-652D-4457-558E2F06F888}"/>
              </a:ext>
            </a:extLst>
          </p:cNvPr>
          <p:cNvSpPr txBox="1"/>
          <p:nvPr/>
        </p:nvSpPr>
        <p:spPr>
          <a:xfrm>
            <a:off x="8238744" y="1234440"/>
            <a:ext cx="3944112" cy="1902059"/>
          </a:xfrm>
          <a:prstGeom prst="rect">
            <a:avLst/>
          </a:prstGeom>
          <a:noFill/>
        </p:spPr>
        <p:txBody>
          <a:bodyPr wrap="square" lIns="45720" tIns="27432" rIns="45720" bIns="27432" anchor="ctr">
            <a:spAutoFit/>
          </a:bodyPr>
          <a:lstStyle/>
          <a:p>
            <a:pPr marL="457200" indent="-457200" algn="l">
              <a:buAutoNum type="arabicPeriod"/>
            </a:pPr>
            <a:r>
              <a:rPr sz="2400" b="1" i="0" dirty="0">
                <a:solidFill>
                  <a:srgbClr val="C8501E"/>
                </a:solidFill>
                <a:latin typeface="Calibri"/>
              </a:rPr>
              <a:t>Find candidates</a:t>
            </a:r>
            <a:r>
              <a:rPr lang="en-US" sz="2400" b="1" i="0" dirty="0">
                <a:solidFill>
                  <a:srgbClr val="C8501E"/>
                </a:solidFill>
                <a:latin typeface="Calibri"/>
              </a:rPr>
              <a:t> for merging</a:t>
            </a:r>
          </a:p>
          <a:p>
            <a:pPr marL="457200" indent="-457200" algn="l">
              <a:buAutoNum type="arabicPeriod"/>
            </a:pPr>
            <a:r>
              <a:rPr lang="en-US" sz="2400" b="1" dirty="0">
                <a:solidFill>
                  <a:srgbClr val="C8501E"/>
                </a:solidFill>
                <a:latin typeface="Calibri"/>
              </a:rPr>
              <a:t>Group by signature</a:t>
            </a:r>
          </a:p>
          <a:p>
            <a:pPr marL="457200" indent="-457200" algn="l">
              <a:buAutoNum type="arabicPeriod"/>
            </a:pPr>
            <a:r>
              <a:rPr lang="en-US" sz="2400" b="1" i="0" dirty="0">
                <a:solidFill>
                  <a:srgbClr val="C8501E"/>
                </a:solidFill>
                <a:latin typeface="Calibri"/>
              </a:rPr>
              <a:t>Merge congruent terms </a:t>
            </a:r>
          </a:p>
          <a:p>
            <a:pPr marL="457200" indent="-457200" algn="l">
              <a:buAutoNum type="arabicPeriod"/>
            </a:pPr>
            <a:endParaRPr sz="2400" b="1" i="0" dirty="0">
              <a:solidFill>
                <a:srgbClr val="C8501E"/>
              </a:solidFill>
              <a:latin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entCC pseudocode title"/>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ParentCC pseudocode</a:t>
            </a:r>
          </a:p>
        </p:txBody>
      </p:sp>
      <p:sp>
        <p:nvSpPr>
          <p:cNvPr id="3" name="ParentCC title rule"/>
          <p:cNvSpPr/>
          <p:nvPr/>
        </p:nvSpPr>
        <p:spPr>
          <a:xfrm>
            <a:off x="566928" y="1005840"/>
            <a:ext cx="2176272" cy="32004"/>
          </a:xfrm>
          <a:prstGeom prst="rect">
            <a:avLst/>
          </a:prstGeom>
          <a:solidFill>
            <a:srgbClr val="C8501E"/>
          </a:solidFill>
          <a:ln>
            <a:noFill/>
          </a:ln>
        </p:spPr>
        <p:txBody>
          <a:bodyPr/>
          <a:lstStyle/>
          <a:p>
            <a:endParaRPr lang="en-US"/>
          </a:p>
        </p:txBody>
      </p:sp>
      <p:sp>
        <p:nvSpPr>
          <p:cNvPr id="4" name="ParentCC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42</a:t>
            </a:r>
          </a:p>
        </p:txBody>
      </p:sp>
      <p:sp>
        <p:nvSpPr>
          <p:cNvPr id="5" name="ParentCC code background"/>
          <p:cNvSpPr/>
          <p:nvPr/>
        </p:nvSpPr>
        <p:spPr>
          <a:xfrm>
            <a:off x="502920" y="1234440"/>
            <a:ext cx="7662672" cy="4892040"/>
          </a:xfrm>
          <a:prstGeom prst="rect">
            <a:avLst/>
          </a:prstGeom>
          <a:solidFill>
            <a:srgbClr val="F7F7F9"/>
          </a:solidFill>
          <a:ln>
            <a:noFill/>
          </a:ln>
        </p:spPr>
        <p:txBody>
          <a:bodyPr/>
          <a:lstStyle/>
          <a:p>
            <a:endParaRPr lang="en-US"/>
          </a:p>
        </p:txBody>
      </p:sp>
      <p:sp>
        <p:nvSpPr>
          <p:cNvPr id="10" name="ParentCC active band 2-3"/>
          <p:cNvSpPr/>
          <p:nvPr/>
        </p:nvSpPr>
        <p:spPr>
          <a:xfrm>
            <a:off x="585216" y="1855318"/>
            <a:ext cx="7479792" cy="538582"/>
          </a:xfrm>
          <a:prstGeom prst="rect">
            <a:avLst/>
          </a:prstGeom>
          <a:solidFill>
            <a:srgbClr val="FFF0DA"/>
          </a:solidFill>
          <a:ln>
            <a:noFill/>
          </a:ln>
        </p:spPr>
        <p:txBody>
          <a:bodyPr/>
          <a:lstStyle/>
          <a:p>
            <a:endParaRPr lang="en-US"/>
          </a:p>
        </p:txBody>
      </p:sp>
      <p:sp>
        <p:nvSpPr>
          <p:cNvPr id="11" name="ParentCC active bar 2-3"/>
          <p:cNvSpPr/>
          <p:nvPr/>
        </p:nvSpPr>
        <p:spPr>
          <a:xfrm>
            <a:off x="566928" y="1855318"/>
            <a:ext cx="50292" cy="538582"/>
          </a:xfrm>
          <a:prstGeom prst="rect">
            <a:avLst/>
          </a:prstGeom>
          <a:solidFill>
            <a:srgbClr val="C8501E"/>
          </a:solidFill>
          <a:ln>
            <a:noFill/>
          </a:ln>
        </p:spPr>
        <p:txBody>
          <a:bodyPr/>
          <a:lstStyle/>
          <a:p>
            <a:endParaRPr lang="en-US"/>
          </a:p>
        </p:txBody>
      </p:sp>
      <p:sp>
        <p:nvSpPr>
          <p:cNvPr id="12" name="ParentCC active band 9-9"/>
          <p:cNvSpPr/>
          <p:nvPr/>
        </p:nvSpPr>
        <p:spPr>
          <a:xfrm>
            <a:off x="585216" y="3660343"/>
            <a:ext cx="7479792" cy="280721"/>
          </a:xfrm>
          <a:prstGeom prst="rect">
            <a:avLst/>
          </a:prstGeom>
          <a:solidFill>
            <a:srgbClr val="FFF0DA"/>
          </a:solidFill>
          <a:ln>
            <a:noFill/>
          </a:ln>
        </p:spPr>
        <p:txBody>
          <a:bodyPr/>
          <a:lstStyle/>
          <a:p>
            <a:endParaRPr lang="en-US"/>
          </a:p>
        </p:txBody>
      </p:sp>
      <p:sp>
        <p:nvSpPr>
          <p:cNvPr id="13" name="ParentCC active bar 9-9"/>
          <p:cNvSpPr/>
          <p:nvPr/>
        </p:nvSpPr>
        <p:spPr>
          <a:xfrm>
            <a:off x="566928" y="3660343"/>
            <a:ext cx="50292" cy="280721"/>
          </a:xfrm>
          <a:prstGeom prst="rect">
            <a:avLst/>
          </a:prstGeom>
          <a:solidFill>
            <a:srgbClr val="C8501E"/>
          </a:solidFill>
          <a:ln>
            <a:noFill/>
          </a:ln>
        </p:spPr>
        <p:txBody>
          <a:bodyPr/>
          <a:lstStyle/>
          <a:p>
            <a:endParaRPr lang="en-US"/>
          </a:p>
        </p:txBody>
      </p:sp>
      <p:sp>
        <p:nvSpPr>
          <p:cNvPr id="14" name="ParentCC active band 12-12"/>
          <p:cNvSpPr/>
          <p:nvPr/>
        </p:nvSpPr>
        <p:spPr>
          <a:xfrm>
            <a:off x="585216" y="4433926"/>
            <a:ext cx="7479792" cy="280721"/>
          </a:xfrm>
          <a:prstGeom prst="rect">
            <a:avLst/>
          </a:prstGeom>
          <a:solidFill>
            <a:srgbClr val="FFF0DA"/>
          </a:solidFill>
          <a:ln>
            <a:noFill/>
          </a:ln>
        </p:spPr>
        <p:txBody>
          <a:bodyPr/>
          <a:lstStyle/>
          <a:p>
            <a:endParaRPr lang="en-US"/>
          </a:p>
        </p:txBody>
      </p:sp>
      <p:sp>
        <p:nvSpPr>
          <p:cNvPr id="15" name="ParentCC active bar 12-12"/>
          <p:cNvSpPr/>
          <p:nvPr/>
        </p:nvSpPr>
        <p:spPr>
          <a:xfrm>
            <a:off x="566928" y="4433926"/>
            <a:ext cx="50292" cy="280721"/>
          </a:xfrm>
          <a:prstGeom prst="rect">
            <a:avLst/>
          </a:prstGeom>
          <a:solidFill>
            <a:srgbClr val="C8501E"/>
          </a:solidFill>
          <a:ln>
            <a:noFill/>
          </a:ln>
        </p:spPr>
        <p:txBody>
          <a:bodyPr/>
          <a:lstStyle/>
          <a:p>
            <a:endParaRPr lang="en-US"/>
          </a:p>
        </p:txBody>
      </p:sp>
      <p:sp>
        <p:nvSpPr>
          <p:cNvPr id="16" name="ParentCC code line 0"/>
          <p:cNvSpPr txBox="1"/>
          <p:nvPr/>
        </p:nvSpPr>
        <p:spPr>
          <a:xfrm>
            <a:off x="658368" y="1353312"/>
            <a:ext cx="7333488" cy="257861"/>
          </a:xfrm>
          <a:prstGeom prst="rect">
            <a:avLst/>
          </a:prstGeom>
          <a:noFill/>
        </p:spPr>
        <p:txBody>
          <a:bodyPr wrap="none" lIns="0" tIns="0" rIns="0" bIns="0" anchor="ctr">
            <a:spAutoFit/>
          </a:bodyPr>
          <a:lstStyle/>
          <a:p>
            <a:r>
              <a:rPr sz="1150" b="1" i="0">
                <a:solidFill>
                  <a:srgbClr val="1F2A44"/>
                </a:solidFill>
                <a:latin typeface="Consolas"/>
              </a:rPr>
              <a:t>ParentCC(E):</a:t>
            </a:r>
          </a:p>
        </p:txBody>
      </p:sp>
      <p:sp>
        <p:nvSpPr>
          <p:cNvPr id="17" name="ParentCC code line 1"/>
          <p:cNvSpPr txBox="1"/>
          <p:nvPr/>
        </p:nvSpPr>
        <p:spPr>
          <a:xfrm>
            <a:off x="658368" y="1611173"/>
            <a:ext cx="7333488" cy="257861"/>
          </a:xfrm>
          <a:prstGeom prst="rect">
            <a:avLst/>
          </a:prstGeom>
          <a:noFill/>
        </p:spPr>
        <p:txBody>
          <a:bodyPr wrap="none" lIns="0" tIns="0" rIns="0" bIns="0" anchor="ctr">
            <a:spAutoFit/>
          </a:bodyPr>
          <a:lstStyle/>
          <a:p>
            <a:r>
              <a:rPr sz="1150" b="0" i="0">
                <a:solidFill>
                  <a:srgbClr val="3F444C"/>
                </a:solidFill>
                <a:latin typeface="Consolas"/>
              </a:rPr>
              <a:t>    parfor (u = v) ∈ E:  Union(u, v)</a:t>
            </a:r>
          </a:p>
        </p:txBody>
      </p:sp>
      <p:sp>
        <p:nvSpPr>
          <p:cNvPr id="18" name="ParentCC code line 2"/>
          <p:cNvSpPr txBox="1"/>
          <p:nvPr/>
        </p:nvSpPr>
        <p:spPr>
          <a:xfrm>
            <a:off x="658368" y="1869034"/>
            <a:ext cx="7333488" cy="257861"/>
          </a:xfrm>
          <a:prstGeom prst="rect">
            <a:avLst/>
          </a:prstGeom>
          <a:noFill/>
        </p:spPr>
        <p:txBody>
          <a:bodyPr wrap="none" lIns="0" tIns="0" rIns="0" bIns="0" anchor="ctr">
            <a:spAutoFit/>
          </a:bodyPr>
          <a:lstStyle/>
          <a:p>
            <a:r>
              <a:rPr sz="1150" b="1" i="0">
                <a:solidFill>
                  <a:srgbClr val="A64018"/>
                </a:solidFill>
                <a:latin typeface="Consolas"/>
              </a:rPr>
              <a:t>    Work ← terms of E</a:t>
            </a:r>
          </a:p>
        </p:txBody>
      </p:sp>
      <p:sp>
        <p:nvSpPr>
          <p:cNvPr id="19" name="ParentCC code line 3"/>
          <p:cNvSpPr txBox="1"/>
          <p:nvPr/>
        </p:nvSpPr>
        <p:spPr>
          <a:xfrm>
            <a:off x="658368" y="2126894"/>
            <a:ext cx="7333488" cy="257861"/>
          </a:xfrm>
          <a:prstGeom prst="rect">
            <a:avLst/>
          </a:prstGeom>
          <a:noFill/>
        </p:spPr>
        <p:txBody>
          <a:bodyPr wrap="none" lIns="0" tIns="0" rIns="0" bIns="0" anchor="ctr">
            <a:spAutoFit/>
          </a:bodyPr>
          <a:lstStyle/>
          <a:p>
            <a:r>
              <a:rPr sz="1150" b="1" i="0">
                <a:solidFill>
                  <a:srgbClr val="A64018"/>
                </a:solidFill>
                <a:latin typeface="Consolas"/>
              </a:rPr>
              <a:t>    while Work ≠ ∅:</a:t>
            </a:r>
          </a:p>
        </p:txBody>
      </p:sp>
      <p:sp>
        <p:nvSpPr>
          <p:cNvPr id="20" name="ParentCC code line 4"/>
          <p:cNvSpPr txBox="1"/>
          <p:nvPr/>
        </p:nvSpPr>
        <p:spPr>
          <a:xfrm>
            <a:off x="658368" y="2384755"/>
            <a:ext cx="7333488" cy="257861"/>
          </a:xfrm>
          <a:prstGeom prst="rect">
            <a:avLst/>
          </a:prstGeom>
          <a:noFill/>
        </p:spPr>
        <p:txBody>
          <a:bodyPr wrap="none" lIns="0" tIns="0" rIns="0" bIns="0" anchor="ctr">
            <a:spAutoFit/>
          </a:bodyPr>
          <a:lstStyle/>
          <a:p>
            <a:r>
              <a:rPr sz="1150" b="0" i="0">
                <a:solidFill>
                  <a:srgbClr val="3F444C"/>
                </a:solidFill>
                <a:latin typeface="Consolas"/>
              </a:rPr>
              <a:t>        parfor c ∈ Work with c ≠ Find(c):                 </a:t>
            </a:r>
            <a:r>
              <a:rPr sz="1150" b="0" i="0">
                <a:solidFill>
                  <a:srgbClr val="7D838C"/>
                </a:solidFill>
                <a:latin typeface="Consolas"/>
              </a:rPr>
              <a:t>▹ fold parent lists</a:t>
            </a:r>
          </a:p>
        </p:txBody>
      </p:sp>
      <p:sp>
        <p:nvSpPr>
          <p:cNvPr id="21" name="ParentCC code line 5"/>
          <p:cNvSpPr txBox="1"/>
          <p:nvPr/>
        </p:nvSpPr>
        <p:spPr>
          <a:xfrm>
            <a:off x="658368" y="2642616"/>
            <a:ext cx="7333488" cy="257861"/>
          </a:xfrm>
          <a:prstGeom prst="rect">
            <a:avLst/>
          </a:prstGeom>
          <a:noFill/>
        </p:spPr>
        <p:txBody>
          <a:bodyPr wrap="none" lIns="0" tIns="0" rIns="0" bIns="0" anchor="ctr">
            <a:spAutoFit/>
          </a:bodyPr>
          <a:lstStyle/>
          <a:p>
            <a:r>
              <a:rPr sz="1150" b="0" i="0">
                <a:solidFill>
                  <a:srgbClr val="3F444C"/>
                </a:solidFill>
                <a:latin typeface="Consolas"/>
              </a:rPr>
              <a:t>            Parents[Find(c)] ← Parents[Find(c)] ∪ Parents[c]</a:t>
            </a:r>
          </a:p>
        </p:txBody>
      </p:sp>
      <p:sp>
        <p:nvSpPr>
          <p:cNvPr id="22" name="ParentCC code line 6"/>
          <p:cNvSpPr txBox="1"/>
          <p:nvPr/>
        </p:nvSpPr>
        <p:spPr>
          <a:xfrm>
            <a:off x="658368" y="2900477"/>
            <a:ext cx="7333488" cy="257861"/>
          </a:xfrm>
          <a:prstGeom prst="rect">
            <a:avLst/>
          </a:prstGeom>
          <a:noFill/>
        </p:spPr>
        <p:txBody>
          <a:bodyPr wrap="none" lIns="0" tIns="0" rIns="0" bIns="0" anchor="ctr">
            <a:spAutoFit/>
          </a:bodyPr>
          <a:lstStyle/>
          <a:p>
            <a:r>
              <a:rPr sz="1150" b="0" i="0">
                <a:solidFill>
                  <a:srgbClr val="3F444C"/>
                </a:solidFill>
                <a:latin typeface="Consolas"/>
              </a:rPr>
              <a:t>        Frontier ← all compound terms          on round 0   </a:t>
            </a:r>
            <a:r>
              <a:rPr sz="1150" b="0" i="0">
                <a:solidFill>
                  <a:srgbClr val="7D838C"/>
                </a:solidFill>
                <a:latin typeface="Consolas"/>
              </a:rPr>
              <a:t>▹ seed round</a:t>
            </a:r>
          </a:p>
        </p:txBody>
      </p:sp>
      <p:sp>
        <p:nvSpPr>
          <p:cNvPr id="23" name="ParentCC code line 7"/>
          <p:cNvSpPr txBox="1"/>
          <p:nvPr/>
        </p:nvSpPr>
        <p:spPr>
          <a:xfrm>
            <a:off x="658368" y="3158338"/>
            <a:ext cx="7333488" cy="257861"/>
          </a:xfrm>
          <a:prstGeom prst="rect">
            <a:avLst/>
          </a:prstGeom>
          <a:noFill/>
        </p:spPr>
        <p:txBody>
          <a:bodyPr wrap="none" lIns="0" tIns="0" rIns="0" bIns="0" anchor="ctr">
            <a:spAutoFit/>
          </a:bodyPr>
          <a:lstStyle/>
          <a:p>
            <a:r>
              <a:rPr sz="1150" b="0" i="0">
                <a:solidFill>
                  <a:srgbClr val="3F444C"/>
                </a:solidFill>
                <a:latin typeface="Consolas"/>
              </a:rPr>
              <a:t>        Frontier ← ⋃ Parents[Find(c)] for c ∈ Work   otherwise</a:t>
            </a:r>
          </a:p>
        </p:txBody>
      </p:sp>
      <p:sp>
        <p:nvSpPr>
          <p:cNvPr id="24" name="ParentCC code line 8"/>
          <p:cNvSpPr txBox="1"/>
          <p:nvPr/>
        </p:nvSpPr>
        <p:spPr>
          <a:xfrm>
            <a:off x="658368" y="3416198"/>
            <a:ext cx="7333488" cy="257861"/>
          </a:xfrm>
          <a:prstGeom prst="rect">
            <a:avLst/>
          </a:prstGeom>
          <a:noFill/>
        </p:spPr>
        <p:txBody>
          <a:bodyPr wrap="none" lIns="0" tIns="0" rIns="0" bIns="0" anchor="ctr">
            <a:spAutoFit/>
          </a:bodyPr>
          <a:lstStyle/>
          <a:p>
            <a:r>
              <a:rPr sz="1150" b="0" i="0">
                <a:solidFill>
                  <a:srgbClr val="3F444C"/>
                </a:solidFill>
                <a:latin typeface="Consolas"/>
              </a:rPr>
              <a:t>        groups ← GroupBy(Congruent, Frontier)          </a:t>
            </a:r>
            <a:r>
              <a:rPr sz="1150" b="0" i="0">
                <a:solidFill>
                  <a:srgbClr val="7D838C"/>
                </a:solidFill>
                <a:latin typeface="Consolas"/>
              </a:rPr>
              <a:t>▹ semisort on sigs</a:t>
            </a:r>
          </a:p>
        </p:txBody>
      </p:sp>
      <p:sp>
        <p:nvSpPr>
          <p:cNvPr id="25" name="ParentCC code line 9"/>
          <p:cNvSpPr txBox="1"/>
          <p:nvPr/>
        </p:nvSpPr>
        <p:spPr>
          <a:xfrm>
            <a:off x="658368" y="3674059"/>
            <a:ext cx="7333488" cy="257861"/>
          </a:xfrm>
          <a:prstGeom prst="rect">
            <a:avLst/>
          </a:prstGeom>
          <a:noFill/>
        </p:spPr>
        <p:txBody>
          <a:bodyPr wrap="none" lIns="0" tIns="0" rIns="0" bIns="0" anchor="ctr">
            <a:spAutoFit/>
          </a:bodyPr>
          <a:lstStyle/>
          <a:p>
            <a:r>
              <a:rPr sz="1150" b="1" i="0">
                <a:solidFill>
                  <a:srgbClr val="A64018"/>
                </a:solidFill>
                <a:latin typeface="Consolas"/>
              </a:rPr>
              <a:t>        Work ← ∅</a:t>
            </a:r>
          </a:p>
        </p:txBody>
      </p:sp>
      <p:sp>
        <p:nvSpPr>
          <p:cNvPr id="26" name="ParentCC code line 10"/>
          <p:cNvSpPr txBox="1"/>
          <p:nvPr/>
        </p:nvSpPr>
        <p:spPr>
          <a:xfrm>
            <a:off x="658368" y="3931920"/>
            <a:ext cx="7333488" cy="257861"/>
          </a:xfrm>
          <a:prstGeom prst="rect">
            <a:avLst/>
          </a:prstGeom>
          <a:noFill/>
        </p:spPr>
        <p:txBody>
          <a:bodyPr wrap="none" lIns="0" tIns="0" rIns="0" bIns="0" anchor="ctr">
            <a:spAutoFit/>
          </a:bodyPr>
          <a:lstStyle/>
          <a:p>
            <a:r>
              <a:rPr sz="1150" b="0" i="0">
                <a:solidFill>
                  <a:srgbClr val="3F444C"/>
                </a:solidFill>
                <a:latin typeface="Consolas"/>
              </a:rPr>
              <a:t>        parfor g ∈ groups spanning &gt; 1 class:</a:t>
            </a:r>
          </a:p>
        </p:txBody>
      </p:sp>
      <p:sp>
        <p:nvSpPr>
          <p:cNvPr id="27" name="ParentCC code line 11"/>
          <p:cNvSpPr txBox="1"/>
          <p:nvPr/>
        </p:nvSpPr>
        <p:spPr>
          <a:xfrm>
            <a:off x="658368" y="4189781"/>
            <a:ext cx="7333488" cy="257861"/>
          </a:xfrm>
          <a:prstGeom prst="rect">
            <a:avLst/>
          </a:prstGeom>
          <a:noFill/>
        </p:spPr>
        <p:txBody>
          <a:bodyPr wrap="none" lIns="0" tIns="0" rIns="0" bIns="0" anchor="ctr">
            <a:spAutoFit/>
          </a:bodyPr>
          <a:lstStyle/>
          <a:p>
            <a:r>
              <a:rPr sz="1150" b="0" i="0">
                <a:solidFill>
                  <a:srgbClr val="3F444C"/>
                </a:solidFill>
                <a:latin typeface="Consolas"/>
              </a:rPr>
              <a:t>            MergeCongruenceClass(g)                          </a:t>
            </a:r>
            <a:r>
              <a:rPr sz="1150" b="0" i="0">
                <a:solidFill>
                  <a:srgbClr val="7D838C"/>
                </a:solidFill>
                <a:latin typeface="Consolas"/>
              </a:rPr>
              <a:t>▹ parallel unions</a:t>
            </a:r>
          </a:p>
        </p:txBody>
      </p:sp>
      <p:sp>
        <p:nvSpPr>
          <p:cNvPr id="28" name="ParentCC code line 12"/>
          <p:cNvSpPr txBox="1"/>
          <p:nvPr/>
        </p:nvSpPr>
        <p:spPr>
          <a:xfrm>
            <a:off x="658368" y="4447642"/>
            <a:ext cx="7333488" cy="257861"/>
          </a:xfrm>
          <a:prstGeom prst="rect">
            <a:avLst/>
          </a:prstGeom>
          <a:noFill/>
        </p:spPr>
        <p:txBody>
          <a:bodyPr wrap="none" lIns="0" tIns="0" rIns="0" bIns="0" anchor="ctr">
            <a:spAutoFit/>
          </a:bodyPr>
          <a:lstStyle/>
          <a:p>
            <a:r>
              <a:rPr sz="1150" b="1" i="0">
                <a:solidFill>
                  <a:srgbClr val="A64018"/>
                </a:solidFill>
                <a:latin typeface="Consolas"/>
              </a:rPr>
              <a:t>            Work ← Work ∪ pre-merge roots of g</a:t>
            </a:r>
          </a:p>
        </p:txBody>
      </p:sp>
      <p:sp>
        <p:nvSpPr>
          <p:cNvPr id="29" name="ParentCC code line 13"/>
          <p:cNvSpPr txBox="1"/>
          <p:nvPr/>
        </p:nvSpPr>
        <p:spPr>
          <a:xfrm>
            <a:off x="658368" y="4705502"/>
            <a:ext cx="7333488" cy="257861"/>
          </a:xfrm>
          <a:prstGeom prst="rect">
            <a:avLst/>
          </a:prstGeom>
          <a:noFill/>
        </p:spPr>
        <p:txBody>
          <a:bodyPr wrap="none" lIns="0" tIns="0" rIns="0" bIns="0" anchor="ctr">
            <a:spAutoFit/>
          </a:bodyPr>
          <a:lstStyle/>
          <a:p>
            <a:endParaRPr/>
          </a:p>
        </p:txBody>
      </p:sp>
      <p:sp>
        <p:nvSpPr>
          <p:cNvPr id="30" name="ParentCC code line 14"/>
          <p:cNvSpPr txBox="1"/>
          <p:nvPr/>
        </p:nvSpPr>
        <p:spPr>
          <a:xfrm>
            <a:off x="658368" y="4963363"/>
            <a:ext cx="7333488" cy="257861"/>
          </a:xfrm>
          <a:prstGeom prst="rect">
            <a:avLst/>
          </a:prstGeom>
          <a:noFill/>
        </p:spPr>
        <p:txBody>
          <a:bodyPr wrap="none" lIns="0" tIns="0" rIns="0" bIns="0" anchor="ctr">
            <a:spAutoFit/>
          </a:bodyPr>
          <a:lstStyle/>
          <a:p>
            <a:r>
              <a:rPr sz="1150" b="1" i="0">
                <a:solidFill>
                  <a:srgbClr val="1F2A44"/>
                </a:solidFill>
                <a:latin typeface="Consolas"/>
              </a:rPr>
              <a:t>MergeCongruenceClass(S):                             </a:t>
            </a:r>
            <a:r>
              <a:rPr sz="1150" b="0" i="0">
                <a:solidFill>
                  <a:srgbClr val="7D838C"/>
                </a:solidFill>
                <a:latin typeface="Consolas"/>
              </a:rPr>
              <a:t>▹ divide and conquer</a:t>
            </a:r>
          </a:p>
        </p:txBody>
      </p:sp>
      <p:sp>
        <p:nvSpPr>
          <p:cNvPr id="31" name="ParentCC code line 15"/>
          <p:cNvSpPr txBox="1"/>
          <p:nvPr/>
        </p:nvSpPr>
        <p:spPr>
          <a:xfrm>
            <a:off x="658368" y="5221224"/>
            <a:ext cx="7333488" cy="257861"/>
          </a:xfrm>
          <a:prstGeom prst="rect">
            <a:avLst/>
          </a:prstGeom>
          <a:noFill/>
        </p:spPr>
        <p:txBody>
          <a:bodyPr wrap="none" lIns="0" tIns="0" rIns="0" bIns="0" anchor="ctr">
            <a:spAutoFit/>
          </a:bodyPr>
          <a:lstStyle/>
          <a:p>
            <a:r>
              <a:rPr sz="1150" b="0" i="0">
                <a:solidFill>
                  <a:srgbClr val="3F444C"/>
                </a:solidFill>
                <a:latin typeface="Consolas"/>
              </a:rPr>
              <a:t>    if |S| = 1: return the element</a:t>
            </a:r>
          </a:p>
        </p:txBody>
      </p:sp>
      <p:sp>
        <p:nvSpPr>
          <p:cNvPr id="32" name="ParentCC code line 16"/>
          <p:cNvSpPr txBox="1"/>
          <p:nvPr/>
        </p:nvSpPr>
        <p:spPr>
          <a:xfrm>
            <a:off x="658368" y="5479085"/>
            <a:ext cx="7333488" cy="257861"/>
          </a:xfrm>
          <a:prstGeom prst="rect">
            <a:avLst/>
          </a:prstGeom>
          <a:noFill/>
        </p:spPr>
        <p:txBody>
          <a:bodyPr wrap="none" lIns="0" tIns="0" rIns="0" bIns="0" anchor="ctr">
            <a:spAutoFit/>
          </a:bodyPr>
          <a:lstStyle/>
          <a:p>
            <a:r>
              <a:rPr sz="1150" b="0" i="0">
                <a:solidFill>
                  <a:srgbClr val="3F444C"/>
                </a:solidFill>
                <a:latin typeface="Consolas"/>
              </a:rPr>
              <a:t>    l, r ← MergeCongruenceClass(S[0..n/2]) ∥ MergeCongruenceClass(S[n/2..n])</a:t>
            </a:r>
          </a:p>
        </p:txBody>
      </p:sp>
      <p:sp>
        <p:nvSpPr>
          <p:cNvPr id="33" name="ParentCC code line 17"/>
          <p:cNvSpPr txBox="1"/>
          <p:nvPr/>
        </p:nvSpPr>
        <p:spPr>
          <a:xfrm>
            <a:off x="658368" y="5736946"/>
            <a:ext cx="7333488" cy="257861"/>
          </a:xfrm>
          <a:prstGeom prst="rect">
            <a:avLst/>
          </a:prstGeom>
          <a:noFill/>
        </p:spPr>
        <p:txBody>
          <a:bodyPr wrap="none" lIns="0" tIns="0" rIns="0" bIns="0" anchor="ctr">
            <a:spAutoFit/>
          </a:bodyPr>
          <a:lstStyle/>
          <a:p>
            <a:r>
              <a:rPr sz="1150" b="0" i="0">
                <a:solidFill>
                  <a:srgbClr val="3F444C"/>
                </a:solidFill>
                <a:latin typeface="Consolas"/>
              </a:rPr>
              <a:t>    return Union(l, r)</a:t>
            </a:r>
          </a:p>
        </p:txBody>
      </p:sp>
      <p:sp>
        <p:nvSpPr>
          <p:cNvPr id="34" name="ParentCC completed veil 4-8"/>
          <p:cNvSpPr/>
          <p:nvPr/>
        </p:nvSpPr>
        <p:spPr>
          <a:xfrm>
            <a:off x="585216" y="2371039"/>
            <a:ext cx="7479792" cy="1312164"/>
          </a:xfrm>
          <a:prstGeom prst="rect">
            <a:avLst/>
          </a:prstGeom>
          <a:solidFill>
            <a:srgbClr val="D5D8DD">
              <a:alpha val="18000"/>
            </a:srgbClr>
          </a:solidFill>
          <a:ln>
            <a:noFill/>
          </a:ln>
        </p:spPr>
        <p:txBody>
          <a:bodyPr/>
          <a:lstStyle/>
          <a:p>
            <a:endParaRPr lang="en-US"/>
          </a:p>
        </p:txBody>
      </p:sp>
      <p:sp>
        <p:nvSpPr>
          <p:cNvPr id="35" name="ParentCC completed veil 10-11"/>
          <p:cNvSpPr/>
          <p:nvPr/>
        </p:nvSpPr>
        <p:spPr>
          <a:xfrm>
            <a:off x="585216" y="3918204"/>
            <a:ext cx="7479792" cy="538582"/>
          </a:xfrm>
          <a:prstGeom prst="rect">
            <a:avLst/>
          </a:prstGeom>
          <a:solidFill>
            <a:srgbClr val="D5D8DD">
              <a:alpha val="18000"/>
            </a:srgbClr>
          </a:solidFill>
          <a:ln>
            <a:noFill/>
          </a:ln>
        </p:spPr>
        <p:txBody>
          <a:bodyPr/>
          <a:lstStyle/>
          <a:p>
            <a:endParaRPr lang="en-US"/>
          </a:p>
        </p:txBody>
      </p:sp>
      <p:sp>
        <p:nvSpPr>
          <p:cNvPr id="36" name="ParentCC completed veil 14-17"/>
          <p:cNvSpPr/>
          <p:nvPr/>
        </p:nvSpPr>
        <p:spPr>
          <a:xfrm>
            <a:off x="585216" y="4949647"/>
            <a:ext cx="7479792" cy="1054303"/>
          </a:xfrm>
          <a:prstGeom prst="rect">
            <a:avLst/>
          </a:prstGeom>
          <a:solidFill>
            <a:srgbClr val="D5D8DD">
              <a:alpha val="18000"/>
            </a:srgbClr>
          </a:solidFill>
          <a:ln>
            <a:noFill/>
          </a:ln>
        </p:spPr>
        <p:txBody>
          <a:bodyPr/>
          <a:lstStyle/>
          <a:p>
            <a:endParaRPr lang="en-US"/>
          </a:p>
        </p:txBody>
      </p:sp>
      <p:sp>
        <p:nvSpPr>
          <p:cNvPr id="37" name="ParentCC irrelevant veil 0-1"/>
          <p:cNvSpPr/>
          <p:nvPr/>
        </p:nvSpPr>
        <p:spPr>
          <a:xfrm>
            <a:off x="585216" y="1339596"/>
            <a:ext cx="7479792" cy="538582"/>
          </a:xfrm>
          <a:prstGeom prst="rect">
            <a:avLst/>
          </a:prstGeom>
          <a:solidFill>
            <a:srgbClr val="D5D8DD">
              <a:alpha val="80000"/>
            </a:srgbClr>
          </a:solidFill>
          <a:ln>
            <a:noFill/>
          </a:ln>
        </p:spPr>
        <p:txBody>
          <a:bodyPr/>
          <a:lstStyle/>
          <a:p>
            <a:endParaRPr lang="en-US"/>
          </a:p>
        </p:txBody>
      </p:sp>
      <p:sp>
        <p:nvSpPr>
          <p:cNvPr id="6" name="ParentCC annotation heading - Find candidates">
            <a:extLst>
              <a:ext uri="{FF2B5EF4-FFF2-40B4-BE49-F238E27FC236}">
                <a16:creationId xmlns:a16="http://schemas.microsoft.com/office/drawing/2014/main" id="{62C98169-880E-AA0B-9982-0842D7E432B1}"/>
              </a:ext>
            </a:extLst>
          </p:cNvPr>
          <p:cNvSpPr txBox="1"/>
          <p:nvPr/>
        </p:nvSpPr>
        <p:spPr>
          <a:xfrm>
            <a:off x="8247888" y="1234440"/>
            <a:ext cx="3944112" cy="2271391"/>
          </a:xfrm>
          <a:prstGeom prst="rect">
            <a:avLst/>
          </a:prstGeom>
          <a:noFill/>
        </p:spPr>
        <p:txBody>
          <a:bodyPr wrap="square" lIns="45720" tIns="27432" rIns="45720" bIns="27432" anchor="ctr">
            <a:spAutoFit/>
          </a:bodyPr>
          <a:lstStyle/>
          <a:p>
            <a:pPr marL="457200" indent="-457200" algn="l">
              <a:buAutoNum type="arabicPeriod"/>
            </a:pPr>
            <a:r>
              <a:rPr sz="2400" b="1" i="0" dirty="0">
                <a:solidFill>
                  <a:srgbClr val="C8501E"/>
                </a:solidFill>
                <a:latin typeface="Calibri"/>
              </a:rPr>
              <a:t>Find candidates</a:t>
            </a:r>
            <a:r>
              <a:rPr lang="en-US" sz="2400" b="1" i="0" dirty="0">
                <a:solidFill>
                  <a:srgbClr val="C8501E"/>
                </a:solidFill>
                <a:latin typeface="Calibri"/>
              </a:rPr>
              <a:t> for merging</a:t>
            </a:r>
          </a:p>
          <a:p>
            <a:pPr marL="457200" indent="-457200" algn="l">
              <a:buAutoNum type="arabicPeriod"/>
            </a:pPr>
            <a:r>
              <a:rPr lang="en-US" sz="2400" b="1" dirty="0">
                <a:solidFill>
                  <a:srgbClr val="C8501E"/>
                </a:solidFill>
                <a:latin typeface="Calibri"/>
              </a:rPr>
              <a:t>Group by signature</a:t>
            </a:r>
          </a:p>
          <a:p>
            <a:pPr marL="457200" indent="-457200" algn="l">
              <a:buAutoNum type="arabicPeriod"/>
            </a:pPr>
            <a:r>
              <a:rPr lang="en-US" sz="2400" b="1" i="0" dirty="0">
                <a:solidFill>
                  <a:srgbClr val="C8501E"/>
                </a:solidFill>
                <a:latin typeface="Calibri"/>
              </a:rPr>
              <a:t>Merge congruent terms</a:t>
            </a:r>
          </a:p>
          <a:p>
            <a:pPr marL="457200" indent="-457200" algn="l">
              <a:buAutoNum type="arabicPeriod"/>
            </a:pPr>
            <a:r>
              <a:rPr lang="en-US" sz="2400" b="1" dirty="0">
                <a:solidFill>
                  <a:srgbClr val="C8501E"/>
                </a:solidFill>
                <a:latin typeface="Calibri"/>
              </a:rPr>
              <a:t>Repeat</a:t>
            </a:r>
            <a:r>
              <a:rPr lang="en-US" sz="2400" b="1" i="0" dirty="0">
                <a:solidFill>
                  <a:srgbClr val="C8501E"/>
                </a:solidFill>
                <a:latin typeface="Calibri"/>
              </a:rPr>
              <a:t> </a:t>
            </a:r>
          </a:p>
          <a:p>
            <a:pPr marL="457200" indent="-457200" algn="l">
              <a:buAutoNum type="arabicPeriod"/>
            </a:pPr>
            <a:endParaRPr sz="2400" b="1" i="0" dirty="0">
              <a:solidFill>
                <a:srgbClr val="C8501E"/>
              </a:solidFill>
              <a:latin typeface="Calibri"/>
            </a:endParaRPr>
          </a:p>
        </p:txBody>
      </p:sp>
      <p:sp>
        <p:nvSpPr>
          <p:cNvPr id="9" name="ParentCC irrelevant veil 0-1">
            <a:extLst>
              <a:ext uri="{FF2B5EF4-FFF2-40B4-BE49-F238E27FC236}">
                <a16:creationId xmlns:a16="http://schemas.microsoft.com/office/drawing/2014/main" id="{A153BC25-9920-3651-E177-CEA61470643E}"/>
              </a:ext>
            </a:extLst>
          </p:cNvPr>
          <p:cNvSpPr/>
          <p:nvPr/>
        </p:nvSpPr>
        <p:spPr>
          <a:xfrm>
            <a:off x="585216" y="2407614"/>
            <a:ext cx="7479792" cy="1243583"/>
          </a:xfrm>
          <a:prstGeom prst="rect">
            <a:avLst/>
          </a:prstGeom>
          <a:solidFill>
            <a:srgbClr val="D5D8DD">
              <a:alpha val="80000"/>
            </a:srgbClr>
          </a:solidFill>
          <a:ln>
            <a:noFill/>
          </a:ln>
        </p:spPr>
        <p:txBody>
          <a:bodyPr/>
          <a:lstStyle/>
          <a:p>
            <a:endParaRPr lang="en-US"/>
          </a:p>
        </p:txBody>
      </p:sp>
      <p:sp>
        <p:nvSpPr>
          <p:cNvPr id="43" name="ParentCC irrelevant veil 0-1">
            <a:extLst>
              <a:ext uri="{FF2B5EF4-FFF2-40B4-BE49-F238E27FC236}">
                <a16:creationId xmlns:a16="http://schemas.microsoft.com/office/drawing/2014/main" id="{7FD6568A-487B-041C-8CA6-EE1921BA506A}"/>
              </a:ext>
            </a:extLst>
          </p:cNvPr>
          <p:cNvSpPr/>
          <p:nvPr/>
        </p:nvSpPr>
        <p:spPr>
          <a:xfrm>
            <a:off x="585216" y="3950210"/>
            <a:ext cx="7479792" cy="474571"/>
          </a:xfrm>
          <a:prstGeom prst="rect">
            <a:avLst/>
          </a:prstGeom>
          <a:solidFill>
            <a:srgbClr val="D5D8DD">
              <a:alpha val="80000"/>
            </a:srgbClr>
          </a:solidFill>
          <a:ln>
            <a:noFill/>
          </a:ln>
        </p:spPr>
        <p:txBody>
          <a:bodyPr/>
          <a:lstStyle/>
          <a:p>
            <a:endParaRPr lang="en-US"/>
          </a:p>
        </p:txBody>
      </p:sp>
      <p:sp>
        <p:nvSpPr>
          <p:cNvPr id="44" name="ParentCC irrelevant veil 0-1">
            <a:extLst>
              <a:ext uri="{FF2B5EF4-FFF2-40B4-BE49-F238E27FC236}">
                <a16:creationId xmlns:a16="http://schemas.microsoft.com/office/drawing/2014/main" id="{6648BA35-41D4-44CF-DA24-3084E600BDC4}"/>
              </a:ext>
            </a:extLst>
          </p:cNvPr>
          <p:cNvSpPr/>
          <p:nvPr/>
        </p:nvSpPr>
        <p:spPr>
          <a:xfrm>
            <a:off x="585216" y="4723792"/>
            <a:ext cx="7479792" cy="1293873"/>
          </a:xfrm>
          <a:prstGeom prst="rect">
            <a:avLst/>
          </a:prstGeom>
          <a:solidFill>
            <a:srgbClr val="D5D8DD">
              <a:alpha val="80000"/>
            </a:srgbClr>
          </a:solidFill>
          <a:ln>
            <a:noFill/>
          </a:ln>
        </p:spPr>
        <p:txBody>
          <a:bodyPr/>
          <a:lstStyle/>
          <a:p>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ParentCC on the example: round 0</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43</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cxnSp>
        <p:nvCxnSpPr>
          <p:cNvPr id="11" name="Connector 10"/>
          <p:cNvCxnSpPr/>
          <p:nvPr/>
        </p:nvCxnSpPr>
        <p:spPr>
          <a:xfrm flipH="1">
            <a:off x="2784348" y="3803903"/>
            <a:ext cx="539496" cy="1106425"/>
          </a:xfrm>
          <a:prstGeom prst="line">
            <a:avLst/>
          </a:prstGeom>
          <a:ln w="15875">
            <a:solidFill>
              <a:srgbClr val="C9CDD3"/>
            </a:solidFill>
          </a:ln>
          <a:effectLst/>
        </p:spPr>
      </p:cxnSp>
      <p:cxnSp>
        <p:nvCxnSpPr>
          <p:cNvPr id="12" name="Connector 11"/>
          <p:cNvCxnSpPr/>
          <p:nvPr/>
        </p:nvCxnSpPr>
        <p:spPr>
          <a:xfrm>
            <a:off x="3323844" y="3803903"/>
            <a:ext cx="960120" cy="1106425"/>
          </a:xfrm>
          <a:prstGeom prst="line">
            <a:avLst/>
          </a:prstGeom>
          <a:ln w="15875">
            <a:solidFill>
              <a:srgbClr val="C9CDD3"/>
            </a:solidFill>
          </a:ln>
          <a:effectLst/>
        </p:spPr>
      </p:cxnSp>
      <p:cxnSp>
        <p:nvCxnSpPr>
          <p:cNvPr id="13" name="Connector 12"/>
          <p:cNvCxnSpPr/>
          <p:nvPr/>
        </p:nvCxnSpPr>
        <p:spPr>
          <a:xfrm flipH="1">
            <a:off x="3406139" y="3803903"/>
            <a:ext cx="1014985" cy="1106425"/>
          </a:xfrm>
          <a:prstGeom prst="line">
            <a:avLst/>
          </a:prstGeom>
          <a:ln w="15875">
            <a:solidFill>
              <a:srgbClr val="C9CDD3"/>
            </a:solidFill>
          </a:ln>
          <a:effectLst/>
        </p:spPr>
      </p:cxnSp>
      <p:cxnSp>
        <p:nvCxnSpPr>
          <p:cNvPr id="14" name="Connector 13"/>
          <p:cNvCxnSpPr/>
          <p:nvPr/>
        </p:nvCxnSpPr>
        <p:spPr>
          <a:xfrm>
            <a:off x="4421124" y="3803903"/>
            <a:ext cx="484632" cy="1106425"/>
          </a:xfrm>
          <a:prstGeom prst="line">
            <a:avLst/>
          </a:prstGeom>
          <a:ln w="15875">
            <a:solidFill>
              <a:srgbClr val="C9CDD3"/>
            </a:solidFill>
          </a:ln>
          <a:effectLst/>
        </p:spPr>
      </p:cxnSp>
      <p:cxnSp>
        <p:nvCxnSpPr>
          <p:cNvPr id="15" name="Connector 14"/>
          <p:cNvCxnSpPr/>
          <p:nvPr/>
        </p:nvCxnSpPr>
        <p:spPr>
          <a:xfrm flipH="1">
            <a:off x="7283196" y="3803903"/>
            <a:ext cx="475487" cy="1106425"/>
          </a:xfrm>
          <a:prstGeom prst="line">
            <a:avLst/>
          </a:prstGeom>
          <a:ln w="15875">
            <a:solidFill>
              <a:srgbClr val="C9CDD3"/>
            </a:solidFill>
          </a:ln>
          <a:effectLst/>
        </p:spPr>
      </p:cxnSp>
      <p:cxnSp>
        <p:nvCxnSpPr>
          <p:cNvPr id="16" name="Connector 15"/>
          <p:cNvCxnSpPr/>
          <p:nvPr/>
        </p:nvCxnSpPr>
        <p:spPr>
          <a:xfrm>
            <a:off x="7758683" y="3803903"/>
            <a:ext cx="1024129" cy="1106425"/>
          </a:xfrm>
          <a:prstGeom prst="line">
            <a:avLst/>
          </a:prstGeom>
          <a:ln w="15875">
            <a:solidFill>
              <a:srgbClr val="C9CDD3"/>
            </a:solidFill>
          </a:ln>
          <a:effectLst/>
        </p:spPr>
      </p:cxnSp>
      <p:cxnSp>
        <p:nvCxnSpPr>
          <p:cNvPr id="17" name="Connector 16"/>
          <p:cNvCxnSpPr/>
          <p:nvPr/>
        </p:nvCxnSpPr>
        <p:spPr>
          <a:xfrm flipH="1">
            <a:off x="7904988" y="3803903"/>
            <a:ext cx="950975" cy="1106425"/>
          </a:xfrm>
          <a:prstGeom prst="line">
            <a:avLst/>
          </a:prstGeom>
          <a:ln w="15875">
            <a:solidFill>
              <a:srgbClr val="C9CDD3"/>
            </a:solidFill>
          </a:ln>
          <a:effectLst/>
        </p:spPr>
      </p:cxnSp>
      <p:cxnSp>
        <p:nvCxnSpPr>
          <p:cNvPr id="18" name="Connector 17"/>
          <p:cNvCxnSpPr/>
          <p:nvPr/>
        </p:nvCxnSpPr>
        <p:spPr>
          <a:xfrm>
            <a:off x="8855963" y="3803903"/>
            <a:ext cx="548641" cy="1106425"/>
          </a:xfrm>
          <a:prstGeom prst="line">
            <a:avLst/>
          </a:prstGeom>
          <a:ln w="15875">
            <a:solidFill>
              <a:srgbClr val="C9CDD3"/>
            </a:solidFill>
          </a:ln>
          <a:effectLst/>
        </p:spPr>
      </p:cxnSp>
      <p:cxnSp>
        <p:nvCxnSpPr>
          <p:cNvPr id="19" name="Connector 18"/>
          <p:cNvCxnSpPr/>
          <p:nvPr/>
        </p:nvCxnSpPr>
        <p:spPr>
          <a:xfrm>
            <a:off x="5564124" y="2203704"/>
            <a:ext cx="219455" cy="2706624"/>
          </a:xfrm>
          <a:prstGeom prst="line">
            <a:avLst/>
          </a:prstGeom>
          <a:ln w="15875">
            <a:solidFill>
              <a:srgbClr val="C9CDD3"/>
            </a:solidFill>
          </a:ln>
          <a:effectLst/>
        </p:spPr>
      </p:cxnSp>
      <p:cxnSp>
        <p:nvCxnSpPr>
          <p:cNvPr id="20" name="Connector 19"/>
          <p:cNvCxnSpPr/>
          <p:nvPr/>
        </p:nvCxnSpPr>
        <p:spPr>
          <a:xfrm flipH="1">
            <a:off x="3323844" y="2203704"/>
            <a:ext cx="2240280" cy="749807"/>
          </a:xfrm>
          <a:prstGeom prst="line">
            <a:avLst/>
          </a:prstGeom>
          <a:ln w="15875">
            <a:solidFill>
              <a:srgbClr val="C9CDD3"/>
            </a:solidFill>
          </a:ln>
          <a:effectLst/>
        </p:spPr>
      </p:cxnSp>
      <p:cxnSp>
        <p:nvCxnSpPr>
          <p:cNvPr id="21" name="Connector 20"/>
          <p:cNvCxnSpPr/>
          <p:nvPr/>
        </p:nvCxnSpPr>
        <p:spPr>
          <a:xfrm>
            <a:off x="5564124" y="2203704"/>
            <a:ext cx="2194559" cy="749807"/>
          </a:xfrm>
          <a:prstGeom prst="line">
            <a:avLst/>
          </a:prstGeom>
          <a:ln w="15875">
            <a:solidFill>
              <a:srgbClr val="C9CDD3"/>
            </a:solidFill>
          </a:ln>
          <a:effectLst/>
        </p:spPr>
      </p:cxnSp>
      <p:cxnSp>
        <p:nvCxnSpPr>
          <p:cNvPr id="22" name="Connector 21"/>
          <p:cNvCxnSpPr/>
          <p:nvPr/>
        </p:nvCxnSpPr>
        <p:spPr>
          <a:xfrm flipH="1">
            <a:off x="6405372" y="2203704"/>
            <a:ext cx="484632" cy="2706624"/>
          </a:xfrm>
          <a:prstGeom prst="line">
            <a:avLst/>
          </a:prstGeom>
          <a:ln w="15875">
            <a:solidFill>
              <a:srgbClr val="C9CDD3"/>
            </a:solidFill>
          </a:ln>
          <a:effectLst/>
        </p:spPr>
      </p:cxnSp>
      <p:cxnSp>
        <p:nvCxnSpPr>
          <p:cNvPr id="23" name="Connector 22"/>
          <p:cNvCxnSpPr/>
          <p:nvPr/>
        </p:nvCxnSpPr>
        <p:spPr>
          <a:xfrm flipH="1">
            <a:off x="4421124" y="2203704"/>
            <a:ext cx="2468880" cy="749807"/>
          </a:xfrm>
          <a:prstGeom prst="line">
            <a:avLst/>
          </a:prstGeom>
          <a:ln w="15875">
            <a:solidFill>
              <a:srgbClr val="C9CDD3"/>
            </a:solidFill>
          </a:ln>
          <a:effectLst/>
        </p:spPr>
      </p:cxnSp>
      <p:cxnSp>
        <p:nvCxnSpPr>
          <p:cNvPr id="24" name="Connector 23"/>
          <p:cNvCxnSpPr/>
          <p:nvPr/>
        </p:nvCxnSpPr>
        <p:spPr>
          <a:xfrm>
            <a:off x="6890004" y="2203704"/>
            <a:ext cx="1965959" cy="749807"/>
          </a:xfrm>
          <a:prstGeom prst="line">
            <a:avLst/>
          </a:prstGeom>
          <a:ln w="15875">
            <a:solidFill>
              <a:srgbClr val="C9CDD3"/>
            </a:solidFill>
          </a:ln>
          <a:effectLst/>
        </p:spPr>
      </p:cxnSp>
      <p:sp>
        <p:nvSpPr>
          <p:cNvPr id="25" name="Rounded Rectangle 24"/>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6" name="Rounded Rectangle 25"/>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7" name="Rounded Rectangle 26"/>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28" name="Rounded Rectangle 27"/>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29" name="Rounded Rectangle 28"/>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0" name="Rounded Rectangle 29"/>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1" name="Rounded Rectangle 30"/>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2" name="Rounded Rectangle 31"/>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3" name="Rounded Rectangle 32"/>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4" name="Rounded Rectangle 33"/>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5" name="Rounded Rectangle 34"/>
          <p:cNvSpPr/>
          <p:nvPr/>
        </p:nvSpPr>
        <p:spPr>
          <a:xfrm>
            <a:off x="2921508" y="3236975"/>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a:solidFill>
                  <a:srgbClr val="C9CDD3"/>
                </a:solidFill>
                <a:latin typeface="Calibri"/>
              </a:rPr>
              <a:t>AND</a:t>
            </a:r>
          </a:p>
        </p:txBody>
      </p:sp>
      <p:sp>
        <p:nvSpPr>
          <p:cNvPr id="36" name="TextBox 35"/>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C9CDD3"/>
                </a:solidFill>
                <a:latin typeface="Calibri"/>
              </a:rPr>
              <a:t>a₁</a:t>
            </a:r>
          </a:p>
        </p:txBody>
      </p:sp>
      <p:sp>
        <p:nvSpPr>
          <p:cNvPr id="37" name="Rounded Rectangle 36"/>
          <p:cNvSpPr/>
          <p:nvPr/>
        </p:nvSpPr>
        <p:spPr>
          <a:xfrm>
            <a:off x="4018787" y="3236975"/>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a:solidFill>
                  <a:srgbClr val="C9CDD3"/>
                </a:solidFill>
                <a:latin typeface="Calibri"/>
              </a:rPr>
              <a:t>AND</a:t>
            </a:r>
          </a:p>
        </p:txBody>
      </p:sp>
      <p:sp>
        <p:nvSpPr>
          <p:cNvPr id="38" name="TextBox 37"/>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C9CDD3"/>
                </a:solidFill>
                <a:latin typeface="Calibri"/>
              </a:rPr>
              <a:t>a₂</a:t>
            </a:r>
          </a:p>
        </p:txBody>
      </p:sp>
      <p:sp>
        <p:nvSpPr>
          <p:cNvPr id="39" name="Rounded Rectangle 38"/>
          <p:cNvSpPr/>
          <p:nvPr/>
        </p:nvSpPr>
        <p:spPr>
          <a:xfrm>
            <a:off x="7356348" y="3236975"/>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a:solidFill>
                  <a:srgbClr val="C9CDD3"/>
                </a:solidFill>
                <a:latin typeface="Calibri"/>
              </a:rPr>
              <a:t>XOR</a:t>
            </a:r>
          </a:p>
        </p:txBody>
      </p:sp>
      <p:sp>
        <p:nvSpPr>
          <p:cNvPr id="40" name="TextBox 39"/>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C9CDD3"/>
                </a:solidFill>
                <a:latin typeface="Calibri"/>
              </a:rPr>
              <a:t>x₁</a:t>
            </a:r>
          </a:p>
        </p:txBody>
      </p:sp>
      <p:sp>
        <p:nvSpPr>
          <p:cNvPr id="41" name="Rounded Rectangle 40"/>
          <p:cNvSpPr/>
          <p:nvPr/>
        </p:nvSpPr>
        <p:spPr>
          <a:xfrm>
            <a:off x="8453628" y="3236975"/>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a:solidFill>
                  <a:srgbClr val="C9CDD3"/>
                </a:solidFill>
                <a:latin typeface="Calibri"/>
              </a:rPr>
              <a:t>XOR</a:t>
            </a:r>
          </a:p>
        </p:txBody>
      </p:sp>
      <p:sp>
        <p:nvSpPr>
          <p:cNvPr id="42" name="TextBox 41"/>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C9CDD3"/>
                </a:solidFill>
                <a:latin typeface="Calibri"/>
              </a:rPr>
              <a:t>x₂</a:t>
            </a:r>
          </a:p>
        </p:txBody>
      </p:sp>
      <p:sp>
        <p:nvSpPr>
          <p:cNvPr id="43" name="Rounded Rectangle 42"/>
          <p:cNvSpPr/>
          <p:nvPr/>
        </p:nvSpPr>
        <p:spPr>
          <a:xfrm>
            <a:off x="5161788" y="1636776"/>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a:solidFill>
                  <a:srgbClr val="C9CDD3"/>
                </a:solidFill>
                <a:latin typeface="Calibri"/>
              </a:rPr>
              <a:t>ITE</a:t>
            </a:r>
          </a:p>
        </p:txBody>
      </p:sp>
      <p:sp>
        <p:nvSpPr>
          <p:cNvPr id="44" name="TextBox 43"/>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C9CDD3"/>
                </a:solidFill>
                <a:latin typeface="Calibri"/>
              </a:rPr>
              <a:t>m₁</a:t>
            </a:r>
          </a:p>
        </p:txBody>
      </p:sp>
      <p:sp>
        <p:nvSpPr>
          <p:cNvPr id="45" name="Rounded Rectangle 44"/>
          <p:cNvSpPr/>
          <p:nvPr/>
        </p:nvSpPr>
        <p:spPr>
          <a:xfrm>
            <a:off x="6487668" y="1636776"/>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a:solidFill>
                  <a:srgbClr val="C9CDD3"/>
                </a:solidFill>
                <a:latin typeface="Calibri"/>
              </a:rPr>
              <a:t>ITE</a:t>
            </a:r>
          </a:p>
        </p:txBody>
      </p:sp>
      <p:sp>
        <p:nvSpPr>
          <p:cNvPr id="46" name="TextBox 45"/>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C9CDD3"/>
                </a:solidFill>
                <a:latin typeface="Calibri"/>
              </a:rPr>
              <a:t>m₂</a:t>
            </a:r>
          </a:p>
        </p:txBody>
      </p:sp>
      <p:sp>
        <p:nvSpPr>
          <p:cNvPr id="47" name="TextBox 46"/>
          <p:cNvSpPr txBox="1"/>
          <p:nvPr/>
        </p:nvSpPr>
        <p:spPr>
          <a:xfrm>
            <a:off x="2775203" y="5458968"/>
            <a:ext cx="640080" cy="457200"/>
          </a:xfrm>
          <a:prstGeom prst="rect">
            <a:avLst/>
          </a:prstGeom>
          <a:noFill/>
        </p:spPr>
        <p:txBody>
          <a:bodyPr wrap="square" lIns="45720" tIns="27432" rIns="45720" bIns="27432" anchor="ctr">
            <a:spAutoFit/>
          </a:bodyPr>
          <a:lstStyle/>
          <a:p>
            <a:pPr algn="ctr"/>
            <a:r>
              <a:rPr sz="2400" b="1" i="0">
                <a:solidFill>
                  <a:srgbClr val="C8501E"/>
                </a:solidFill>
                <a:latin typeface="Calibri"/>
              </a:rPr>
              <a:t>∪</a:t>
            </a:r>
          </a:p>
        </p:txBody>
      </p:sp>
      <p:sp>
        <p:nvSpPr>
          <p:cNvPr id="48" name="TextBox 47"/>
          <p:cNvSpPr txBox="1"/>
          <p:nvPr/>
        </p:nvSpPr>
        <p:spPr>
          <a:xfrm>
            <a:off x="4274820" y="5458968"/>
            <a:ext cx="640080" cy="457200"/>
          </a:xfrm>
          <a:prstGeom prst="rect">
            <a:avLst/>
          </a:prstGeom>
          <a:noFill/>
        </p:spPr>
        <p:txBody>
          <a:bodyPr wrap="square" lIns="45720" tIns="27432" rIns="45720" bIns="27432" anchor="ctr">
            <a:spAutoFit/>
          </a:bodyPr>
          <a:lstStyle/>
          <a:p>
            <a:pPr algn="ctr"/>
            <a:r>
              <a:rPr sz="2400" b="1" i="0">
                <a:solidFill>
                  <a:srgbClr val="C8501E"/>
                </a:solidFill>
                <a:latin typeface="Calibri"/>
              </a:rPr>
              <a:t>∪</a:t>
            </a:r>
          </a:p>
        </p:txBody>
      </p:sp>
      <p:sp>
        <p:nvSpPr>
          <p:cNvPr id="49" name="TextBox 48"/>
          <p:cNvSpPr txBox="1"/>
          <p:nvPr/>
        </p:nvSpPr>
        <p:spPr>
          <a:xfrm>
            <a:off x="5774436" y="5458968"/>
            <a:ext cx="640080" cy="457200"/>
          </a:xfrm>
          <a:prstGeom prst="rect">
            <a:avLst/>
          </a:prstGeom>
          <a:noFill/>
        </p:spPr>
        <p:txBody>
          <a:bodyPr wrap="square" lIns="45720" tIns="27432" rIns="45720" bIns="27432" anchor="ctr">
            <a:spAutoFit/>
          </a:bodyPr>
          <a:lstStyle/>
          <a:p>
            <a:pPr algn="ctr"/>
            <a:r>
              <a:rPr sz="2400" b="1" i="0">
                <a:solidFill>
                  <a:srgbClr val="C8501E"/>
                </a:solidFill>
                <a:latin typeface="Calibri"/>
              </a:rPr>
              <a:t>∪</a:t>
            </a:r>
          </a:p>
        </p:txBody>
      </p:sp>
      <p:sp>
        <p:nvSpPr>
          <p:cNvPr id="50" name="TextBox 49"/>
          <p:cNvSpPr txBox="1"/>
          <p:nvPr/>
        </p:nvSpPr>
        <p:spPr>
          <a:xfrm>
            <a:off x="7274052" y="5458968"/>
            <a:ext cx="640080" cy="457200"/>
          </a:xfrm>
          <a:prstGeom prst="rect">
            <a:avLst/>
          </a:prstGeom>
          <a:noFill/>
        </p:spPr>
        <p:txBody>
          <a:bodyPr wrap="square" lIns="45720" tIns="27432" rIns="45720" bIns="27432" anchor="ctr">
            <a:spAutoFit/>
          </a:bodyPr>
          <a:lstStyle/>
          <a:p>
            <a:pPr algn="ctr"/>
            <a:r>
              <a:rPr sz="2400" b="1" i="0">
                <a:solidFill>
                  <a:srgbClr val="C8501E"/>
                </a:solidFill>
                <a:latin typeface="Calibri"/>
              </a:rPr>
              <a:t>∪</a:t>
            </a:r>
          </a:p>
        </p:txBody>
      </p:sp>
      <p:sp>
        <p:nvSpPr>
          <p:cNvPr id="51" name="TextBox 50"/>
          <p:cNvSpPr txBox="1"/>
          <p:nvPr/>
        </p:nvSpPr>
        <p:spPr>
          <a:xfrm>
            <a:off x="8773668" y="5458968"/>
            <a:ext cx="640080" cy="457200"/>
          </a:xfrm>
          <a:prstGeom prst="rect">
            <a:avLst/>
          </a:prstGeom>
          <a:noFill/>
        </p:spPr>
        <p:txBody>
          <a:bodyPr wrap="square" lIns="45720" tIns="27432" rIns="45720" bIns="27432" anchor="ctr">
            <a:spAutoFit/>
          </a:bodyPr>
          <a:lstStyle/>
          <a:p>
            <a:pPr algn="ctr"/>
            <a:r>
              <a:rPr sz="2400" b="1" i="0">
                <a:solidFill>
                  <a:srgbClr val="C8501E"/>
                </a:solidFill>
                <a:latin typeface="Calibri"/>
              </a:rPr>
              <a:t>∪</a:t>
            </a:r>
          </a:p>
        </p:txBody>
      </p:sp>
      <p:sp>
        <p:nvSpPr>
          <p:cNvPr id="52" name="Rounded Rectangle 51"/>
          <p:cNvSpPr/>
          <p:nvPr/>
        </p:nvSpPr>
        <p:spPr>
          <a:xfrm>
            <a:off x="502920" y="1645920"/>
            <a:ext cx="329184" cy="219456"/>
          </a:xfrm>
          <a:prstGeom prst="roundRect">
            <a:avLst>
              <a:gd name="adj" fmla="val 1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53" name="TextBox 52"/>
          <p:cNvSpPr txBox="1"/>
          <p:nvPr/>
        </p:nvSpPr>
        <p:spPr>
          <a:xfrm>
            <a:off x="905256" y="1600200"/>
            <a:ext cx="1563624" cy="320040"/>
          </a:xfrm>
          <a:prstGeom prst="rect">
            <a:avLst/>
          </a:prstGeom>
          <a:noFill/>
        </p:spPr>
        <p:txBody>
          <a:bodyPr wrap="square" lIns="45720" tIns="27432" rIns="45720" bIns="27432" anchor="ctr">
            <a:spAutoFit/>
          </a:bodyPr>
          <a:lstStyle/>
          <a:p>
            <a:pPr algn="l"/>
            <a:r>
              <a:rPr sz="1200" b="0" i="0">
                <a:solidFill>
                  <a:srgbClr val="6B717A"/>
                </a:solidFill>
                <a:latin typeface="Calibri"/>
              </a:rPr>
              <a:t>equivalence class</a:t>
            </a:r>
          </a:p>
        </p:txBody>
      </p:sp>
      <p:sp>
        <p:nvSpPr>
          <p:cNvPr id="54" name="TextBox 53"/>
          <p:cNvSpPr txBox="1"/>
          <p:nvPr/>
        </p:nvSpPr>
        <p:spPr>
          <a:xfrm>
            <a:off x="502920" y="2788920"/>
            <a:ext cx="2103120" cy="731520"/>
          </a:xfrm>
          <a:prstGeom prst="rect">
            <a:avLst/>
          </a:prstGeom>
          <a:noFill/>
        </p:spPr>
        <p:txBody>
          <a:bodyPr wrap="square" lIns="45720" tIns="27432" rIns="45720" bIns="27432" anchor="t">
            <a:spAutoFit/>
          </a:bodyPr>
          <a:lstStyle/>
          <a:p>
            <a:pPr algn="l"/>
            <a:r>
              <a:rPr sz="1500" b="0" i="0">
                <a:solidFill>
                  <a:srgbClr val="6B717A"/>
                </a:solidFill>
                <a:latin typeface="Calibri"/>
              </a:rPr>
              <a:t>union input equalities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ParentCC on the example: round 1</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44</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cxnSp>
        <p:nvCxnSpPr>
          <p:cNvPr id="11" name="Connector 10"/>
          <p:cNvCxnSpPr/>
          <p:nvPr/>
        </p:nvCxnSpPr>
        <p:spPr>
          <a:xfrm flipH="1">
            <a:off x="2784348" y="3803903"/>
            <a:ext cx="539496" cy="1106425"/>
          </a:xfrm>
          <a:prstGeom prst="line">
            <a:avLst/>
          </a:prstGeom>
          <a:ln w="15875">
            <a:solidFill>
              <a:srgbClr val="C9CDD3"/>
            </a:solidFill>
          </a:ln>
          <a:effectLst/>
        </p:spPr>
      </p:cxnSp>
      <p:cxnSp>
        <p:nvCxnSpPr>
          <p:cNvPr id="12" name="Connector 11"/>
          <p:cNvCxnSpPr/>
          <p:nvPr/>
        </p:nvCxnSpPr>
        <p:spPr>
          <a:xfrm>
            <a:off x="3323844" y="3803903"/>
            <a:ext cx="960120" cy="1106425"/>
          </a:xfrm>
          <a:prstGeom prst="line">
            <a:avLst/>
          </a:prstGeom>
          <a:ln w="15875">
            <a:solidFill>
              <a:srgbClr val="C9CDD3"/>
            </a:solidFill>
          </a:ln>
          <a:effectLst/>
        </p:spPr>
      </p:cxnSp>
      <p:cxnSp>
        <p:nvCxnSpPr>
          <p:cNvPr id="13" name="Connector 12"/>
          <p:cNvCxnSpPr/>
          <p:nvPr/>
        </p:nvCxnSpPr>
        <p:spPr>
          <a:xfrm flipH="1">
            <a:off x="3406139" y="3803903"/>
            <a:ext cx="1014985" cy="1106425"/>
          </a:xfrm>
          <a:prstGeom prst="line">
            <a:avLst/>
          </a:prstGeom>
          <a:ln w="15875">
            <a:solidFill>
              <a:srgbClr val="C9CDD3"/>
            </a:solidFill>
          </a:ln>
          <a:effectLst/>
        </p:spPr>
      </p:cxnSp>
      <p:cxnSp>
        <p:nvCxnSpPr>
          <p:cNvPr id="14" name="Connector 13"/>
          <p:cNvCxnSpPr/>
          <p:nvPr/>
        </p:nvCxnSpPr>
        <p:spPr>
          <a:xfrm>
            <a:off x="4421124" y="3803903"/>
            <a:ext cx="484632" cy="1106425"/>
          </a:xfrm>
          <a:prstGeom prst="line">
            <a:avLst/>
          </a:prstGeom>
          <a:ln w="15875">
            <a:solidFill>
              <a:srgbClr val="C9CDD3"/>
            </a:solidFill>
          </a:ln>
          <a:effectLst/>
        </p:spPr>
      </p:cxnSp>
      <p:cxnSp>
        <p:nvCxnSpPr>
          <p:cNvPr id="15" name="Connector 14"/>
          <p:cNvCxnSpPr/>
          <p:nvPr/>
        </p:nvCxnSpPr>
        <p:spPr>
          <a:xfrm flipH="1">
            <a:off x="7283196" y="3803903"/>
            <a:ext cx="475487" cy="1106425"/>
          </a:xfrm>
          <a:prstGeom prst="line">
            <a:avLst/>
          </a:prstGeom>
          <a:ln w="15875">
            <a:solidFill>
              <a:srgbClr val="C9CDD3"/>
            </a:solidFill>
          </a:ln>
          <a:effectLst/>
        </p:spPr>
      </p:cxnSp>
      <p:cxnSp>
        <p:nvCxnSpPr>
          <p:cNvPr id="16" name="Connector 15"/>
          <p:cNvCxnSpPr/>
          <p:nvPr/>
        </p:nvCxnSpPr>
        <p:spPr>
          <a:xfrm>
            <a:off x="7758683" y="3803903"/>
            <a:ext cx="1024129" cy="1106425"/>
          </a:xfrm>
          <a:prstGeom prst="line">
            <a:avLst/>
          </a:prstGeom>
          <a:ln w="15875">
            <a:solidFill>
              <a:srgbClr val="C9CDD3"/>
            </a:solidFill>
          </a:ln>
          <a:effectLst/>
        </p:spPr>
      </p:cxnSp>
      <p:cxnSp>
        <p:nvCxnSpPr>
          <p:cNvPr id="17" name="Connector 16"/>
          <p:cNvCxnSpPr/>
          <p:nvPr/>
        </p:nvCxnSpPr>
        <p:spPr>
          <a:xfrm flipH="1">
            <a:off x="7904988" y="3803903"/>
            <a:ext cx="950975" cy="1106425"/>
          </a:xfrm>
          <a:prstGeom prst="line">
            <a:avLst/>
          </a:prstGeom>
          <a:ln w="15875">
            <a:solidFill>
              <a:srgbClr val="C9CDD3"/>
            </a:solidFill>
          </a:ln>
          <a:effectLst/>
        </p:spPr>
      </p:cxnSp>
      <p:cxnSp>
        <p:nvCxnSpPr>
          <p:cNvPr id="18" name="Connector 17"/>
          <p:cNvCxnSpPr/>
          <p:nvPr/>
        </p:nvCxnSpPr>
        <p:spPr>
          <a:xfrm>
            <a:off x="8855963" y="3803903"/>
            <a:ext cx="548641" cy="1106425"/>
          </a:xfrm>
          <a:prstGeom prst="line">
            <a:avLst/>
          </a:prstGeom>
          <a:ln w="15875">
            <a:solidFill>
              <a:srgbClr val="C9CDD3"/>
            </a:solidFill>
          </a:ln>
          <a:effectLst/>
        </p:spPr>
      </p:cxnSp>
      <p:cxnSp>
        <p:nvCxnSpPr>
          <p:cNvPr id="19" name="Connector 18"/>
          <p:cNvCxnSpPr/>
          <p:nvPr/>
        </p:nvCxnSpPr>
        <p:spPr>
          <a:xfrm>
            <a:off x="5564124" y="2203704"/>
            <a:ext cx="219455" cy="2706624"/>
          </a:xfrm>
          <a:prstGeom prst="line">
            <a:avLst/>
          </a:prstGeom>
          <a:ln w="15875">
            <a:solidFill>
              <a:srgbClr val="C9CDD3"/>
            </a:solidFill>
          </a:ln>
          <a:effectLst/>
        </p:spPr>
      </p:cxnSp>
      <p:cxnSp>
        <p:nvCxnSpPr>
          <p:cNvPr id="20" name="Connector 19"/>
          <p:cNvCxnSpPr/>
          <p:nvPr/>
        </p:nvCxnSpPr>
        <p:spPr>
          <a:xfrm flipH="1">
            <a:off x="3323844" y="2203704"/>
            <a:ext cx="2240280" cy="749807"/>
          </a:xfrm>
          <a:prstGeom prst="line">
            <a:avLst/>
          </a:prstGeom>
          <a:ln w="15875">
            <a:solidFill>
              <a:srgbClr val="8A8F98"/>
            </a:solidFill>
          </a:ln>
          <a:effectLst/>
        </p:spPr>
      </p:cxnSp>
      <p:cxnSp>
        <p:nvCxnSpPr>
          <p:cNvPr id="21" name="Connector 20"/>
          <p:cNvCxnSpPr/>
          <p:nvPr/>
        </p:nvCxnSpPr>
        <p:spPr>
          <a:xfrm>
            <a:off x="5564124" y="2203704"/>
            <a:ext cx="2194559" cy="749807"/>
          </a:xfrm>
          <a:prstGeom prst="line">
            <a:avLst/>
          </a:prstGeom>
          <a:ln w="15875">
            <a:solidFill>
              <a:srgbClr val="8A8F98"/>
            </a:solidFill>
          </a:ln>
          <a:effectLst/>
        </p:spPr>
      </p:cxnSp>
      <p:cxnSp>
        <p:nvCxnSpPr>
          <p:cNvPr id="22" name="Connector 21"/>
          <p:cNvCxnSpPr/>
          <p:nvPr/>
        </p:nvCxnSpPr>
        <p:spPr>
          <a:xfrm flipH="1">
            <a:off x="6405372" y="2203704"/>
            <a:ext cx="484632" cy="2706624"/>
          </a:xfrm>
          <a:prstGeom prst="line">
            <a:avLst/>
          </a:prstGeom>
          <a:ln w="15875">
            <a:solidFill>
              <a:srgbClr val="C9CDD3"/>
            </a:solidFill>
          </a:ln>
          <a:effectLst/>
        </p:spPr>
      </p:cxnSp>
      <p:cxnSp>
        <p:nvCxnSpPr>
          <p:cNvPr id="23" name="Connector 22"/>
          <p:cNvCxnSpPr/>
          <p:nvPr/>
        </p:nvCxnSpPr>
        <p:spPr>
          <a:xfrm flipH="1">
            <a:off x="4421124" y="2203704"/>
            <a:ext cx="2468880" cy="749807"/>
          </a:xfrm>
          <a:prstGeom prst="line">
            <a:avLst/>
          </a:prstGeom>
          <a:ln w="15875">
            <a:solidFill>
              <a:srgbClr val="8A8F98"/>
            </a:solidFill>
          </a:ln>
          <a:effectLst/>
        </p:spPr>
      </p:cxnSp>
      <p:cxnSp>
        <p:nvCxnSpPr>
          <p:cNvPr id="24" name="Connector 23"/>
          <p:cNvCxnSpPr/>
          <p:nvPr/>
        </p:nvCxnSpPr>
        <p:spPr>
          <a:xfrm>
            <a:off x="6890004" y="2203704"/>
            <a:ext cx="1965959" cy="749807"/>
          </a:xfrm>
          <a:prstGeom prst="line">
            <a:avLst/>
          </a:prstGeom>
          <a:ln w="15875">
            <a:solidFill>
              <a:srgbClr val="8A8F98"/>
            </a:solidFill>
          </a:ln>
          <a:effectLst/>
        </p:spPr>
      </p:cxnSp>
      <p:sp>
        <p:nvSpPr>
          <p:cNvPr id="25" name="Rounded Rectangle 24"/>
          <p:cNvSpPr/>
          <p:nvPr/>
        </p:nvSpPr>
        <p:spPr>
          <a:xfrm>
            <a:off x="2510028"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r</a:t>
            </a:r>
          </a:p>
        </p:txBody>
      </p:sp>
      <p:sp>
        <p:nvSpPr>
          <p:cNvPr id="26" name="Rounded Rectangle 25"/>
          <p:cNvSpPr/>
          <p:nvPr/>
        </p:nvSpPr>
        <p:spPr>
          <a:xfrm>
            <a:off x="3131820"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r′</a:t>
            </a:r>
          </a:p>
        </p:txBody>
      </p:sp>
      <p:sp>
        <p:nvSpPr>
          <p:cNvPr id="27" name="Rounded Rectangle 26"/>
          <p:cNvSpPr/>
          <p:nvPr/>
        </p:nvSpPr>
        <p:spPr>
          <a:xfrm>
            <a:off x="4009644"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s</a:t>
            </a:r>
          </a:p>
        </p:txBody>
      </p:sp>
      <p:sp>
        <p:nvSpPr>
          <p:cNvPr id="28" name="Rounded Rectangle 27"/>
          <p:cNvSpPr/>
          <p:nvPr/>
        </p:nvSpPr>
        <p:spPr>
          <a:xfrm>
            <a:off x="4631436"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s′</a:t>
            </a:r>
          </a:p>
        </p:txBody>
      </p:sp>
      <p:sp>
        <p:nvSpPr>
          <p:cNvPr id="29" name="Rounded Rectangle 28"/>
          <p:cNvSpPr/>
          <p:nvPr/>
        </p:nvSpPr>
        <p:spPr>
          <a:xfrm>
            <a:off x="5509259"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c</a:t>
            </a:r>
          </a:p>
        </p:txBody>
      </p:sp>
      <p:sp>
        <p:nvSpPr>
          <p:cNvPr id="30" name="Rounded Rectangle 29"/>
          <p:cNvSpPr/>
          <p:nvPr/>
        </p:nvSpPr>
        <p:spPr>
          <a:xfrm>
            <a:off x="6131052"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c′</a:t>
            </a:r>
          </a:p>
        </p:txBody>
      </p:sp>
      <p:sp>
        <p:nvSpPr>
          <p:cNvPr id="31" name="Rounded Rectangle 30"/>
          <p:cNvSpPr/>
          <p:nvPr/>
        </p:nvSpPr>
        <p:spPr>
          <a:xfrm>
            <a:off x="7008876"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u</a:t>
            </a:r>
          </a:p>
        </p:txBody>
      </p:sp>
      <p:sp>
        <p:nvSpPr>
          <p:cNvPr id="32" name="Rounded Rectangle 31"/>
          <p:cNvSpPr/>
          <p:nvPr/>
        </p:nvSpPr>
        <p:spPr>
          <a:xfrm>
            <a:off x="7630667"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u′</a:t>
            </a:r>
          </a:p>
        </p:txBody>
      </p:sp>
      <p:sp>
        <p:nvSpPr>
          <p:cNvPr id="33" name="Rounded Rectangle 32"/>
          <p:cNvSpPr/>
          <p:nvPr/>
        </p:nvSpPr>
        <p:spPr>
          <a:xfrm>
            <a:off x="8508492"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v</a:t>
            </a:r>
          </a:p>
        </p:txBody>
      </p:sp>
      <p:sp>
        <p:nvSpPr>
          <p:cNvPr id="34" name="Rounded Rectangle 33"/>
          <p:cNvSpPr/>
          <p:nvPr/>
        </p:nvSpPr>
        <p:spPr>
          <a:xfrm>
            <a:off x="9130284"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v′</a:t>
            </a:r>
          </a:p>
        </p:txBody>
      </p:sp>
      <p:sp>
        <p:nvSpPr>
          <p:cNvPr id="35" name="Rounded Rectangle 34"/>
          <p:cNvSpPr/>
          <p:nvPr/>
        </p:nvSpPr>
        <p:spPr>
          <a:xfrm>
            <a:off x="2921508" y="3236975"/>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AND</a:t>
            </a:r>
          </a:p>
        </p:txBody>
      </p:sp>
      <p:sp>
        <p:nvSpPr>
          <p:cNvPr id="36" name="TextBox 35"/>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a₁</a:t>
            </a:r>
          </a:p>
        </p:txBody>
      </p:sp>
      <p:sp>
        <p:nvSpPr>
          <p:cNvPr id="37" name="Rounded Rectangle 36"/>
          <p:cNvSpPr/>
          <p:nvPr/>
        </p:nvSpPr>
        <p:spPr>
          <a:xfrm>
            <a:off x="4018787" y="3236975"/>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AND</a:t>
            </a:r>
          </a:p>
        </p:txBody>
      </p:sp>
      <p:sp>
        <p:nvSpPr>
          <p:cNvPr id="38" name="TextBox 37"/>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39" name="Rounded Rectangle 38"/>
          <p:cNvSpPr/>
          <p:nvPr/>
        </p:nvSpPr>
        <p:spPr>
          <a:xfrm>
            <a:off x="7356348" y="3236975"/>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XOR</a:t>
            </a:r>
          </a:p>
        </p:txBody>
      </p:sp>
      <p:sp>
        <p:nvSpPr>
          <p:cNvPr id="40" name="TextBox 39"/>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x₁</a:t>
            </a:r>
          </a:p>
        </p:txBody>
      </p:sp>
      <p:sp>
        <p:nvSpPr>
          <p:cNvPr id="41" name="Rounded Rectangle 40"/>
          <p:cNvSpPr/>
          <p:nvPr/>
        </p:nvSpPr>
        <p:spPr>
          <a:xfrm>
            <a:off x="8453628" y="3236975"/>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XOR</a:t>
            </a:r>
          </a:p>
        </p:txBody>
      </p:sp>
      <p:sp>
        <p:nvSpPr>
          <p:cNvPr id="42" name="TextBox 41"/>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43" name="Rounded Rectangle 42"/>
          <p:cNvSpPr/>
          <p:nvPr/>
        </p:nvSpPr>
        <p:spPr>
          <a:xfrm>
            <a:off x="5161788" y="1636776"/>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ITE</a:t>
            </a:r>
          </a:p>
        </p:txBody>
      </p:sp>
      <p:sp>
        <p:nvSpPr>
          <p:cNvPr id="44" name="TextBox 43"/>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5" name="Rounded Rectangle 44"/>
          <p:cNvSpPr/>
          <p:nvPr/>
        </p:nvSpPr>
        <p:spPr>
          <a:xfrm>
            <a:off x="6487668" y="1636776"/>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ITE</a:t>
            </a:r>
          </a:p>
        </p:txBody>
      </p:sp>
      <p:sp>
        <p:nvSpPr>
          <p:cNvPr id="46" name="TextBox 45"/>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
        <p:nvSpPr>
          <p:cNvPr id="47" name="Rounded Rectangle 46"/>
          <p:cNvSpPr/>
          <p:nvPr/>
        </p:nvSpPr>
        <p:spPr>
          <a:xfrm>
            <a:off x="502920" y="1645920"/>
            <a:ext cx="329184" cy="219456"/>
          </a:xfrm>
          <a:prstGeom prst="roundRect">
            <a:avLst>
              <a:gd name="adj" fmla="val 1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48" name="TextBox 47"/>
          <p:cNvSpPr txBox="1"/>
          <p:nvPr/>
        </p:nvSpPr>
        <p:spPr>
          <a:xfrm>
            <a:off x="905256" y="1600200"/>
            <a:ext cx="1563624" cy="320040"/>
          </a:xfrm>
          <a:prstGeom prst="rect">
            <a:avLst/>
          </a:prstGeom>
          <a:noFill/>
        </p:spPr>
        <p:txBody>
          <a:bodyPr wrap="square" lIns="45720" tIns="27432" rIns="45720" bIns="27432" anchor="ctr">
            <a:spAutoFit/>
          </a:bodyPr>
          <a:lstStyle/>
          <a:p>
            <a:pPr algn="l"/>
            <a:r>
              <a:rPr sz="1200" b="0" i="0">
                <a:solidFill>
                  <a:srgbClr val="6B717A"/>
                </a:solidFill>
                <a:latin typeface="Calibri"/>
              </a:rPr>
              <a:t>equivalence class</a:t>
            </a:r>
          </a:p>
        </p:txBody>
      </p:sp>
      <p:sp>
        <p:nvSpPr>
          <p:cNvPr id="49" name="Rounded Rectangle 48"/>
          <p:cNvSpPr/>
          <p:nvPr/>
        </p:nvSpPr>
        <p:spPr>
          <a:xfrm>
            <a:off x="502920" y="2066543"/>
            <a:ext cx="329184" cy="219456"/>
          </a:xfrm>
          <a:prstGeom prst="roundRect">
            <a:avLst>
              <a:gd name="adj" fmla="val 15000"/>
            </a:avLst>
          </a:prstGeom>
          <a:solidFill>
            <a:srgbClr val="FFF3CC"/>
          </a:solidFill>
          <a:ln w="25400">
            <a:solidFill>
              <a:srgbClr val="E0A300"/>
            </a:solidFill>
          </a:ln>
          <a:effectLst/>
        </p:spPr>
        <p:txBody>
          <a:bodyPr wrap="square" lIns="54864" tIns="27432" rIns="54864" bIns="27432" rtlCol="0" anchor="ctr"/>
          <a:lstStyle/>
          <a:p>
            <a:pPr algn="ctr"/>
            <a:endParaRPr/>
          </a:p>
        </p:txBody>
      </p:sp>
      <p:sp>
        <p:nvSpPr>
          <p:cNvPr id="50" name="TextBox 49"/>
          <p:cNvSpPr txBox="1"/>
          <p:nvPr/>
        </p:nvSpPr>
        <p:spPr>
          <a:xfrm>
            <a:off x="905256" y="2020824"/>
            <a:ext cx="1563624" cy="320040"/>
          </a:xfrm>
          <a:prstGeom prst="rect">
            <a:avLst/>
          </a:prstGeom>
          <a:noFill/>
        </p:spPr>
        <p:txBody>
          <a:bodyPr wrap="square" lIns="45720" tIns="27432" rIns="45720" bIns="27432" anchor="ctr">
            <a:spAutoFit/>
          </a:bodyPr>
          <a:lstStyle/>
          <a:p>
            <a:pPr algn="l"/>
            <a:r>
              <a:rPr sz="1200" b="0" i="0">
                <a:solidFill>
                  <a:srgbClr val="6B717A"/>
                </a:solidFill>
                <a:latin typeface="Calibri"/>
              </a:rPr>
              <a:t>candidate</a:t>
            </a:r>
          </a:p>
        </p:txBody>
      </p:sp>
      <p:sp>
        <p:nvSpPr>
          <p:cNvPr id="51" name="TextBox 50"/>
          <p:cNvSpPr txBox="1"/>
          <p:nvPr/>
        </p:nvSpPr>
        <p:spPr>
          <a:xfrm>
            <a:off x="502920" y="2788920"/>
            <a:ext cx="2103120" cy="731520"/>
          </a:xfrm>
          <a:prstGeom prst="rect">
            <a:avLst/>
          </a:prstGeom>
          <a:noFill/>
        </p:spPr>
        <p:txBody>
          <a:bodyPr wrap="square" lIns="45720" tIns="27432" rIns="45720" bIns="27432" anchor="t">
            <a:spAutoFit/>
          </a:bodyPr>
          <a:lstStyle/>
          <a:p>
            <a:pPr algn="l"/>
            <a:r>
              <a:rPr sz="1500" b="0" i="0">
                <a:solidFill>
                  <a:srgbClr val="6B717A"/>
                </a:solidFill>
                <a:latin typeface="Calibri"/>
              </a:rPr>
              <a:t>candidates: all terms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ParentCC on the example: round 1</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45</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cxnSp>
        <p:nvCxnSpPr>
          <p:cNvPr id="11" name="Connector 10"/>
          <p:cNvCxnSpPr/>
          <p:nvPr/>
        </p:nvCxnSpPr>
        <p:spPr>
          <a:xfrm flipH="1">
            <a:off x="2784348" y="3803903"/>
            <a:ext cx="539496" cy="1106425"/>
          </a:xfrm>
          <a:prstGeom prst="line">
            <a:avLst/>
          </a:prstGeom>
          <a:ln w="15875">
            <a:solidFill>
              <a:srgbClr val="C9CDD3"/>
            </a:solidFill>
          </a:ln>
          <a:effectLst/>
        </p:spPr>
      </p:cxnSp>
      <p:cxnSp>
        <p:nvCxnSpPr>
          <p:cNvPr id="12" name="Connector 11"/>
          <p:cNvCxnSpPr/>
          <p:nvPr/>
        </p:nvCxnSpPr>
        <p:spPr>
          <a:xfrm>
            <a:off x="3323844" y="3803903"/>
            <a:ext cx="960120" cy="1106425"/>
          </a:xfrm>
          <a:prstGeom prst="line">
            <a:avLst/>
          </a:prstGeom>
          <a:ln w="15875">
            <a:solidFill>
              <a:srgbClr val="C9CDD3"/>
            </a:solidFill>
          </a:ln>
          <a:effectLst/>
        </p:spPr>
      </p:cxnSp>
      <p:cxnSp>
        <p:nvCxnSpPr>
          <p:cNvPr id="13" name="Connector 12"/>
          <p:cNvCxnSpPr/>
          <p:nvPr/>
        </p:nvCxnSpPr>
        <p:spPr>
          <a:xfrm flipH="1">
            <a:off x="3406139" y="3803903"/>
            <a:ext cx="1014985" cy="1106425"/>
          </a:xfrm>
          <a:prstGeom prst="line">
            <a:avLst/>
          </a:prstGeom>
          <a:ln w="15875">
            <a:solidFill>
              <a:srgbClr val="C9CDD3"/>
            </a:solidFill>
          </a:ln>
          <a:effectLst/>
        </p:spPr>
      </p:cxnSp>
      <p:cxnSp>
        <p:nvCxnSpPr>
          <p:cNvPr id="14" name="Connector 13"/>
          <p:cNvCxnSpPr/>
          <p:nvPr/>
        </p:nvCxnSpPr>
        <p:spPr>
          <a:xfrm>
            <a:off x="4421124" y="3803903"/>
            <a:ext cx="484632" cy="1106425"/>
          </a:xfrm>
          <a:prstGeom prst="line">
            <a:avLst/>
          </a:prstGeom>
          <a:ln w="15875">
            <a:solidFill>
              <a:srgbClr val="C9CDD3"/>
            </a:solidFill>
          </a:ln>
          <a:effectLst/>
        </p:spPr>
      </p:cxnSp>
      <p:cxnSp>
        <p:nvCxnSpPr>
          <p:cNvPr id="15" name="Connector 14"/>
          <p:cNvCxnSpPr/>
          <p:nvPr/>
        </p:nvCxnSpPr>
        <p:spPr>
          <a:xfrm flipH="1">
            <a:off x="7283196" y="3803903"/>
            <a:ext cx="475487" cy="1106425"/>
          </a:xfrm>
          <a:prstGeom prst="line">
            <a:avLst/>
          </a:prstGeom>
          <a:ln w="15875">
            <a:solidFill>
              <a:srgbClr val="C9CDD3"/>
            </a:solidFill>
          </a:ln>
          <a:effectLst/>
        </p:spPr>
      </p:cxnSp>
      <p:cxnSp>
        <p:nvCxnSpPr>
          <p:cNvPr id="16" name="Connector 15"/>
          <p:cNvCxnSpPr/>
          <p:nvPr/>
        </p:nvCxnSpPr>
        <p:spPr>
          <a:xfrm>
            <a:off x="7758683" y="3803903"/>
            <a:ext cx="1024129" cy="1106425"/>
          </a:xfrm>
          <a:prstGeom prst="line">
            <a:avLst/>
          </a:prstGeom>
          <a:ln w="15875">
            <a:solidFill>
              <a:srgbClr val="C9CDD3"/>
            </a:solidFill>
          </a:ln>
          <a:effectLst/>
        </p:spPr>
      </p:cxnSp>
      <p:cxnSp>
        <p:nvCxnSpPr>
          <p:cNvPr id="17" name="Connector 16"/>
          <p:cNvCxnSpPr/>
          <p:nvPr/>
        </p:nvCxnSpPr>
        <p:spPr>
          <a:xfrm flipH="1">
            <a:off x="7904988" y="3803903"/>
            <a:ext cx="950975" cy="1106425"/>
          </a:xfrm>
          <a:prstGeom prst="line">
            <a:avLst/>
          </a:prstGeom>
          <a:ln w="15875">
            <a:solidFill>
              <a:srgbClr val="C9CDD3"/>
            </a:solidFill>
          </a:ln>
          <a:effectLst/>
        </p:spPr>
      </p:cxnSp>
      <p:cxnSp>
        <p:nvCxnSpPr>
          <p:cNvPr id="18" name="Connector 17"/>
          <p:cNvCxnSpPr/>
          <p:nvPr/>
        </p:nvCxnSpPr>
        <p:spPr>
          <a:xfrm>
            <a:off x="8855963" y="3803903"/>
            <a:ext cx="548641" cy="1106425"/>
          </a:xfrm>
          <a:prstGeom prst="line">
            <a:avLst/>
          </a:prstGeom>
          <a:ln w="15875">
            <a:solidFill>
              <a:srgbClr val="C9CDD3"/>
            </a:solidFill>
          </a:ln>
          <a:effectLst/>
        </p:spPr>
      </p:cxnSp>
      <p:cxnSp>
        <p:nvCxnSpPr>
          <p:cNvPr id="19" name="Connector 18"/>
          <p:cNvCxnSpPr/>
          <p:nvPr/>
        </p:nvCxnSpPr>
        <p:spPr>
          <a:xfrm>
            <a:off x="5564124" y="2203704"/>
            <a:ext cx="219455" cy="2706624"/>
          </a:xfrm>
          <a:prstGeom prst="line">
            <a:avLst/>
          </a:prstGeom>
          <a:ln w="15875">
            <a:solidFill>
              <a:srgbClr val="C9CDD3"/>
            </a:solidFill>
          </a:ln>
          <a:effectLst/>
        </p:spPr>
      </p:cxnSp>
      <p:cxnSp>
        <p:nvCxnSpPr>
          <p:cNvPr id="20" name="Connector 19"/>
          <p:cNvCxnSpPr/>
          <p:nvPr/>
        </p:nvCxnSpPr>
        <p:spPr>
          <a:xfrm flipH="1">
            <a:off x="3323844" y="2203704"/>
            <a:ext cx="2240280" cy="749807"/>
          </a:xfrm>
          <a:prstGeom prst="line">
            <a:avLst/>
          </a:prstGeom>
          <a:ln w="15875">
            <a:solidFill>
              <a:srgbClr val="8A8F98"/>
            </a:solidFill>
          </a:ln>
          <a:effectLst/>
        </p:spPr>
      </p:cxnSp>
      <p:cxnSp>
        <p:nvCxnSpPr>
          <p:cNvPr id="21" name="Connector 20"/>
          <p:cNvCxnSpPr/>
          <p:nvPr/>
        </p:nvCxnSpPr>
        <p:spPr>
          <a:xfrm>
            <a:off x="5564124" y="2203704"/>
            <a:ext cx="2194559" cy="749807"/>
          </a:xfrm>
          <a:prstGeom prst="line">
            <a:avLst/>
          </a:prstGeom>
          <a:ln w="15875">
            <a:solidFill>
              <a:srgbClr val="8A8F98"/>
            </a:solidFill>
          </a:ln>
          <a:effectLst/>
        </p:spPr>
      </p:cxnSp>
      <p:cxnSp>
        <p:nvCxnSpPr>
          <p:cNvPr id="22" name="Connector 21"/>
          <p:cNvCxnSpPr/>
          <p:nvPr/>
        </p:nvCxnSpPr>
        <p:spPr>
          <a:xfrm flipH="1">
            <a:off x="6405372" y="2203704"/>
            <a:ext cx="484632" cy="2706624"/>
          </a:xfrm>
          <a:prstGeom prst="line">
            <a:avLst/>
          </a:prstGeom>
          <a:ln w="15875">
            <a:solidFill>
              <a:srgbClr val="C9CDD3"/>
            </a:solidFill>
          </a:ln>
          <a:effectLst/>
        </p:spPr>
      </p:cxnSp>
      <p:cxnSp>
        <p:nvCxnSpPr>
          <p:cNvPr id="23" name="Connector 22"/>
          <p:cNvCxnSpPr/>
          <p:nvPr/>
        </p:nvCxnSpPr>
        <p:spPr>
          <a:xfrm flipH="1">
            <a:off x="4421124" y="2203704"/>
            <a:ext cx="2468880" cy="749807"/>
          </a:xfrm>
          <a:prstGeom prst="line">
            <a:avLst/>
          </a:prstGeom>
          <a:ln w="15875">
            <a:solidFill>
              <a:srgbClr val="8A8F98"/>
            </a:solidFill>
          </a:ln>
          <a:effectLst/>
        </p:spPr>
      </p:cxnSp>
      <p:cxnSp>
        <p:nvCxnSpPr>
          <p:cNvPr id="24" name="Connector 23"/>
          <p:cNvCxnSpPr/>
          <p:nvPr/>
        </p:nvCxnSpPr>
        <p:spPr>
          <a:xfrm>
            <a:off x="6890004" y="2203704"/>
            <a:ext cx="1965959" cy="749807"/>
          </a:xfrm>
          <a:prstGeom prst="line">
            <a:avLst/>
          </a:prstGeom>
          <a:ln w="15875">
            <a:solidFill>
              <a:srgbClr val="8A8F98"/>
            </a:solidFill>
          </a:ln>
          <a:effectLst/>
        </p:spPr>
      </p:cxnSp>
      <p:sp>
        <p:nvSpPr>
          <p:cNvPr id="25" name="Rounded Rectangle 24"/>
          <p:cNvSpPr/>
          <p:nvPr/>
        </p:nvSpPr>
        <p:spPr>
          <a:xfrm>
            <a:off x="2510028"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r</a:t>
            </a:r>
          </a:p>
        </p:txBody>
      </p:sp>
      <p:sp>
        <p:nvSpPr>
          <p:cNvPr id="26" name="Rounded Rectangle 25"/>
          <p:cNvSpPr/>
          <p:nvPr/>
        </p:nvSpPr>
        <p:spPr>
          <a:xfrm>
            <a:off x="3131820"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r′</a:t>
            </a:r>
          </a:p>
        </p:txBody>
      </p:sp>
      <p:sp>
        <p:nvSpPr>
          <p:cNvPr id="27" name="Rounded Rectangle 26"/>
          <p:cNvSpPr/>
          <p:nvPr/>
        </p:nvSpPr>
        <p:spPr>
          <a:xfrm>
            <a:off x="4009644"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s</a:t>
            </a:r>
          </a:p>
        </p:txBody>
      </p:sp>
      <p:sp>
        <p:nvSpPr>
          <p:cNvPr id="28" name="Rounded Rectangle 27"/>
          <p:cNvSpPr/>
          <p:nvPr/>
        </p:nvSpPr>
        <p:spPr>
          <a:xfrm>
            <a:off x="4631436"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s′</a:t>
            </a:r>
          </a:p>
        </p:txBody>
      </p:sp>
      <p:sp>
        <p:nvSpPr>
          <p:cNvPr id="29" name="Rounded Rectangle 28"/>
          <p:cNvSpPr/>
          <p:nvPr/>
        </p:nvSpPr>
        <p:spPr>
          <a:xfrm>
            <a:off x="5509259"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c</a:t>
            </a:r>
          </a:p>
        </p:txBody>
      </p:sp>
      <p:sp>
        <p:nvSpPr>
          <p:cNvPr id="30" name="Rounded Rectangle 29"/>
          <p:cNvSpPr/>
          <p:nvPr/>
        </p:nvSpPr>
        <p:spPr>
          <a:xfrm>
            <a:off x="6131052"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c′</a:t>
            </a:r>
          </a:p>
        </p:txBody>
      </p:sp>
      <p:sp>
        <p:nvSpPr>
          <p:cNvPr id="31" name="Rounded Rectangle 30"/>
          <p:cNvSpPr/>
          <p:nvPr/>
        </p:nvSpPr>
        <p:spPr>
          <a:xfrm>
            <a:off x="7008876"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u</a:t>
            </a:r>
          </a:p>
        </p:txBody>
      </p:sp>
      <p:sp>
        <p:nvSpPr>
          <p:cNvPr id="32" name="Rounded Rectangle 31"/>
          <p:cNvSpPr/>
          <p:nvPr/>
        </p:nvSpPr>
        <p:spPr>
          <a:xfrm>
            <a:off x="7630667"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u′</a:t>
            </a:r>
          </a:p>
        </p:txBody>
      </p:sp>
      <p:sp>
        <p:nvSpPr>
          <p:cNvPr id="33" name="Rounded Rectangle 32"/>
          <p:cNvSpPr/>
          <p:nvPr/>
        </p:nvSpPr>
        <p:spPr>
          <a:xfrm>
            <a:off x="8508492"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v</a:t>
            </a:r>
          </a:p>
        </p:txBody>
      </p:sp>
      <p:sp>
        <p:nvSpPr>
          <p:cNvPr id="34" name="Rounded Rectangle 33"/>
          <p:cNvSpPr/>
          <p:nvPr/>
        </p:nvSpPr>
        <p:spPr>
          <a:xfrm>
            <a:off x="9130284"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v′</a:t>
            </a:r>
          </a:p>
        </p:txBody>
      </p:sp>
      <p:sp>
        <p:nvSpPr>
          <p:cNvPr id="35" name="Rounded Rectangle 34"/>
          <p:cNvSpPr/>
          <p:nvPr/>
        </p:nvSpPr>
        <p:spPr>
          <a:xfrm>
            <a:off x="2921508" y="3236975"/>
            <a:ext cx="804672" cy="566928"/>
          </a:xfrm>
          <a:prstGeom prst="roundRect">
            <a:avLst>
              <a:gd name="adj" fmla="val 20000"/>
            </a:avLst>
          </a:prstGeom>
          <a:solidFill>
            <a:srgbClr val="DCEAF8"/>
          </a:solidFill>
          <a:ln w="34925">
            <a:solidFill>
              <a:srgbClr val="2E6FB0"/>
            </a:solidFill>
          </a:ln>
          <a:effectLst/>
        </p:spPr>
        <p:txBody>
          <a:bodyPr wrap="square" lIns="54864" tIns="0" rIns="54864" bIns="0" rtlCol="0" anchor="ctr"/>
          <a:lstStyle/>
          <a:p>
            <a:pPr algn="ctr"/>
            <a:r>
              <a:rPr sz="1600" b="1" i="0">
                <a:solidFill>
                  <a:srgbClr val="2B2F36"/>
                </a:solidFill>
                <a:latin typeface="Calibri"/>
              </a:rPr>
              <a:t>AND</a:t>
            </a:r>
          </a:p>
        </p:txBody>
      </p:sp>
      <p:sp>
        <p:nvSpPr>
          <p:cNvPr id="36" name="TextBox 35"/>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a₁</a:t>
            </a:r>
          </a:p>
        </p:txBody>
      </p:sp>
      <p:sp>
        <p:nvSpPr>
          <p:cNvPr id="37" name="Rounded Rectangle 36"/>
          <p:cNvSpPr/>
          <p:nvPr/>
        </p:nvSpPr>
        <p:spPr>
          <a:xfrm>
            <a:off x="4018787" y="3236975"/>
            <a:ext cx="804672" cy="566928"/>
          </a:xfrm>
          <a:prstGeom prst="roundRect">
            <a:avLst>
              <a:gd name="adj" fmla="val 20000"/>
            </a:avLst>
          </a:prstGeom>
          <a:solidFill>
            <a:srgbClr val="DCEAF8"/>
          </a:solidFill>
          <a:ln w="34925">
            <a:solidFill>
              <a:srgbClr val="2E6FB0"/>
            </a:solidFill>
          </a:ln>
          <a:effectLst/>
        </p:spPr>
        <p:txBody>
          <a:bodyPr wrap="square" lIns="54864" tIns="0" rIns="54864" bIns="0" rtlCol="0" anchor="ctr"/>
          <a:lstStyle/>
          <a:p>
            <a:pPr algn="ctr"/>
            <a:r>
              <a:rPr sz="1600" b="1" i="0">
                <a:solidFill>
                  <a:srgbClr val="2B2F36"/>
                </a:solidFill>
                <a:latin typeface="Calibri"/>
              </a:rPr>
              <a:t>AND</a:t>
            </a:r>
          </a:p>
        </p:txBody>
      </p:sp>
      <p:sp>
        <p:nvSpPr>
          <p:cNvPr id="38" name="TextBox 37"/>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39" name="Rounded Rectangle 38"/>
          <p:cNvSpPr/>
          <p:nvPr/>
        </p:nvSpPr>
        <p:spPr>
          <a:xfrm>
            <a:off x="7356348" y="3236975"/>
            <a:ext cx="804672" cy="566928"/>
          </a:xfrm>
          <a:prstGeom prst="roundRect">
            <a:avLst>
              <a:gd name="adj" fmla="val 20000"/>
            </a:avLst>
          </a:prstGeom>
          <a:solidFill>
            <a:srgbClr val="DDF1E2"/>
          </a:solidFill>
          <a:ln w="34925">
            <a:solidFill>
              <a:srgbClr val="3A9A5B"/>
            </a:solidFill>
          </a:ln>
          <a:effectLst/>
        </p:spPr>
        <p:txBody>
          <a:bodyPr wrap="square" lIns="54864" tIns="0" rIns="54864" bIns="0" rtlCol="0" anchor="ctr"/>
          <a:lstStyle/>
          <a:p>
            <a:pPr algn="ctr"/>
            <a:r>
              <a:rPr sz="1600" b="1" i="0">
                <a:solidFill>
                  <a:srgbClr val="2B2F36"/>
                </a:solidFill>
                <a:latin typeface="Calibri"/>
              </a:rPr>
              <a:t>XOR</a:t>
            </a:r>
          </a:p>
        </p:txBody>
      </p:sp>
      <p:sp>
        <p:nvSpPr>
          <p:cNvPr id="40" name="TextBox 39"/>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x₁</a:t>
            </a:r>
          </a:p>
        </p:txBody>
      </p:sp>
      <p:sp>
        <p:nvSpPr>
          <p:cNvPr id="41" name="Rounded Rectangle 40"/>
          <p:cNvSpPr/>
          <p:nvPr/>
        </p:nvSpPr>
        <p:spPr>
          <a:xfrm>
            <a:off x="8453628" y="3236975"/>
            <a:ext cx="804672" cy="566928"/>
          </a:xfrm>
          <a:prstGeom prst="roundRect">
            <a:avLst>
              <a:gd name="adj" fmla="val 20000"/>
            </a:avLst>
          </a:prstGeom>
          <a:solidFill>
            <a:srgbClr val="DDF1E2"/>
          </a:solidFill>
          <a:ln w="34925">
            <a:solidFill>
              <a:srgbClr val="3A9A5B"/>
            </a:solidFill>
          </a:ln>
          <a:effectLst/>
        </p:spPr>
        <p:txBody>
          <a:bodyPr wrap="square" lIns="54864" tIns="0" rIns="54864" bIns="0" rtlCol="0" anchor="ctr"/>
          <a:lstStyle/>
          <a:p>
            <a:pPr algn="ctr"/>
            <a:r>
              <a:rPr sz="1600" b="1" i="0">
                <a:solidFill>
                  <a:srgbClr val="2B2F36"/>
                </a:solidFill>
                <a:latin typeface="Calibri"/>
              </a:rPr>
              <a:t>XOR</a:t>
            </a:r>
          </a:p>
        </p:txBody>
      </p:sp>
      <p:sp>
        <p:nvSpPr>
          <p:cNvPr id="42" name="TextBox 41"/>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43" name="Rounded Rectangle 42"/>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4" name="TextBox 43"/>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5" name="Rounded Rectangle 44"/>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6" name="TextBox 45"/>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
        <p:nvSpPr>
          <p:cNvPr id="47" name="Rounded Rectangle 46"/>
          <p:cNvSpPr/>
          <p:nvPr/>
        </p:nvSpPr>
        <p:spPr>
          <a:xfrm>
            <a:off x="502920" y="1645920"/>
            <a:ext cx="329184" cy="219456"/>
          </a:xfrm>
          <a:prstGeom prst="roundRect">
            <a:avLst>
              <a:gd name="adj" fmla="val 1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48" name="TextBox 47"/>
          <p:cNvSpPr txBox="1"/>
          <p:nvPr/>
        </p:nvSpPr>
        <p:spPr>
          <a:xfrm>
            <a:off x="905256" y="1600200"/>
            <a:ext cx="1563624" cy="320040"/>
          </a:xfrm>
          <a:prstGeom prst="rect">
            <a:avLst/>
          </a:prstGeom>
          <a:noFill/>
        </p:spPr>
        <p:txBody>
          <a:bodyPr wrap="square" lIns="45720" tIns="27432" rIns="45720" bIns="27432" anchor="ctr">
            <a:spAutoFit/>
          </a:bodyPr>
          <a:lstStyle/>
          <a:p>
            <a:pPr algn="l"/>
            <a:r>
              <a:rPr sz="1200" b="0" i="0">
                <a:solidFill>
                  <a:srgbClr val="6B717A"/>
                </a:solidFill>
                <a:latin typeface="Calibri"/>
              </a:rPr>
              <a:t>equivalence class</a:t>
            </a:r>
          </a:p>
        </p:txBody>
      </p:sp>
      <p:sp>
        <p:nvSpPr>
          <p:cNvPr id="49" name="Rounded Rectangle 48"/>
          <p:cNvSpPr/>
          <p:nvPr/>
        </p:nvSpPr>
        <p:spPr>
          <a:xfrm>
            <a:off x="502920" y="2066543"/>
            <a:ext cx="146304" cy="219456"/>
          </a:xfrm>
          <a:prstGeom prst="roundRect">
            <a:avLst>
              <a:gd name="adj" fmla="val 30000"/>
            </a:avLst>
          </a:prstGeom>
          <a:solidFill>
            <a:srgbClr val="DCEAF8"/>
          </a:solidFill>
          <a:ln w="19050">
            <a:solidFill>
              <a:srgbClr val="2E6FB0"/>
            </a:solidFill>
          </a:ln>
          <a:effectLst/>
        </p:spPr>
        <p:txBody>
          <a:bodyPr wrap="square" lIns="54864" tIns="27432" rIns="54864" bIns="27432" rtlCol="0" anchor="ctr"/>
          <a:lstStyle/>
          <a:p>
            <a:pPr algn="ctr"/>
            <a:endParaRPr/>
          </a:p>
        </p:txBody>
      </p:sp>
      <p:sp>
        <p:nvSpPr>
          <p:cNvPr id="50" name="Rounded Rectangle 49"/>
          <p:cNvSpPr/>
          <p:nvPr/>
        </p:nvSpPr>
        <p:spPr>
          <a:xfrm>
            <a:off x="685800" y="2066543"/>
            <a:ext cx="146304" cy="219456"/>
          </a:xfrm>
          <a:prstGeom prst="roundRect">
            <a:avLst>
              <a:gd name="adj" fmla="val 30000"/>
            </a:avLst>
          </a:prstGeom>
          <a:solidFill>
            <a:srgbClr val="DDF1E2"/>
          </a:solidFill>
          <a:ln w="19050">
            <a:solidFill>
              <a:srgbClr val="3A9A5B"/>
            </a:solidFill>
          </a:ln>
          <a:effectLst/>
        </p:spPr>
        <p:txBody>
          <a:bodyPr wrap="square" lIns="54864" tIns="27432" rIns="54864" bIns="27432" rtlCol="0" anchor="ctr"/>
          <a:lstStyle/>
          <a:p>
            <a:pPr algn="ctr"/>
            <a:endParaRPr/>
          </a:p>
        </p:txBody>
      </p:sp>
      <p:sp>
        <p:nvSpPr>
          <p:cNvPr id="51" name="TextBox 50"/>
          <p:cNvSpPr txBox="1"/>
          <p:nvPr/>
        </p:nvSpPr>
        <p:spPr>
          <a:xfrm>
            <a:off x="905256" y="2020824"/>
            <a:ext cx="1563624" cy="320040"/>
          </a:xfrm>
          <a:prstGeom prst="rect">
            <a:avLst/>
          </a:prstGeom>
          <a:noFill/>
        </p:spPr>
        <p:txBody>
          <a:bodyPr wrap="square" lIns="45720" tIns="27432" rIns="45720" bIns="27432" anchor="ctr">
            <a:spAutoFit/>
          </a:bodyPr>
          <a:lstStyle/>
          <a:p>
            <a:pPr algn="l"/>
            <a:r>
              <a:rPr sz="1200" b="0" i="0">
                <a:solidFill>
                  <a:srgbClr val="6B717A"/>
                </a:solidFill>
                <a:latin typeface="Calibri"/>
              </a:rPr>
              <a:t>same signature</a:t>
            </a:r>
          </a:p>
        </p:txBody>
      </p:sp>
      <p:sp>
        <p:nvSpPr>
          <p:cNvPr id="52" name="TextBox 51"/>
          <p:cNvSpPr txBox="1"/>
          <p:nvPr/>
        </p:nvSpPr>
        <p:spPr>
          <a:xfrm>
            <a:off x="502920" y="2788920"/>
            <a:ext cx="2103120" cy="731520"/>
          </a:xfrm>
          <a:prstGeom prst="rect">
            <a:avLst/>
          </a:prstGeom>
          <a:noFill/>
        </p:spPr>
        <p:txBody>
          <a:bodyPr wrap="square" lIns="45720" tIns="27432" rIns="45720" bIns="27432" anchor="t">
            <a:spAutoFit/>
          </a:bodyPr>
          <a:lstStyle/>
          <a:p>
            <a:pPr algn="l"/>
            <a:r>
              <a:rPr sz="1500" b="0" i="0">
                <a:solidFill>
                  <a:srgbClr val="6B717A"/>
                </a:solidFill>
                <a:latin typeface="Calibri"/>
              </a:rPr>
              <a:t>group by signature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ParentCC on the example: round 1</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46</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wrap="square" lIns="54864" tIns="27432" rIns="54864" bIns="27432" rtlCol="0" anchor="ctr"/>
          <a:lstStyle/>
          <a:p>
            <a:pPr algn="ctr"/>
            <a:endParaRP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wrap="square" lIns="54864" tIns="27432" rIns="54864" bIns="27432" rtlCol="0" anchor="ctr"/>
          <a:lstStyle/>
          <a:p>
            <a:pPr algn="ctr"/>
            <a:endParaRPr/>
          </a:p>
        </p:txBody>
      </p:sp>
      <p:cxnSp>
        <p:nvCxnSpPr>
          <p:cNvPr id="13" name="Connector 12"/>
          <p:cNvCxnSpPr/>
          <p:nvPr/>
        </p:nvCxnSpPr>
        <p:spPr>
          <a:xfrm flipH="1">
            <a:off x="2784348" y="3803903"/>
            <a:ext cx="539496" cy="1106425"/>
          </a:xfrm>
          <a:prstGeom prst="line">
            <a:avLst/>
          </a:prstGeom>
          <a:ln w="15875">
            <a:solidFill>
              <a:srgbClr val="C9CDD3"/>
            </a:solidFill>
          </a:ln>
          <a:effectLst/>
        </p:spPr>
      </p:cxnSp>
      <p:cxnSp>
        <p:nvCxnSpPr>
          <p:cNvPr id="14" name="Connector 13"/>
          <p:cNvCxnSpPr/>
          <p:nvPr/>
        </p:nvCxnSpPr>
        <p:spPr>
          <a:xfrm>
            <a:off x="3323844" y="3803903"/>
            <a:ext cx="960120" cy="1106425"/>
          </a:xfrm>
          <a:prstGeom prst="line">
            <a:avLst/>
          </a:prstGeom>
          <a:ln w="15875">
            <a:solidFill>
              <a:srgbClr val="C9CDD3"/>
            </a:solidFill>
          </a:ln>
          <a:effectLst/>
        </p:spPr>
      </p:cxnSp>
      <p:cxnSp>
        <p:nvCxnSpPr>
          <p:cNvPr id="15" name="Connector 14"/>
          <p:cNvCxnSpPr/>
          <p:nvPr/>
        </p:nvCxnSpPr>
        <p:spPr>
          <a:xfrm flipH="1">
            <a:off x="3406139" y="3803903"/>
            <a:ext cx="1014985" cy="1106425"/>
          </a:xfrm>
          <a:prstGeom prst="line">
            <a:avLst/>
          </a:prstGeom>
          <a:ln w="15875">
            <a:solidFill>
              <a:srgbClr val="C9CDD3"/>
            </a:solidFill>
          </a:ln>
          <a:effectLst/>
        </p:spPr>
      </p:cxnSp>
      <p:cxnSp>
        <p:nvCxnSpPr>
          <p:cNvPr id="16" name="Connector 15"/>
          <p:cNvCxnSpPr/>
          <p:nvPr/>
        </p:nvCxnSpPr>
        <p:spPr>
          <a:xfrm>
            <a:off x="4421124" y="3803903"/>
            <a:ext cx="484632" cy="1106425"/>
          </a:xfrm>
          <a:prstGeom prst="line">
            <a:avLst/>
          </a:prstGeom>
          <a:ln w="15875">
            <a:solidFill>
              <a:srgbClr val="C9CDD3"/>
            </a:solidFill>
          </a:ln>
          <a:effectLst/>
        </p:spPr>
      </p:cxnSp>
      <p:cxnSp>
        <p:nvCxnSpPr>
          <p:cNvPr id="17" name="Connector 16"/>
          <p:cNvCxnSpPr/>
          <p:nvPr/>
        </p:nvCxnSpPr>
        <p:spPr>
          <a:xfrm flipH="1">
            <a:off x="7283196" y="3803903"/>
            <a:ext cx="475487" cy="1106425"/>
          </a:xfrm>
          <a:prstGeom prst="line">
            <a:avLst/>
          </a:prstGeom>
          <a:ln w="15875">
            <a:solidFill>
              <a:srgbClr val="C9CDD3"/>
            </a:solidFill>
          </a:ln>
          <a:effectLst/>
        </p:spPr>
      </p:cxnSp>
      <p:cxnSp>
        <p:nvCxnSpPr>
          <p:cNvPr id="18" name="Connector 17"/>
          <p:cNvCxnSpPr/>
          <p:nvPr/>
        </p:nvCxnSpPr>
        <p:spPr>
          <a:xfrm>
            <a:off x="7758683" y="3803903"/>
            <a:ext cx="1024129" cy="1106425"/>
          </a:xfrm>
          <a:prstGeom prst="line">
            <a:avLst/>
          </a:prstGeom>
          <a:ln w="15875">
            <a:solidFill>
              <a:srgbClr val="C9CDD3"/>
            </a:solidFill>
          </a:ln>
          <a:effectLst/>
        </p:spPr>
      </p:cxnSp>
      <p:cxnSp>
        <p:nvCxnSpPr>
          <p:cNvPr id="19" name="Connector 18"/>
          <p:cNvCxnSpPr/>
          <p:nvPr/>
        </p:nvCxnSpPr>
        <p:spPr>
          <a:xfrm flipH="1">
            <a:off x="7904988" y="3803903"/>
            <a:ext cx="950975" cy="1106425"/>
          </a:xfrm>
          <a:prstGeom prst="line">
            <a:avLst/>
          </a:prstGeom>
          <a:ln w="15875">
            <a:solidFill>
              <a:srgbClr val="C9CDD3"/>
            </a:solidFill>
          </a:ln>
          <a:effectLst/>
        </p:spPr>
      </p:cxnSp>
      <p:cxnSp>
        <p:nvCxnSpPr>
          <p:cNvPr id="20" name="Connector 19"/>
          <p:cNvCxnSpPr/>
          <p:nvPr/>
        </p:nvCxnSpPr>
        <p:spPr>
          <a:xfrm>
            <a:off x="8855963" y="3803903"/>
            <a:ext cx="548641" cy="1106425"/>
          </a:xfrm>
          <a:prstGeom prst="line">
            <a:avLst/>
          </a:prstGeom>
          <a:ln w="15875">
            <a:solidFill>
              <a:srgbClr val="C9CDD3"/>
            </a:solidFill>
          </a:ln>
          <a:effectLst/>
        </p:spPr>
      </p:cxnSp>
      <p:cxnSp>
        <p:nvCxnSpPr>
          <p:cNvPr id="21" name="Connector 20"/>
          <p:cNvCxnSpPr/>
          <p:nvPr/>
        </p:nvCxnSpPr>
        <p:spPr>
          <a:xfrm>
            <a:off x="5564124" y="2203704"/>
            <a:ext cx="219455" cy="2706624"/>
          </a:xfrm>
          <a:prstGeom prst="line">
            <a:avLst/>
          </a:prstGeom>
          <a:ln w="15875">
            <a:solidFill>
              <a:srgbClr val="C9CDD3"/>
            </a:solidFill>
          </a:ln>
          <a:effectLst/>
        </p:spPr>
      </p:cxnSp>
      <p:cxnSp>
        <p:nvCxnSpPr>
          <p:cNvPr id="22" name="Connector 21"/>
          <p:cNvCxnSpPr/>
          <p:nvPr/>
        </p:nvCxnSpPr>
        <p:spPr>
          <a:xfrm flipH="1">
            <a:off x="3323844" y="2203704"/>
            <a:ext cx="2240280" cy="749807"/>
          </a:xfrm>
          <a:prstGeom prst="line">
            <a:avLst/>
          </a:prstGeom>
          <a:ln w="15875">
            <a:solidFill>
              <a:srgbClr val="8A8F98"/>
            </a:solidFill>
          </a:ln>
          <a:effectLst/>
        </p:spPr>
      </p:cxnSp>
      <p:cxnSp>
        <p:nvCxnSpPr>
          <p:cNvPr id="23" name="Connector 22"/>
          <p:cNvCxnSpPr/>
          <p:nvPr/>
        </p:nvCxnSpPr>
        <p:spPr>
          <a:xfrm>
            <a:off x="5564124" y="2203704"/>
            <a:ext cx="2194559" cy="749807"/>
          </a:xfrm>
          <a:prstGeom prst="line">
            <a:avLst/>
          </a:prstGeom>
          <a:ln w="15875">
            <a:solidFill>
              <a:srgbClr val="8A8F98"/>
            </a:solidFill>
          </a:ln>
          <a:effectLst/>
        </p:spPr>
      </p:cxnSp>
      <p:cxnSp>
        <p:nvCxnSpPr>
          <p:cNvPr id="24" name="Connector 23"/>
          <p:cNvCxnSpPr/>
          <p:nvPr/>
        </p:nvCxnSpPr>
        <p:spPr>
          <a:xfrm flipH="1">
            <a:off x="6405372" y="2203704"/>
            <a:ext cx="484632" cy="2706624"/>
          </a:xfrm>
          <a:prstGeom prst="line">
            <a:avLst/>
          </a:prstGeom>
          <a:ln w="15875">
            <a:solidFill>
              <a:srgbClr val="C9CDD3"/>
            </a:solidFill>
          </a:ln>
          <a:effectLst/>
        </p:spPr>
      </p:cxnSp>
      <p:cxnSp>
        <p:nvCxnSpPr>
          <p:cNvPr id="25" name="Connector 24"/>
          <p:cNvCxnSpPr/>
          <p:nvPr/>
        </p:nvCxnSpPr>
        <p:spPr>
          <a:xfrm flipH="1">
            <a:off x="4421124" y="2203704"/>
            <a:ext cx="2468880" cy="749807"/>
          </a:xfrm>
          <a:prstGeom prst="line">
            <a:avLst/>
          </a:prstGeom>
          <a:ln w="15875">
            <a:solidFill>
              <a:srgbClr val="8A8F98"/>
            </a:solidFill>
          </a:ln>
          <a:effectLst/>
        </p:spPr>
      </p:cxnSp>
      <p:cxnSp>
        <p:nvCxnSpPr>
          <p:cNvPr id="26" name="Connector 25"/>
          <p:cNvCxnSpPr/>
          <p:nvPr/>
        </p:nvCxnSpPr>
        <p:spPr>
          <a:xfrm>
            <a:off x="6890004" y="2203704"/>
            <a:ext cx="1965959" cy="749807"/>
          </a:xfrm>
          <a:prstGeom prst="line">
            <a:avLst/>
          </a:prstGeom>
          <a:ln w="15875">
            <a:solidFill>
              <a:srgbClr val="8A8F98"/>
            </a:solidFill>
          </a:ln>
          <a:effectLst/>
        </p:spPr>
      </p:cxnSp>
      <p:sp>
        <p:nvSpPr>
          <p:cNvPr id="27" name="Rounded Rectangle 26"/>
          <p:cNvSpPr/>
          <p:nvPr/>
        </p:nvSpPr>
        <p:spPr>
          <a:xfrm>
            <a:off x="2510028"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r</a:t>
            </a:r>
          </a:p>
        </p:txBody>
      </p:sp>
      <p:sp>
        <p:nvSpPr>
          <p:cNvPr id="28" name="Rounded Rectangle 27"/>
          <p:cNvSpPr/>
          <p:nvPr/>
        </p:nvSpPr>
        <p:spPr>
          <a:xfrm>
            <a:off x="3131820"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r′</a:t>
            </a:r>
          </a:p>
        </p:txBody>
      </p:sp>
      <p:sp>
        <p:nvSpPr>
          <p:cNvPr id="29" name="Rounded Rectangle 28"/>
          <p:cNvSpPr/>
          <p:nvPr/>
        </p:nvSpPr>
        <p:spPr>
          <a:xfrm>
            <a:off x="4009644"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s</a:t>
            </a:r>
          </a:p>
        </p:txBody>
      </p:sp>
      <p:sp>
        <p:nvSpPr>
          <p:cNvPr id="30" name="Rounded Rectangle 29"/>
          <p:cNvSpPr/>
          <p:nvPr/>
        </p:nvSpPr>
        <p:spPr>
          <a:xfrm>
            <a:off x="4631436"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s′</a:t>
            </a:r>
          </a:p>
        </p:txBody>
      </p:sp>
      <p:sp>
        <p:nvSpPr>
          <p:cNvPr id="31" name="Rounded Rectangle 30"/>
          <p:cNvSpPr/>
          <p:nvPr/>
        </p:nvSpPr>
        <p:spPr>
          <a:xfrm>
            <a:off x="5509259"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c</a:t>
            </a:r>
          </a:p>
        </p:txBody>
      </p:sp>
      <p:sp>
        <p:nvSpPr>
          <p:cNvPr id="32" name="Rounded Rectangle 31"/>
          <p:cNvSpPr/>
          <p:nvPr/>
        </p:nvSpPr>
        <p:spPr>
          <a:xfrm>
            <a:off x="6131052"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c′</a:t>
            </a:r>
          </a:p>
        </p:txBody>
      </p:sp>
      <p:sp>
        <p:nvSpPr>
          <p:cNvPr id="33" name="Rounded Rectangle 32"/>
          <p:cNvSpPr/>
          <p:nvPr/>
        </p:nvSpPr>
        <p:spPr>
          <a:xfrm>
            <a:off x="7008876"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u</a:t>
            </a:r>
          </a:p>
        </p:txBody>
      </p:sp>
      <p:sp>
        <p:nvSpPr>
          <p:cNvPr id="34" name="Rounded Rectangle 33"/>
          <p:cNvSpPr/>
          <p:nvPr/>
        </p:nvSpPr>
        <p:spPr>
          <a:xfrm>
            <a:off x="7630667"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u′</a:t>
            </a:r>
          </a:p>
        </p:txBody>
      </p:sp>
      <p:sp>
        <p:nvSpPr>
          <p:cNvPr id="35" name="Rounded Rectangle 34"/>
          <p:cNvSpPr/>
          <p:nvPr/>
        </p:nvSpPr>
        <p:spPr>
          <a:xfrm>
            <a:off x="8508492"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v</a:t>
            </a:r>
          </a:p>
        </p:txBody>
      </p:sp>
      <p:sp>
        <p:nvSpPr>
          <p:cNvPr id="36" name="Rounded Rectangle 35"/>
          <p:cNvSpPr/>
          <p:nvPr/>
        </p:nvSpPr>
        <p:spPr>
          <a:xfrm>
            <a:off x="9130284"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v′</a:t>
            </a:r>
          </a:p>
        </p:txBody>
      </p:sp>
      <p:sp>
        <p:nvSpPr>
          <p:cNvPr id="37" name="Rounded Rectangle 36"/>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38" name="TextBox 37"/>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a₁</a:t>
            </a:r>
          </a:p>
        </p:txBody>
      </p:sp>
      <p:sp>
        <p:nvSpPr>
          <p:cNvPr id="39" name="Rounded Rectangle 38"/>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40" name="TextBox 39"/>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41" name="Rounded Rectangle 40"/>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2" name="TextBox 41"/>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x₁</a:t>
            </a:r>
          </a:p>
        </p:txBody>
      </p:sp>
      <p:sp>
        <p:nvSpPr>
          <p:cNvPr id="43" name="Rounded Rectangle 42"/>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4" name="TextBox 43"/>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45" name="Rounded Rectangle 44"/>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6" name="TextBox 45"/>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7" name="Rounded Rectangle 46"/>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8" name="TextBox 47"/>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
        <p:nvSpPr>
          <p:cNvPr id="49" name="Rounded Rectangle 48"/>
          <p:cNvSpPr/>
          <p:nvPr/>
        </p:nvSpPr>
        <p:spPr>
          <a:xfrm>
            <a:off x="502920" y="1645920"/>
            <a:ext cx="329184" cy="219456"/>
          </a:xfrm>
          <a:prstGeom prst="roundRect">
            <a:avLst>
              <a:gd name="adj" fmla="val 1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50" name="TextBox 49"/>
          <p:cNvSpPr txBox="1"/>
          <p:nvPr/>
        </p:nvSpPr>
        <p:spPr>
          <a:xfrm>
            <a:off x="905256" y="1600200"/>
            <a:ext cx="1563624" cy="320040"/>
          </a:xfrm>
          <a:prstGeom prst="rect">
            <a:avLst/>
          </a:prstGeom>
          <a:noFill/>
        </p:spPr>
        <p:txBody>
          <a:bodyPr wrap="square" lIns="45720" tIns="27432" rIns="45720" bIns="27432" anchor="ctr">
            <a:spAutoFit/>
          </a:bodyPr>
          <a:lstStyle/>
          <a:p>
            <a:pPr algn="l"/>
            <a:r>
              <a:rPr sz="1200" b="0" i="0">
                <a:solidFill>
                  <a:srgbClr val="6B717A"/>
                </a:solidFill>
                <a:latin typeface="Calibri"/>
              </a:rPr>
              <a:t>equivalence class</a:t>
            </a:r>
          </a:p>
        </p:txBody>
      </p:sp>
      <p:sp>
        <p:nvSpPr>
          <p:cNvPr id="51" name="TextBox 50"/>
          <p:cNvSpPr txBox="1"/>
          <p:nvPr/>
        </p:nvSpPr>
        <p:spPr>
          <a:xfrm>
            <a:off x="502920" y="2788920"/>
            <a:ext cx="2103120" cy="731520"/>
          </a:xfrm>
          <a:prstGeom prst="rect">
            <a:avLst/>
          </a:prstGeom>
          <a:noFill/>
        </p:spPr>
        <p:txBody>
          <a:bodyPr wrap="square" lIns="45720" tIns="27432" rIns="45720" bIns="27432" anchor="t">
            <a:spAutoFit/>
          </a:bodyPr>
          <a:lstStyle/>
          <a:p>
            <a:pPr algn="l"/>
            <a:r>
              <a:rPr sz="1500" b="0" i="0">
                <a:solidFill>
                  <a:srgbClr val="6B717A"/>
                </a:solidFill>
                <a:latin typeface="Calibri"/>
              </a:rPr>
              <a:t>merge groups</a:t>
            </a:r>
          </a:p>
        </p:txBody>
      </p:sp>
      <p:sp>
        <p:nvSpPr>
          <p:cNvPr id="52" name="TextBox 51"/>
          <p:cNvSpPr txBox="1"/>
          <p:nvPr/>
        </p:nvSpPr>
        <p:spPr>
          <a:xfrm>
            <a:off x="3506723" y="3246120"/>
            <a:ext cx="731520" cy="548640"/>
          </a:xfrm>
          <a:prstGeom prst="rect">
            <a:avLst/>
          </a:prstGeom>
          <a:noFill/>
        </p:spPr>
        <p:txBody>
          <a:bodyPr wrap="square" lIns="45720" tIns="27432" rIns="45720" bIns="27432" anchor="ctr">
            <a:spAutoFit/>
          </a:bodyPr>
          <a:lstStyle/>
          <a:p>
            <a:pPr algn="ctr"/>
            <a:r>
              <a:rPr sz="2200" b="1" i="0">
                <a:solidFill>
                  <a:srgbClr val="C8501E"/>
                </a:solidFill>
                <a:latin typeface="Calibri"/>
              </a:rPr>
              <a:t>∪</a:t>
            </a:r>
          </a:p>
        </p:txBody>
      </p:sp>
      <p:sp>
        <p:nvSpPr>
          <p:cNvPr id="53" name="TextBox 52"/>
          <p:cNvSpPr txBox="1"/>
          <p:nvPr/>
        </p:nvSpPr>
        <p:spPr>
          <a:xfrm>
            <a:off x="7941563" y="3246120"/>
            <a:ext cx="731520" cy="548640"/>
          </a:xfrm>
          <a:prstGeom prst="rect">
            <a:avLst/>
          </a:prstGeom>
          <a:noFill/>
        </p:spPr>
        <p:txBody>
          <a:bodyPr wrap="square" lIns="45720" tIns="27432" rIns="45720" bIns="27432" anchor="ctr">
            <a:spAutoFit/>
          </a:bodyPr>
          <a:lstStyle/>
          <a:p>
            <a:pPr algn="ctr"/>
            <a:r>
              <a:rPr sz="2200" b="1" i="0">
                <a:solidFill>
                  <a:srgbClr val="C8501E"/>
                </a:solidFill>
                <a:latin typeface="Calibri"/>
              </a:rPr>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ParentCC on the example: round 2</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47</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wrap="square" lIns="54864" tIns="27432" rIns="54864" bIns="27432" rtlCol="0" anchor="ctr"/>
          <a:lstStyle/>
          <a:p>
            <a:pPr algn="ctr"/>
            <a:endParaRP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wrap="square" lIns="54864" tIns="27432" rIns="54864" bIns="27432" rtlCol="0" anchor="ctr"/>
          <a:lstStyle/>
          <a:p>
            <a:pPr algn="ctr"/>
            <a:endParaRPr/>
          </a:p>
        </p:txBody>
      </p:sp>
      <p:cxnSp>
        <p:nvCxnSpPr>
          <p:cNvPr id="13" name="Connector 12"/>
          <p:cNvCxnSpPr/>
          <p:nvPr/>
        </p:nvCxnSpPr>
        <p:spPr>
          <a:xfrm flipH="1">
            <a:off x="2784348" y="3803903"/>
            <a:ext cx="539496" cy="1106425"/>
          </a:xfrm>
          <a:prstGeom prst="line">
            <a:avLst/>
          </a:prstGeom>
          <a:ln w="15875">
            <a:solidFill>
              <a:srgbClr val="C9CDD3"/>
            </a:solidFill>
          </a:ln>
          <a:effectLst/>
        </p:spPr>
      </p:cxnSp>
      <p:cxnSp>
        <p:nvCxnSpPr>
          <p:cNvPr id="14" name="Connector 13"/>
          <p:cNvCxnSpPr/>
          <p:nvPr/>
        </p:nvCxnSpPr>
        <p:spPr>
          <a:xfrm>
            <a:off x="3323844" y="3803903"/>
            <a:ext cx="960120" cy="1106425"/>
          </a:xfrm>
          <a:prstGeom prst="line">
            <a:avLst/>
          </a:prstGeom>
          <a:ln w="15875">
            <a:solidFill>
              <a:srgbClr val="C9CDD3"/>
            </a:solidFill>
          </a:ln>
          <a:effectLst/>
        </p:spPr>
      </p:cxnSp>
      <p:cxnSp>
        <p:nvCxnSpPr>
          <p:cNvPr id="15" name="Connector 14"/>
          <p:cNvCxnSpPr/>
          <p:nvPr/>
        </p:nvCxnSpPr>
        <p:spPr>
          <a:xfrm flipH="1">
            <a:off x="3406139" y="3803903"/>
            <a:ext cx="1014985" cy="1106425"/>
          </a:xfrm>
          <a:prstGeom prst="line">
            <a:avLst/>
          </a:prstGeom>
          <a:ln w="15875">
            <a:solidFill>
              <a:srgbClr val="C9CDD3"/>
            </a:solidFill>
          </a:ln>
          <a:effectLst/>
        </p:spPr>
      </p:cxnSp>
      <p:cxnSp>
        <p:nvCxnSpPr>
          <p:cNvPr id="16" name="Connector 15"/>
          <p:cNvCxnSpPr/>
          <p:nvPr/>
        </p:nvCxnSpPr>
        <p:spPr>
          <a:xfrm>
            <a:off x="4421124" y="3803903"/>
            <a:ext cx="484632" cy="1106425"/>
          </a:xfrm>
          <a:prstGeom prst="line">
            <a:avLst/>
          </a:prstGeom>
          <a:ln w="15875">
            <a:solidFill>
              <a:srgbClr val="C9CDD3"/>
            </a:solidFill>
          </a:ln>
          <a:effectLst/>
        </p:spPr>
      </p:cxnSp>
      <p:cxnSp>
        <p:nvCxnSpPr>
          <p:cNvPr id="17" name="Connector 16"/>
          <p:cNvCxnSpPr/>
          <p:nvPr/>
        </p:nvCxnSpPr>
        <p:spPr>
          <a:xfrm flipH="1">
            <a:off x="7283196" y="3803903"/>
            <a:ext cx="475487" cy="1106425"/>
          </a:xfrm>
          <a:prstGeom prst="line">
            <a:avLst/>
          </a:prstGeom>
          <a:ln w="15875">
            <a:solidFill>
              <a:srgbClr val="C9CDD3"/>
            </a:solidFill>
          </a:ln>
          <a:effectLst/>
        </p:spPr>
      </p:cxnSp>
      <p:cxnSp>
        <p:nvCxnSpPr>
          <p:cNvPr id="18" name="Connector 17"/>
          <p:cNvCxnSpPr/>
          <p:nvPr/>
        </p:nvCxnSpPr>
        <p:spPr>
          <a:xfrm>
            <a:off x="7758683" y="3803903"/>
            <a:ext cx="1024129" cy="1106425"/>
          </a:xfrm>
          <a:prstGeom prst="line">
            <a:avLst/>
          </a:prstGeom>
          <a:ln w="15875">
            <a:solidFill>
              <a:srgbClr val="C9CDD3"/>
            </a:solidFill>
          </a:ln>
          <a:effectLst/>
        </p:spPr>
      </p:cxnSp>
      <p:cxnSp>
        <p:nvCxnSpPr>
          <p:cNvPr id="19" name="Connector 18"/>
          <p:cNvCxnSpPr/>
          <p:nvPr/>
        </p:nvCxnSpPr>
        <p:spPr>
          <a:xfrm flipH="1">
            <a:off x="7904988" y="3803903"/>
            <a:ext cx="950975" cy="1106425"/>
          </a:xfrm>
          <a:prstGeom prst="line">
            <a:avLst/>
          </a:prstGeom>
          <a:ln w="15875">
            <a:solidFill>
              <a:srgbClr val="C9CDD3"/>
            </a:solidFill>
          </a:ln>
          <a:effectLst/>
        </p:spPr>
      </p:cxnSp>
      <p:cxnSp>
        <p:nvCxnSpPr>
          <p:cNvPr id="20" name="Connector 19"/>
          <p:cNvCxnSpPr/>
          <p:nvPr/>
        </p:nvCxnSpPr>
        <p:spPr>
          <a:xfrm>
            <a:off x="8855963" y="3803903"/>
            <a:ext cx="548641" cy="1106425"/>
          </a:xfrm>
          <a:prstGeom prst="line">
            <a:avLst/>
          </a:prstGeom>
          <a:ln w="15875">
            <a:solidFill>
              <a:srgbClr val="C9CDD3"/>
            </a:solidFill>
          </a:ln>
          <a:effectLst/>
        </p:spPr>
      </p:cxnSp>
      <p:cxnSp>
        <p:nvCxnSpPr>
          <p:cNvPr id="21" name="Connector 20"/>
          <p:cNvCxnSpPr/>
          <p:nvPr/>
        </p:nvCxnSpPr>
        <p:spPr>
          <a:xfrm>
            <a:off x="5564124" y="2203704"/>
            <a:ext cx="219455" cy="2706624"/>
          </a:xfrm>
          <a:prstGeom prst="line">
            <a:avLst/>
          </a:prstGeom>
          <a:ln w="15875">
            <a:solidFill>
              <a:srgbClr val="C9CDD3"/>
            </a:solidFill>
          </a:ln>
          <a:effectLst/>
        </p:spPr>
      </p:cxnSp>
      <p:cxnSp>
        <p:nvCxnSpPr>
          <p:cNvPr id="22" name="Connector 21"/>
          <p:cNvCxnSpPr/>
          <p:nvPr/>
        </p:nvCxnSpPr>
        <p:spPr>
          <a:xfrm flipH="1">
            <a:off x="3323844" y="2203704"/>
            <a:ext cx="2240280" cy="749807"/>
          </a:xfrm>
          <a:prstGeom prst="line">
            <a:avLst/>
          </a:prstGeom>
          <a:ln w="15875">
            <a:solidFill>
              <a:srgbClr val="C9CDD3"/>
            </a:solidFill>
          </a:ln>
          <a:effectLst/>
        </p:spPr>
      </p:cxnSp>
      <p:cxnSp>
        <p:nvCxnSpPr>
          <p:cNvPr id="23" name="Connector 22"/>
          <p:cNvCxnSpPr/>
          <p:nvPr/>
        </p:nvCxnSpPr>
        <p:spPr>
          <a:xfrm>
            <a:off x="5564124" y="2203704"/>
            <a:ext cx="2194559" cy="749807"/>
          </a:xfrm>
          <a:prstGeom prst="line">
            <a:avLst/>
          </a:prstGeom>
          <a:ln w="15875">
            <a:solidFill>
              <a:srgbClr val="C9CDD3"/>
            </a:solidFill>
          </a:ln>
          <a:effectLst/>
        </p:spPr>
      </p:cxnSp>
      <p:cxnSp>
        <p:nvCxnSpPr>
          <p:cNvPr id="24" name="Connector 23"/>
          <p:cNvCxnSpPr/>
          <p:nvPr/>
        </p:nvCxnSpPr>
        <p:spPr>
          <a:xfrm flipH="1">
            <a:off x="6405372" y="2203704"/>
            <a:ext cx="484632" cy="2706624"/>
          </a:xfrm>
          <a:prstGeom prst="line">
            <a:avLst/>
          </a:prstGeom>
          <a:ln w="15875">
            <a:solidFill>
              <a:srgbClr val="C9CDD3"/>
            </a:solidFill>
          </a:ln>
          <a:effectLst/>
        </p:spPr>
      </p:cxnSp>
      <p:cxnSp>
        <p:nvCxnSpPr>
          <p:cNvPr id="25" name="Connector 24"/>
          <p:cNvCxnSpPr/>
          <p:nvPr/>
        </p:nvCxnSpPr>
        <p:spPr>
          <a:xfrm flipH="1">
            <a:off x="4421124" y="2203704"/>
            <a:ext cx="2468880" cy="749807"/>
          </a:xfrm>
          <a:prstGeom prst="line">
            <a:avLst/>
          </a:prstGeom>
          <a:ln w="15875">
            <a:solidFill>
              <a:srgbClr val="C9CDD3"/>
            </a:solidFill>
          </a:ln>
          <a:effectLst/>
        </p:spPr>
      </p:cxnSp>
      <p:cxnSp>
        <p:nvCxnSpPr>
          <p:cNvPr id="26" name="Connector 25"/>
          <p:cNvCxnSpPr/>
          <p:nvPr/>
        </p:nvCxnSpPr>
        <p:spPr>
          <a:xfrm>
            <a:off x="6890004" y="2203704"/>
            <a:ext cx="1965959" cy="749807"/>
          </a:xfrm>
          <a:prstGeom prst="line">
            <a:avLst/>
          </a:prstGeom>
          <a:ln w="15875">
            <a:solidFill>
              <a:srgbClr val="C9CDD3"/>
            </a:solidFill>
          </a:ln>
          <a:effectLst/>
        </p:spPr>
      </p:cxnSp>
      <p:sp>
        <p:nvSpPr>
          <p:cNvPr id="27" name="Rounded Rectangle 26"/>
          <p:cNvSpPr/>
          <p:nvPr/>
        </p:nvSpPr>
        <p:spPr>
          <a:xfrm>
            <a:off x="2510028"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r</a:t>
            </a:r>
          </a:p>
        </p:txBody>
      </p:sp>
      <p:sp>
        <p:nvSpPr>
          <p:cNvPr id="28" name="Rounded Rectangle 27"/>
          <p:cNvSpPr/>
          <p:nvPr/>
        </p:nvSpPr>
        <p:spPr>
          <a:xfrm>
            <a:off x="3131820"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r′</a:t>
            </a:r>
          </a:p>
        </p:txBody>
      </p:sp>
      <p:sp>
        <p:nvSpPr>
          <p:cNvPr id="29" name="Rounded Rectangle 28"/>
          <p:cNvSpPr/>
          <p:nvPr/>
        </p:nvSpPr>
        <p:spPr>
          <a:xfrm>
            <a:off x="4009644"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s</a:t>
            </a:r>
          </a:p>
        </p:txBody>
      </p:sp>
      <p:sp>
        <p:nvSpPr>
          <p:cNvPr id="30" name="Rounded Rectangle 29"/>
          <p:cNvSpPr/>
          <p:nvPr/>
        </p:nvSpPr>
        <p:spPr>
          <a:xfrm>
            <a:off x="4631436"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s′</a:t>
            </a:r>
          </a:p>
        </p:txBody>
      </p:sp>
      <p:sp>
        <p:nvSpPr>
          <p:cNvPr id="31" name="Rounded Rectangle 30"/>
          <p:cNvSpPr/>
          <p:nvPr/>
        </p:nvSpPr>
        <p:spPr>
          <a:xfrm>
            <a:off x="5509259"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c</a:t>
            </a:r>
          </a:p>
        </p:txBody>
      </p:sp>
      <p:sp>
        <p:nvSpPr>
          <p:cNvPr id="32" name="Rounded Rectangle 31"/>
          <p:cNvSpPr/>
          <p:nvPr/>
        </p:nvSpPr>
        <p:spPr>
          <a:xfrm>
            <a:off x="6131052"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c′</a:t>
            </a:r>
          </a:p>
        </p:txBody>
      </p:sp>
      <p:sp>
        <p:nvSpPr>
          <p:cNvPr id="33" name="Rounded Rectangle 32"/>
          <p:cNvSpPr/>
          <p:nvPr/>
        </p:nvSpPr>
        <p:spPr>
          <a:xfrm>
            <a:off x="7008876"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u</a:t>
            </a:r>
          </a:p>
        </p:txBody>
      </p:sp>
      <p:sp>
        <p:nvSpPr>
          <p:cNvPr id="34" name="Rounded Rectangle 33"/>
          <p:cNvSpPr/>
          <p:nvPr/>
        </p:nvSpPr>
        <p:spPr>
          <a:xfrm>
            <a:off x="7630667"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u′</a:t>
            </a:r>
          </a:p>
        </p:txBody>
      </p:sp>
      <p:sp>
        <p:nvSpPr>
          <p:cNvPr id="35" name="Rounded Rectangle 34"/>
          <p:cNvSpPr/>
          <p:nvPr/>
        </p:nvSpPr>
        <p:spPr>
          <a:xfrm>
            <a:off x="8508492"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v</a:t>
            </a:r>
          </a:p>
        </p:txBody>
      </p:sp>
      <p:sp>
        <p:nvSpPr>
          <p:cNvPr id="36" name="Rounded Rectangle 35"/>
          <p:cNvSpPr/>
          <p:nvPr/>
        </p:nvSpPr>
        <p:spPr>
          <a:xfrm>
            <a:off x="9130284"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v′</a:t>
            </a:r>
          </a:p>
        </p:txBody>
      </p:sp>
      <p:sp>
        <p:nvSpPr>
          <p:cNvPr id="37" name="Rounded Rectangle 36"/>
          <p:cNvSpPr/>
          <p:nvPr/>
        </p:nvSpPr>
        <p:spPr>
          <a:xfrm>
            <a:off x="2921508" y="3236975"/>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a:solidFill>
                  <a:srgbClr val="C9CDD3"/>
                </a:solidFill>
                <a:latin typeface="Calibri"/>
              </a:rPr>
              <a:t>AND</a:t>
            </a:r>
          </a:p>
        </p:txBody>
      </p:sp>
      <p:sp>
        <p:nvSpPr>
          <p:cNvPr id="38" name="TextBox 37"/>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C9CDD3"/>
                </a:solidFill>
                <a:latin typeface="Calibri"/>
              </a:rPr>
              <a:t>a₁</a:t>
            </a:r>
          </a:p>
        </p:txBody>
      </p:sp>
      <p:sp>
        <p:nvSpPr>
          <p:cNvPr id="39" name="Rounded Rectangle 38"/>
          <p:cNvSpPr/>
          <p:nvPr/>
        </p:nvSpPr>
        <p:spPr>
          <a:xfrm>
            <a:off x="4018787" y="3236975"/>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a:solidFill>
                  <a:srgbClr val="C9CDD3"/>
                </a:solidFill>
                <a:latin typeface="Calibri"/>
              </a:rPr>
              <a:t>AND</a:t>
            </a:r>
          </a:p>
        </p:txBody>
      </p:sp>
      <p:sp>
        <p:nvSpPr>
          <p:cNvPr id="40" name="TextBox 39"/>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C9CDD3"/>
                </a:solidFill>
                <a:latin typeface="Calibri"/>
              </a:rPr>
              <a:t>a₂</a:t>
            </a:r>
          </a:p>
        </p:txBody>
      </p:sp>
      <p:sp>
        <p:nvSpPr>
          <p:cNvPr id="41" name="Rounded Rectangle 40"/>
          <p:cNvSpPr/>
          <p:nvPr/>
        </p:nvSpPr>
        <p:spPr>
          <a:xfrm>
            <a:off x="7356348" y="3236975"/>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a:solidFill>
                  <a:srgbClr val="C9CDD3"/>
                </a:solidFill>
                <a:latin typeface="Calibri"/>
              </a:rPr>
              <a:t>XOR</a:t>
            </a:r>
          </a:p>
        </p:txBody>
      </p:sp>
      <p:sp>
        <p:nvSpPr>
          <p:cNvPr id="42" name="TextBox 41"/>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C9CDD3"/>
                </a:solidFill>
                <a:latin typeface="Calibri"/>
              </a:rPr>
              <a:t>x₁</a:t>
            </a:r>
          </a:p>
        </p:txBody>
      </p:sp>
      <p:sp>
        <p:nvSpPr>
          <p:cNvPr id="43" name="Rounded Rectangle 42"/>
          <p:cNvSpPr/>
          <p:nvPr/>
        </p:nvSpPr>
        <p:spPr>
          <a:xfrm>
            <a:off x="8453628" y="3236975"/>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a:solidFill>
                  <a:srgbClr val="C9CDD3"/>
                </a:solidFill>
                <a:latin typeface="Calibri"/>
              </a:rPr>
              <a:t>XOR</a:t>
            </a:r>
          </a:p>
        </p:txBody>
      </p:sp>
      <p:sp>
        <p:nvSpPr>
          <p:cNvPr id="44" name="TextBox 43"/>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C9CDD3"/>
                </a:solidFill>
                <a:latin typeface="Calibri"/>
              </a:rPr>
              <a:t>x₂</a:t>
            </a:r>
          </a:p>
        </p:txBody>
      </p:sp>
      <p:sp>
        <p:nvSpPr>
          <p:cNvPr id="45" name="Rounded Rectangle 44"/>
          <p:cNvSpPr/>
          <p:nvPr/>
        </p:nvSpPr>
        <p:spPr>
          <a:xfrm>
            <a:off x="5161788" y="1636776"/>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ITE</a:t>
            </a:r>
          </a:p>
        </p:txBody>
      </p:sp>
      <p:sp>
        <p:nvSpPr>
          <p:cNvPr id="46" name="TextBox 45"/>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7" name="Rounded Rectangle 46"/>
          <p:cNvSpPr/>
          <p:nvPr/>
        </p:nvSpPr>
        <p:spPr>
          <a:xfrm>
            <a:off x="6487668" y="1636776"/>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ITE</a:t>
            </a:r>
          </a:p>
        </p:txBody>
      </p:sp>
      <p:sp>
        <p:nvSpPr>
          <p:cNvPr id="48" name="TextBox 47"/>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
        <p:nvSpPr>
          <p:cNvPr id="49" name="Rounded Rectangle 48"/>
          <p:cNvSpPr/>
          <p:nvPr/>
        </p:nvSpPr>
        <p:spPr>
          <a:xfrm>
            <a:off x="502920" y="1645920"/>
            <a:ext cx="329184" cy="219456"/>
          </a:xfrm>
          <a:prstGeom prst="roundRect">
            <a:avLst>
              <a:gd name="adj" fmla="val 1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50" name="TextBox 49"/>
          <p:cNvSpPr txBox="1"/>
          <p:nvPr/>
        </p:nvSpPr>
        <p:spPr>
          <a:xfrm>
            <a:off x="905256" y="1600200"/>
            <a:ext cx="1563624" cy="320040"/>
          </a:xfrm>
          <a:prstGeom prst="rect">
            <a:avLst/>
          </a:prstGeom>
          <a:noFill/>
        </p:spPr>
        <p:txBody>
          <a:bodyPr wrap="square" lIns="45720" tIns="27432" rIns="45720" bIns="27432" anchor="ctr">
            <a:spAutoFit/>
          </a:bodyPr>
          <a:lstStyle/>
          <a:p>
            <a:pPr algn="l"/>
            <a:r>
              <a:rPr sz="1200" b="0" i="0">
                <a:solidFill>
                  <a:srgbClr val="6B717A"/>
                </a:solidFill>
                <a:latin typeface="Calibri"/>
              </a:rPr>
              <a:t>equivalence class</a:t>
            </a:r>
          </a:p>
        </p:txBody>
      </p:sp>
      <p:sp>
        <p:nvSpPr>
          <p:cNvPr id="51" name="Rounded Rectangle 50"/>
          <p:cNvSpPr/>
          <p:nvPr/>
        </p:nvSpPr>
        <p:spPr>
          <a:xfrm>
            <a:off x="502920" y="2066543"/>
            <a:ext cx="329184" cy="219456"/>
          </a:xfrm>
          <a:prstGeom prst="roundRect">
            <a:avLst>
              <a:gd name="adj" fmla="val 15000"/>
            </a:avLst>
          </a:prstGeom>
          <a:solidFill>
            <a:srgbClr val="FFF3CC"/>
          </a:solidFill>
          <a:ln w="25400">
            <a:solidFill>
              <a:srgbClr val="E0A300"/>
            </a:solidFill>
          </a:ln>
          <a:effectLst/>
        </p:spPr>
        <p:txBody>
          <a:bodyPr wrap="square" lIns="54864" tIns="27432" rIns="54864" bIns="27432" rtlCol="0" anchor="ctr"/>
          <a:lstStyle/>
          <a:p>
            <a:pPr algn="ctr"/>
            <a:endParaRPr/>
          </a:p>
        </p:txBody>
      </p:sp>
      <p:sp>
        <p:nvSpPr>
          <p:cNvPr id="52" name="TextBox 51"/>
          <p:cNvSpPr txBox="1"/>
          <p:nvPr/>
        </p:nvSpPr>
        <p:spPr>
          <a:xfrm>
            <a:off x="905256" y="2020824"/>
            <a:ext cx="1563624" cy="320040"/>
          </a:xfrm>
          <a:prstGeom prst="rect">
            <a:avLst/>
          </a:prstGeom>
          <a:noFill/>
        </p:spPr>
        <p:txBody>
          <a:bodyPr wrap="square" lIns="45720" tIns="27432" rIns="45720" bIns="27432" anchor="ctr">
            <a:spAutoFit/>
          </a:bodyPr>
          <a:lstStyle/>
          <a:p>
            <a:pPr algn="l"/>
            <a:r>
              <a:rPr sz="1200" b="0" i="0">
                <a:solidFill>
                  <a:srgbClr val="6B717A"/>
                </a:solidFill>
                <a:latin typeface="Calibri"/>
              </a:rPr>
              <a:t>candidate</a:t>
            </a:r>
          </a:p>
        </p:txBody>
      </p:sp>
      <p:sp>
        <p:nvSpPr>
          <p:cNvPr id="53" name="TextBox 52"/>
          <p:cNvSpPr txBox="1"/>
          <p:nvPr/>
        </p:nvSpPr>
        <p:spPr>
          <a:xfrm>
            <a:off x="502920" y="2788920"/>
            <a:ext cx="2103120" cy="731520"/>
          </a:xfrm>
          <a:prstGeom prst="rect">
            <a:avLst/>
          </a:prstGeom>
          <a:noFill/>
        </p:spPr>
        <p:txBody>
          <a:bodyPr wrap="square" lIns="45720" tIns="27432" rIns="45720" bIns="27432" anchor="t">
            <a:spAutoFit/>
          </a:bodyPr>
          <a:lstStyle/>
          <a:p>
            <a:pPr algn="l"/>
            <a:r>
              <a:rPr sz="1500" b="0" i="0">
                <a:solidFill>
                  <a:srgbClr val="6B717A"/>
                </a:solidFill>
                <a:latin typeface="Calibri"/>
              </a:rPr>
              <a:t>candidates: parents of merged</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ParentCC on the example: round 2</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48</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wrap="square" lIns="54864" tIns="27432" rIns="54864" bIns="27432" rtlCol="0" anchor="ctr"/>
          <a:lstStyle/>
          <a:p>
            <a:pPr algn="ctr"/>
            <a:endParaRP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wrap="square" lIns="54864" tIns="27432" rIns="54864" bIns="27432" rtlCol="0" anchor="ctr"/>
          <a:lstStyle/>
          <a:p>
            <a:pPr algn="ctr"/>
            <a:endParaRPr/>
          </a:p>
        </p:txBody>
      </p:sp>
      <p:sp>
        <p:nvSpPr>
          <p:cNvPr id="13" name="Rounded Rectangle 12"/>
          <p:cNvSpPr/>
          <p:nvPr/>
        </p:nvSpPr>
        <p:spPr>
          <a:xfrm>
            <a:off x="4704588" y="1517904"/>
            <a:ext cx="3044952" cy="804672"/>
          </a:xfrm>
          <a:prstGeom prst="roundRect">
            <a:avLst>
              <a:gd name="adj" fmla="val 25000"/>
            </a:avLst>
          </a:prstGeom>
          <a:solidFill>
            <a:srgbClr val="FBE4D3"/>
          </a:solidFill>
          <a:ln w="19050">
            <a:solidFill>
              <a:srgbClr val="C8501E"/>
            </a:solidFill>
            <a:prstDash val="dash"/>
          </a:ln>
          <a:effectLst/>
        </p:spPr>
        <p:txBody>
          <a:bodyPr wrap="square" lIns="54864" tIns="27432" rIns="54864" bIns="27432" rtlCol="0" anchor="ctr"/>
          <a:lstStyle/>
          <a:p>
            <a:pPr algn="ctr"/>
            <a:endParaRPr/>
          </a:p>
        </p:txBody>
      </p:sp>
      <p:cxnSp>
        <p:nvCxnSpPr>
          <p:cNvPr id="14" name="Connector 13"/>
          <p:cNvCxnSpPr/>
          <p:nvPr/>
        </p:nvCxnSpPr>
        <p:spPr>
          <a:xfrm flipH="1">
            <a:off x="2784348" y="3803903"/>
            <a:ext cx="539496" cy="1106425"/>
          </a:xfrm>
          <a:prstGeom prst="line">
            <a:avLst/>
          </a:prstGeom>
          <a:ln w="15875">
            <a:solidFill>
              <a:srgbClr val="C9CDD3"/>
            </a:solidFill>
          </a:ln>
          <a:effectLst/>
        </p:spPr>
      </p:cxnSp>
      <p:cxnSp>
        <p:nvCxnSpPr>
          <p:cNvPr id="15" name="Connector 14"/>
          <p:cNvCxnSpPr/>
          <p:nvPr/>
        </p:nvCxnSpPr>
        <p:spPr>
          <a:xfrm>
            <a:off x="3323844" y="3803903"/>
            <a:ext cx="960120" cy="1106425"/>
          </a:xfrm>
          <a:prstGeom prst="line">
            <a:avLst/>
          </a:prstGeom>
          <a:ln w="15875">
            <a:solidFill>
              <a:srgbClr val="C9CDD3"/>
            </a:solidFill>
          </a:ln>
          <a:effectLst/>
        </p:spPr>
      </p:cxnSp>
      <p:cxnSp>
        <p:nvCxnSpPr>
          <p:cNvPr id="16" name="Connector 15"/>
          <p:cNvCxnSpPr/>
          <p:nvPr/>
        </p:nvCxnSpPr>
        <p:spPr>
          <a:xfrm flipH="1">
            <a:off x="3406139" y="3803903"/>
            <a:ext cx="1014985" cy="1106425"/>
          </a:xfrm>
          <a:prstGeom prst="line">
            <a:avLst/>
          </a:prstGeom>
          <a:ln w="15875">
            <a:solidFill>
              <a:srgbClr val="C9CDD3"/>
            </a:solidFill>
          </a:ln>
          <a:effectLst/>
        </p:spPr>
      </p:cxnSp>
      <p:cxnSp>
        <p:nvCxnSpPr>
          <p:cNvPr id="17" name="Connector 16"/>
          <p:cNvCxnSpPr/>
          <p:nvPr/>
        </p:nvCxnSpPr>
        <p:spPr>
          <a:xfrm>
            <a:off x="4421124" y="3803903"/>
            <a:ext cx="484632" cy="1106425"/>
          </a:xfrm>
          <a:prstGeom prst="line">
            <a:avLst/>
          </a:prstGeom>
          <a:ln w="15875">
            <a:solidFill>
              <a:srgbClr val="C9CDD3"/>
            </a:solidFill>
          </a:ln>
          <a:effectLst/>
        </p:spPr>
      </p:cxnSp>
      <p:cxnSp>
        <p:nvCxnSpPr>
          <p:cNvPr id="18" name="Connector 17"/>
          <p:cNvCxnSpPr/>
          <p:nvPr/>
        </p:nvCxnSpPr>
        <p:spPr>
          <a:xfrm flipH="1">
            <a:off x="7283196" y="3803903"/>
            <a:ext cx="475487" cy="1106425"/>
          </a:xfrm>
          <a:prstGeom prst="line">
            <a:avLst/>
          </a:prstGeom>
          <a:ln w="15875">
            <a:solidFill>
              <a:srgbClr val="C9CDD3"/>
            </a:solidFill>
          </a:ln>
          <a:effectLst/>
        </p:spPr>
      </p:cxnSp>
      <p:cxnSp>
        <p:nvCxnSpPr>
          <p:cNvPr id="19" name="Connector 18"/>
          <p:cNvCxnSpPr/>
          <p:nvPr/>
        </p:nvCxnSpPr>
        <p:spPr>
          <a:xfrm>
            <a:off x="7758683" y="3803903"/>
            <a:ext cx="1024129" cy="1106425"/>
          </a:xfrm>
          <a:prstGeom prst="line">
            <a:avLst/>
          </a:prstGeom>
          <a:ln w="15875">
            <a:solidFill>
              <a:srgbClr val="C9CDD3"/>
            </a:solidFill>
          </a:ln>
          <a:effectLst/>
        </p:spPr>
      </p:cxnSp>
      <p:cxnSp>
        <p:nvCxnSpPr>
          <p:cNvPr id="20" name="Connector 19"/>
          <p:cNvCxnSpPr/>
          <p:nvPr/>
        </p:nvCxnSpPr>
        <p:spPr>
          <a:xfrm flipH="1">
            <a:off x="7904988" y="3803903"/>
            <a:ext cx="950975" cy="1106425"/>
          </a:xfrm>
          <a:prstGeom prst="line">
            <a:avLst/>
          </a:prstGeom>
          <a:ln w="15875">
            <a:solidFill>
              <a:srgbClr val="C9CDD3"/>
            </a:solidFill>
          </a:ln>
          <a:effectLst/>
        </p:spPr>
      </p:cxnSp>
      <p:cxnSp>
        <p:nvCxnSpPr>
          <p:cNvPr id="21" name="Connector 20"/>
          <p:cNvCxnSpPr/>
          <p:nvPr/>
        </p:nvCxnSpPr>
        <p:spPr>
          <a:xfrm>
            <a:off x="8855963" y="3803903"/>
            <a:ext cx="548641" cy="1106425"/>
          </a:xfrm>
          <a:prstGeom prst="line">
            <a:avLst/>
          </a:prstGeom>
          <a:ln w="15875">
            <a:solidFill>
              <a:srgbClr val="C9CDD3"/>
            </a:solidFill>
          </a:ln>
          <a:effectLst/>
        </p:spPr>
      </p:cxnSp>
      <p:cxnSp>
        <p:nvCxnSpPr>
          <p:cNvPr id="22" name="Connector 21"/>
          <p:cNvCxnSpPr/>
          <p:nvPr/>
        </p:nvCxnSpPr>
        <p:spPr>
          <a:xfrm>
            <a:off x="5564124" y="2203704"/>
            <a:ext cx="219455" cy="2706624"/>
          </a:xfrm>
          <a:prstGeom prst="line">
            <a:avLst/>
          </a:prstGeom>
          <a:ln w="15875">
            <a:solidFill>
              <a:srgbClr val="C9CDD3"/>
            </a:solidFill>
          </a:ln>
          <a:effectLst/>
        </p:spPr>
      </p:cxnSp>
      <p:cxnSp>
        <p:nvCxnSpPr>
          <p:cNvPr id="23" name="Connector 22"/>
          <p:cNvCxnSpPr/>
          <p:nvPr/>
        </p:nvCxnSpPr>
        <p:spPr>
          <a:xfrm flipH="1">
            <a:off x="3323844" y="2203704"/>
            <a:ext cx="2240280" cy="749807"/>
          </a:xfrm>
          <a:prstGeom prst="line">
            <a:avLst/>
          </a:prstGeom>
          <a:ln w="15875">
            <a:solidFill>
              <a:srgbClr val="C9CDD3"/>
            </a:solidFill>
          </a:ln>
          <a:effectLst/>
        </p:spPr>
      </p:cxnSp>
      <p:cxnSp>
        <p:nvCxnSpPr>
          <p:cNvPr id="24" name="Connector 23"/>
          <p:cNvCxnSpPr/>
          <p:nvPr/>
        </p:nvCxnSpPr>
        <p:spPr>
          <a:xfrm>
            <a:off x="5564124" y="2203704"/>
            <a:ext cx="2194559" cy="749807"/>
          </a:xfrm>
          <a:prstGeom prst="line">
            <a:avLst/>
          </a:prstGeom>
          <a:ln w="15875">
            <a:solidFill>
              <a:srgbClr val="C9CDD3"/>
            </a:solidFill>
          </a:ln>
          <a:effectLst/>
        </p:spPr>
      </p:cxnSp>
      <p:cxnSp>
        <p:nvCxnSpPr>
          <p:cNvPr id="25" name="Connector 24"/>
          <p:cNvCxnSpPr/>
          <p:nvPr/>
        </p:nvCxnSpPr>
        <p:spPr>
          <a:xfrm flipH="1">
            <a:off x="6405372" y="2203704"/>
            <a:ext cx="484632" cy="2706624"/>
          </a:xfrm>
          <a:prstGeom prst="line">
            <a:avLst/>
          </a:prstGeom>
          <a:ln w="15875">
            <a:solidFill>
              <a:srgbClr val="C9CDD3"/>
            </a:solidFill>
          </a:ln>
          <a:effectLst/>
        </p:spPr>
      </p:cxnSp>
      <p:cxnSp>
        <p:nvCxnSpPr>
          <p:cNvPr id="26" name="Connector 25"/>
          <p:cNvCxnSpPr/>
          <p:nvPr/>
        </p:nvCxnSpPr>
        <p:spPr>
          <a:xfrm flipH="1">
            <a:off x="4421124" y="2203704"/>
            <a:ext cx="2468880" cy="749807"/>
          </a:xfrm>
          <a:prstGeom prst="line">
            <a:avLst/>
          </a:prstGeom>
          <a:ln w="15875">
            <a:solidFill>
              <a:srgbClr val="C9CDD3"/>
            </a:solidFill>
          </a:ln>
          <a:effectLst/>
        </p:spPr>
      </p:cxnSp>
      <p:cxnSp>
        <p:nvCxnSpPr>
          <p:cNvPr id="27" name="Connector 26"/>
          <p:cNvCxnSpPr/>
          <p:nvPr/>
        </p:nvCxnSpPr>
        <p:spPr>
          <a:xfrm>
            <a:off x="6890004" y="2203704"/>
            <a:ext cx="1965959" cy="749807"/>
          </a:xfrm>
          <a:prstGeom prst="line">
            <a:avLst/>
          </a:prstGeom>
          <a:ln w="15875">
            <a:solidFill>
              <a:srgbClr val="C9CDD3"/>
            </a:solidFill>
          </a:ln>
          <a:effectLst/>
        </p:spPr>
      </p:cxnSp>
      <p:sp>
        <p:nvSpPr>
          <p:cNvPr id="28" name="Rounded Rectangle 27"/>
          <p:cNvSpPr/>
          <p:nvPr/>
        </p:nvSpPr>
        <p:spPr>
          <a:xfrm>
            <a:off x="2510028"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r</a:t>
            </a:r>
          </a:p>
        </p:txBody>
      </p:sp>
      <p:sp>
        <p:nvSpPr>
          <p:cNvPr id="29" name="Rounded Rectangle 28"/>
          <p:cNvSpPr/>
          <p:nvPr/>
        </p:nvSpPr>
        <p:spPr>
          <a:xfrm>
            <a:off x="3131820"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r′</a:t>
            </a:r>
          </a:p>
        </p:txBody>
      </p:sp>
      <p:sp>
        <p:nvSpPr>
          <p:cNvPr id="30" name="Rounded Rectangle 29"/>
          <p:cNvSpPr/>
          <p:nvPr/>
        </p:nvSpPr>
        <p:spPr>
          <a:xfrm>
            <a:off x="4009644"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s</a:t>
            </a:r>
          </a:p>
        </p:txBody>
      </p:sp>
      <p:sp>
        <p:nvSpPr>
          <p:cNvPr id="31" name="Rounded Rectangle 30"/>
          <p:cNvSpPr/>
          <p:nvPr/>
        </p:nvSpPr>
        <p:spPr>
          <a:xfrm>
            <a:off x="4631436"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s′</a:t>
            </a:r>
          </a:p>
        </p:txBody>
      </p:sp>
      <p:sp>
        <p:nvSpPr>
          <p:cNvPr id="32" name="Rounded Rectangle 31"/>
          <p:cNvSpPr/>
          <p:nvPr/>
        </p:nvSpPr>
        <p:spPr>
          <a:xfrm>
            <a:off x="5509259"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c</a:t>
            </a:r>
          </a:p>
        </p:txBody>
      </p:sp>
      <p:sp>
        <p:nvSpPr>
          <p:cNvPr id="33" name="Rounded Rectangle 32"/>
          <p:cNvSpPr/>
          <p:nvPr/>
        </p:nvSpPr>
        <p:spPr>
          <a:xfrm>
            <a:off x="6131052"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c′</a:t>
            </a:r>
          </a:p>
        </p:txBody>
      </p:sp>
      <p:sp>
        <p:nvSpPr>
          <p:cNvPr id="34" name="Rounded Rectangle 33"/>
          <p:cNvSpPr/>
          <p:nvPr/>
        </p:nvSpPr>
        <p:spPr>
          <a:xfrm>
            <a:off x="7008876"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u</a:t>
            </a:r>
          </a:p>
        </p:txBody>
      </p:sp>
      <p:sp>
        <p:nvSpPr>
          <p:cNvPr id="35" name="Rounded Rectangle 34"/>
          <p:cNvSpPr/>
          <p:nvPr/>
        </p:nvSpPr>
        <p:spPr>
          <a:xfrm>
            <a:off x="7630667"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u′</a:t>
            </a:r>
          </a:p>
        </p:txBody>
      </p:sp>
      <p:sp>
        <p:nvSpPr>
          <p:cNvPr id="36" name="Rounded Rectangle 35"/>
          <p:cNvSpPr/>
          <p:nvPr/>
        </p:nvSpPr>
        <p:spPr>
          <a:xfrm>
            <a:off x="8508492"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v</a:t>
            </a:r>
          </a:p>
        </p:txBody>
      </p:sp>
      <p:sp>
        <p:nvSpPr>
          <p:cNvPr id="37" name="Rounded Rectangle 36"/>
          <p:cNvSpPr/>
          <p:nvPr/>
        </p:nvSpPr>
        <p:spPr>
          <a:xfrm>
            <a:off x="9130284" y="491032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v′</a:t>
            </a:r>
          </a:p>
        </p:txBody>
      </p:sp>
      <p:sp>
        <p:nvSpPr>
          <p:cNvPr id="38" name="Rounded Rectangle 37"/>
          <p:cNvSpPr/>
          <p:nvPr/>
        </p:nvSpPr>
        <p:spPr>
          <a:xfrm>
            <a:off x="2921508" y="3236975"/>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a:solidFill>
                  <a:srgbClr val="C9CDD3"/>
                </a:solidFill>
                <a:latin typeface="Calibri"/>
              </a:rPr>
              <a:t>AND</a:t>
            </a:r>
          </a:p>
        </p:txBody>
      </p:sp>
      <p:sp>
        <p:nvSpPr>
          <p:cNvPr id="39" name="TextBox 38"/>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C9CDD3"/>
                </a:solidFill>
                <a:latin typeface="Calibri"/>
              </a:rPr>
              <a:t>a₁</a:t>
            </a:r>
          </a:p>
        </p:txBody>
      </p:sp>
      <p:sp>
        <p:nvSpPr>
          <p:cNvPr id="40" name="Rounded Rectangle 39"/>
          <p:cNvSpPr/>
          <p:nvPr/>
        </p:nvSpPr>
        <p:spPr>
          <a:xfrm>
            <a:off x="4018787" y="3236975"/>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a:solidFill>
                  <a:srgbClr val="C9CDD3"/>
                </a:solidFill>
                <a:latin typeface="Calibri"/>
              </a:rPr>
              <a:t>AND</a:t>
            </a:r>
          </a:p>
        </p:txBody>
      </p:sp>
      <p:sp>
        <p:nvSpPr>
          <p:cNvPr id="41" name="TextBox 40"/>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C9CDD3"/>
                </a:solidFill>
                <a:latin typeface="Calibri"/>
              </a:rPr>
              <a:t>a₂</a:t>
            </a:r>
          </a:p>
        </p:txBody>
      </p:sp>
      <p:sp>
        <p:nvSpPr>
          <p:cNvPr id="42" name="Rounded Rectangle 41"/>
          <p:cNvSpPr/>
          <p:nvPr/>
        </p:nvSpPr>
        <p:spPr>
          <a:xfrm>
            <a:off x="7356348" y="3236975"/>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a:solidFill>
                  <a:srgbClr val="C9CDD3"/>
                </a:solidFill>
                <a:latin typeface="Calibri"/>
              </a:rPr>
              <a:t>XOR</a:t>
            </a:r>
          </a:p>
        </p:txBody>
      </p:sp>
      <p:sp>
        <p:nvSpPr>
          <p:cNvPr id="43" name="TextBox 42"/>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C9CDD3"/>
                </a:solidFill>
                <a:latin typeface="Calibri"/>
              </a:rPr>
              <a:t>x₁</a:t>
            </a:r>
          </a:p>
        </p:txBody>
      </p:sp>
      <p:sp>
        <p:nvSpPr>
          <p:cNvPr id="44" name="Rounded Rectangle 43"/>
          <p:cNvSpPr/>
          <p:nvPr/>
        </p:nvSpPr>
        <p:spPr>
          <a:xfrm>
            <a:off x="8453628" y="3236975"/>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a:solidFill>
                  <a:srgbClr val="C9CDD3"/>
                </a:solidFill>
                <a:latin typeface="Calibri"/>
              </a:rPr>
              <a:t>XOR</a:t>
            </a:r>
          </a:p>
        </p:txBody>
      </p:sp>
      <p:sp>
        <p:nvSpPr>
          <p:cNvPr id="45" name="TextBox 44"/>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C9CDD3"/>
                </a:solidFill>
                <a:latin typeface="Calibri"/>
              </a:rPr>
              <a:t>x₂</a:t>
            </a:r>
          </a:p>
        </p:txBody>
      </p:sp>
      <p:sp>
        <p:nvSpPr>
          <p:cNvPr id="46" name="Rounded Rectangle 45"/>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7" name="TextBox 46"/>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8" name="Rounded Rectangle 47"/>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9" name="TextBox 48"/>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
        <p:nvSpPr>
          <p:cNvPr id="50" name="Rounded Rectangle 49"/>
          <p:cNvSpPr/>
          <p:nvPr/>
        </p:nvSpPr>
        <p:spPr>
          <a:xfrm>
            <a:off x="502920" y="1645920"/>
            <a:ext cx="329184" cy="219456"/>
          </a:xfrm>
          <a:prstGeom prst="roundRect">
            <a:avLst>
              <a:gd name="adj" fmla="val 1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51" name="TextBox 50"/>
          <p:cNvSpPr txBox="1"/>
          <p:nvPr/>
        </p:nvSpPr>
        <p:spPr>
          <a:xfrm>
            <a:off x="905256" y="1600200"/>
            <a:ext cx="1563624" cy="320040"/>
          </a:xfrm>
          <a:prstGeom prst="rect">
            <a:avLst/>
          </a:prstGeom>
          <a:noFill/>
        </p:spPr>
        <p:txBody>
          <a:bodyPr wrap="square" lIns="45720" tIns="27432" rIns="45720" bIns="27432" anchor="ctr">
            <a:spAutoFit/>
          </a:bodyPr>
          <a:lstStyle/>
          <a:p>
            <a:pPr algn="l"/>
            <a:r>
              <a:rPr sz="1200" b="0" i="0">
                <a:solidFill>
                  <a:srgbClr val="6B717A"/>
                </a:solidFill>
                <a:latin typeface="Calibri"/>
              </a:rPr>
              <a:t>equivalence class</a:t>
            </a:r>
          </a:p>
        </p:txBody>
      </p:sp>
      <p:sp>
        <p:nvSpPr>
          <p:cNvPr id="52" name="TextBox 51"/>
          <p:cNvSpPr txBox="1"/>
          <p:nvPr/>
        </p:nvSpPr>
        <p:spPr>
          <a:xfrm>
            <a:off x="502920" y="2788920"/>
            <a:ext cx="2103120" cy="731520"/>
          </a:xfrm>
          <a:prstGeom prst="rect">
            <a:avLst/>
          </a:prstGeom>
          <a:noFill/>
        </p:spPr>
        <p:txBody>
          <a:bodyPr wrap="square" lIns="45720" tIns="27432" rIns="45720" bIns="27432" anchor="t">
            <a:spAutoFit/>
          </a:bodyPr>
          <a:lstStyle/>
          <a:p>
            <a:pPr algn="l"/>
            <a:r>
              <a:rPr sz="1500" b="0" i="0">
                <a:solidFill>
                  <a:srgbClr val="6B717A"/>
                </a:solidFill>
                <a:latin typeface="Calibri"/>
              </a:rPr>
              <a:t>group, merge</a:t>
            </a:r>
          </a:p>
        </p:txBody>
      </p:sp>
      <p:sp>
        <p:nvSpPr>
          <p:cNvPr id="53" name="TextBox 52"/>
          <p:cNvSpPr txBox="1"/>
          <p:nvPr/>
        </p:nvSpPr>
        <p:spPr>
          <a:xfrm>
            <a:off x="5861304" y="1645920"/>
            <a:ext cx="731520" cy="548640"/>
          </a:xfrm>
          <a:prstGeom prst="rect">
            <a:avLst/>
          </a:prstGeom>
          <a:noFill/>
        </p:spPr>
        <p:txBody>
          <a:bodyPr wrap="square" lIns="45720" tIns="27432" rIns="45720" bIns="27432" anchor="ctr">
            <a:spAutoFit/>
          </a:bodyPr>
          <a:lstStyle/>
          <a:p>
            <a:pPr algn="ctr"/>
            <a:r>
              <a:rPr sz="2200" b="1" i="0">
                <a:solidFill>
                  <a:srgbClr val="C8501E"/>
                </a:solidFill>
                <a:latin typeface="Calibri"/>
              </a:rPr>
              <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ParentCC on the example: done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49</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wrap="square" lIns="54864" tIns="27432" rIns="54864" bIns="27432" rtlCol="0" anchor="ctr"/>
          <a:lstStyle/>
          <a:p>
            <a:pPr algn="ctr"/>
            <a:endParaRP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wrap="square" lIns="54864" tIns="27432" rIns="54864" bIns="27432" rtlCol="0" anchor="ctr"/>
          <a:lstStyle/>
          <a:p>
            <a:pPr algn="ctr"/>
            <a:endParaRPr/>
          </a:p>
        </p:txBody>
      </p:sp>
      <p:sp>
        <p:nvSpPr>
          <p:cNvPr id="13" name="Rounded Rectangle 12"/>
          <p:cNvSpPr/>
          <p:nvPr/>
        </p:nvSpPr>
        <p:spPr>
          <a:xfrm>
            <a:off x="4704588" y="1517904"/>
            <a:ext cx="3044952" cy="804672"/>
          </a:xfrm>
          <a:prstGeom prst="roundRect">
            <a:avLst>
              <a:gd name="adj" fmla="val 25000"/>
            </a:avLst>
          </a:prstGeom>
          <a:solidFill>
            <a:srgbClr val="FBE4D3"/>
          </a:solidFill>
          <a:ln w="19050">
            <a:solidFill>
              <a:srgbClr val="C8501E"/>
            </a:solidFill>
            <a:prstDash val="dash"/>
          </a:ln>
          <a:effectLst/>
        </p:spPr>
        <p:txBody>
          <a:bodyPr wrap="square" lIns="54864" tIns="27432" rIns="54864" bIns="27432" rtlCol="0" anchor="ctr"/>
          <a:lstStyle/>
          <a:p>
            <a:pPr algn="ctr"/>
            <a:endParaRPr/>
          </a:p>
        </p:txBody>
      </p:sp>
      <p:cxnSp>
        <p:nvCxnSpPr>
          <p:cNvPr id="14" name="Connector 13"/>
          <p:cNvCxnSpPr/>
          <p:nvPr/>
        </p:nvCxnSpPr>
        <p:spPr>
          <a:xfrm flipH="1">
            <a:off x="2784348" y="3803903"/>
            <a:ext cx="539496" cy="1106425"/>
          </a:xfrm>
          <a:prstGeom prst="line">
            <a:avLst/>
          </a:prstGeom>
          <a:ln w="15875">
            <a:solidFill>
              <a:srgbClr val="8A8F98"/>
            </a:solidFill>
          </a:ln>
          <a:effectLst/>
        </p:spPr>
      </p:cxnSp>
      <p:cxnSp>
        <p:nvCxnSpPr>
          <p:cNvPr id="15" name="Connector 14"/>
          <p:cNvCxnSpPr/>
          <p:nvPr/>
        </p:nvCxnSpPr>
        <p:spPr>
          <a:xfrm>
            <a:off x="3323844" y="3803903"/>
            <a:ext cx="960120" cy="1106425"/>
          </a:xfrm>
          <a:prstGeom prst="line">
            <a:avLst/>
          </a:prstGeom>
          <a:ln w="15875">
            <a:solidFill>
              <a:srgbClr val="8A8F98"/>
            </a:solidFill>
          </a:ln>
          <a:effectLst/>
        </p:spPr>
      </p:cxnSp>
      <p:cxnSp>
        <p:nvCxnSpPr>
          <p:cNvPr id="16" name="Connector 15"/>
          <p:cNvCxnSpPr/>
          <p:nvPr/>
        </p:nvCxnSpPr>
        <p:spPr>
          <a:xfrm flipH="1">
            <a:off x="3406139" y="3803903"/>
            <a:ext cx="1014985" cy="1106425"/>
          </a:xfrm>
          <a:prstGeom prst="line">
            <a:avLst/>
          </a:prstGeom>
          <a:ln w="15875">
            <a:solidFill>
              <a:srgbClr val="8A8F98"/>
            </a:solidFill>
          </a:ln>
          <a:effectLst/>
        </p:spPr>
      </p:cxnSp>
      <p:cxnSp>
        <p:nvCxnSpPr>
          <p:cNvPr id="17" name="Connector 16"/>
          <p:cNvCxnSpPr/>
          <p:nvPr/>
        </p:nvCxnSpPr>
        <p:spPr>
          <a:xfrm>
            <a:off x="4421124" y="3803903"/>
            <a:ext cx="484632" cy="1106425"/>
          </a:xfrm>
          <a:prstGeom prst="line">
            <a:avLst/>
          </a:prstGeom>
          <a:ln w="15875">
            <a:solidFill>
              <a:srgbClr val="8A8F98"/>
            </a:solidFill>
          </a:ln>
          <a:effectLst/>
        </p:spPr>
      </p:cxnSp>
      <p:cxnSp>
        <p:nvCxnSpPr>
          <p:cNvPr id="18" name="Connector 17"/>
          <p:cNvCxnSpPr/>
          <p:nvPr/>
        </p:nvCxnSpPr>
        <p:spPr>
          <a:xfrm flipH="1">
            <a:off x="7283196" y="3803903"/>
            <a:ext cx="475487" cy="1106425"/>
          </a:xfrm>
          <a:prstGeom prst="line">
            <a:avLst/>
          </a:prstGeom>
          <a:ln w="15875">
            <a:solidFill>
              <a:srgbClr val="8A8F98"/>
            </a:solidFill>
          </a:ln>
          <a:effectLst/>
        </p:spPr>
      </p:cxnSp>
      <p:cxnSp>
        <p:nvCxnSpPr>
          <p:cNvPr id="19" name="Connector 18"/>
          <p:cNvCxnSpPr/>
          <p:nvPr/>
        </p:nvCxnSpPr>
        <p:spPr>
          <a:xfrm>
            <a:off x="7758683" y="3803903"/>
            <a:ext cx="1024129" cy="1106425"/>
          </a:xfrm>
          <a:prstGeom prst="line">
            <a:avLst/>
          </a:prstGeom>
          <a:ln w="15875">
            <a:solidFill>
              <a:srgbClr val="8A8F98"/>
            </a:solidFill>
          </a:ln>
          <a:effectLst/>
        </p:spPr>
      </p:cxnSp>
      <p:cxnSp>
        <p:nvCxnSpPr>
          <p:cNvPr id="20" name="Connector 19"/>
          <p:cNvCxnSpPr/>
          <p:nvPr/>
        </p:nvCxnSpPr>
        <p:spPr>
          <a:xfrm flipH="1">
            <a:off x="7904988" y="3803903"/>
            <a:ext cx="950975" cy="1106425"/>
          </a:xfrm>
          <a:prstGeom prst="line">
            <a:avLst/>
          </a:prstGeom>
          <a:ln w="15875">
            <a:solidFill>
              <a:srgbClr val="8A8F98"/>
            </a:solidFill>
          </a:ln>
          <a:effectLst/>
        </p:spPr>
      </p:cxnSp>
      <p:cxnSp>
        <p:nvCxnSpPr>
          <p:cNvPr id="21" name="Connector 20"/>
          <p:cNvCxnSpPr/>
          <p:nvPr/>
        </p:nvCxnSpPr>
        <p:spPr>
          <a:xfrm>
            <a:off x="8855963" y="3803903"/>
            <a:ext cx="548641" cy="1106425"/>
          </a:xfrm>
          <a:prstGeom prst="line">
            <a:avLst/>
          </a:prstGeom>
          <a:ln w="15875">
            <a:solidFill>
              <a:srgbClr val="8A8F98"/>
            </a:solidFill>
          </a:ln>
          <a:effectLst/>
        </p:spPr>
      </p:cxnSp>
      <p:cxnSp>
        <p:nvCxnSpPr>
          <p:cNvPr id="22" name="Connector 21"/>
          <p:cNvCxnSpPr/>
          <p:nvPr/>
        </p:nvCxnSpPr>
        <p:spPr>
          <a:xfrm>
            <a:off x="5564124" y="2203704"/>
            <a:ext cx="219455" cy="2706624"/>
          </a:xfrm>
          <a:prstGeom prst="line">
            <a:avLst/>
          </a:prstGeom>
          <a:ln w="15875">
            <a:solidFill>
              <a:srgbClr val="8A8F98"/>
            </a:solidFill>
          </a:ln>
          <a:effectLst/>
        </p:spPr>
      </p:cxnSp>
      <p:cxnSp>
        <p:nvCxnSpPr>
          <p:cNvPr id="23" name="Connector 22"/>
          <p:cNvCxnSpPr/>
          <p:nvPr/>
        </p:nvCxnSpPr>
        <p:spPr>
          <a:xfrm flipH="1">
            <a:off x="3323844" y="2203704"/>
            <a:ext cx="2240280" cy="749807"/>
          </a:xfrm>
          <a:prstGeom prst="line">
            <a:avLst/>
          </a:prstGeom>
          <a:ln w="15875">
            <a:solidFill>
              <a:srgbClr val="8A8F98"/>
            </a:solidFill>
          </a:ln>
          <a:effectLst/>
        </p:spPr>
      </p:cxnSp>
      <p:cxnSp>
        <p:nvCxnSpPr>
          <p:cNvPr id="24" name="Connector 23"/>
          <p:cNvCxnSpPr/>
          <p:nvPr/>
        </p:nvCxnSpPr>
        <p:spPr>
          <a:xfrm>
            <a:off x="5564124" y="2203704"/>
            <a:ext cx="2194559" cy="749807"/>
          </a:xfrm>
          <a:prstGeom prst="line">
            <a:avLst/>
          </a:prstGeom>
          <a:ln w="15875">
            <a:solidFill>
              <a:srgbClr val="8A8F98"/>
            </a:solidFill>
          </a:ln>
          <a:effectLst/>
        </p:spPr>
      </p:cxnSp>
      <p:cxnSp>
        <p:nvCxnSpPr>
          <p:cNvPr id="25" name="Connector 24"/>
          <p:cNvCxnSpPr/>
          <p:nvPr/>
        </p:nvCxnSpPr>
        <p:spPr>
          <a:xfrm flipH="1">
            <a:off x="6405372" y="2203704"/>
            <a:ext cx="484632" cy="2706624"/>
          </a:xfrm>
          <a:prstGeom prst="line">
            <a:avLst/>
          </a:prstGeom>
          <a:ln w="15875">
            <a:solidFill>
              <a:srgbClr val="8A8F98"/>
            </a:solidFill>
          </a:ln>
          <a:effectLst/>
        </p:spPr>
      </p:cxnSp>
      <p:cxnSp>
        <p:nvCxnSpPr>
          <p:cNvPr id="26" name="Connector 25"/>
          <p:cNvCxnSpPr/>
          <p:nvPr/>
        </p:nvCxnSpPr>
        <p:spPr>
          <a:xfrm flipH="1">
            <a:off x="4421124" y="2203704"/>
            <a:ext cx="2468880" cy="749807"/>
          </a:xfrm>
          <a:prstGeom prst="line">
            <a:avLst/>
          </a:prstGeom>
          <a:ln w="15875">
            <a:solidFill>
              <a:srgbClr val="8A8F98"/>
            </a:solidFill>
          </a:ln>
          <a:effectLst/>
        </p:spPr>
      </p:cxnSp>
      <p:cxnSp>
        <p:nvCxnSpPr>
          <p:cNvPr id="27" name="Connector 26"/>
          <p:cNvCxnSpPr/>
          <p:nvPr/>
        </p:nvCxnSpPr>
        <p:spPr>
          <a:xfrm>
            <a:off x="6890004" y="2203704"/>
            <a:ext cx="1965959" cy="749807"/>
          </a:xfrm>
          <a:prstGeom prst="line">
            <a:avLst/>
          </a:prstGeom>
          <a:ln w="15875">
            <a:solidFill>
              <a:srgbClr val="8A8F98"/>
            </a:solidFill>
          </a:ln>
          <a:effectLst/>
        </p:spPr>
      </p:cxnSp>
      <p:sp>
        <p:nvSpPr>
          <p:cNvPr id="28" name="Rounded Rectangle 27"/>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9" name="Rounded Rectangle 28"/>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30" name="Rounded Rectangle 29"/>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31" name="Rounded Rectangle 30"/>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32" name="Rounded Rectangle 31"/>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3" name="Rounded Rectangle 32"/>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4" name="Rounded Rectangle 33"/>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5" name="Rounded Rectangle 34"/>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6" name="Rounded Rectangle 35"/>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7" name="Rounded Rectangle 36"/>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8" name="Rounded Rectangle 37"/>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39" name="TextBox 38"/>
          <p:cNvSpPr txBox="1"/>
          <p:nvPr/>
        </p:nvSpPr>
        <p:spPr>
          <a:xfrm>
            <a:off x="2912363"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a₁</a:t>
            </a:r>
          </a:p>
        </p:txBody>
      </p:sp>
      <p:sp>
        <p:nvSpPr>
          <p:cNvPr id="40" name="Rounded Rectangle 39"/>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41" name="TextBox 40"/>
          <p:cNvSpPr txBox="1"/>
          <p:nvPr/>
        </p:nvSpPr>
        <p:spPr>
          <a:xfrm>
            <a:off x="400964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42" name="Rounded Rectangle 41"/>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3" name="TextBox 42"/>
          <p:cNvSpPr txBox="1"/>
          <p:nvPr/>
        </p:nvSpPr>
        <p:spPr>
          <a:xfrm>
            <a:off x="734720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x₁</a:t>
            </a:r>
          </a:p>
        </p:txBody>
      </p:sp>
      <p:sp>
        <p:nvSpPr>
          <p:cNvPr id="44" name="Rounded Rectangle 43"/>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5" name="TextBox 44"/>
          <p:cNvSpPr txBox="1"/>
          <p:nvPr/>
        </p:nvSpPr>
        <p:spPr>
          <a:xfrm>
            <a:off x="8444484" y="297179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46" name="Rounded Rectangle 45"/>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7" name="TextBox 46"/>
          <p:cNvSpPr txBox="1"/>
          <p:nvPr/>
        </p:nvSpPr>
        <p:spPr>
          <a:xfrm>
            <a:off x="4832603" y="178308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8" name="Rounded Rectangle 47"/>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9" name="TextBox 48"/>
          <p:cNvSpPr txBox="1"/>
          <p:nvPr/>
        </p:nvSpPr>
        <p:spPr>
          <a:xfrm>
            <a:off x="7310628" y="178308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
        <p:nvSpPr>
          <p:cNvPr id="50" name="Rounded Rectangle 49"/>
          <p:cNvSpPr/>
          <p:nvPr/>
        </p:nvSpPr>
        <p:spPr>
          <a:xfrm>
            <a:off x="2263139" y="4663440"/>
            <a:ext cx="7662672" cy="914400"/>
          </a:xfrm>
          <a:prstGeom prst="roundRect">
            <a:avLst>
              <a:gd name="adj" fmla="val 35000"/>
            </a:avLst>
          </a:prstGeom>
          <a:noFill/>
          <a:ln w="28575">
            <a:solidFill>
              <a:srgbClr val="1F2A44"/>
            </a:solidFill>
            <a:prstDash val="lgDash"/>
          </a:ln>
          <a:effectLst/>
        </p:spPr>
        <p:txBody>
          <a:bodyPr wrap="square" lIns="54864" tIns="27432" rIns="54864" bIns="27432" rtlCol="0" anchor="ctr"/>
          <a:lstStyle/>
          <a:p>
            <a:pPr algn="ctr"/>
            <a:endParaRPr/>
          </a:p>
        </p:txBody>
      </p:sp>
      <p:sp>
        <p:nvSpPr>
          <p:cNvPr id="51" name="TextBox 50"/>
          <p:cNvSpPr txBox="1"/>
          <p:nvPr/>
        </p:nvSpPr>
        <p:spPr>
          <a:xfrm>
            <a:off x="10017252" y="4937759"/>
            <a:ext cx="1188720" cy="365760"/>
          </a:xfrm>
          <a:prstGeom prst="rect">
            <a:avLst/>
          </a:prstGeom>
          <a:noFill/>
        </p:spPr>
        <p:txBody>
          <a:bodyPr wrap="square" lIns="45720" tIns="27432" rIns="45720" bIns="27432" anchor="ctr">
            <a:spAutoFit/>
          </a:bodyPr>
          <a:lstStyle/>
          <a:p>
            <a:pPr algn="l"/>
            <a:r>
              <a:rPr sz="1600" b="1" i="0">
                <a:solidFill>
                  <a:srgbClr val="1F2A44"/>
                </a:solidFill>
                <a:latin typeface="Calibri"/>
              </a:rPr>
              <a:t>round 0</a:t>
            </a:r>
          </a:p>
        </p:txBody>
      </p:sp>
      <p:sp>
        <p:nvSpPr>
          <p:cNvPr id="52" name="Rounded Rectangle 51"/>
          <p:cNvSpPr/>
          <p:nvPr/>
        </p:nvSpPr>
        <p:spPr>
          <a:xfrm>
            <a:off x="2674620" y="2715768"/>
            <a:ext cx="6830568" cy="1335024"/>
          </a:xfrm>
          <a:prstGeom prst="roundRect">
            <a:avLst>
              <a:gd name="adj" fmla="val 35000"/>
            </a:avLst>
          </a:prstGeom>
          <a:noFill/>
          <a:ln w="28575">
            <a:solidFill>
              <a:srgbClr val="1F2A44"/>
            </a:solidFill>
            <a:prstDash val="lgDash"/>
          </a:ln>
          <a:effectLst/>
        </p:spPr>
        <p:txBody>
          <a:bodyPr wrap="square" lIns="54864" tIns="27432" rIns="54864" bIns="27432" rtlCol="0" anchor="ctr"/>
          <a:lstStyle/>
          <a:p>
            <a:pPr algn="ctr"/>
            <a:endParaRPr/>
          </a:p>
        </p:txBody>
      </p:sp>
      <p:sp>
        <p:nvSpPr>
          <p:cNvPr id="53" name="TextBox 52"/>
          <p:cNvSpPr txBox="1"/>
          <p:nvPr/>
        </p:nvSpPr>
        <p:spPr>
          <a:xfrm>
            <a:off x="9596628" y="3200399"/>
            <a:ext cx="1188720" cy="365760"/>
          </a:xfrm>
          <a:prstGeom prst="rect">
            <a:avLst/>
          </a:prstGeom>
          <a:noFill/>
        </p:spPr>
        <p:txBody>
          <a:bodyPr wrap="square" lIns="45720" tIns="27432" rIns="45720" bIns="27432" anchor="ctr">
            <a:spAutoFit/>
          </a:bodyPr>
          <a:lstStyle/>
          <a:p>
            <a:pPr algn="l"/>
            <a:r>
              <a:rPr sz="1600" b="1" i="0">
                <a:solidFill>
                  <a:srgbClr val="1F2A44"/>
                </a:solidFill>
                <a:latin typeface="Calibri"/>
              </a:rPr>
              <a:t>round 1</a:t>
            </a:r>
          </a:p>
        </p:txBody>
      </p:sp>
      <p:sp>
        <p:nvSpPr>
          <p:cNvPr id="54" name="Rounded Rectangle 53"/>
          <p:cNvSpPr/>
          <p:nvPr/>
        </p:nvSpPr>
        <p:spPr>
          <a:xfrm>
            <a:off x="4576572" y="1389888"/>
            <a:ext cx="3300984" cy="1060704"/>
          </a:xfrm>
          <a:prstGeom prst="roundRect">
            <a:avLst>
              <a:gd name="adj" fmla="val 35000"/>
            </a:avLst>
          </a:prstGeom>
          <a:noFill/>
          <a:ln w="28575">
            <a:solidFill>
              <a:srgbClr val="1F2A44"/>
            </a:solidFill>
            <a:prstDash val="lgDash"/>
          </a:ln>
          <a:effectLst/>
        </p:spPr>
        <p:txBody>
          <a:bodyPr wrap="square" lIns="54864" tIns="27432" rIns="54864" bIns="27432" rtlCol="0" anchor="ctr"/>
          <a:lstStyle/>
          <a:p>
            <a:pPr algn="ctr"/>
            <a:endParaRPr/>
          </a:p>
        </p:txBody>
      </p:sp>
      <p:sp>
        <p:nvSpPr>
          <p:cNvPr id="55" name="TextBox 54"/>
          <p:cNvSpPr txBox="1"/>
          <p:nvPr/>
        </p:nvSpPr>
        <p:spPr>
          <a:xfrm>
            <a:off x="7968996" y="1737360"/>
            <a:ext cx="1188720" cy="365760"/>
          </a:xfrm>
          <a:prstGeom prst="rect">
            <a:avLst/>
          </a:prstGeom>
          <a:noFill/>
        </p:spPr>
        <p:txBody>
          <a:bodyPr wrap="square" lIns="45720" tIns="27432" rIns="45720" bIns="27432" anchor="ctr">
            <a:spAutoFit/>
          </a:bodyPr>
          <a:lstStyle/>
          <a:p>
            <a:pPr algn="l"/>
            <a:r>
              <a:rPr sz="1600" b="1" i="0">
                <a:solidFill>
                  <a:srgbClr val="1F2A44"/>
                </a:solidFill>
                <a:latin typeface="Calibri"/>
              </a:rPr>
              <a:t>round 2</a:t>
            </a:r>
          </a:p>
        </p:txBody>
      </p:sp>
      <p:sp>
        <p:nvSpPr>
          <p:cNvPr id="56" name="Rounded Rectangle 55"/>
          <p:cNvSpPr/>
          <p:nvPr/>
        </p:nvSpPr>
        <p:spPr>
          <a:xfrm>
            <a:off x="502920" y="1645920"/>
            <a:ext cx="329184" cy="219456"/>
          </a:xfrm>
          <a:prstGeom prst="roundRect">
            <a:avLst>
              <a:gd name="adj" fmla="val 1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57" name="TextBox 56"/>
          <p:cNvSpPr txBox="1"/>
          <p:nvPr/>
        </p:nvSpPr>
        <p:spPr>
          <a:xfrm>
            <a:off x="905256" y="1600200"/>
            <a:ext cx="1563624" cy="320040"/>
          </a:xfrm>
          <a:prstGeom prst="rect">
            <a:avLst/>
          </a:prstGeom>
          <a:noFill/>
        </p:spPr>
        <p:txBody>
          <a:bodyPr wrap="square" lIns="45720" tIns="27432" rIns="45720" bIns="27432" anchor="ctr">
            <a:spAutoFit/>
          </a:bodyPr>
          <a:lstStyle/>
          <a:p>
            <a:pPr algn="l"/>
            <a:r>
              <a:rPr sz="1200" b="0" i="0">
                <a:solidFill>
                  <a:srgbClr val="6B717A"/>
                </a:solidFill>
                <a:latin typeface="Calibri"/>
              </a:rPr>
              <a:t>equivalence class</a:t>
            </a:r>
          </a:p>
        </p:txBody>
      </p:sp>
      <p:sp>
        <p:nvSpPr>
          <p:cNvPr id="58" name="Rounded Rectangle 57"/>
          <p:cNvSpPr/>
          <p:nvPr/>
        </p:nvSpPr>
        <p:spPr>
          <a:xfrm>
            <a:off x="502920" y="2066543"/>
            <a:ext cx="329184" cy="219456"/>
          </a:xfrm>
          <a:prstGeom prst="roundRect">
            <a:avLst>
              <a:gd name="adj" fmla="val 15000"/>
            </a:avLst>
          </a:prstGeom>
          <a:noFill/>
          <a:ln w="28575">
            <a:solidFill>
              <a:srgbClr val="1F2A44"/>
            </a:solidFill>
            <a:prstDash val="lgDash"/>
          </a:ln>
          <a:effectLst/>
        </p:spPr>
        <p:txBody>
          <a:bodyPr wrap="square" lIns="54864" tIns="27432" rIns="54864" bIns="27432" rtlCol="0" anchor="ctr"/>
          <a:lstStyle/>
          <a:p>
            <a:pPr algn="ctr"/>
            <a:endParaRPr/>
          </a:p>
        </p:txBody>
      </p:sp>
      <p:sp>
        <p:nvSpPr>
          <p:cNvPr id="59" name="TextBox 58"/>
          <p:cNvSpPr txBox="1"/>
          <p:nvPr/>
        </p:nvSpPr>
        <p:spPr>
          <a:xfrm>
            <a:off x="905256" y="2020824"/>
            <a:ext cx="1563624" cy="320040"/>
          </a:xfrm>
          <a:prstGeom prst="rect">
            <a:avLst/>
          </a:prstGeom>
          <a:noFill/>
        </p:spPr>
        <p:txBody>
          <a:bodyPr wrap="square" lIns="45720" tIns="27432" rIns="45720" bIns="27432" anchor="ctr">
            <a:spAutoFit/>
          </a:bodyPr>
          <a:lstStyle/>
          <a:p>
            <a:pPr algn="l"/>
            <a:r>
              <a:rPr sz="1200" b="0" i="0">
                <a:solidFill>
                  <a:srgbClr val="6B717A"/>
                </a:solidFill>
                <a:latin typeface="Calibri"/>
              </a:rPr>
              <a:t>round</a:t>
            </a:r>
          </a:p>
        </p:txBody>
      </p:sp>
      <p:sp>
        <p:nvSpPr>
          <p:cNvPr id="60" name="TextBox 59"/>
          <p:cNvSpPr txBox="1"/>
          <p:nvPr/>
        </p:nvSpPr>
        <p:spPr>
          <a:xfrm>
            <a:off x="502920" y="2788920"/>
            <a:ext cx="2103120" cy="731520"/>
          </a:xfrm>
          <a:prstGeom prst="rect">
            <a:avLst/>
          </a:prstGeom>
          <a:noFill/>
        </p:spPr>
        <p:txBody>
          <a:bodyPr wrap="square" lIns="45720" tIns="27432" rIns="45720" bIns="27432" anchor="t">
            <a:spAutoFit/>
          </a:bodyPr>
          <a:lstStyle/>
          <a:p>
            <a:pPr algn="l"/>
            <a:r>
              <a:rPr sz="1500" b="0" i="0">
                <a:solidFill>
                  <a:srgbClr val="6B717A"/>
                </a:solidFill>
                <a:latin typeface="Calibri"/>
              </a:rPr>
              <a:t>no candidates: stop</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rrectness title"/>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Correctness</a:t>
            </a:r>
          </a:p>
        </p:txBody>
      </p:sp>
      <p:sp>
        <p:nvSpPr>
          <p:cNvPr id="3" name="Correctness title rule"/>
          <p:cNvSpPr/>
          <p:nvPr/>
        </p:nvSpPr>
        <p:spPr>
          <a:xfrm>
            <a:off x="566928" y="1005840"/>
            <a:ext cx="2176272" cy="32004"/>
          </a:xfrm>
          <a:prstGeom prst="rect">
            <a:avLst/>
          </a:prstGeom>
          <a:solidFill>
            <a:srgbClr val="C8501E"/>
          </a:solidFill>
          <a:ln>
            <a:noFill/>
          </a:ln>
        </p:spPr>
        <p:txBody>
          <a:bodyPr/>
          <a:lstStyle/>
          <a:p>
            <a:endParaRPr lang="en-US"/>
          </a:p>
        </p:txBody>
      </p:sp>
      <p:sp>
        <p:nvSpPr>
          <p:cNvPr id="4" name="Correctness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50</a:t>
            </a:r>
          </a:p>
        </p:txBody>
      </p:sp>
      <p:sp>
        <p:nvSpPr>
          <p:cNvPr id="5" name="Correctness Build 1"/>
          <p:cNvSpPr txBox="1"/>
          <p:nvPr/>
        </p:nvSpPr>
        <p:spPr>
          <a:xfrm>
            <a:off x="868680" y="1554480"/>
            <a:ext cx="10287000" cy="338554"/>
          </a:xfrm>
          <a:prstGeom prst="rect">
            <a:avLst/>
          </a:prstGeom>
          <a:noFill/>
        </p:spPr>
        <p:txBody>
          <a:bodyPr wrap="square" lIns="0" tIns="0" rIns="0" bIns="0" anchor="t">
            <a:spAutoFit/>
          </a:bodyPr>
          <a:lstStyle/>
          <a:p>
            <a:pPr algn="l">
              <a:spcAft>
                <a:spcPts val="1900"/>
              </a:spcAft>
            </a:pPr>
            <a:r>
              <a:rPr sz="2200" b="1" i="0" dirty="0">
                <a:solidFill>
                  <a:srgbClr val="C8501E"/>
                </a:solidFill>
                <a:latin typeface="Calibri"/>
              </a:rPr>
              <a:t>•  </a:t>
            </a:r>
            <a:r>
              <a:rPr sz="2200" b="1" i="0" dirty="0">
                <a:solidFill>
                  <a:srgbClr val="1F2A44"/>
                </a:solidFill>
                <a:latin typeface="Calibri"/>
              </a:rPr>
              <a:t>Soundness</a:t>
            </a:r>
            <a:r>
              <a:rPr sz="1900" b="0" i="0" dirty="0">
                <a:solidFill>
                  <a:srgbClr val="2B2F36"/>
                </a:solidFill>
                <a:latin typeface="Calibri"/>
              </a:rPr>
              <a:t> — Every merge is</a:t>
            </a:r>
            <a:r>
              <a:rPr lang="en-US" sz="1900" b="0" i="0" dirty="0">
                <a:solidFill>
                  <a:srgbClr val="2B2F36"/>
                </a:solidFill>
                <a:latin typeface="Calibri"/>
              </a:rPr>
              <a:t> between two congruen</a:t>
            </a:r>
            <a:r>
              <a:rPr lang="en-US" sz="1900" dirty="0">
                <a:solidFill>
                  <a:srgbClr val="2B2F36"/>
                </a:solidFill>
                <a:latin typeface="Calibri"/>
              </a:rPr>
              <a:t>t terms</a:t>
            </a:r>
            <a:endParaRPr sz="1900" b="0" i="0" dirty="0">
              <a:solidFill>
                <a:srgbClr val="2B2F36"/>
              </a:solidFill>
              <a:latin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rrectness title"/>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Correctness</a:t>
            </a:r>
          </a:p>
        </p:txBody>
      </p:sp>
      <p:sp>
        <p:nvSpPr>
          <p:cNvPr id="3" name="Correctness title rule"/>
          <p:cNvSpPr/>
          <p:nvPr/>
        </p:nvSpPr>
        <p:spPr>
          <a:xfrm>
            <a:off x="566928" y="1005840"/>
            <a:ext cx="2176272" cy="32004"/>
          </a:xfrm>
          <a:prstGeom prst="rect">
            <a:avLst/>
          </a:prstGeom>
          <a:solidFill>
            <a:srgbClr val="C8501E"/>
          </a:solidFill>
          <a:ln>
            <a:noFill/>
          </a:ln>
        </p:spPr>
        <p:txBody>
          <a:bodyPr/>
          <a:lstStyle/>
          <a:p>
            <a:endParaRPr lang="en-US"/>
          </a:p>
        </p:txBody>
      </p:sp>
      <p:sp>
        <p:nvSpPr>
          <p:cNvPr id="4" name="Correctness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51</a:t>
            </a:r>
          </a:p>
        </p:txBody>
      </p:sp>
      <p:sp>
        <p:nvSpPr>
          <p:cNvPr id="5" name="Correctness Build 2"/>
          <p:cNvSpPr txBox="1"/>
          <p:nvPr/>
        </p:nvSpPr>
        <p:spPr>
          <a:xfrm>
            <a:off x="868680" y="1554480"/>
            <a:ext cx="10287000" cy="920765"/>
          </a:xfrm>
          <a:prstGeom prst="rect">
            <a:avLst/>
          </a:prstGeom>
          <a:noFill/>
        </p:spPr>
        <p:txBody>
          <a:bodyPr wrap="square" lIns="0" tIns="0" rIns="0" bIns="0" anchor="t">
            <a:spAutoFit/>
          </a:bodyPr>
          <a:lstStyle/>
          <a:p>
            <a:pPr>
              <a:spcAft>
                <a:spcPts val="1900"/>
              </a:spcAft>
            </a:pPr>
            <a:r>
              <a:rPr sz="2200" b="1" i="0" dirty="0">
                <a:solidFill>
                  <a:schemeClr val="bg1">
                    <a:lumMod val="65000"/>
                  </a:schemeClr>
                </a:solidFill>
                <a:latin typeface="Calibri"/>
              </a:rPr>
              <a:t>•  Soundness</a:t>
            </a:r>
            <a:r>
              <a:rPr sz="1900" b="0" i="0" dirty="0">
                <a:solidFill>
                  <a:schemeClr val="bg1">
                    <a:lumMod val="65000"/>
                  </a:schemeClr>
                </a:solidFill>
                <a:latin typeface="Calibri"/>
              </a:rPr>
              <a:t> — </a:t>
            </a:r>
            <a:r>
              <a:rPr lang="en-US" sz="1900" dirty="0">
                <a:solidFill>
                  <a:schemeClr val="bg1">
                    <a:lumMod val="65000"/>
                  </a:schemeClr>
                </a:solidFill>
              </a:rPr>
              <a:t>Every merge is between two congruent terms</a:t>
            </a:r>
            <a:r>
              <a:rPr sz="1900" b="0" i="0" dirty="0">
                <a:solidFill>
                  <a:schemeClr val="bg1">
                    <a:lumMod val="65000"/>
                  </a:schemeClr>
                </a:solidFill>
                <a:latin typeface="Calibri"/>
              </a:rPr>
              <a:t>.</a:t>
            </a:r>
          </a:p>
          <a:p>
            <a:pPr algn="l">
              <a:spcAft>
                <a:spcPts val="1900"/>
              </a:spcAft>
            </a:pPr>
            <a:r>
              <a:rPr sz="2200" b="1" i="0" dirty="0">
                <a:solidFill>
                  <a:srgbClr val="C8501E"/>
                </a:solidFill>
                <a:latin typeface="Calibri"/>
              </a:rPr>
              <a:t>•  </a:t>
            </a:r>
            <a:r>
              <a:rPr sz="2200" b="1" i="0" dirty="0">
                <a:solidFill>
                  <a:srgbClr val="1F2A44"/>
                </a:solidFill>
                <a:latin typeface="Calibri"/>
              </a:rPr>
              <a:t>Completeness</a:t>
            </a:r>
            <a:r>
              <a:rPr sz="1900" b="0" i="0" dirty="0">
                <a:solidFill>
                  <a:srgbClr val="2B2F36"/>
                </a:solidFill>
                <a:latin typeface="Calibri"/>
              </a:rPr>
              <a:t> — Every newly congruent pair becomes a candidate in the next round</a:t>
            </a:r>
            <a:r>
              <a:rPr lang="en-US" sz="1900" b="0" i="0" dirty="0">
                <a:solidFill>
                  <a:srgbClr val="2B2F36"/>
                </a:solidFill>
                <a:latin typeface="Calibri"/>
              </a:rPr>
              <a:t>.</a:t>
            </a:r>
            <a:endParaRPr sz="1900" b="0" i="0" dirty="0">
              <a:solidFill>
                <a:srgbClr val="2B2F36"/>
              </a:solidFill>
              <a:latin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rrectness title"/>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Correctness</a:t>
            </a:r>
          </a:p>
        </p:txBody>
      </p:sp>
      <p:sp>
        <p:nvSpPr>
          <p:cNvPr id="3" name="Correctness title rule"/>
          <p:cNvSpPr/>
          <p:nvPr/>
        </p:nvSpPr>
        <p:spPr>
          <a:xfrm>
            <a:off x="566928" y="1005840"/>
            <a:ext cx="2176272" cy="32004"/>
          </a:xfrm>
          <a:prstGeom prst="rect">
            <a:avLst/>
          </a:prstGeom>
          <a:solidFill>
            <a:srgbClr val="C8501E"/>
          </a:solidFill>
          <a:ln>
            <a:noFill/>
          </a:ln>
        </p:spPr>
        <p:txBody>
          <a:bodyPr/>
          <a:lstStyle/>
          <a:p>
            <a:endParaRPr lang="en-US"/>
          </a:p>
        </p:txBody>
      </p:sp>
      <p:sp>
        <p:nvSpPr>
          <p:cNvPr id="4" name="Correctness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52</a:t>
            </a:r>
          </a:p>
        </p:txBody>
      </p:sp>
      <p:sp>
        <p:nvSpPr>
          <p:cNvPr id="5" name="Correctness Build 3"/>
          <p:cNvSpPr txBox="1"/>
          <p:nvPr/>
        </p:nvSpPr>
        <p:spPr>
          <a:xfrm>
            <a:off x="868680" y="1554480"/>
            <a:ext cx="10287000" cy="1502976"/>
          </a:xfrm>
          <a:prstGeom prst="rect">
            <a:avLst/>
          </a:prstGeom>
          <a:noFill/>
        </p:spPr>
        <p:txBody>
          <a:bodyPr wrap="square" lIns="0" tIns="0" rIns="0" bIns="0" anchor="t">
            <a:spAutoFit/>
          </a:bodyPr>
          <a:lstStyle/>
          <a:p>
            <a:pPr>
              <a:spcAft>
                <a:spcPts val="1900"/>
              </a:spcAft>
            </a:pPr>
            <a:r>
              <a:rPr sz="2200" b="1" i="0" dirty="0">
                <a:solidFill>
                  <a:srgbClr val="C9CDD3"/>
                </a:solidFill>
                <a:latin typeface="Calibri"/>
              </a:rPr>
              <a:t>•  </a:t>
            </a:r>
            <a:r>
              <a:rPr sz="2200" b="1" i="0" dirty="0">
                <a:solidFill>
                  <a:srgbClr val="7D838C"/>
                </a:solidFill>
                <a:latin typeface="Calibri"/>
              </a:rPr>
              <a:t>Soundness</a:t>
            </a:r>
            <a:r>
              <a:rPr sz="1900" b="0" i="0" dirty="0">
                <a:solidFill>
                  <a:srgbClr val="8A8F98"/>
                </a:solidFill>
                <a:latin typeface="Calibri"/>
              </a:rPr>
              <a:t> — </a:t>
            </a:r>
            <a:r>
              <a:rPr lang="en-US" sz="1900" dirty="0">
                <a:solidFill>
                  <a:schemeClr val="bg1">
                    <a:lumMod val="65000"/>
                  </a:schemeClr>
                </a:solidFill>
              </a:rPr>
              <a:t>Every merge is between two congruent terms.</a:t>
            </a:r>
          </a:p>
          <a:p>
            <a:pPr algn="l">
              <a:spcAft>
                <a:spcPts val="1900"/>
              </a:spcAft>
            </a:pPr>
            <a:r>
              <a:rPr sz="2200" b="1" i="0" dirty="0">
                <a:solidFill>
                  <a:srgbClr val="C9CDD3"/>
                </a:solidFill>
                <a:latin typeface="Calibri"/>
              </a:rPr>
              <a:t>•  </a:t>
            </a:r>
            <a:r>
              <a:rPr sz="2200" b="1" i="0" dirty="0">
                <a:solidFill>
                  <a:srgbClr val="7D838C"/>
                </a:solidFill>
                <a:latin typeface="Calibri"/>
              </a:rPr>
              <a:t>Completeness</a:t>
            </a:r>
            <a:r>
              <a:rPr sz="1900" b="0" i="0" dirty="0">
                <a:solidFill>
                  <a:srgbClr val="8A8F98"/>
                </a:solidFill>
                <a:latin typeface="Calibri"/>
              </a:rPr>
              <a:t> — Every newly congruent pair becomes a candidate in the next round.</a:t>
            </a:r>
          </a:p>
          <a:p>
            <a:pPr algn="l">
              <a:spcAft>
                <a:spcPts val="1900"/>
              </a:spcAft>
            </a:pPr>
            <a:r>
              <a:rPr sz="2200" b="1" i="0" dirty="0">
                <a:solidFill>
                  <a:srgbClr val="C8501E"/>
                </a:solidFill>
                <a:latin typeface="Calibri"/>
              </a:rPr>
              <a:t>•  </a:t>
            </a:r>
            <a:r>
              <a:rPr sz="2200" b="1" i="0" dirty="0">
                <a:solidFill>
                  <a:srgbClr val="1F2A44"/>
                </a:solidFill>
                <a:latin typeface="Calibri"/>
              </a:rPr>
              <a:t>Termination</a:t>
            </a:r>
            <a:r>
              <a:rPr sz="1900" b="0" i="0" dirty="0">
                <a:solidFill>
                  <a:srgbClr val="2B2F36"/>
                </a:solidFill>
                <a:latin typeface="Calibri"/>
              </a:rPr>
              <a:t> — Every round strictly reduces the number of </a:t>
            </a:r>
            <a:r>
              <a:rPr lang="en-US" sz="1900" b="0" i="0" dirty="0">
                <a:solidFill>
                  <a:srgbClr val="2B2F36"/>
                </a:solidFill>
                <a:latin typeface="Calibri"/>
              </a:rPr>
              <a:t>equality-</a:t>
            </a:r>
            <a:r>
              <a:rPr sz="1900" b="0" i="0" dirty="0">
                <a:solidFill>
                  <a:srgbClr val="2B2F36"/>
                </a:solidFill>
                <a:latin typeface="Calibri"/>
              </a:rPr>
              <a:t>classes.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6EA8514-2C91-6ADF-2276-44E2CDC439D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3C0DE6D-0FD4-DD01-AEFB-4869A38CB9D3}"/>
              </a:ext>
            </a:extLst>
          </p:cNvPr>
          <p:cNvSpPr txBox="1"/>
          <p:nvPr/>
        </p:nvSpPr>
        <p:spPr>
          <a:xfrm>
            <a:off x="518160" y="402336"/>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FilterCC on the example</a:t>
            </a:r>
          </a:p>
        </p:txBody>
      </p:sp>
      <p:cxnSp>
        <p:nvCxnSpPr>
          <p:cNvPr id="3" name="Connector 2">
            <a:extLst>
              <a:ext uri="{FF2B5EF4-FFF2-40B4-BE49-F238E27FC236}">
                <a16:creationId xmlns:a16="http://schemas.microsoft.com/office/drawing/2014/main" id="{0B60A96E-EE08-2418-90EB-B3748FA580A6}"/>
              </a:ext>
            </a:extLst>
          </p:cNvPr>
          <p:cNvCxnSpPr/>
          <p:nvPr/>
        </p:nvCxnSpPr>
        <p:spPr>
          <a:xfrm>
            <a:off x="566928" y="1024128"/>
            <a:ext cx="2176272" cy="0"/>
          </a:xfrm>
          <a:prstGeom prst="line">
            <a:avLst/>
          </a:prstGeom>
          <a:ln w="31750">
            <a:solidFill>
              <a:srgbClr val="C8501E"/>
            </a:solidFill>
          </a:ln>
          <a:effectLst/>
        </p:spPr>
      </p:cxnSp>
      <p:sp>
        <p:nvSpPr>
          <p:cNvPr id="4" name="TextBox 3">
            <a:extLst>
              <a:ext uri="{FF2B5EF4-FFF2-40B4-BE49-F238E27FC236}">
                <a16:creationId xmlns:a16="http://schemas.microsoft.com/office/drawing/2014/main" id="{CA6B403D-1F03-F60C-C76F-F3ADF4589009}"/>
              </a:ext>
            </a:extLst>
          </p:cNvPr>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53</a:t>
            </a:r>
          </a:p>
        </p:txBody>
      </p:sp>
      <p:sp>
        <p:nvSpPr>
          <p:cNvPr id="60" name="FilterCC persistent bullets">
            <a:extLst>
              <a:ext uri="{FF2B5EF4-FFF2-40B4-BE49-F238E27FC236}">
                <a16:creationId xmlns:a16="http://schemas.microsoft.com/office/drawing/2014/main" id="{7FB11228-3761-D6A4-AD1B-CA1D19931CD0}"/>
              </a:ext>
            </a:extLst>
          </p:cNvPr>
          <p:cNvSpPr txBox="1"/>
          <p:nvPr/>
        </p:nvSpPr>
        <p:spPr>
          <a:xfrm>
            <a:off x="486916" y="1346215"/>
            <a:ext cx="3810763" cy="3924151"/>
          </a:xfrm>
          <a:prstGeom prst="rect">
            <a:avLst/>
          </a:prstGeom>
          <a:noFill/>
        </p:spPr>
        <p:txBody>
          <a:bodyPr wrap="square" lIns="45720" rIns="45720">
            <a:spAutoFit/>
          </a:bodyPr>
          <a:lstStyle/>
          <a:p>
            <a:pPr marL="274320" indent="-237744">
              <a:spcBef>
                <a:spcPts val="1000"/>
              </a:spcBef>
              <a:buClr>
                <a:srgbClr val="6B717A"/>
              </a:buClr>
              <a:buChar char="•"/>
            </a:pPr>
            <a:r>
              <a:rPr lang="en-US" sz="2800" i="0" dirty="0">
                <a:solidFill>
                  <a:schemeClr val="tx1">
                    <a:lumMod val="75000"/>
                    <a:lumOff val="25000"/>
                  </a:schemeClr>
                </a:solidFill>
                <a:latin typeface="Calibri"/>
              </a:rPr>
              <a:t>one dirty bit per class</a:t>
            </a:r>
          </a:p>
          <a:p>
            <a:pPr marL="274320" indent="-237744">
              <a:spcBef>
                <a:spcPts val="1000"/>
              </a:spcBef>
              <a:buClr>
                <a:srgbClr val="6B717A"/>
              </a:buClr>
              <a:buChar char="•"/>
            </a:pPr>
            <a:r>
              <a:rPr lang="en-US" sz="2800" b="0" i="0" dirty="0">
                <a:solidFill>
                  <a:srgbClr val="2B2F36"/>
                </a:solidFill>
                <a:latin typeface="Calibri"/>
              </a:rPr>
              <a:t>a merge marks its classes dirty</a:t>
            </a:r>
          </a:p>
          <a:p>
            <a:pPr marL="274320" indent="-237744">
              <a:spcBef>
                <a:spcPts val="1000"/>
              </a:spcBef>
              <a:buClr>
                <a:srgbClr val="6B717A"/>
              </a:buClr>
              <a:buChar char="•"/>
            </a:pPr>
            <a:r>
              <a:rPr lang="en-US" sz="2800" b="0" i="0" dirty="0">
                <a:solidFill>
                  <a:srgbClr val="2B2F36"/>
                </a:solidFill>
                <a:latin typeface="Calibri"/>
              </a:rPr>
              <a:t>candidates: filter all terms for a dirty child</a:t>
            </a:r>
          </a:p>
          <a:p>
            <a:pPr marL="274320" indent="-237744">
              <a:spcBef>
                <a:spcPts val="1000"/>
              </a:spcBef>
              <a:buClr>
                <a:srgbClr val="6B717A"/>
              </a:buClr>
              <a:buChar char="•"/>
            </a:pPr>
            <a:r>
              <a:rPr lang="en-US" sz="2800" b="0" i="0" dirty="0">
                <a:solidFill>
                  <a:srgbClr val="2B2F36"/>
                </a:solidFill>
                <a:latin typeface="Calibri"/>
              </a:rPr>
              <a:t>racing marks are fine: setting a bit is idempotent</a:t>
            </a:r>
          </a:p>
        </p:txBody>
      </p:sp>
    </p:spTree>
    <p:extLst>
      <p:ext uri="{BB962C8B-B14F-4D97-AF65-F5344CB8AC3E}">
        <p14:creationId xmlns:p14="http://schemas.microsoft.com/office/powerpoint/2010/main" val="34973410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0BB86-8DAE-C86F-A10C-2AF4C450D76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6CF7F1D-2532-338F-6D5F-225B7F52FEAF}"/>
              </a:ext>
            </a:extLst>
          </p:cNvPr>
          <p:cNvSpPr txBox="1"/>
          <p:nvPr/>
        </p:nvSpPr>
        <p:spPr>
          <a:xfrm>
            <a:off x="518160" y="509563"/>
            <a:ext cx="11155680" cy="517065"/>
          </a:xfrm>
          <a:prstGeom prst="rect">
            <a:avLst/>
          </a:prstGeom>
          <a:noFill/>
        </p:spPr>
        <p:txBody>
          <a:bodyPr wrap="square" lIns="45720" tIns="27432" rIns="45720" bIns="27432" anchor="ctr">
            <a:spAutoFit/>
          </a:bodyPr>
          <a:lstStyle/>
          <a:p>
            <a:pPr algn="l"/>
            <a:r>
              <a:rPr lang="en-US" sz="3000" b="1" i="0" dirty="0">
                <a:solidFill>
                  <a:srgbClr val="1F2A44"/>
                </a:solidFill>
                <a:latin typeface="Calibri"/>
              </a:rPr>
              <a:t>Our second algorithm: </a:t>
            </a:r>
            <a:r>
              <a:rPr sz="3000" b="1" i="0" dirty="0" err="1">
                <a:solidFill>
                  <a:srgbClr val="1F2A44"/>
                </a:solidFill>
                <a:latin typeface="Calibri"/>
              </a:rPr>
              <a:t>FilterCC</a:t>
            </a:r>
            <a:r>
              <a:rPr sz="3000" b="1" i="0" dirty="0">
                <a:solidFill>
                  <a:srgbClr val="1F2A44"/>
                </a:solidFill>
                <a:latin typeface="Calibri"/>
              </a:rPr>
              <a:t> on the example</a:t>
            </a:r>
          </a:p>
        </p:txBody>
      </p:sp>
      <p:cxnSp>
        <p:nvCxnSpPr>
          <p:cNvPr id="3" name="Connector 2">
            <a:extLst>
              <a:ext uri="{FF2B5EF4-FFF2-40B4-BE49-F238E27FC236}">
                <a16:creationId xmlns:a16="http://schemas.microsoft.com/office/drawing/2014/main" id="{066732BD-ED57-7902-0151-D357296A506C}"/>
              </a:ext>
            </a:extLst>
          </p:cNvPr>
          <p:cNvCxnSpPr/>
          <p:nvPr/>
        </p:nvCxnSpPr>
        <p:spPr>
          <a:xfrm>
            <a:off x="566928" y="1024128"/>
            <a:ext cx="2176272" cy="0"/>
          </a:xfrm>
          <a:prstGeom prst="line">
            <a:avLst/>
          </a:prstGeom>
          <a:ln w="31750">
            <a:solidFill>
              <a:srgbClr val="C8501E"/>
            </a:solidFill>
          </a:ln>
          <a:effectLst/>
        </p:spPr>
      </p:cxnSp>
      <p:sp>
        <p:nvSpPr>
          <p:cNvPr id="4" name="TextBox 3">
            <a:extLst>
              <a:ext uri="{FF2B5EF4-FFF2-40B4-BE49-F238E27FC236}">
                <a16:creationId xmlns:a16="http://schemas.microsoft.com/office/drawing/2014/main" id="{AF12BA0B-623B-5FD7-B7D4-2C229355A28E}"/>
              </a:ext>
            </a:extLst>
          </p:cNvPr>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53</a:t>
            </a:r>
          </a:p>
        </p:txBody>
      </p:sp>
      <p:sp>
        <p:nvSpPr>
          <p:cNvPr id="6" name="Rounded Rectangle 5">
            <a:extLst>
              <a:ext uri="{FF2B5EF4-FFF2-40B4-BE49-F238E27FC236}">
                <a16:creationId xmlns:a16="http://schemas.microsoft.com/office/drawing/2014/main" id="{F2704C58-691C-A039-77B0-4B77F3741D44}"/>
              </a:ext>
            </a:extLst>
          </p:cNvPr>
          <p:cNvSpPr/>
          <p:nvPr/>
        </p:nvSpPr>
        <p:spPr>
          <a:xfrm>
            <a:off x="4105656" y="465429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a:extLst>
              <a:ext uri="{FF2B5EF4-FFF2-40B4-BE49-F238E27FC236}">
                <a16:creationId xmlns:a16="http://schemas.microsoft.com/office/drawing/2014/main" id="{E51AFDA5-0F51-897A-7CCF-2D2C52BE1F64}"/>
              </a:ext>
            </a:extLst>
          </p:cNvPr>
          <p:cNvSpPr/>
          <p:nvPr/>
        </p:nvSpPr>
        <p:spPr>
          <a:xfrm>
            <a:off x="5605271" y="465429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a:extLst>
              <a:ext uri="{FF2B5EF4-FFF2-40B4-BE49-F238E27FC236}">
                <a16:creationId xmlns:a16="http://schemas.microsoft.com/office/drawing/2014/main" id="{FEFE00EE-D20C-6241-664B-99AE6F60C30C}"/>
              </a:ext>
            </a:extLst>
          </p:cNvPr>
          <p:cNvSpPr/>
          <p:nvPr/>
        </p:nvSpPr>
        <p:spPr>
          <a:xfrm>
            <a:off x="7104888" y="465429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a:extLst>
              <a:ext uri="{FF2B5EF4-FFF2-40B4-BE49-F238E27FC236}">
                <a16:creationId xmlns:a16="http://schemas.microsoft.com/office/drawing/2014/main" id="{E3F93A8E-E7E4-88AE-BF1F-65A31DC64C5A}"/>
              </a:ext>
            </a:extLst>
          </p:cNvPr>
          <p:cNvSpPr/>
          <p:nvPr/>
        </p:nvSpPr>
        <p:spPr>
          <a:xfrm>
            <a:off x="8604504" y="465429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a:extLst>
              <a:ext uri="{FF2B5EF4-FFF2-40B4-BE49-F238E27FC236}">
                <a16:creationId xmlns:a16="http://schemas.microsoft.com/office/drawing/2014/main" id="{F8413004-9EB5-EBBF-7D62-AE2637AA4B66}"/>
              </a:ext>
            </a:extLst>
          </p:cNvPr>
          <p:cNvSpPr/>
          <p:nvPr/>
        </p:nvSpPr>
        <p:spPr>
          <a:xfrm>
            <a:off x="10104120" y="465429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cxnSp>
        <p:nvCxnSpPr>
          <p:cNvPr id="11" name="Connector 10">
            <a:extLst>
              <a:ext uri="{FF2B5EF4-FFF2-40B4-BE49-F238E27FC236}">
                <a16:creationId xmlns:a16="http://schemas.microsoft.com/office/drawing/2014/main" id="{914FF22D-B81D-0922-3B7F-9021AD76D327}"/>
              </a:ext>
            </a:extLst>
          </p:cNvPr>
          <p:cNvCxnSpPr/>
          <p:nvPr/>
        </p:nvCxnSpPr>
        <p:spPr>
          <a:xfrm flipH="1">
            <a:off x="4498848" y="3666743"/>
            <a:ext cx="539496" cy="1106425"/>
          </a:xfrm>
          <a:prstGeom prst="line">
            <a:avLst/>
          </a:prstGeom>
          <a:ln w="15875">
            <a:solidFill>
              <a:srgbClr val="C9CDD3"/>
            </a:solidFill>
          </a:ln>
          <a:effectLst/>
        </p:spPr>
      </p:cxnSp>
      <p:cxnSp>
        <p:nvCxnSpPr>
          <p:cNvPr id="12" name="Connector 11">
            <a:extLst>
              <a:ext uri="{FF2B5EF4-FFF2-40B4-BE49-F238E27FC236}">
                <a16:creationId xmlns:a16="http://schemas.microsoft.com/office/drawing/2014/main" id="{B1E3D25D-1274-2146-23E3-CDDE8F24280C}"/>
              </a:ext>
            </a:extLst>
          </p:cNvPr>
          <p:cNvCxnSpPr/>
          <p:nvPr/>
        </p:nvCxnSpPr>
        <p:spPr>
          <a:xfrm>
            <a:off x="5038344" y="3666743"/>
            <a:ext cx="960120" cy="1106425"/>
          </a:xfrm>
          <a:prstGeom prst="line">
            <a:avLst/>
          </a:prstGeom>
          <a:ln w="15875">
            <a:solidFill>
              <a:srgbClr val="C9CDD3"/>
            </a:solidFill>
          </a:ln>
          <a:effectLst/>
        </p:spPr>
      </p:cxnSp>
      <p:cxnSp>
        <p:nvCxnSpPr>
          <p:cNvPr id="13" name="Connector 12">
            <a:extLst>
              <a:ext uri="{FF2B5EF4-FFF2-40B4-BE49-F238E27FC236}">
                <a16:creationId xmlns:a16="http://schemas.microsoft.com/office/drawing/2014/main" id="{3580CEA8-C22D-177F-408F-520B1AC72221}"/>
              </a:ext>
            </a:extLst>
          </p:cNvPr>
          <p:cNvCxnSpPr/>
          <p:nvPr/>
        </p:nvCxnSpPr>
        <p:spPr>
          <a:xfrm flipH="1">
            <a:off x="5120639" y="3666743"/>
            <a:ext cx="1014985" cy="1106425"/>
          </a:xfrm>
          <a:prstGeom prst="line">
            <a:avLst/>
          </a:prstGeom>
          <a:ln w="15875">
            <a:solidFill>
              <a:srgbClr val="C9CDD3"/>
            </a:solidFill>
          </a:ln>
          <a:effectLst/>
        </p:spPr>
      </p:cxnSp>
      <p:cxnSp>
        <p:nvCxnSpPr>
          <p:cNvPr id="14" name="Connector 13">
            <a:extLst>
              <a:ext uri="{FF2B5EF4-FFF2-40B4-BE49-F238E27FC236}">
                <a16:creationId xmlns:a16="http://schemas.microsoft.com/office/drawing/2014/main" id="{60084B91-1BCF-B899-3E81-01B876319D1F}"/>
              </a:ext>
            </a:extLst>
          </p:cNvPr>
          <p:cNvCxnSpPr/>
          <p:nvPr/>
        </p:nvCxnSpPr>
        <p:spPr>
          <a:xfrm>
            <a:off x="6135624" y="3666743"/>
            <a:ext cx="484632" cy="1106425"/>
          </a:xfrm>
          <a:prstGeom prst="line">
            <a:avLst/>
          </a:prstGeom>
          <a:ln w="15875">
            <a:solidFill>
              <a:srgbClr val="C9CDD3"/>
            </a:solidFill>
          </a:ln>
          <a:effectLst/>
        </p:spPr>
      </p:cxnSp>
      <p:cxnSp>
        <p:nvCxnSpPr>
          <p:cNvPr id="15" name="Connector 14">
            <a:extLst>
              <a:ext uri="{FF2B5EF4-FFF2-40B4-BE49-F238E27FC236}">
                <a16:creationId xmlns:a16="http://schemas.microsoft.com/office/drawing/2014/main" id="{93232807-705A-C48C-C57A-8EB72D84FA4A}"/>
              </a:ext>
            </a:extLst>
          </p:cNvPr>
          <p:cNvCxnSpPr/>
          <p:nvPr/>
        </p:nvCxnSpPr>
        <p:spPr>
          <a:xfrm flipH="1">
            <a:off x="8997696" y="3666743"/>
            <a:ext cx="475487" cy="1106425"/>
          </a:xfrm>
          <a:prstGeom prst="line">
            <a:avLst/>
          </a:prstGeom>
          <a:ln w="15875">
            <a:solidFill>
              <a:srgbClr val="C9CDD3"/>
            </a:solidFill>
          </a:ln>
          <a:effectLst/>
        </p:spPr>
      </p:cxnSp>
      <p:cxnSp>
        <p:nvCxnSpPr>
          <p:cNvPr id="16" name="Connector 15">
            <a:extLst>
              <a:ext uri="{FF2B5EF4-FFF2-40B4-BE49-F238E27FC236}">
                <a16:creationId xmlns:a16="http://schemas.microsoft.com/office/drawing/2014/main" id="{3B2DEC6C-48A4-6C93-91C9-E85AA3122F5C}"/>
              </a:ext>
            </a:extLst>
          </p:cNvPr>
          <p:cNvCxnSpPr/>
          <p:nvPr/>
        </p:nvCxnSpPr>
        <p:spPr>
          <a:xfrm>
            <a:off x="9473183" y="3666743"/>
            <a:ext cx="1024129" cy="1106425"/>
          </a:xfrm>
          <a:prstGeom prst="line">
            <a:avLst/>
          </a:prstGeom>
          <a:ln w="15875">
            <a:solidFill>
              <a:srgbClr val="C9CDD3"/>
            </a:solidFill>
          </a:ln>
          <a:effectLst/>
        </p:spPr>
      </p:cxnSp>
      <p:cxnSp>
        <p:nvCxnSpPr>
          <p:cNvPr id="17" name="Connector 16">
            <a:extLst>
              <a:ext uri="{FF2B5EF4-FFF2-40B4-BE49-F238E27FC236}">
                <a16:creationId xmlns:a16="http://schemas.microsoft.com/office/drawing/2014/main" id="{168E0D2D-51DB-8D01-77F3-BEBDA7BD07EE}"/>
              </a:ext>
            </a:extLst>
          </p:cNvPr>
          <p:cNvCxnSpPr/>
          <p:nvPr/>
        </p:nvCxnSpPr>
        <p:spPr>
          <a:xfrm flipH="1">
            <a:off x="9619488" y="3666743"/>
            <a:ext cx="950975" cy="1106425"/>
          </a:xfrm>
          <a:prstGeom prst="line">
            <a:avLst/>
          </a:prstGeom>
          <a:ln w="15875">
            <a:solidFill>
              <a:srgbClr val="C9CDD3"/>
            </a:solidFill>
          </a:ln>
          <a:effectLst/>
        </p:spPr>
      </p:cxnSp>
      <p:cxnSp>
        <p:nvCxnSpPr>
          <p:cNvPr id="18" name="Connector 17">
            <a:extLst>
              <a:ext uri="{FF2B5EF4-FFF2-40B4-BE49-F238E27FC236}">
                <a16:creationId xmlns:a16="http://schemas.microsoft.com/office/drawing/2014/main" id="{7CB1D636-8A85-98A4-EDEC-8E0A453BC0A9}"/>
              </a:ext>
            </a:extLst>
          </p:cNvPr>
          <p:cNvCxnSpPr/>
          <p:nvPr/>
        </p:nvCxnSpPr>
        <p:spPr>
          <a:xfrm>
            <a:off x="10570463" y="3666743"/>
            <a:ext cx="548641" cy="1106425"/>
          </a:xfrm>
          <a:prstGeom prst="line">
            <a:avLst/>
          </a:prstGeom>
          <a:ln w="15875">
            <a:solidFill>
              <a:srgbClr val="C9CDD3"/>
            </a:solidFill>
          </a:ln>
          <a:effectLst/>
        </p:spPr>
      </p:cxnSp>
      <p:cxnSp>
        <p:nvCxnSpPr>
          <p:cNvPr id="19" name="Connector 18">
            <a:extLst>
              <a:ext uri="{FF2B5EF4-FFF2-40B4-BE49-F238E27FC236}">
                <a16:creationId xmlns:a16="http://schemas.microsoft.com/office/drawing/2014/main" id="{C22A7F03-3A4F-1948-977E-4D7ED2FEA01F}"/>
              </a:ext>
            </a:extLst>
          </p:cNvPr>
          <p:cNvCxnSpPr/>
          <p:nvPr/>
        </p:nvCxnSpPr>
        <p:spPr>
          <a:xfrm>
            <a:off x="7278624" y="2066544"/>
            <a:ext cx="219455" cy="2706624"/>
          </a:xfrm>
          <a:prstGeom prst="line">
            <a:avLst/>
          </a:prstGeom>
          <a:ln w="15875">
            <a:solidFill>
              <a:srgbClr val="C9CDD3"/>
            </a:solidFill>
          </a:ln>
          <a:effectLst/>
        </p:spPr>
      </p:cxnSp>
      <p:cxnSp>
        <p:nvCxnSpPr>
          <p:cNvPr id="20" name="Connector 19">
            <a:extLst>
              <a:ext uri="{FF2B5EF4-FFF2-40B4-BE49-F238E27FC236}">
                <a16:creationId xmlns:a16="http://schemas.microsoft.com/office/drawing/2014/main" id="{9BE37A53-52CD-8A19-F39E-BA2B6FA3F6F0}"/>
              </a:ext>
            </a:extLst>
          </p:cNvPr>
          <p:cNvCxnSpPr/>
          <p:nvPr/>
        </p:nvCxnSpPr>
        <p:spPr>
          <a:xfrm flipH="1">
            <a:off x="5038344" y="2066544"/>
            <a:ext cx="2240280" cy="749807"/>
          </a:xfrm>
          <a:prstGeom prst="line">
            <a:avLst/>
          </a:prstGeom>
          <a:ln w="15875">
            <a:solidFill>
              <a:srgbClr val="C9CDD3"/>
            </a:solidFill>
          </a:ln>
          <a:effectLst/>
        </p:spPr>
      </p:cxnSp>
      <p:cxnSp>
        <p:nvCxnSpPr>
          <p:cNvPr id="21" name="Connector 20">
            <a:extLst>
              <a:ext uri="{FF2B5EF4-FFF2-40B4-BE49-F238E27FC236}">
                <a16:creationId xmlns:a16="http://schemas.microsoft.com/office/drawing/2014/main" id="{9F53070A-7663-3AF7-C6FE-36DC4F0B8B8A}"/>
              </a:ext>
            </a:extLst>
          </p:cNvPr>
          <p:cNvCxnSpPr/>
          <p:nvPr/>
        </p:nvCxnSpPr>
        <p:spPr>
          <a:xfrm>
            <a:off x="7278624" y="2066544"/>
            <a:ext cx="2194559" cy="749807"/>
          </a:xfrm>
          <a:prstGeom prst="line">
            <a:avLst/>
          </a:prstGeom>
          <a:ln w="15875">
            <a:solidFill>
              <a:srgbClr val="C9CDD3"/>
            </a:solidFill>
          </a:ln>
          <a:effectLst/>
        </p:spPr>
      </p:cxnSp>
      <p:cxnSp>
        <p:nvCxnSpPr>
          <p:cNvPr id="22" name="Connector 21">
            <a:extLst>
              <a:ext uri="{FF2B5EF4-FFF2-40B4-BE49-F238E27FC236}">
                <a16:creationId xmlns:a16="http://schemas.microsoft.com/office/drawing/2014/main" id="{C10E6AEB-C0AC-C999-2905-DB6C3547DD37}"/>
              </a:ext>
            </a:extLst>
          </p:cNvPr>
          <p:cNvCxnSpPr/>
          <p:nvPr/>
        </p:nvCxnSpPr>
        <p:spPr>
          <a:xfrm flipH="1">
            <a:off x="8119872" y="2066544"/>
            <a:ext cx="484632" cy="2706624"/>
          </a:xfrm>
          <a:prstGeom prst="line">
            <a:avLst/>
          </a:prstGeom>
          <a:ln w="15875">
            <a:solidFill>
              <a:srgbClr val="C9CDD3"/>
            </a:solidFill>
          </a:ln>
          <a:effectLst/>
        </p:spPr>
      </p:cxnSp>
      <p:cxnSp>
        <p:nvCxnSpPr>
          <p:cNvPr id="23" name="Connector 22">
            <a:extLst>
              <a:ext uri="{FF2B5EF4-FFF2-40B4-BE49-F238E27FC236}">
                <a16:creationId xmlns:a16="http://schemas.microsoft.com/office/drawing/2014/main" id="{7A06BEC0-691D-66D6-EA2E-5B41558539B6}"/>
              </a:ext>
            </a:extLst>
          </p:cNvPr>
          <p:cNvCxnSpPr/>
          <p:nvPr/>
        </p:nvCxnSpPr>
        <p:spPr>
          <a:xfrm flipH="1">
            <a:off x="6135624" y="2066544"/>
            <a:ext cx="2468880" cy="749807"/>
          </a:xfrm>
          <a:prstGeom prst="line">
            <a:avLst/>
          </a:prstGeom>
          <a:ln w="15875">
            <a:solidFill>
              <a:srgbClr val="C9CDD3"/>
            </a:solidFill>
          </a:ln>
          <a:effectLst/>
        </p:spPr>
      </p:cxnSp>
      <p:cxnSp>
        <p:nvCxnSpPr>
          <p:cNvPr id="24" name="Connector 23">
            <a:extLst>
              <a:ext uri="{FF2B5EF4-FFF2-40B4-BE49-F238E27FC236}">
                <a16:creationId xmlns:a16="http://schemas.microsoft.com/office/drawing/2014/main" id="{4196C009-A0EC-E4BB-2A1F-81C0B2EA7C2B}"/>
              </a:ext>
            </a:extLst>
          </p:cNvPr>
          <p:cNvCxnSpPr/>
          <p:nvPr/>
        </p:nvCxnSpPr>
        <p:spPr>
          <a:xfrm>
            <a:off x="8604504" y="2066544"/>
            <a:ext cx="1965959" cy="749807"/>
          </a:xfrm>
          <a:prstGeom prst="line">
            <a:avLst/>
          </a:prstGeom>
          <a:ln w="15875">
            <a:solidFill>
              <a:srgbClr val="C9CDD3"/>
            </a:solidFill>
          </a:ln>
          <a:effectLst/>
        </p:spPr>
      </p:cxnSp>
      <p:sp>
        <p:nvSpPr>
          <p:cNvPr id="25" name="Rounded Rectangle 24">
            <a:extLst>
              <a:ext uri="{FF2B5EF4-FFF2-40B4-BE49-F238E27FC236}">
                <a16:creationId xmlns:a16="http://schemas.microsoft.com/office/drawing/2014/main" id="{FCD75A82-9910-3F26-D5E0-B933DF3080B2}"/>
              </a:ext>
            </a:extLst>
          </p:cNvPr>
          <p:cNvSpPr/>
          <p:nvPr/>
        </p:nvSpPr>
        <p:spPr>
          <a:xfrm>
            <a:off x="4224528" y="477316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6" name="Rounded Rectangle 25">
            <a:extLst>
              <a:ext uri="{FF2B5EF4-FFF2-40B4-BE49-F238E27FC236}">
                <a16:creationId xmlns:a16="http://schemas.microsoft.com/office/drawing/2014/main" id="{CCA0AC23-E9E3-2F84-6228-2BE67B1F3502}"/>
              </a:ext>
            </a:extLst>
          </p:cNvPr>
          <p:cNvSpPr/>
          <p:nvPr/>
        </p:nvSpPr>
        <p:spPr>
          <a:xfrm>
            <a:off x="4846320" y="477316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r′</a:t>
            </a:r>
          </a:p>
        </p:txBody>
      </p:sp>
      <p:sp>
        <p:nvSpPr>
          <p:cNvPr id="27" name="Rounded Rectangle 26">
            <a:extLst>
              <a:ext uri="{FF2B5EF4-FFF2-40B4-BE49-F238E27FC236}">
                <a16:creationId xmlns:a16="http://schemas.microsoft.com/office/drawing/2014/main" id="{E4BE0A72-9A85-96DD-8EBC-C2C9C326B12E}"/>
              </a:ext>
            </a:extLst>
          </p:cNvPr>
          <p:cNvSpPr/>
          <p:nvPr/>
        </p:nvSpPr>
        <p:spPr>
          <a:xfrm>
            <a:off x="5724144" y="477316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28" name="Rounded Rectangle 27">
            <a:extLst>
              <a:ext uri="{FF2B5EF4-FFF2-40B4-BE49-F238E27FC236}">
                <a16:creationId xmlns:a16="http://schemas.microsoft.com/office/drawing/2014/main" id="{28627975-DDAF-C030-5F6A-802DF3D3E206}"/>
              </a:ext>
            </a:extLst>
          </p:cNvPr>
          <p:cNvSpPr/>
          <p:nvPr/>
        </p:nvSpPr>
        <p:spPr>
          <a:xfrm>
            <a:off x="6345936" y="477316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s′</a:t>
            </a:r>
          </a:p>
        </p:txBody>
      </p:sp>
      <p:sp>
        <p:nvSpPr>
          <p:cNvPr id="29" name="Rounded Rectangle 28">
            <a:extLst>
              <a:ext uri="{FF2B5EF4-FFF2-40B4-BE49-F238E27FC236}">
                <a16:creationId xmlns:a16="http://schemas.microsoft.com/office/drawing/2014/main" id="{D9F80B4F-2868-DF4A-DAB8-4EFD95F1B977}"/>
              </a:ext>
            </a:extLst>
          </p:cNvPr>
          <p:cNvSpPr/>
          <p:nvPr/>
        </p:nvSpPr>
        <p:spPr>
          <a:xfrm>
            <a:off x="7223759" y="477316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0" name="Rounded Rectangle 29">
            <a:extLst>
              <a:ext uri="{FF2B5EF4-FFF2-40B4-BE49-F238E27FC236}">
                <a16:creationId xmlns:a16="http://schemas.microsoft.com/office/drawing/2014/main" id="{7C368F4A-D2FE-BB6C-5A22-BCF51945FA38}"/>
              </a:ext>
            </a:extLst>
          </p:cNvPr>
          <p:cNvSpPr/>
          <p:nvPr/>
        </p:nvSpPr>
        <p:spPr>
          <a:xfrm>
            <a:off x="7845552" y="477316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c′</a:t>
            </a:r>
          </a:p>
        </p:txBody>
      </p:sp>
      <p:sp>
        <p:nvSpPr>
          <p:cNvPr id="31" name="Rounded Rectangle 30">
            <a:extLst>
              <a:ext uri="{FF2B5EF4-FFF2-40B4-BE49-F238E27FC236}">
                <a16:creationId xmlns:a16="http://schemas.microsoft.com/office/drawing/2014/main" id="{5EA9B54F-AAF2-AF55-32E8-B848D533ADE9}"/>
              </a:ext>
            </a:extLst>
          </p:cNvPr>
          <p:cNvSpPr/>
          <p:nvPr/>
        </p:nvSpPr>
        <p:spPr>
          <a:xfrm>
            <a:off x="8723376" y="477316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2" name="Rounded Rectangle 31">
            <a:extLst>
              <a:ext uri="{FF2B5EF4-FFF2-40B4-BE49-F238E27FC236}">
                <a16:creationId xmlns:a16="http://schemas.microsoft.com/office/drawing/2014/main" id="{0A718697-1AEB-DF3D-B478-0BC551813F8A}"/>
              </a:ext>
            </a:extLst>
          </p:cNvPr>
          <p:cNvSpPr/>
          <p:nvPr/>
        </p:nvSpPr>
        <p:spPr>
          <a:xfrm>
            <a:off x="9345167" y="477316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u′</a:t>
            </a:r>
          </a:p>
        </p:txBody>
      </p:sp>
      <p:sp>
        <p:nvSpPr>
          <p:cNvPr id="33" name="Rounded Rectangle 32">
            <a:extLst>
              <a:ext uri="{FF2B5EF4-FFF2-40B4-BE49-F238E27FC236}">
                <a16:creationId xmlns:a16="http://schemas.microsoft.com/office/drawing/2014/main" id="{B8BFEBBB-922E-1A42-8C9F-0B5EEE30A7D9}"/>
              </a:ext>
            </a:extLst>
          </p:cNvPr>
          <p:cNvSpPr/>
          <p:nvPr/>
        </p:nvSpPr>
        <p:spPr>
          <a:xfrm>
            <a:off x="10222992" y="477316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4" name="Rounded Rectangle 33">
            <a:extLst>
              <a:ext uri="{FF2B5EF4-FFF2-40B4-BE49-F238E27FC236}">
                <a16:creationId xmlns:a16="http://schemas.microsoft.com/office/drawing/2014/main" id="{550C2CBE-D209-F43C-6FB6-0BC686166AE0}"/>
              </a:ext>
            </a:extLst>
          </p:cNvPr>
          <p:cNvSpPr/>
          <p:nvPr/>
        </p:nvSpPr>
        <p:spPr>
          <a:xfrm>
            <a:off x="10844784" y="4773167"/>
            <a:ext cx="548640" cy="420624"/>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400" b="1" i="0">
                <a:solidFill>
                  <a:srgbClr val="2B2F36"/>
                </a:solidFill>
                <a:latin typeface="Calibri"/>
              </a:rPr>
              <a:t>v′</a:t>
            </a:r>
          </a:p>
        </p:txBody>
      </p:sp>
      <p:sp>
        <p:nvSpPr>
          <p:cNvPr id="35" name="Rounded Rectangle 34">
            <a:extLst>
              <a:ext uri="{FF2B5EF4-FFF2-40B4-BE49-F238E27FC236}">
                <a16:creationId xmlns:a16="http://schemas.microsoft.com/office/drawing/2014/main" id="{105D72FE-E8A0-20F8-CCD5-3BAB6BB74576}"/>
              </a:ext>
            </a:extLst>
          </p:cNvPr>
          <p:cNvSpPr/>
          <p:nvPr/>
        </p:nvSpPr>
        <p:spPr>
          <a:xfrm>
            <a:off x="4636008" y="3099815"/>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dirty="0">
                <a:solidFill>
                  <a:srgbClr val="C9CDD3"/>
                </a:solidFill>
                <a:latin typeface="Calibri"/>
              </a:rPr>
              <a:t>AND</a:t>
            </a:r>
          </a:p>
        </p:txBody>
      </p:sp>
      <p:sp>
        <p:nvSpPr>
          <p:cNvPr id="36" name="TextBox 35">
            <a:extLst>
              <a:ext uri="{FF2B5EF4-FFF2-40B4-BE49-F238E27FC236}">
                <a16:creationId xmlns:a16="http://schemas.microsoft.com/office/drawing/2014/main" id="{6DE1E7AD-3B6C-9C08-D156-04A4FA38A934}"/>
              </a:ext>
            </a:extLst>
          </p:cNvPr>
          <p:cNvSpPr txBox="1"/>
          <p:nvPr/>
        </p:nvSpPr>
        <p:spPr>
          <a:xfrm>
            <a:off x="4626863" y="2834639"/>
            <a:ext cx="822960" cy="256032"/>
          </a:xfrm>
          <a:prstGeom prst="rect">
            <a:avLst/>
          </a:prstGeom>
          <a:noFill/>
        </p:spPr>
        <p:txBody>
          <a:bodyPr wrap="square" lIns="45720" tIns="27432" rIns="45720" bIns="27432" anchor="ctr">
            <a:spAutoFit/>
          </a:bodyPr>
          <a:lstStyle/>
          <a:p>
            <a:pPr algn="ctr"/>
            <a:r>
              <a:rPr sz="1300" b="1" i="0">
                <a:solidFill>
                  <a:srgbClr val="C9CDD3"/>
                </a:solidFill>
                <a:latin typeface="Calibri"/>
              </a:rPr>
              <a:t>a₁</a:t>
            </a:r>
          </a:p>
        </p:txBody>
      </p:sp>
      <p:sp>
        <p:nvSpPr>
          <p:cNvPr id="37" name="Rounded Rectangle 36">
            <a:extLst>
              <a:ext uri="{FF2B5EF4-FFF2-40B4-BE49-F238E27FC236}">
                <a16:creationId xmlns:a16="http://schemas.microsoft.com/office/drawing/2014/main" id="{161C7703-5F48-C76A-B767-3C85F93989D9}"/>
              </a:ext>
            </a:extLst>
          </p:cNvPr>
          <p:cNvSpPr/>
          <p:nvPr/>
        </p:nvSpPr>
        <p:spPr>
          <a:xfrm>
            <a:off x="5733287" y="3099815"/>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a:solidFill>
                  <a:srgbClr val="C9CDD3"/>
                </a:solidFill>
                <a:latin typeface="Calibri"/>
              </a:rPr>
              <a:t>AND</a:t>
            </a:r>
          </a:p>
        </p:txBody>
      </p:sp>
      <p:sp>
        <p:nvSpPr>
          <p:cNvPr id="38" name="TextBox 37">
            <a:extLst>
              <a:ext uri="{FF2B5EF4-FFF2-40B4-BE49-F238E27FC236}">
                <a16:creationId xmlns:a16="http://schemas.microsoft.com/office/drawing/2014/main" id="{750E3B20-2C7C-3192-30A5-3D4E3D56C6DF}"/>
              </a:ext>
            </a:extLst>
          </p:cNvPr>
          <p:cNvSpPr txBox="1"/>
          <p:nvPr/>
        </p:nvSpPr>
        <p:spPr>
          <a:xfrm>
            <a:off x="5724144" y="2834639"/>
            <a:ext cx="822960" cy="256032"/>
          </a:xfrm>
          <a:prstGeom prst="rect">
            <a:avLst/>
          </a:prstGeom>
          <a:noFill/>
        </p:spPr>
        <p:txBody>
          <a:bodyPr wrap="square" lIns="45720" tIns="27432" rIns="45720" bIns="27432" anchor="ctr">
            <a:spAutoFit/>
          </a:bodyPr>
          <a:lstStyle/>
          <a:p>
            <a:pPr algn="ctr"/>
            <a:r>
              <a:rPr sz="1300" b="1" i="0">
                <a:solidFill>
                  <a:srgbClr val="C9CDD3"/>
                </a:solidFill>
                <a:latin typeface="Calibri"/>
              </a:rPr>
              <a:t>a₂</a:t>
            </a:r>
          </a:p>
        </p:txBody>
      </p:sp>
      <p:sp>
        <p:nvSpPr>
          <p:cNvPr id="39" name="Rounded Rectangle 38">
            <a:extLst>
              <a:ext uri="{FF2B5EF4-FFF2-40B4-BE49-F238E27FC236}">
                <a16:creationId xmlns:a16="http://schemas.microsoft.com/office/drawing/2014/main" id="{DE273BDB-FF2A-6A0B-B3CE-EB3AEC71A117}"/>
              </a:ext>
            </a:extLst>
          </p:cNvPr>
          <p:cNvSpPr/>
          <p:nvPr/>
        </p:nvSpPr>
        <p:spPr>
          <a:xfrm>
            <a:off x="9070848" y="3099815"/>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a:solidFill>
                  <a:srgbClr val="C9CDD3"/>
                </a:solidFill>
                <a:latin typeface="Calibri"/>
              </a:rPr>
              <a:t>XOR</a:t>
            </a:r>
          </a:p>
        </p:txBody>
      </p:sp>
      <p:sp>
        <p:nvSpPr>
          <p:cNvPr id="40" name="TextBox 39">
            <a:extLst>
              <a:ext uri="{FF2B5EF4-FFF2-40B4-BE49-F238E27FC236}">
                <a16:creationId xmlns:a16="http://schemas.microsoft.com/office/drawing/2014/main" id="{45433A18-5DC4-4397-1B18-99EADFDA4C2A}"/>
              </a:ext>
            </a:extLst>
          </p:cNvPr>
          <p:cNvSpPr txBox="1"/>
          <p:nvPr/>
        </p:nvSpPr>
        <p:spPr>
          <a:xfrm>
            <a:off x="9061704" y="2834639"/>
            <a:ext cx="822960" cy="256032"/>
          </a:xfrm>
          <a:prstGeom prst="rect">
            <a:avLst/>
          </a:prstGeom>
          <a:noFill/>
        </p:spPr>
        <p:txBody>
          <a:bodyPr wrap="square" lIns="45720" tIns="27432" rIns="45720" bIns="27432" anchor="ctr">
            <a:spAutoFit/>
          </a:bodyPr>
          <a:lstStyle/>
          <a:p>
            <a:pPr algn="ctr"/>
            <a:r>
              <a:rPr sz="1300" b="1" i="0">
                <a:solidFill>
                  <a:srgbClr val="C9CDD3"/>
                </a:solidFill>
                <a:latin typeface="Calibri"/>
              </a:rPr>
              <a:t>x₁</a:t>
            </a:r>
          </a:p>
        </p:txBody>
      </p:sp>
      <p:sp>
        <p:nvSpPr>
          <p:cNvPr id="41" name="Rounded Rectangle 40">
            <a:extLst>
              <a:ext uri="{FF2B5EF4-FFF2-40B4-BE49-F238E27FC236}">
                <a16:creationId xmlns:a16="http://schemas.microsoft.com/office/drawing/2014/main" id="{0041A60B-DE37-3C27-023F-CAFAFD09E7FB}"/>
              </a:ext>
            </a:extLst>
          </p:cNvPr>
          <p:cNvSpPr/>
          <p:nvPr/>
        </p:nvSpPr>
        <p:spPr>
          <a:xfrm>
            <a:off x="10168128" y="3099815"/>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a:solidFill>
                  <a:srgbClr val="C9CDD3"/>
                </a:solidFill>
                <a:latin typeface="Calibri"/>
              </a:rPr>
              <a:t>XOR</a:t>
            </a:r>
          </a:p>
        </p:txBody>
      </p:sp>
      <p:sp>
        <p:nvSpPr>
          <p:cNvPr id="42" name="TextBox 41">
            <a:extLst>
              <a:ext uri="{FF2B5EF4-FFF2-40B4-BE49-F238E27FC236}">
                <a16:creationId xmlns:a16="http://schemas.microsoft.com/office/drawing/2014/main" id="{4E33BF83-E195-60C5-922E-2FA828282038}"/>
              </a:ext>
            </a:extLst>
          </p:cNvPr>
          <p:cNvSpPr txBox="1"/>
          <p:nvPr/>
        </p:nvSpPr>
        <p:spPr>
          <a:xfrm>
            <a:off x="10158984" y="2834639"/>
            <a:ext cx="822960" cy="256032"/>
          </a:xfrm>
          <a:prstGeom prst="rect">
            <a:avLst/>
          </a:prstGeom>
          <a:noFill/>
        </p:spPr>
        <p:txBody>
          <a:bodyPr wrap="square" lIns="45720" tIns="27432" rIns="45720" bIns="27432" anchor="ctr">
            <a:spAutoFit/>
          </a:bodyPr>
          <a:lstStyle/>
          <a:p>
            <a:pPr algn="ctr"/>
            <a:r>
              <a:rPr sz="1300" b="1" i="0">
                <a:solidFill>
                  <a:srgbClr val="C9CDD3"/>
                </a:solidFill>
                <a:latin typeface="Calibri"/>
              </a:rPr>
              <a:t>x₂</a:t>
            </a:r>
          </a:p>
        </p:txBody>
      </p:sp>
      <p:sp>
        <p:nvSpPr>
          <p:cNvPr id="43" name="Rounded Rectangle 42">
            <a:extLst>
              <a:ext uri="{FF2B5EF4-FFF2-40B4-BE49-F238E27FC236}">
                <a16:creationId xmlns:a16="http://schemas.microsoft.com/office/drawing/2014/main" id="{536B604A-2550-7570-9DD1-96414CDB90BE}"/>
              </a:ext>
            </a:extLst>
          </p:cNvPr>
          <p:cNvSpPr/>
          <p:nvPr/>
        </p:nvSpPr>
        <p:spPr>
          <a:xfrm>
            <a:off x="6876288" y="1499616"/>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a:solidFill>
                  <a:srgbClr val="C9CDD3"/>
                </a:solidFill>
                <a:latin typeface="Calibri"/>
              </a:rPr>
              <a:t>ITE</a:t>
            </a:r>
          </a:p>
        </p:txBody>
      </p:sp>
      <p:sp>
        <p:nvSpPr>
          <p:cNvPr id="44" name="TextBox 43">
            <a:extLst>
              <a:ext uri="{FF2B5EF4-FFF2-40B4-BE49-F238E27FC236}">
                <a16:creationId xmlns:a16="http://schemas.microsoft.com/office/drawing/2014/main" id="{387699AF-4E69-F86F-85C3-54299F51E1C9}"/>
              </a:ext>
            </a:extLst>
          </p:cNvPr>
          <p:cNvSpPr txBox="1"/>
          <p:nvPr/>
        </p:nvSpPr>
        <p:spPr>
          <a:xfrm>
            <a:off x="6547103" y="1645920"/>
            <a:ext cx="320040" cy="274320"/>
          </a:xfrm>
          <a:prstGeom prst="rect">
            <a:avLst/>
          </a:prstGeom>
          <a:noFill/>
        </p:spPr>
        <p:txBody>
          <a:bodyPr wrap="square" lIns="45720" tIns="27432" rIns="45720" bIns="27432" anchor="ctr">
            <a:spAutoFit/>
          </a:bodyPr>
          <a:lstStyle/>
          <a:p>
            <a:pPr algn="r"/>
            <a:r>
              <a:rPr sz="1300" b="1" i="0">
                <a:solidFill>
                  <a:srgbClr val="C9CDD3"/>
                </a:solidFill>
                <a:latin typeface="Calibri"/>
              </a:rPr>
              <a:t>m₁</a:t>
            </a:r>
          </a:p>
        </p:txBody>
      </p:sp>
      <p:sp>
        <p:nvSpPr>
          <p:cNvPr id="45" name="Rounded Rectangle 44">
            <a:extLst>
              <a:ext uri="{FF2B5EF4-FFF2-40B4-BE49-F238E27FC236}">
                <a16:creationId xmlns:a16="http://schemas.microsoft.com/office/drawing/2014/main" id="{91D4A0C0-EE47-3FE1-2C34-4579A0645228}"/>
              </a:ext>
            </a:extLst>
          </p:cNvPr>
          <p:cNvSpPr/>
          <p:nvPr/>
        </p:nvSpPr>
        <p:spPr>
          <a:xfrm>
            <a:off x="8202168" y="1499616"/>
            <a:ext cx="804672" cy="566928"/>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600" b="1" i="0">
                <a:solidFill>
                  <a:srgbClr val="C9CDD3"/>
                </a:solidFill>
                <a:latin typeface="Calibri"/>
              </a:rPr>
              <a:t>ITE</a:t>
            </a:r>
          </a:p>
        </p:txBody>
      </p:sp>
      <p:sp>
        <p:nvSpPr>
          <p:cNvPr id="46" name="TextBox 45">
            <a:extLst>
              <a:ext uri="{FF2B5EF4-FFF2-40B4-BE49-F238E27FC236}">
                <a16:creationId xmlns:a16="http://schemas.microsoft.com/office/drawing/2014/main" id="{C0333091-7562-58D6-D15A-1396B826D5B0}"/>
              </a:ext>
            </a:extLst>
          </p:cNvPr>
          <p:cNvSpPr txBox="1"/>
          <p:nvPr/>
        </p:nvSpPr>
        <p:spPr>
          <a:xfrm>
            <a:off x="9025128" y="1645920"/>
            <a:ext cx="320040" cy="274320"/>
          </a:xfrm>
          <a:prstGeom prst="rect">
            <a:avLst/>
          </a:prstGeom>
          <a:noFill/>
        </p:spPr>
        <p:txBody>
          <a:bodyPr wrap="square" lIns="45720" tIns="27432" rIns="45720" bIns="27432" anchor="ctr">
            <a:spAutoFit/>
          </a:bodyPr>
          <a:lstStyle/>
          <a:p>
            <a:pPr algn="l"/>
            <a:r>
              <a:rPr sz="1300" b="1" i="0">
                <a:solidFill>
                  <a:srgbClr val="C9CDD3"/>
                </a:solidFill>
                <a:latin typeface="Calibri"/>
              </a:rPr>
              <a:t>m₂</a:t>
            </a:r>
          </a:p>
        </p:txBody>
      </p:sp>
      <p:sp>
        <p:nvSpPr>
          <p:cNvPr id="47" name="TextBox 46">
            <a:extLst>
              <a:ext uri="{FF2B5EF4-FFF2-40B4-BE49-F238E27FC236}">
                <a16:creationId xmlns:a16="http://schemas.microsoft.com/office/drawing/2014/main" id="{56F8C43A-A6AA-24A6-3329-A8B440BBD803}"/>
              </a:ext>
            </a:extLst>
          </p:cNvPr>
          <p:cNvSpPr txBox="1"/>
          <p:nvPr/>
        </p:nvSpPr>
        <p:spPr>
          <a:xfrm>
            <a:off x="4489703" y="5522976"/>
            <a:ext cx="640080" cy="457200"/>
          </a:xfrm>
          <a:prstGeom prst="rect">
            <a:avLst/>
          </a:prstGeom>
          <a:noFill/>
        </p:spPr>
        <p:txBody>
          <a:bodyPr wrap="square" lIns="45720" tIns="27432" rIns="45720" bIns="27432" anchor="ctr">
            <a:spAutoFit/>
          </a:bodyPr>
          <a:lstStyle/>
          <a:p>
            <a:pPr algn="ctr"/>
            <a:r>
              <a:rPr sz="2400" b="1" i="0">
                <a:solidFill>
                  <a:srgbClr val="C8501E"/>
                </a:solidFill>
                <a:latin typeface="Calibri"/>
              </a:rPr>
              <a:t>∪</a:t>
            </a:r>
          </a:p>
        </p:txBody>
      </p:sp>
      <p:sp>
        <p:nvSpPr>
          <p:cNvPr id="48" name="TextBox 47">
            <a:extLst>
              <a:ext uri="{FF2B5EF4-FFF2-40B4-BE49-F238E27FC236}">
                <a16:creationId xmlns:a16="http://schemas.microsoft.com/office/drawing/2014/main" id="{DEF27248-941A-CFF7-7846-FE719AA824BC}"/>
              </a:ext>
            </a:extLst>
          </p:cNvPr>
          <p:cNvSpPr txBox="1"/>
          <p:nvPr/>
        </p:nvSpPr>
        <p:spPr>
          <a:xfrm>
            <a:off x="5989320" y="5522976"/>
            <a:ext cx="640080" cy="457200"/>
          </a:xfrm>
          <a:prstGeom prst="rect">
            <a:avLst/>
          </a:prstGeom>
          <a:noFill/>
        </p:spPr>
        <p:txBody>
          <a:bodyPr wrap="square" lIns="45720" tIns="27432" rIns="45720" bIns="27432" anchor="ctr">
            <a:spAutoFit/>
          </a:bodyPr>
          <a:lstStyle/>
          <a:p>
            <a:pPr algn="ctr"/>
            <a:r>
              <a:rPr sz="2400" b="1" i="0">
                <a:solidFill>
                  <a:srgbClr val="C8501E"/>
                </a:solidFill>
                <a:latin typeface="Calibri"/>
              </a:rPr>
              <a:t>∪</a:t>
            </a:r>
          </a:p>
        </p:txBody>
      </p:sp>
      <p:sp>
        <p:nvSpPr>
          <p:cNvPr id="49" name="TextBox 48">
            <a:extLst>
              <a:ext uri="{FF2B5EF4-FFF2-40B4-BE49-F238E27FC236}">
                <a16:creationId xmlns:a16="http://schemas.microsoft.com/office/drawing/2014/main" id="{AF11687A-24AF-0DA9-70DC-5108F86B0C28}"/>
              </a:ext>
            </a:extLst>
          </p:cNvPr>
          <p:cNvSpPr txBox="1"/>
          <p:nvPr/>
        </p:nvSpPr>
        <p:spPr>
          <a:xfrm>
            <a:off x="7488936" y="5522976"/>
            <a:ext cx="640080" cy="457200"/>
          </a:xfrm>
          <a:prstGeom prst="rect">
            <a:avLst/>
          </a:prstGeom>
          <a:noFill/>
        </p:spPr>
        <p:txBody>
          <a:bodyPr wrap="square" lIns="45720" tIns="27432" rIns="45720" bIns="27432" anchor="ctr">
            <a:spAutoFit/>
          </a:bodyPr>
          <a:lstStyle/>
          <a:p>
            <a:pPr algn="ctr"/>
            <a:r>
              <a:rPr sz="2400" b="1" i="0">
                <a:solidFill>
                  <a:srgbClr val="C8501E"/>
                </a:solidFill>
                <a:latin typeface="Calibri"/>
              </a:rPr>
              <a:t>∪</a:t>
            </a:r>
          </a:p>
        </p:txBody>
      </p:sp>
      <p:sp>
        <p:nvSpPr>
          <p:cNvPr id="50" name="TextBox 49">
            <a:extLst>
              <a:ext uri="{FF2B5EF4-FFF2-40B4-BE49-F238E27FC236}">
                <a16:creationId xmlns:a16="http://schemas.microsoft.com/office/drawing/2014/main" id="{B8821691-F08C-65F3-219B-2414C5E8765B}"/>
              </a:ext>
            </a:extLst>
          </p:cNvPr>
          <p:cNvSpPr txBox="1"/>
          <p:nvPr/>
        </p:nvSpPr>
        <p:spPr>
          <a:xfrm>
            <a:off x="8988552" y="5522976"/>
            <a:ext cx="640080" cy="457200"/>
          </a:xfrm>
          <a:prstGeom prst="rect">
            <a:avLst/>
          </a:prstGeom>
          <a:noFill/>
        </p:spPr>
        <p:txBody>
          <a:bodyPr wrap="square" lIns="45720" tIns="27432" rIns="45720" bIns="27432" anchor="ctr">
            <a:spAutoFit/>
          </a:bodyPr>
          <a:lstStyle/>
          <a:p>
            <a:pPr algn="ctr"/>
            <a:r>
              <a:rPr sz="2400" b="1" i="0">
                <a:solidFill>
                  <a:srgbClr val="C8501E"/>
                </a:solidFill>
                <a:latin typeface="Calibri"/>
              </a:rPr>
              <a:t>∪</a:t>
            </a:r>
          </a:p>
        </p:txBody>
      </p:sp>
      <p:sp>
        <p:nvSpPr>
          <p:cNvPr id="51" name="TextBox 50">
            <a:extLst>
              <a:ext uri="{FF2B5EF4-FFF2-40B4-BE49-F238E27FC236}">
                <a16:creationId xmlns:a16="http://schemas.microsoft.com/office/drawing/2014/main" id="{25EC1077-9AEF-12E9-6D69-968381E60396}"/>
              </a:ext>
            </a:extLst>
          </p:cNvPr>
          <p:cNvSpPr txBox="1"/>
          <p:nvPr/>
        </p:nvSpPr>
        <p:spPr>
          <a:xfrm>
            <a:off x="10488168" y="5522976"/>
            <a:ext cx="640080" cy="457200"/>
          </a:xfrm>
          <a:prstGeom prst="rect">
            <a:avLst/>
          </a:prstGeom>
          <a:noFill/>
        </p:spPr>
        <p:txBody>
          <a:bodyPr wrap="square" lIns="45720" tIns="27432" rIns="45720" bIns="27432" anchor="ctr">
            <a:spAutoFit/>
          </a:bodyPr>
          <a:lstStyle/>
          <a:p>
            <a:pPr algn="ctr"/>
            <a:r>
              <a:rPr sz="2400" b="1" i="0">
                <a:solidFill>
                  <a:srgbClr val="C8501E"/>
                </a:solidFill>
                <a:latin typeface="Calibri"/>
              </a:rPr>
              <a:t>∪</a:t>
            </a:r>
          </a:p>
        </p:txBody>
      </p:sp>
      <p:sp>
        <p:nvSpPr>
          <p:cNvPr id="55" name="FilterCC dirty tag 55">
            <a:extLst>
              <a:ext uri="{FF2B5EF4-FFF2-40B4-BE49-F238E27FC236}">
                <a16:creationId xmlns:a16="http://schemas.microsoft.com/office/drawing/2014/main" id="{3D65634E-0746-DC07-05CA-08B627784B01}"/>
              </a:ext>
            </a:extLst>
          </p:cNvPr>
          <p:cNvSpPr/>
          <p:nvPr/>
        </p:nvSpPr>
        <p:spPr>
          <a:xfrm>
            <a:off x="5038344" y="5202936"/>
            <a:ext cx="512064" cy="237744"/>
          </a:xfrm>
          <a:prstGeom prst="roundRect">
            <a:avLst>
              <a:gd name="adj" fmla="val 50000"/>
            </a:avLst>
          </a:prstGeom>
          <a:solidFill>
            <a:srgbClr val="FFFFFF"/>
          </a:solidFill>
          <a:ln w="15875">
            <a:solidFill>
              <a:srgbClr val="C8501E"/>
            </a:solidFill>
          </a:ln>
          <a:effectLst/>
        </p:spPr>
        <p:txBody>
          <a:bodyPr wrap="square" lIns="27432" tIns="0" rIns="27432" bIns="0" rtlCol="0" anchor="ctr"/>
          <a:lstStyle/>
          <a:p>
            <a:pPr algn="ctr"/>
            <a:r>
              <a:rPr sz="950" b="1" i="0">
                <a:solidFill>
                  <a:srgbClr val="C8501E"/>
                </a:solidFill>
                <a:latin typeface="Calibri"/>
              </a:rPr>
              <a:t>dirty</a:t>
            </a:r>
          </a:p>
        </p:txBody>
      </p:sp>
      <p:sp>
        <p:nvSpPr>
          <p:cNvPr id="56" name="FilterCC dirty tag 56">
            <a:extLst>
              <a:ext uri="{FF2B5EF4-FFF2-40B4-BE49-F238E27FC236}">
                <a16:creationId xmlns:a16="http://schemas.microsoft.com/office/drawing/2014/main" id="{1727D2B0-F25B-F614-52A3-70B473D230D5}"/>
              </a:ext>
            </a:extLst>
          </p:cNvPr>
          <p:cNvSpPr/>
          <p:nvPr/>
        </p:nvSpPr>
        <p:spPr>
          <a:xfrm>
            <a:off x="6537959" y="5202936"/>
            <a:ext cx="512064" cy="237744"/>
          </a:xfrm>
          <a:prstGeom prst="roundRect">
            <a:avLst>
              <a:gd name="adj" fmla="val 50000"/>
            </a:avLst>
          </a:prstGeom>
          <a:solidFill>
            <a:srgbClr val="FFFFFF"/>
          </a:solidFill>
          <a:ln w="15875">
            <a:solidFill>
              <a:srgbClr val="C8501E"/>
            </a:solidFill>
          </a:ln>
          <a:effectLst/>
        </p:spPr>
        <p:txBody>
          <a:bodyPr wrap="square" lIns="27432" tIns="0" rIns="27432" bIns="0" rtlCol="0" anchor="ctr"/>
          <a:lstStyle/>
          <a:p>
            <a:pPr algn="ctr"/>
            <a:r>
              <a:rPr sz="950" b="1" i="0">
                <a:solidFill>
                  <a:srgbClr val="C8501E"/>
                </a:solidFill>
                <a:latin typeface="Calibri"/>
              </a:rPr>
              <a:t>dirty</a:t>
            </a:r>
          </a:p>
        </p:txBody>
      </p:sp>
      <p:sp>
        <p:nvSpPr>
          <p:cNvPr id="57" name="FilterCC dirty tag 57">
            <a:extLst>
              <a:ext uri="{FF2B5EF4-FFF2-40B4-BE49-F238E27FC236}">
                <a16:creationId xmlns:a16="http://schemas.microsoft.com/office/drawing/2014/main" id="{18788E92-AC1D-B35E-4375-1F3FA5586ABA}"/>
              </a:ext>
            </a:extLst>
          </p:cNvPr>
          <p:cNvSpPr/>
          <p:nvPr/>
        </p:nvSpPr>
        <p:spPr>
          <a:xfrm>
            <a:off x="8037575" y="5202936"/>
            <a:ext cx="512064" cy="237744"/>
          </a:xfrm>
          <a:prstGeom prst="roundRect">
            <a:avLst>
              <a:gd name="adj" fmla="val 50000"/>
            </a:avLst>
          </a:prstGeom>
          <a:solidFill>
            <a:srgbClr val="FFFFFF"/>
          </a:solidFill>
          <a:ln w="15875">
            <a:solidFill>
              <a:srgbClr val="C8501E"/>
            </a:solidFill>
          </a:ln>
          <a:effectLst/>
        </p:spPr>
        <p:txBody>
          <a:bodyPr wrap="square" lIns="27432" tIns="0" rIns="27432" bIns="0" rtlCol="0" anchor="ctr"/>
          <a:lstStyle/>
          <a:p>
            <a:pPr algn="ctr"/>
            <a:r>
              <a:rPr sz="950" b="1" i="0">
                <a:solidFill>
                  <a:srgbClr val="C8501E"/>
                </a:solidFill>
                <a:latin typeface="Calibri"/>
              </a:rPr>
              <a:t>dirty</a:t>
            </a:r>
          </a:p>
        </p:txBody>
      </p:sp>
      <p:sp>
        <p:nvSpPr>
          <p:cNvPr id="58" name="FilterCC dirty tag 58">
            <a:extLst>
              <a:ext uri="{FF2B5EF4-FFF2-40B4-BE49-F238E27FC236}">
                <a16:creationId xmlns:a16="http://schemas.microsoft.com/office/drawing/2014/main" id="{30CD090E-D1AF-2EBC-5A5F-8F64CA4019D8}"/>
              </a:ext>
            </a:extLst>
          </p:cNvPr>
          <p:cNvSpPr/>
          <p:nvPr/>
        </p:nvSpPr>
        <p:spPr>
          <a:xfrm>
            <a:off x="9537191" y="5202936"/>
            <a:ext cx="512064" cy="237744"/>
          </a:xfrm>
          <a:prstGeom prst="roundRect">
            <a:avLst>
              <a:gd name="adj" fmla="val 50000"/>
            </a:avLst>
          </a:prstGeom>
          <a:solidFill>
            <a:srgbClr val="FFFFFF"/>
          </a:solidFill>
          <a:ln w="15875">
            <a:solidFill>
              <a:srgbClr val="C8501E"/>
            </a:solidFill>
          </a:ln>
          <a:effectLst/>
        </p:spPr>
        <p:txBody>
          <a:bodyPr wrap="square" lIns="27432" tIns="0" rIns="27432" bIns="0" rtlCol="0" anchor="ctr"/>
          <a:lstStyle/>
          <a:p>
            <a:pPr algn="ctr"/>
            <a:r>
              <a:rPr sz="950" b="1" i="0">
                <a:solidFill>
                  <a:srgbClr val="C8501E"/>
                </a:solidFill>
                <a:latin typeface="Calibri"/>
              </a:rPr>
              <a:t>dirty</a:t>
            </a:r>
          </a:p>
        </p:txBody>
      </p:sp>
      <p:sp>
        <p:nvSpPr>
          <p:cNvPr id="59" name="FilterCC dirty tag 59">
            <a:extLst>
              <a:ext uri="{FF2B5EF4-FFF2-40B4-BE49-F238E27FC236}">
                <a16:creationId xmlns:a16="http://schemas.microsoft.com/office/drawing/2014/main" id="{6E28C3C2-02A7-4BA1-A30D-1B3D45EC19E9}"/>
              </a:ext>
            </a:extLst>
          </p:cNvPr>
          <p:cNvSpPr/>
          <p:nvPr/>
        </p:nvSpPr>
        <p:spPr>
          <a:xfrm>
            <a:off x="11036808" y="5202936"/>
            <a:ext cx="512064" cy="237744"/>
          </a:xfrm>
          <a:prstGeom prst="roundRect">
            <a:avLst>
              <a:gd name="adj" fmla="val 50000"/>
            </a:avLst>
          </a:prstGeom>
          <a:solidFill>
            <a:srgbClr val="FFFFFF"/>
          </a:solidFill>
          <a:ln w="15875">
            <a:solidFill>
              <a:srgbClr val="C8501E"/>
            </a:solidFill>
          </a:ln>
          <a:effectLst/>
        </p:spPr>
        <p:txBody>
          <a:bodyPr wrap="square" lIns="27432" tIns="0" rIns="27432" bIns="0" rtlCol="0" anchor="ctr"/>
          <a:lstStyle/>
          <a:p>
            <a:pPr algn="ctr"/>
            <a:r>
              <a:rPr sz="950" b="1" i="0">
                <a:solidFill>
                  <a:srgbClr val="C8501E"/>
                </a:solidFill>
                <a:latin typeface="Calibri"/>
              </a:rPr>
              <a:t>dirty</a:t>
            </a:r>
          </a:p>
        </p:txBody>
      </p:sp>
      <p:sp>
        <p:nvSpPr>
          <p:cNvPr id="60" name="FilterCC persistent bullets">
            <a:extLst>
              <a:ext uri="{FF2B5EF4-FFF2-40B4-BE49-F238E27FC236}">
                <a16:creationId xmlns:a16="http://schemas.microsoft.com/office/drawing/2014/main" id="{D6E8B7CA-5EC8-82A2-7AFF-CE5F4C6B5C14}"/>
              </a:ext>
            </a:extLst>
          </p:cNvPr>
          <p:cNvSpPr txBox="1"/>
          <p:nvPr/>
        </p:nvSpPr>
        <p:spPr>
          <a:xfrm>
            <a:off x="344036" y="1346215"/>
            <a:ext cx="3810763" cy="3924151"/>
          </a:xfrm>
          <a:prstGeom prst="rect">
            <a:avLst/>
          </a:prstGeom>
          <a:noFill/>
        </p:spPr>
        <p:txBody>
          <a:bodyPr wrap="square" lIns="45720" rIns="45720">
            <a:spAutoFit/>
          </a:bodyPr>
          <a:lstStyle/>
          <a:p>
            <a:pPr marL="274320" indent="-237744">
              <a:spcBef>
                <a:spcPts val="1000"/>
              </a:spcBef>
              <a:buClr>
                <a:srgbClr val="6B717A"/>
              </a:buClr>
              <a:buChar char="•"/>
            </a:pPr>
            <a:r>
              <a:rPr lang="en-US" sz="2800" b="1" i="0" dirty="0">
                <a:solidFill>
                  <a:srgbClr val="C00000"/>
                </a:solidFill>
              </a:rPr>
              <a:t>a merge marks its classes dirty</a:t>
            </a:r>
          </a:p>
        </p:txBody>
      </p:sp>
    </p:spTree>
    <p:extLst>
      <p:ext uri="{BB962C8B-B14F-4D97-AF65-F5344CB8AC3E}">
        <p14:creationId xmlns:p14="http://schemas.microsoft.com/office/powerpoint/2010/main" val="426170544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8160" y="509563"/>
            <a:ext cx="11155680" cy="517065"/>
          </a:xfrm>
          <a:prstGeom prst="rect">
            <a:avLst/>
          </a:prstGeom>
          <a:noFill/>
        </p:spPr>
        <p:txBody>
          <a:bodyPr wrap="square" lIns="45720" tIns="27432" rIns="45720" bIns="27432" anchor="ctr">
            <a:spAutoFit/>
          </a:bodyPr>
          <a:lstStyle/>
          <a:p>
            <a:r>
              <a:rPr lang="en-US" sz="3000" b="1" dirty="0">
                <a:solidFill>
                  <a:srgbClr val="1F2A44"/>
                </a:solidFill>
              </a:rPr>
              <a:t>Our second algorithm: </a:t>
            </a:r>
            <a:r>
              <a:rPr sz="3000" b="1" i="0" dirty="0" err="1">
                <a:solidFill>
                  <a:srgbClr val="1F2A44"/>
                </a:solidFill>
                <a:latin typeface="Calibri"/>
              </a:rPr>
              <a:t>FilterCC</a:t>
            </a:r>
            <a:r>
              <a:rPr sz="3000" b="1" i="0" dirty="0">
                <a:solidFill>
                  <a:srgbClr val="1F2A44"/>
                </a:solidFill>
                <a:latin typeface="Calibri"/>
              </a:rPr>
              <a:t> on the example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54</a:t>
            </a:r>
          </a:p>
        </p:txBody>
      </p:sp>
      <p:sp>
        <p:nvSpPr>
          <p:cNvPr id="6" name="Rounded Rectangle 5"/>
          <p:cNvSpPr/>
          <p:nvPr/>
        </p:nvSpPr>
        <p:spPr>
          <a:xfrm>
            <a:off x="4105656" y="465429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p:cNvSpPr/>
          <p:nvPr/>
        </p:nvSpPr>
        <p:spPr>
          <a:xfrm>
            <a:off x="5605271" y="465429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p:cNvSpPr/>
          <p:nvPr/>
        </p:nvSpPr>
        <p:spPr>
          <a:xfrm>
            <a:off x="7104888" y="465429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p:cNvSpPr/>
          <p:nvPr/>
        </p:nvSpPr>
        <p:spPr>
          <a:xfrm>
            <a:off x="8604504" y="465429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p:cNvSpPr/>
          <p:nvPr/>
        </p:nvSpPr>
        <p:spPr>
          <a:xfrm>
            <a:off x="10104120" y="465429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cxnSp>
        <p:nvCxnSpPr>
          <p:cNvPr id="11" name="Connector 10"/>
          <p:cNvCxnSpPr/>
          <p:nvPr/>
        </p:nvCxnSpPr>
        <p:spPr>
          <a:xfrm flipH="1">
            <a:off x="4498848" y="3666743"/>
            <a:ext cx="539496" cy="1106425"/>
          </a:xfrm>
          <a:prstGeom prst="line">
            <a:avLst/>
          </a:prstGeom>
          <a:ln w="15875">
            <a:solidFill>
              <a:srgbClr val="C9CDD3"/>
            </a:solidFill>
          </a:ln>
          <a:effectLst/>
        </p:spPr>
      </p:cxnSp>
      <p:cxnSp>
        <p:nvCxnSpPr>
          <p:cNvPr id="12" name="Connector 11"/>
          <p:cNvCxnSpPr/>
          <p:nvPr/>
        </p:nvCxnSpPr>
        <p:spPr>
          <a:xfrm>
            <a:off x="5038344" y="3666743"/>
            <a:ext cx="960120" cy="1106425"/>
          </a:xfrm>
          <a:prstGeom prst="line">
            <a:avLst/>
          </a:prstGeom>
          <a:ln w="15875">
            <a:solidFill>
              <a:srgbClr val="C9CDD3"/>
            </a:solidFill>
          </a:ln>
          <a:effectLst/>
        </p:spPr>
      </p:cxnSp>
      <p:cxnSp>
        <p:nvCxnSpPr>
          <p:cNvPr id="13" name="Connector 12"/>
          <p:cNvCxnSpPr/>
          <p:nvPr/>
        </p:nvCxnSpPr>
        <p:spPr>
          <a:xfrm flipH="1">
            <a:off x="5120639" y="3666743"/>
            <a:ext cx="1014985" cy="1106425"/>
          </a:xfrm>
          <a:prstGeom prst="line">
            <a:avLst/>
          </a:prstGeom>
          <a:ln w="15875">
            <a:solidFill>
              <a:srgbClr val="C9CDD3"/>
            </a:solidFill>
          </a:ln>
          <a:effectLst/>
        </p:spPr>
      </p:cxnSp>
      <p:cxnSp>
        <p:nvCxnSpPr>
          <p:cNvPr id="14" name="Connector 13"/>
          <p:cNvCxnSpPr/>
          <p:nvPr/>
        </p:nvCxnSpPr>
        <p:spPr>
          <a:xfrm>
            <a:off x="6135624" y="3666743"/>
            <a:ext cx="484632" cy="1106425"/>
          </a:xfrm>
          <a:prstGeom prst="line">
            <a:avLst/>
          </a:prstGeom>
          <a:ln w="15875">
            <a:solidFill>
              <a:srgbClr val="C9CDD3"/>
            </a:solidFill>
          </a:ln>
          <a:effectLst/>
        </p:spPr>
      </p:cxnSp>
      <p:cxnSp>
        <p:nvCxnSpPr>
          <p:cNvPr id="15" name="Connector 14"/>
          <p:cNvCxnSpPr/>
          <p:nvPr/>
        </p:nvCxnSpPr>
        <p:spPr>
          <a:xfrm flipH="1">
            <a:off x="8997696" y="3666743"/>
            <a:ext cx="475487" cy="1106425"/>
          </a:xfrm>
          <a:prstGeom prst="line">
            <a:avLst/>
          </a:prstGeom>
          <a:ln w="15875">
            <a:solidFill>
              <a:srgbClr val="C9CDD3"/>
            </a:solidFill>
          </a:ln>
          <a:effectLst/>
        </p:spPr>
      </p:cxnSp>
      <p:cxnSp>
        <p:nvCxnSpPr>
          <p:cNvPr id="16" name="Connector 15"/>
          <p:cNvCxnSpPr/>
          <p:nvPr/>
        </p:nvCxnSpPr>
        <p:spPr>
          <a:xfrm>
            <a:off x="9473183" y="3666743"/>
            <a:ext cx="1024129" cy="1106425"/>
          </a:xfrm>
          <a:prstGeom prst="line">
            <a:avLst/>
          </a:prstGeom>
          <a:ln w="15875">
            <a:solidFill>
              <a:srgbClr val="C9CDD3"/>
            </a:solidFill>
          </a:ln>
          <a:effectLst/>
        </p:spPr>
      </p:cxnSp>
      <p:cxnSp>
        <p:nvCxnSpPr>
          <p:cNvPr id="17" name="Connector 16"/>
          <p:cNvCxnSpPr/>
          <p:nvPr/>
        </p:nvCxnSpPr>
        <p:spPr>
          <a:xfrm flipH="1">
            <a:off x="9619488" y="3666743"/>
            <a:ext cx="950975" cy="1106425"/>
          </a:xfrm>
          <a:prstGeom prst="line">
            <a:avLst/>
          </a:prstGeom>
          <a:ln w="15875">
            <a:solidFill>
              <a:srgbClr val="C9CDD3"/>
            </a:solidFill>
          </a:ln>
          <a:effectLst/>
        </p:spPr>
      </p:cxnSp>
      <p:cxnSp>
        <p:nvCxnSpPr>
          <p:cNvPr id="18" name="Connector 17"/>
          <p:cNvCxnSpPr/>
          <p:nvPr/>
        </p:nvCxnSpPr>
        <p:spPr>
          <a:xfrm>
            <a:off x="10570463" y="3666743"/>
            <a:ext cx="548641" cy="1106425"/>
          </a:xfrm>
          <a:prstGeom prst="line">
            <a:avLst/>
          </a:prstGeom>
          <a:ln w="15875">
            <a:solidFill>
              <a:srgbClr val="C9CDD3"/>
            </a:solidFill>
          </a:ln>
          <a:effectLst/>
        </p:spPr>
      </p:cxnSp>
      <p:cxnSp>
        <p:nvCxnSpPr>
          <p:cNvPr id="19" name="Connector 18"/>
          <p:cNvCxnSpPr/>
          <p:nvPr/>
        </p:nvCxnSpPr>
        <p:spPr>
          <a:xfrm>
            <a:off x="7278624" y="2066544"/>
            <a:ext cx="219455" cy="2706624"/>
          </a:xfrm>
          <a:prstGeom prst="line">
            <a:avLst/>
          </a:prstGeom>
          <a:ln w="15875">
            <a:solidFill>
              <a:srgbClr val="C9CDD3"/>
            </a:solidFill>
          </a:ln>
          <a:effectLst/>
        </p:spPr>
      </p:cxnSp>
      <p:cxnSp>
        <p:nvCxnSpPr>
          <p:cNvPr id="20" name="Connector 19"/>
          <p:cNvCxnSpPr/>
          <p:nvPr/>
        </p:nvCxnSpPr>
        <p:spPr>
          <a:xfrm flipH="1">
            <a:off x="5038344" y="2066544"/>
            <a:ext cx="2240280" cy="749807"/>
          </a:xfrm>
          <a:prstGeom prst="line">
            <a:avLst/>
          </a:prstGeom>
          <a:ln w="15875">
            <a:solidFill>
              <a:srgbClr val="8A8F98"/>
            </a:solidFill>
          </a:ln>
          <a:effectLst/>
        </p:spPr>
      </p:cxnSp>
      <p:cxnSp>
        <p:nvCxnSpPr>
          <p:cNvPr id="21" name="Connector 20"/>
          <p:cNvCxnSpPr/>
          <p:nvPr/>
        </p:nvCxnSpPr>
        <p:spPr>
          <a:xfrm>
            <a:off x="7278624" y="2066544"/>
            <a:ext cx="2194559" cy="749807"/>
          </a:xfrm>
          <a:prstGeom prst="line">
            <a:avLst/>
          </a:prstGeom>
          <a:ln w="15875">
            <a:solidFill>
              <a:srgbClr val="8A8F98"/>
            </a:solidFill>
          </a:ln>
          <a:effectLst/>
        </p:spPr>
      </p:cxnSp>
      <p:cxnSp>
        <p:nvCxnSpPr>
          <p:cNvPr id="22" name="Connector 21"/>
          <p:cNvCxnSpPr/>
          <p:nvPr/>
        </p:nvCxnSpPr>
        <p:spPr>
          <a:xfrm flipH="1">
            <a:off x="8119872" y="2066544"/>
            <a:ext cx="484632" cy="2706624"/>
          </a:xfrm>
          <a:prstGeom prst="line">
            <a:avLst/>
          </a:prstGeom>
          <a:ln w="15875">
            <a:solidFill>
              <a:srgbClr val="C9CDD3"/>
            </a:solidFill>
          </a:ln>
          <a:effectLst/>
        </p:spPr>
      </p:cxnSp>
      <p:cxnSp>
        <p:nvCxnSpPr>
          <p:cNvPr id="23" name="Connector 22"/>
          <p:cNvCxnSpPr/>
          <p:nvPr/>
        </p:nvCxnSpPr>
        <p:spPr>
          <a:xfrm flipH="1">
            <a:off x="6135624" y="2066544"/>
            <a:ext cx="2468880" cy="749807"/>
          </a:xfrm>
          <a:prstGeom prst="line">
            <a:avLst/>
          </a:prstGeom>
          <a:ln w="15875">
            <a:solidFill>
              <a:srgbClr val="8A8F98"/>
            </a:solidFill>
          </a:ln>
          <a:effectLst/>
        </p:spPr>
      </p:cxnSp>
      <p:cxnSp>
        <p:nvCxnSpPr>
          <p:cNvPr id="24" name="Connector 23"/>
          <p:cNvCxnSpPr/>
          <p:nvPr/>
        </p:nvCxnSpPr>
        <p:spPr>
          <a:xfrm>
            <a:off x="8604504" y="2066544"/>
            <a:ext cx="1965959" cy="749807"/>
          </a:xfrm>
          <a:prstGeom prst="line">
            <a:avLst/>
          </a:prstGeom>
          <a:ln w="15875">
            <a:solidFill>
              <a:srgbClr val="8A8F98"/>
            </a:solidFill>
          </a:ln>
          <a:effectLst/>
        </p:spPr>
      </p:cxnSp>
      <p:sp>
        <p:nvSpPr>
          <p:cNvPr id="25" name="Rounded Rectangle 24"/>
          <p:cNvSpPr/>
          <p:nvPr/>
        </p:nvSpPr>
        <p:spPr>
          <a:xfrm>
            <a:off x="4224528"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r</a:t>
            </a:r>
          </a:p>
        </p:txBody>
      </p:sp>
      <p:sp>
        <p:nvSpPr>
          <p:cNvPr id="26" name="Rounded Rectangle 25"/>
          <p:cNvSpPr/>
          <p:nvPr/>
        </p:nvSpPr>
        <p:spPr>
          <a:xfrm>
            <a:off x="4846320"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r′</a:t>
            </a:r>
          </a:p>
        </p:txBody>
      </p:sp>
      <p:sp>
        <p:nvSpPr>
          <p:cNvPr id="27" name="Rounded Rectangle 26"/>
          <p:cNvSpPr/>
          <p:nvPr/>
        </p:nvSpPr>
        <p:spPr>
          <a:xfrm>
            <a:off x="5724144"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s</a:t>
            </a:r>
          </a:p>
        </p:txBody>
      </p:sp>
      <p:sp>
        <p:nvSpPr>
          <p:cNvPr id="28" name="Rounded Rectangle 27"/>
          <p:cNvSpPr/>
          <p:nvPr/>
        </p:nvSpPr>
        <p:spPr>
          <a:xfrm>
            <a:off x="6345936"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s′</a:t>
            </a:r>
          </a:p>
        </p:txBody>
      </p:sp>
      <p:sp>
        <p:nvSpPr>
          <p:cNvPr id="29" name="Rounded Rectangle 28"/>
          <p:cNvSpPr/>
          <p:nvPr/>
        </p:nvSpPr>
        <p:spPr>
          <a:xfrm>
            <a:off x="7223759"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c</a:t>
            </a:r>
          </a:p>
        </p:txBody>
      </p:sp>
      <p:sp>
        <p:nvSpPr>
          <p:cNvPr id="30" name="Rounded Rectangle 29"/>
          <p:cNvSpPr/>
          <p:nvPr/>
        </p:nvSpPr>
        <p:spPr>
          <a:xfrm>
            <a:off x="7845552"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c′</a:t>
            </a:r>
          </a:p>
        </p:txBody>
      </p:sp>
      <p:sp>
        <p:nvSpPr>
          <p:cNvPr id="31" name="Rounded Rectangle 30"/>
          <p:cNvSpPr/>
          <p:nvPr/>
        </p:nvSpPr>
        <p:spPr>
          <a:xfrm>
            <a:off x="8723376"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u</a:t>
            </a:r>
          </a:p>
        </p:txBody>
      </p:sp>
      <p:sp>
        <p:nvSpPr>
          <p:cNvPr id="32" name="Rounded Rectangle 31"/>
          <p:cNvSpPr/>
          <p:nvPr/>
        </p:nvSpPr>
        <p:spPr>
          <a:xfrm>
            <a:off x="9345167"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u′</a:t>
            </a:r>
          </a:p>
        </p:txBody>
      </p:sp>
      <p:sp>
        <p:nvSpPr>
          <p:cNvPr id="33" name="Rounded Rectangle 32"/>
          <p:cNvSpPr/>
          <p:nvPr/>
        </p:nvSpPr>
        <p:spPr>
          <a:xfrm>
            <a:off x="10222992"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v</a:t>
            </a:r>
          </a:p>
        </p:txBody>
      </p:sp>
      <p:sp>
        <p:nvSpPr>
          <p:cNvPr id="34" name="Rounded Rectangle 33"/>
          <p:cNvSpPr/>
          <p:nvPr/>
        </p:nvSpPr>
        <p:spPr>
          <a:xfrm>
            <a:off x="10844784"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v′</a:t>
            </a:r>
          </a:p>
        </p:txBody>
      </p:sp>
      <p:sp>
        <p:nvSpPr>
          <p:cNvPr id="35" name="Rounded Rectangle 34"/>
          <p:cNvSpPr/>
          <p:nvPr/>
        </p:nvSpPr>
        <p:spPr>
          <a:xfrm>
            <a:off x="4636008" y="3099815"/>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AND</a:t>
            </a:r>
          </a:p>
        </p:txBody>
      </p:sp>
      <p:sp>
        <p:nvSpPr>
          <p:cNvPr id="36" name="TextBox 35"/>
          <p:cNvSpPr txBox="1"/>
          <p:nvPr/>
        </p:nvSpPr>
        <p:spPr>
          <a:xfrm>
            <a:off x="4626863" y="283463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a₁</a:t>
            </a:r>
          </a:p>
        </p:txBody>
      </p:sp>
      <p:sp>
        <p:nvSpPr>
          <p:cNvPr id="37" name="Rounded Rectangle 36"/>
          <p:cNvSpPr/>
          <p:nvPr/>
        </p:nvSpPr>
        <p:spPr>
          <a:xfrm>
            <a:off x="5733287" y="3099815"/>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AND</a:t>
            </a:r>
          </a:p>
        </p:txBody>
      </p:sp>
      <p:sp>
        <p:nvSpPr>
          <p:cNvPr id="38" name="TextBox 37"/>
          <p:cNvSpPr txBox="1"/>
          <p:nvPr/>
        </p:nvSpPr>
        <p:spPr>
          <a:xfrm>
            <a:off x="5724144" y="283463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39" name="Rounded Rectangle 38"/>
          <p:cNvSpPr/>
          <p:nvPr/>
        </p:nvSpPr>
        <p:spPr>
          <a:xfrm>
            <a:off x="9070848" y="3099815"/>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XOR</a:t>
            </a:r>
          </a:p>
        </p:txBody>
      </p:sp>
      <p:sp>
        <p:nvSpPr>
          <p:cNvPr id="40" name="TextBox 39"/>
          <p:cNvSpPr txBox="1"/>
          <p:nvPr/>
        </p:nvSpPr>
        <p:spPr>
          <a:xfrm>
            <a:off x="9061704" y="283463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x₁</a:t>
            </a:r>
          </a:p>
        </p:txBody>
      </p:sp>
      <p:sp>
        <p:nvSpPr>
          <p:cNvPr id="41" name="Rounded Rectangle 40"/>
          <p:cNvSpPr/>
          <p:nvPr/>
        </p:nvSpPr>
        <p:spPr>
          <a:xfrm>
            <a:off x="10168128" y="3099815"/>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XOR</a:t>
            </a:r>
          </a:p>
        </p:txBody>
      </p:sp>
      <p:sp>
        <p:nvSpPr>
          <p:cNvPr id="42" name="TextBox 41"/>
          <p:cNvSpPr txBox="1"/>
          <p:nvPr/>
        </p:nvSpPr>
        <p:spPr>
          <a:xfrm>
            <a:off x="10158984" y="283463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43" name="Rounded Rectangle 42"/>
          <p:cNvSpPr/>
          <p:nvPr/>
        </p:nvSpPr>
        <p:spPr>
          <a:xfrm>
            <a:off x="6876288" y="1499616"/>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ITE</a:t>
            </a:r>
          </a:p>
        </p:txBody>
      </p:sp>
      <p:sp>
        <p:nvSpPr>
          <p:cNvPr id="44" name="TextBox 43"/>
          <p:cNvSpPr txBox="1"/>
          <p:nvPr/>
        </p:nvSpPr>
        <p:spPr>
          <a:xfrm>
            <a:off x="6547103" y="164592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5" name="Rounded Rectangle 44"/>
          <p:cNvSpPr/>
          <p:nvPr/>
        </p:nvSpPr>
        <p:spPr>
          <a:xfrm>
            <a:off x="8202168" y="1499616"/>
            <a:ext cx="804672" cy="566928"/>
          </a:xfrm>
          <a:prstGeom prst="roundRect">
            <a:avLst>
              <a:gd name="adj" fmla="val 20000"/>
            </a:avLst>
          </a:prstGeom>
          <a:solidFill>
            <a:srgbClr val="FFF3CC"/>
          </a:solidFill>
          <a:ln w="34925">
            <a:solidFill>
              <a:srgbClr val="E0A300"/>
            </a:solidFill>
          </a:ln>
          <a:effectLst/>
        </p:spPr>
        <p:txBody>
          <a:bodyPr wrap="square" lIns="54864" tIns="0" rIns="54864" bIns="0" rtlCol="0" anchor="ctr"/>
          <a:lstStyle/>
          <a:p>
            <a:pPr algn="ctr"/>
            <a:r>
              <a:rPr sz="1600" b="1" i="0">
                <a:solidFill>
                  <a:srgbClr val="2B2F36"/>
                </a:solidFill>
                <a:latin typeface="Calibri"/>
              </a:rPr>
              <a:t>ITE</a:t>
            </a:r>
          </a:p>
        </p:txBody>
      </p:sp>
      <p:sp>
        <p:nvSpPr>
          <p:cNvPr id="46" name="TextBox 45"/>
          <p:cNvSpPr txBox="1"/>
          <p:nvPr/>
        </p:nvSpPr>
        <p:spPr>
          <a:xfrm>
            <a:off x="9025128" y="164592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
        <p:nvSpPr>
          <p:cNvPr id="52" name="FilterCC dirty tag 52"/>
          <p:cNvSpPr/>
          <p:nvPr/>
        </p:nvSpPr>
        <p:spPr>
          <a:xfrm>
            <a:off x="5038344" y="5202936"/>
            <a:ext cx="512064" cy="237744"/>
          </a:xfrm>
          <a:prstGeom prst="roundRect">
            <a:avLst>
              <a:gd name="adj" fmla="val 50000"/>
            </a:avLst>
          </a:prstGeom>
          <a:solidFill>
            <a:srgbClr val="FFFFFF"/>
          </a:solidFill>
          <a:ln w="15875">
            <a:solidFill>
              <a:srgbClr val="C8501E"/>
            </a:solidFill>
          </a:ln>
          <a:effectLst/>
        </p:spPr>
        <p:txBody>
          <a:bodyPr wrap="square" lIns="27432" tIns="0" rIns="27432" bIns="0" rtlCol="0" anchor="ctr"/>
          <a:lstStyle/>
          <a:p>
            <a:pPr algn="ctr"/>
            <a:r>
              <a:rPr sz="950" b="1" i="0">
                <a:solidFill>
                  <a:srgbClr val="C8501E"/>
                </a:solidFill>
                <a:latin typeface="Calibri"/>
              </a:rPr>
              <a:t>dirty</a:t>
            </a:r>
          </a:p>
        </p:txBody>
      </p:sp>
      <p:sp>
        <p:nvSpPr>
          <p:cNvPr id="53" name="FilterCC dirty tag 53"/>
          <p:cNvSpPr/>
          <p:nvPr/>
        </p:nvSpPr>
        <p:spPr>
          <a:xfrm>
            <a:off x="6537959" y="5202936"/>
            <a:ext cx="512064" cy="237744"/>
          </a:xfrm>
          <a:prstGeom prst="roundRect">
            <a:avLst>
              <a:gd name="adj" fmla="val 50000"/>
            </a:avLst>
          </a:prstGeom>
          <a:solidFill>
            <a:srgbClr val="FFFFFF"/>
          </a:solidFill>
          <a:ln w="15875">
            <a:solidFill>
              <a:srgbClr val="C8501E"/>
            </a:solidFill>
          </a:ln>
          <a:effectLst/>
        </p:spPr>
        <p:txBody>
          <a:bodyPr wrap="square" lIns="27432" tIns="0" rIns="27432" bIns="0" rtlCol="0" anchor="ctr"/>
          <a:lstStyle/>
          <a:p>
            <a:pPr algn="ctr"/>
            <a:r>
              <a:rPr sz="950" b="1" i="0">
                <a:solidFill>
                  <a:srgbClr val="C8501E"/>
                </a:solidFill>
                <a:latin typeface="Calibri"/>
              </a:rPr>
              <a:t>dirty</a:t>
            </a:r>
          </a:p>
        </p:txBody>
      </p:sp>
      <p:sp>
        <p:nvSpPr>
          <p:cNvPr id="54" name="FilterCC dirty tag 54"/>
          <p:cNvSpPr/>
          <p:nvPr/>
        </p:nvSpPr>
        <p:spPr>
          <a:xfrm>
            <a:off x="8037575" y="5202936"/>
            <a:ext cx="512064" cy="237744"/>
          </a:xfrm>
          <a:prstGeom prst="roundRect">
            <a:avLst>
              <a:gd name="adj" fmla="val 50000"/>
            </a:avLst>
          </a:prstGeom>
          <a:solidFill>
            <a:srgbClr val="FFFFFF"/>
          </a:solidFill>
          <a:ln w="15875">
            <a:solidFill>
              <a:srgbClr val="C8501E"/>
            </a:solidFill>
          </a:ln>
          <a:effectLst/>
        </p:spPr>
        <p:txBody>
          <a:bodyPr wrap="square" lIns="27432" tIns="0" rIns="27432" bIns="0" rtlCol="0" anchor="ctr"/>
          <a:lstStyle/>
          <a:p>
            <a:pPr algn="ctr"/>
            <a:r>
              <a:rPr sz="950" b="1" i="0">
                <a:solidFill>
                  <a:srgbClr val="C8501E"/>
                </a:solidFill>
                <a:latin typeface="Calibri"/>
              </a:rPr>
              <a:t>dirty</a:t>
            </a:r>
          </a:p>
        </p:txBody>
      </p:sp>
      <p:sp>
        <p:nvSpPr>
          <p:cNvPr id="55" name="FilterCC dirty tag 55"/>
          <p:cNvSpPr/>
          <p:nvPr/>
        </p:nvSpPr>
        <p:spPr>
          <a:xfrm>
            <a:off x="9537191" y="5202936"/>
            <a:ext cx="512064" cy="237744"/>
          </a:xfrm>
          <a:prstGeom prst="roundRect">
            <a:avLst>
              <a:gd name="adj" fmla="val 50000"/>
            </a:avLst>
          </a:prstGeom>
          <a:solidFill>
            <a:srgbClr val="FFFFFF"/>
          </a:solidFill>
          <a:ln w="15875">
            <a:solidFill>
              <a:srgbClr val="C8501E"/>
            </a:solidFill>
          </a:ln>
          <a:effectLst/>
        </p:spPr>
        <p:txBody>
          <a:bodyPr wrap="square" lIns="27432" tIns="0" rIns="27432" bIns="0" rtlCol="0" anchor="ctr"/>
          <a:lstStyle/>
          <a:p>
            <a:pPr algn="ctr"/>
            <a:r>
              <a:rPr sz="950" b="1" i="0">
                <a:solidFill>
                  <a:srgbClr val="C8501E"/>
                </a:solidFill>
                <a:latin typeface="Calibri"/>
              </a:rPr>
              <a:t>dirty</a:t>
            </a:r>
          </a:p>
        </p:txBody>
      </p:sp>
      <p:sp>
        <p:nvSpPr>
          <p:cNvPr id="56" name="FilterCC dirty tag 56"/>
          <p:cNvSpPr/>
          <p:nvPr/>
        </p:nvSpPr>
        <p:spPr>
          <a:xfrm>
            <a:off x="11036808" y="5202936"/>
            <a:ext cx="512064" cy="237744"/>
          </a:xfrm>
          <a:prstGeom prst="roundRect">
            <a:avLst>
              <a:gd name="adj" fmla="val 50000"/>
            </a:avLst>
          </a:prstGeom>
          <a:solidFill>
            <a:srgbClr val="FFFFFF"/>
          </a:solidFill>
          <a:ln w="15875">
            <a:solidFill>
              <a:srgbClr val="C8501E"/>
            </a:solidFill>
          </a:ln>
          <a:effectLst/>
        </p:spPr>
        <p:txBody>
          <a:bodyPr wrap="square" lIns="27432" tIns="0" rIns="27432" bIns="0" rtlCol="0" anchor="ctr"/>
          <a:lstStyle/>
          <a:p>
            <a:pPr algn="ctr"/>
            <a:r>
              <a:rPr sz="950" b="1" i="0">
                <a:solidFill>
                  <a:srgbClr val="C8501E"/>
                </a:solidFill>
                <a:latin typeface="Calibri"/>
              </a:rPr>
              <a:t>dirty</a:t>
            </a:r>
          </a:p>
        </p:txBody>
      </p:sp>
      <p:sp>
        <p:nvSpPr>
          <p:cNvPr id="57" name="FilterCC persistent bullets">
            <a:extLst>
              <a:ext uri="{FF2B5EF4-FFF2-40B4-BE49-F238E27FC236}">
                <a16:creationId xmlns:a16="http://schemas.microsoft.com/office/drawing/2014/main" id="{D6E8B7CA-5EC8-82A2-7AFF-CE5F4C6B5C14}"/>
              </a:ext>
            </a:extLst>
          </p:cNvPr>
          <p:cNvSpPr txBox="1"/>
          <p:nvPr/>
        </p:nvSpPr>
        <p:spPr>
          <a:xfrm>
            <a:off x="344036" y="1346215"/>
            <a:ext cx="3810763" cy="3924151"/>
          </a:xfrm>
          <a:prstGeom prst="rect">
            <a:avLst/>
          </a:prstGeom>
          <a:noFill/>
        </p:spPr>
        <p:txBody>
          <a:bodyPr wrap="square" lIns="45720" rIns="45720">
            <a:spAutoFit/>
          </a:bodyPr>
          <a:lstStyle/>
          <a:p>
            <a:pPr marL="274320" indent="-237744">
              <a:spcBef>
                <a:spcPts val="1000"/>
              </a:spcBef>
              <a:buClr>
                <a:srgbClr val="6B717A"/>
              </a:buClr>
              <a:buChar char="•"/>
            </a:pPr>
            <a:r>
              <a:rPr lang="en-US" sz="2800" b="0" i="0" dirty="0">
                <a:solidFill>
                  <a:srgbClr val="2B2F36"/>
                </a:solidFill>
              </a:rPr>
              <a:t>a merge marks its classes dirty</a:t>
            </a:r>
          </a:p>
          <a:p>
            <a:pPr marL="274320" indent="-237744">
              <a:spcBef>
                <a:spcPts val="1000"/>
              </a:spcBef>
              <a:buClr>
                <a:srgbClr val="6B717A"/>
              </a:buClr>
              <a:buChar char="•"/>
            </a:pPr>
            <a:r>
              <a:rPr lang="en-US" sz="2800" b="1" i="0" dirty="0">
                <a:solidFill>
                  <a:srgbClr val="C00000"/>
                </a:solidFill>
              </a:rPr>
              <a:t>filter all terms for a dirty child</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8160" y="509563"/>
            <a:ext cx="11155680" cy="517065"/>
          </a:xfrm>
          <a:prstGeom prst="rect">
            <a:avLst/>
          </a:prstGeom>
          <a:noFill/>
        </p:spPr>
        <p:txBody>
          <a:bodyPr wrap="square" lIns="45720" tIns="27432" rIns="45720" bIns="27432" anchor="ctr">
            <a:spAutoFit/>
          </a:bodyPr>
          <a:lstStyle/>
          <a:p>
            <a:r>
              <a:rPr lang="en-US" sz="3000" b="1" dirty="0">
                <a:solidFill>
                  <a:srgbClr val="1F2A44"/>
                </a:solidFill>
              </a:rPr>
              <a:t>Our second algorithm: </a:t>
            </a:r>
            <a:r>
              <a:rPr sz="3000" b="1" i="0" dirty="0" err="1">
                <a:solidFill>
                  <a:srgbClr val="1F2A44"/>
                </a:solidFill>
                <a:latin typeface="Calibri"/>
              </a:rPr>
              <a:t>FilterCC</a:t>
            </a:r>
            <a:r>
              <a:rPr sz="3000" b="1" i="0" dirty="0">
                <a:solidFill>
                  <a:srgbClr val="1F2A44"/>
                </a:solidFill>
                <a:latin typeface="Calibri"/>
              </a:rPr>
              <a:t> on the example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55</a:t>
            </a:r>
          </a:p>
        </p:txBody>
      </p:sp>
      <p:sp>
        <p:nvSpPr>
          <p:cNvPr id="6" name="Rounded Rectangle 5"/>
          <p:cNvSpPr/>
          <p:nvPr/>
        </p:nvSpPr>
        <p:spPr>
          <a:xfrm>
            <a:off x="4105656" y="465429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p:cNvSpPr/>
          <p:nvPr/>
        </p:nvSpPr>
        <p:spPr>
          <a:xfrm>
            <a:off x="5605271" y="465429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p:cNvSpPr/>
          <p:nvPr/>
        </p:nvSpPr>
        <p:spPr>
          <a:xfrm>
            <a:off x="7104888" y="465429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p:cNvSpPr/>
          <p:nvPr/>
        </p:nvSpPr>
        <p:spPr>
          <a:xfrm>
            <a:off x="8604504" y="465429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p:cNvSpPr/>
          <p:nvPr/>
        </p:nvSpPr>
        <p:spPr>
          <a:xfrm>
            <a:off x="10104120" y="465429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cxnSp>
        <p:nvCxnSpPr>
          <p:cNvPr id="11" name="Connector 10"/>
          <p:cNvCxnSpPr/>
          <p:nvPr/>
        </p:nvCxnSpPr>
        <p:spPr>
          <a:xfrm flipH="1">
            <a:off x="4498848" y="3666743"/>
            <a:ext cx="539496" cy="1106425"/>
          </a:xfrm>
          <a:prstGeom prst="line">
            <a:avLst/>
          </a:prstGeom>
          <a:ln w="15875">
            <a:solidFill>
              <a:srgbClr val="C9CDD3"/>
            </a:solidFill>
          </a:ln>
          <a:effectLst/>
        </p:spPr>
      </p:cxnSp>
      <p:cxnSp>
        <p:nvCxnSpPr>
          <p:cNvPr id="12" name="Connector 11"/>
          <p:cNvCxnSpPr/>
          <p:nvPr/>
        </p:nvCxnSpPr>
        <p:spPr>
          <a:xfrm>
            <a:off x="5038344" y="3666743"/>
            <a:ext cx="960120" cy="1106425"/>
          </a:xfrm>
          <a:prstGeom prst="line">
            <a:avLst/>
          </a:prstGeom>
          <a:ln w="15875">
            <a:solidFill>
              <a:srgbClr val="C9CDD3"/>
            </a:solidFill>
          </a:ln>
          <a:effectLst/>
        </p:spPr>
      </p:cxnSp>
      <p:cxnSp>
        <p:nvCxnSpPr>
          <p:cNvPr id="13" name="Connector 12"/>
          <p:cNvCxnSpPr/>
          <p:nvPr/>
        </p:nvCxnSpPr>
        <p:spPr>
          <a:xfrm flipH="1">
            <a:off x="5120639" y="3666743"/>
            <a:ext cx="1014985" cy="1106425"/>
          </a:xfrm>
          <a:prstGeom prst="line">
            <a:avLst/>
          </a:prstGeom>
          <a:ln w="15875">
            <a:solidFill>
              <a:srgbClr val="C9CDD3"/>
            </a:solidFill>
          </a:ln>
          <a:effectLst/>
        </p:spPr>
      </p:cxnSp>
      <p:cxnSp>
        <p:nvCxnSpPr>
          <p:cNvPr id="14" name="Connector 13"/>
          <p:cNvCxnSpPr/>
          <p:nvPr/>
        </p:nvCxnSpPr>
        <p:spPr>
          <a:xfrm>
            <a:off x="6135624" y="3666743"/>
            <a:ext cx="484632" cy="1106425"/>
          </a:xfrm>
          <a:prstGeom prst="line">
            <a:avLst/>
          </a:prstGeom>
          <a:ln w="15875">
            <a:solidFill>
              <a:srgbClr val="C9CDD3"/>
            </a:solidFill>
          </a:ln>
          <a:effectLst/>
        </p:spPr>
      </p:cxnSp>
      <p:cxnSp>
        <p:nvCxnSpPr>
          <p:cNvPr id="15" name="Connector 14"/>
          <p:cNvCxnSpPr/>
          <p:nvPr/>
        </p:nvCxnSpPr>
        <p:spPr>
          <a:xfrm flipH="1">
            <a:off x="8997696" y="3666743"/>
            <a:ext cx="475487" cy="1106425"/>
          </a:xfrm>
          <a:prstGeom prst="line">
            <a:avLst/>
          </a:prstGeom>
          <a:ln w="15875">
            <a:solidFill>
              <a:srgbClr val="C9CDD3"/>
            </a:solidFill>
          </a:ln>
          <a:effectLst/>
        </p:spPr>
      </p:cxnSp>
      <p:cxnSp>
        <p:nvCxnSpPr>
          <p:cNvPr id="16" name="Connector 15"/>
          <p:cNvCxnSpPr/>
          <p:nvPr/>
        </p:nvCxnSpPr>
        <p:spPr>
          <a:xfrm>
            <a:off x="9473183" y="3666743"/>
            <a:ext cx="1024129" cy="1106425"/>
          </a:xfrm>
          <a:prstGeom prst="line">
            <a:avLst/>
          </a:prstGeom>
          <a:ln w="15875">
            <a:solidFill>
              <a:srgbClr val="C9CDD3"/>
            </a:solidFill>
          </a:ln>
          <a:effectLst/>
        </p:spPr>
      </p:cxnSp>
      <p:cxnSp>
        <p:nvCxnSpPr>
          <p:cNvPr id="17" name="Connector 16"/>
          <p:cNvCxnSpPr/>
          <p:nvPr/>
        </p:nvCxnSpPr>
        <p:spPr>
          <a:xfrm flipH="1">
            <a:off x="9619488" y="3666743"/>
            <a:ext cx="950975" cy="1106425"/>
          </a:xfrm>
          <a:prstGeom prst="line">
            <a:avLst/>
          </a:prstGeom>
          <a:ln w="15875">
            <a:solidFill>
              <a:srgbClr val="C9CDD3"/>
            </a:solidFill>
          </a:ln>
          <a:effectLst/>
        </p:spPr>
      </p:cxnSp>
      <p:cxnSp>
        <p:nvCxnSpPr>
          <p:cNvPr id="18" name="Connector 17"/>
          <p:cNvCxnSpPr/>
          <p:nvPr/>
        </p:nvCxnSpPr>
        <p:spPr>
          <a:xfrm>
            <a:off x="10570463" y="3666743"/>
            <a:ext cx="548641" cy="1106425"/>
          </a:xfrm>
          <a:prstGeom prst="line">
            <a:avLst/>
          </a:prstGeom>
          <a:ln w="15875">
            <a:solidFill>
              <a:srgbClr val="C9CDD3"/>
            </a:solidFill>
          </a:ln>
          <a:effectLst/>
        </p:spPr>
      </p:cxnSp>
      <p:cxnSp>
        <p:nvCxnSpPr>
          <p:cNvPr id="19" name="Connector 18"/>
          <p:cNvCxnSpPr/>
          <p:nvPr/>
        </p:nvCxnSpPr>
        <p:spPr>
          <a:xfrm>
            <a:off x="7278624" y="2066544"/>
            <a:ext cx="219455" cy="2706624"/>
          </a:xfrm>
          <a:prstGeom prst="line">
            <a:avLst/>
          </a:prstGeom>
          <a:ln w="15875">
            <a:solidFill>
              <a:srgbClr val="C9CDD3"/>
            </a:solidFill>
          </a:ln>
          <a:effectLst/>
        </p:spPr>
      </p:cxnSp>
      <p:cxnSp>
        <p:nvCxnSpPr>
          <p:cNvPr id="20" name="Connector 19"/>
          <p:cNvCxnSpPr/>
          <p:nvPr/>
        </p:nvCxnSpPr>
        <p:spPr>
          <a:xfrm flipH="1">
            <a:off x="5038344" y="2066544"/>
            <a:ext cx="2240280" cy="749807"/>
          </a:xfrm>
          <a:prstGeom prst="line">
            <a:avLst/>
          </a:prstGeom>
          <a:ln w="15875">
            <a:solidFill>
              <a:srgbClr val="8A8F98"/>
            </a:solidFill>
          </a:ln>
          <a:effectLst/>
        </p:spPr>
      </p:cxnSp>
      <p:cxnSp>
        <p:nvCxnSpPr>
          <p:cNvPr id="21" name="Connector 20"/>
          <p:cNvCxnSpPr/>
          <p:nvPr/>
        </p:nvCxnSpPr>
        <p:spPr>
          <a:xfrm>
            <a:off x="7278624" y="2066544"/>
            <a:ext cx="2194559" cy="749807"/>
          </a:xfrm>
          <a:prstGeom prst="line">
            <a:avLst/>
          </a:prstGeom>
          <a:ln w="15875">
            <a:solidFill>
              <a:srgbClr val="8A8F98"/>
            </a:solidFill>
          </a:ln>
          <a:effectLst/>
        </p:spPr>
      </p:cxnSp>
      <p:cxnSp>
        <p:nvCxnSpPr>
          <p:cNvPr id="22" name="Connector 21"/>
          <p:cNvCxnSpPr/>
          <p:nvPr/>
        </p:nvCxnSpPr>
        <p:spPr>
          <a:xfrm flipH="1">
            <a:off x="8119872" y="2066544"/>
            <a:ext cx="484632" cy="2706624"/>
          </a:xfrm>
          <a:prstGeom prst="line">
            <a:avLst/>
          </a:prstGeom>
          <a:ln w="15875">
            <a:solidFill>
              <a:srgbClr val="C9CDD3"/>
            </a:solidFill>
          </a:ln>
          <a:effectLst/>
        </p:spPr>
      </p:cxnSp>
      <p:cxnSp>
        <p:nvCxnSpPr>
          <p:cNvPr id="23" name="Connector 22"/>
          <p:cNvCxnSpPr/>
          <p:nvPr/>
        </p:nvCxnSpPr>
        <p:spPr>
          <a:xfrm flipH="1">
            <a:off x="6135624" y="2066544"/>
            <a:ext cx="2468880" cy="749807"/>
          </a:xfrm>
          <a:prstGeom prst="line">
            <a:avLst/>
          </a:prstGeom>
          <a:ln w="15875">
            <a:solidFill>
              <a:srgbClr val="8A8F98"/>
            </a:solidFill>
          </a:ln>
          <a:effectLst/>
        </p:spPr>
      </p:cxnSp>
      <p:cxnSp>
        <p:nvCxnSpPr>
          <p:cNvPr id="24" name="Connector 23"/>
          <p:cNvCxnSpPr/>
          <p:nvPr/>
        </p:nvCxnSpPr>
        <p:spPr>
          <a:xfrm>
            <a:off x="8604504" y="2066544"/>
            <a:ext cx="1965959" cy="749807"/>
          </a:xfrm>
          <a:prstGeom prst="line">
            <a:avLst/>
          </a:prstGeom>
          <a:ln w="15875">
            <a:solidFill>
              <a:srgbClr val="8A8F98"/>
            </a:solidFill>
          </a:ln>
          <a:effectLst/>
        </p:spPr>
      </p:cxnSp>
      <p:sp>
        <p:nvSpPr>
          <p:cNvPr id="25" name="Rounded Rectangle 24"/>
          <p:cNvSpPr/>
          <p:nvPr/>
        </p:nvSpPr>
        <p:spPr>
          <a:xfrm>
            <a:off x="4224528"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r</a:t>
            </a:r>
          </a:p>
        </p:txBody>
      </p:sp>
      <p:sp>
        <p:nvSpPr>
          <p:cNvPr id="26" name="Rounded Rectangle 25"/>
          <p:cNvSpPr/>
          <p:nvPr/>
        </p:nvSpPr>
        <p:spPr>
          <a:xfrm>
            <a:off x="4846320"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r′</a:t>
            </a:r>
          </a:p>
        </p:txBody>
      </p:sp>
      <p:sp>
        <p:nvSpPr>
          <p:cNvPr id="27" name="Rounded Rectangle 26"/>
          <p:cNvSpPr/>
          <p:nvPr/>
        </p:nvSpPr>
        <p:spPr>
          <a:xfrm>
            <a:off x="5724144"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s</a:t>
            </a:r>
          </a:p>
        </p:txBody>
      </p:sp>
      <p:sp>
        <p:nvSpPr>
          <p:cNvPr id="28" name="Rounded Rectangle 27"/>
          <p:cNvSpPr/>
          <p:nvPr/>
        </p:nvSpPr>
        <p:spPr>
          <a:xfrm>
            <a:off x="6345936"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s′</a:t>
            </a:r>
          </a:p>
        </p:txBody>
      </p:sp>
      <p:sp>
        <p:nvSpPr>
          <p:cNvPr id="29" name="Rounded Rectangle 28"/>
          <p:cNvSpPr/>
          <p:nvPr/>
        </p:nvSpPr>
        <p:spPr>
          <a:xfrm>
            <a:off x="7223759"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c</a:t>
            </a:r>
          </a:p>
        </p:txBody>
      </p:sp>
      <p:sp>
        <p:nvSpPr>
          <p:cNvPr id="30" name="Rounded Rectangle 29"/>
          <p:cNvSpPr/>
          <p:nvPr/>
        </p:nvSpPr>
        <p:spPr>
          <a:xfrm>
            <a:off x="7845552"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c′</a:t>
            </a:r>
          </a:p>
        </p:txBody>
      </p:sp>
      <p:sp>
        <p:nvSpPr>
          <p:cNvPr id="31" name="Rounded Rectangle 30"/>
          <p:cNvSpPr/>
          <p:nvPr/>
        </p:nvSpPr>
        <p:spPr>
          <a:xfrm>
            <a:off x="8723376"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u</a:t>
            </a:r>
          </a:p>
        </p:txBody>
      </p:sp>
      <p:sp>
        <p:nvSpPr>
          <p:cNvPr id="32" name="Rounded Rectangle 31"/>
          <p:cNvSpPr/>
          <p:nvPr/>
        </p:nvSpPr>
        <p:spPr>
          <a:xfrm>
            <a:off x="9345167"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u′</a:t>
            </a:r>
          </a:p>
        </p:txBody>
      </p:sp>
      <p:sp>
        <p:nvSpPr>
          <p:cNvPr id="33" name="Rounded Rectangle 32"/>
          <p:cNvSpPr/>
          <p:nvPr/>
        </p:nvSpPr>
        <p:spPr>
          <a:xfrm>
            <a:off x="10222992"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v</a:t>
            </a:r>
          </a:p>
        </p:txBody>
      </p:sp>
      <p:sp>
        <p:nvSpPr>
          <p:cNvPr id="34" name="Rounded Rectangle 33"/>
          <p:cNvSpPr/>
          <p:nvPr/>
        </p:nvSpPr>
        <p:spPr>
          <a:xfrm>
            <a:off x="10844784"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v′</a:t>
            </a:r>
          </a:p>
        </p:txBody>
      </p:sp>
      <p:sp>
        <p:nvSpPr>
          <p:cNvPr id="35" name="Rounded Rectangle 34"/>
          <p:cNvSpPr/>
          <p:nvPr/>
        </p:nvSpPr>
        <p:spPr>
          <a:xfrm>
            <a:off x="4636008" y="3099815"/>
            <a:ext cx="804672" cy="566928"/>
          </a:xfrm>
          <a:prstGeom prst="roundRect">
            <a:avLst>
              <a:gd name="adj" fmla="val 20000"/>
            </a:avLst>
          </a:prstGeom>
          <a:solidFill>
            <a:srgbClr val="DCEAF8"/>
          </a:solidFill>
          <a:ln w="34925">
            <a:solidFill>
              <a:srgbClr val="2E6FB0"/>
            </a:solidFill>
          </a:ln>
          <a:effectLst/>
        </p:spPr>
        <p:txBody>
          <a:bodyPr wrap="square" lIns="54864" tIns="0" rIns="54864" bIns="0" rtlCol="0" anchor="ctr"/>
          <a:lstStyle/>
          <a:p>
            <a:pPr algn="ctr"/>
            <a:r>
              <a:rPr sz="1600" b="1" i="0">
                <a:solidFill>
                  <a:srgbClr val="2B2F36"/>
                </a:solidFill>
                <a:latin typeface="Calibri"/>
              </a:rPr>
              <a:t>AND</a:t>
            </a:r>
          </a:p>
        </p:txBody>
      </p:sp>
      <p:sp>
        <p:nvSpPr>
          <p:cNvPr id="36" name="TextBox 35"/>
          <p:cNvSpPr txBox="1"/>
          <p:nvPr/>
        </p:nvSpPr>
        <p:spPr>
          <a:xfrm>
            <a:off x="4626863" y="283463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a₁</a:t>
            </a:r>
          </a:p>
        </p:txBody>
      </p:sp>
      <p:sp>
        <p:nvSpPr>
          <p:cNvPr id="37" name="Rounded Rectangle 36"/>
          <p:cNvSpPr/>
          <p:nvPr/>
        </p:nvSpPr>
        <p:spPr>
          <a:xfrm>
            <a:off x="5733287" y="3099815"/>
            <a:ext cx="804672" cy="566928"/>
          </a:xfrm>
          <a:prstGeom prst="roundRect">
            <a:avLst>
              <a:gd name="adj" fmla="val 20000"/>
            </a:avLst>
          </a:prstGeom>
          <a:solidFill>
            <a:srgbClr val="DCEAF8"/>
          </a:solidFill>
          <a:ln w="34925">
            <a:solidFill>
              <a:srgbClr val="2E6FB0"/>
            </a:solidFill>
          </a:ln>
          <a:effectLst/>
        </p:spPr>
        <p:txBody>
          <a:bodyPr wrap="square" lIns="54864" tIns="0" rIns="54864" bIns="0" rtlCol="0" anchor="ctr"/>
          <a:lstStyle/>
          <a:p>
            <a:pPr algn="ctr"/>
            <a:r>
              <a:rPr sz="1600" b="1" i="0">
                <a:solidFill>
                  <a:srgbClr val="2B2F36"/>
                </a:solidFill>
                <a:latin typeface="Calibri"/>
              </a:rPr>
              <a:t>AND</a:t>
            </a:r>
          </a:p>
        </p:txBody>
      </p:sp>
      <p:sp>
        <p:nvSpPr>
          <p:cNvPr id="38" name="TextBox 37"/>
          <p:cNvSpPr txBox="1"/>
          <p:nvPr/>
        </p:nvSpPr>
        <p:spPr>
          <a:xfrm>
            <a:off x="5724144" y="283463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39" name="Rounded Rectangle 38"/>
          <p:cNvSpPr/>
          <p:nvPr/>
        </p:nvSpPr>
        <p:spPr>
          <a:xfrm>
            <a:off x="9070848" y="3099815"/>
            <a:ext cx="804672" cy="566928"/>
          </a:xfrm>
          <a:prstGeom prst="roundRect">
            <a:avLst>
              <a:gd name="adj" fmla="val 20000"/>
            </a:avLst>
          </a:prstGeom>
          <a:solidFill>
            <a:srgbClr val="DDF1E2"/>
          </a:solidFill>
          <a:ln w="34925">
            <a:solidFill>
              <a:srgbClr val="3A9A5B"/>
            </a:solidFill>
          </a:ln>
          <a:effectLst/>
        </p:spPr>
        <p:txBody>
          <a:bodyPr wrap="square" lIns="54864" tIns="0" rIns="54864" bIns="0" rtlCol="0" anchor="ctr"/>
          <a:lstStyle/>
          <a:p>
            <a:pPr algn="ctr"/>
            <a:r>
              <a:rPr sz="1600" b="1" i="0">
                <a:solidFill>
                  <a:srgbClr val="2B2F36"/>
                </a:solidFill>
                <a:latin typeface="Calibri"/>
              </a:rPr>
              <a:t>XOR</a:t>
            </a:r>
          </a:p>
        </p:txBody>
      </p:sp>
      <p:sp>
        <p:nvSpPr>
          <p:cNvPr id="40" name="TextBox 39"/>
          <p:cNvSpPr txBox="1"/>
          <p:nvPr/>
        </p:nvSpPr>
        <p:spPr>
          <a:xfrm>
            <a:off x="9061704" y="283463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x₁</a:t>
            </a:r>
          </a:p>
        </p:txBody>
      </p:sp>
      <p:sp>
        <p:nvSpPr>
          <p:cNvPr id="41" name="Rounded Rectangle 40"/>
          <p:cNvSpPr/>
          <p:nvPr/>
        </p:nvSpPr>
        <p:spPr>
          <a:xfrm>
            <a:off x="10168128" y="3099815"/>
            <a:ext cx="804672" cy="566928"/>
          </a:xfrm>
          <a:prstGeom prst="roundRect">
            <a:avLst>
              <a:gd name="adj" fmla="val 20000"/>
            </a:avLst>
          </a:prstGeom>
          <a:solidFill>
            <a:srgbClr val="DDF1E2"/>
          </a:solidFill>
          <a:ln w="34925">
            <a:solidFill>
              <a:srgbClr val="3A9A5B"/>
            </a:solidFill>
          </a:ln>
          <a:effectLst/>
        </p:spPr>
        <p:txBody>
          <a:bodyPr wrap="square" lIns="54864" tIns="0" rIns="54864" bIns="0" rtlCol="0" anchor="ctr"/>
          <a:lstStyle/>
          <a:p>
            <a:pPr algn="ctr"/>
            <a:r>
              <a:rPr sz="1600" b="1" i="0">
                <a:solidFill>
                  <a:srgbClr val="2B2F36"/>
                </a:solidFill>
                <a:latin typeface="Calibri"/>
              </a:rPr>
              <a:t>XOR</a:t>
            </a:r>
          </a:p>
        </p:txBody>
      </p:sp>
      <p:sp>
        <p:nvSpPr>
          <p:cNvPr id="42" name="TextBox 41"/>
          <p:cNvSpPr txBox="1"/>
          <p:nvPr/>
        </p:nvSpPr>
        <p:spPr>
          <a:xfrm>
            <a:off x="10158984" y="283463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43" name="Rounded Rectangle 42"/>
          <p:cNvSpPr/>
          <p:nvPr/>
        </p:nvSpPr>
        <p:spPr>
          <a:xfrm>
            <a:off x="6876288" y="149961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4" name="TextBox 43"/>
          <p:cNvSpPr txBox="1"/>
          <p:nvPr/>
        </p:nvSpPr>
        <p:spPr>
          <a:xfrm>
            <a:off x="6547103" y="164592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5" name="Rounded Rectangle 44"/>
          <p:cNvSpPr/>
          <p:nvPr/>
        </p:nvSpPr>
        <p:spPr>
          <a:xfrm>
            <a:off x="8202168" y="149961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6" name="TextBox 45"/>
          <p:cNvSpPr txBox="1"/>
          <p:nvPr/>
        </p:nvSpPr>
        <p:spPr>
          <a:xfrm>
            <a:off x="9025128" y="164592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
        <p:nvSpPr>
          <p:cNvPr id="53" name="FilterCC dirty tag 53"/>
          <p:cNvSpPr/>
          <p:nvPr/>
        </p:nvSpPr>
        <p:spPr>
          <a:xfrm>
            <a:off x="5038344" y="5202936"/>
            <a:ext cx="512064" cy="237744"/>
          </a:xfrm>
          <a:prstGeom prst="roundRect">
            <a:avLst>
              <a:gd name="adj" fmla="val 50000"/>
            </a:avLst>
          </a:prstGeom>
          <a:solidFill>
            <a:srgbClr val="FFFFFF"/>
          </a:solidFill>
          <a:ln w="15875">
            <a:solidFill>
              <a:srgbClr val="C8501E"/>
            </a:solidFill>
          </a:ln>
          <a:effectLst/>
        </p:spPr>
        <p:txBody>
          <a:bodyPr wrap="square" lIns="27432" tIns="0" rIns="27432" bIns="0" rtlCol="0" anchor="ctr"/>
          <a:lstStyle/>
          <a:p>
            <a:pPr algn="ctr"/>
            <a:r>
              <a:rPr sz="950" b="1" i="0">
                <a:solidFill>
                  <a:srgbClr val="C8501E"/>
                </a:solidFill>
                <a:latin typeface="Calibri"/>
              </a:rPr>
              <a:t>dirty</a:t>
            </a:r>
          </a:p>
        </p:txBody>
      </p:sp>
      <p:sp>
        <p:nvSpPr>
          <p:cNvPr id="54" name="FilterCC dirty tag 54"/>
          <p:cNvSpPr/>
          <p:nvPr/>
        </p:nvSpPr>
        <p:spPr>
          <a:xfrm>
            <a:off x="6537959" y="5202936"/>
            <a:ext cx="512064" cy="237744"/>
          </a:xfrm>
          <a:prstGeom prst="roundRect">
            <a:avLst>
              <a:gd name="adj" fmla="val 50000"/>
            </a:avLst>
          </a:prstGeom>
          <a:solidFill>
            <a:srgbClr val="FFFFFF"/>
          </a:solidFill>
          <a:ln w="15875">
            <a:solidFill>
              <a:srgbClr val="C8501E"/>
            </a:solidFill>
          </a:ln>
          <a:effectLst/>
        </p:spPr>
        <p:txBody>
          <a:bodyPr wrap="square" lIns="27432" tIns="0" rIns="27432" bIns="0" rtlCol="0" anchor="ctr"/>
          <a:lstStyle/>
          <a:p>
            <a:pPr algn="ctr"/>
            <a:r>
              <a:rPr sz="950" b="1" i="0">
                <a:solidFill>
                  <a:srgbClr val="C8501E"/>
                </a:solidFill>
                <a:latin typeface="Calibri"/>
              </a:rPr>
              <a:t>dirty</a:t>
            </a:r>
          </a:p>
        </p:txBody>
      </p:sp>
      <p:sp>
        <p:nvSpPr>
          <p:cNvPr id="55" name="FilterCC dirty tag 55"/>
          <p:cNvSpPr/>
          <p:nvPr/>
        </p:nvSpPr>
        <p:spPr>
          <a:xfrm>
            <a:off x="8037575" y="5202936"/>
            <a:ext cx="512064" cy="237744"/>
          </a:xfrm>
          <a:prstGeom prst="roundRect">
            <a:avLst>
              <a:gd name="adj" fmla="val 50000"/>
            </a:avLst>
          </a:prstGeom>
          <a:solidFill>
            <a:srgbClr val="FFFFFF"/>
          </a:solidFill>
          <a:ln w="15875">
            <a:solidFill>
              <a:srgbClr val="C8501E"/>
            </a:solidFill>
          </a:ln>
          <a:effectLst/>
        </p:spPr>
        <p:txBody>
          <a:bodyPr wrap="square" lIns="27432" tIns="0" rIns="27432" bIns="0" rtlCol="0" anchor="ctr"/>
          <a:lstStyle/>
          <a:p>
            <a:pPr algn="ctr"/>
            <a:r>
              <a:rPr sz="950" b="1" i="0">
                <a:solidFill>
                  <a:srgbClr val="C8501E"/>
                </a:solidFill>
                <a:latin typeface="Calibri"/>
              </a:rPr>
              <a:t>dirty</a:t>
            </a:r>
          </a:p>
        </p:txBody>
      </p:sp>
      <p:sp>
        <p:nvSpPr>
          <p:cNvPr id="56" name="FilterCC dirty tag 56"/>
          <p:cNvSpPr/>
          <p:nvPr/>
        </p:nvSpPr>
        <p:spPr>
          <a:xfrm>
            <a:off x="9537191" y="5202936"/>
            <a:ext cx="512064" cy="237744"/>
          </a:xfrm>
          <a:prstGeom prst="roundRect">
            <a:avLst>
              <a:gd name="adj" fmla="val 50000"/>
            </a:avLst>
          </a:prstGeom>
          <a:solidFill>
            <a:srgbClr val="FFFFFF"/>
          </a:solidFill>
          <a:ln w="15875">
            <a:solidFill>
              <a:srgbClr val="C8501E"/>
            </a:solidFill>
          </a:ln>
          <a:effectLst/>
        </p:spPr>
        <p:txBody>
          <a:bodyPr wrap="square" lIns="27432" tIns="0" rIns="27432" bIns="0" rtlCol="0" anchor="ctr"/>
          <a:lstStyle/>
          <a:p>
            <a:pPr algn="ctr"/>
            <a:r>
              <a:rPr sz="950" b="1" i="0">
                <a:solidFill>
                  <a:srgbClr val="C8501E"/>
                </a:solidFill>
                <a:latin typeface="Calibri"/>
              </a:rPr>
              <a:t>dirty</a:t>
            </a:r>
          </a:p>
        </p:txBody>
      </p:sp>
      <p:sp>
        <p:nvSpPr>
          <p:cNvPr id="57" name="FilterCC dirty tag 57"/>
          <p:cNvSpPr/>
          <p:nvPr/>
        </p:nvSpPr>
        <p:spPr>
          <a:xfrm>
            <a:off x="11036808" y="5202936"/>
            <a:ext cx="512064" cy="237744"/>
          </a:xfrm>
          <a:prstGeom prst="roundRect">
            <a:avLst>
              <a:gd name="adj" fmla="val 50000"/>
            </a:avLst>
          </a:prstGeom>
          <a:solidFill>
            <a:srgbClr val="FFFFFF"/>
          </a:solidFill>
          <a:ln w="15875">
            <a:solidFill>
              <a:srgbClr val="C8501E"/>
            </a:solidFill>
          </a:ln>
          <a:effectLst/>
        </p:spPr>
        <p:txBody>
          <a:bodyPr wrap="square" lIns="27432" tIns="0" rIns="27432" bIns="0" rtlCol="0" anchor="ctr"/>
          <a:lstStyle/>
          <a:p>
            <a:pPr algn="ctr"/>
            <a:r>
              <a:rPr sz="950" b="1" i="0">
                <a:solidFill>
                  <a:srgbClr val="C8501E"/>
                </a:solidFill>
                <a:latin typeface="Calibri"/>
              </a:rPr>
              <a:t>dirty</a:t>
            </a:r>
          </a:p>
        </p:txBody>
      </p:sp>
      <p:sp>
        <p:nvSpPr>
          <p:cNvPr id="58" name="FilterCC persistent bullets">
            <a:extLst>
              <a:ext uri="{FF2B5EF4-FFF2-40B4-BE49-F238E27FC236}">
                <a16:creationId xmlns:a16="http://schemas.microsoft.com/office/drawing/2014/main" id="{D6E8B7CA-5EC8-82A2-7AFF-CE5F4C6B5C14}"/>
              </a:ext>
            </a:extLst>
          </p:cNvPr>
          <p:cNvSpPr txBox="1"/>
          <p:nvPr/>
        </p:nvSpPr>
        <p:spPr>
          <a:xfrm>
            <a:off x="344036" y="1346215"/>
            <a:ext cx="3810763" cy="3924151"/>
          </a:xfrm>
          <a:prstGeom prst="rect">
            <a:avLst/>
          </a:prstGeom>
          <a:noFill/>
        </p:spPr>
        <p:txBody>
          <a:bodyPr wrap="square" lIns="45720" rIns="45720">
            <a:spAutoFit/>
          </a:bodyPr>
          <a:lstStyle/>
          <a:p>
            <a:pPr marL="274320" indent="-237744">
              <a:spcBef>
                <a:spcPts val="1000"/>
              </a:spcBef>
              <a:buClr>
                <a:srgbClr val="6B717A"/>
              </a:buClr>
              <a:buChar char="•"/>
            </a:pPr>
            <a:r>
              <a:rPr lang="en-US" sz="2800" b="0" i="0" dirty="0">
                <a:solidFill>
                  <a:srgbClr val="2B2F36"/>
                </a:solidFill>
              </a:rPr>
              <a:t>a merge marks its classes dirty</a:t>
            </a:r>
          </a:p>
          <a:p>
            <a:pPr marL="274320" indent="-237744">
              <a:spcBef>
                <a:spcPts val="1000"/>
              </a:spcBef>
              <a:buClr>
                <a:srgbClr val="6B717A"/>
              </a:buClr>
              <a:buChar char="•"/>
            </a:pPr>
            <a:r>
              <a:rPr lang="en-US" sz="2800" b="0" i="0" dirty="0">
                <a:solidFill>
                  <a:srgbClr val="2B2F36"/>
                </a:solidFill>
              </a:rPr>
              <a:t>filter all terms for a dirty child</a:t>
            </a:r>
          </a:p>
          <a:p>
            <a:pPr marL="274320" indent="-237744">
              <a:spcBef>
                <a:spcPts val="1000"/>
              </a:spcBef>
              <a:buClr>
                <a:srgbClr val="6B717A"/>
              </a:buClr>
              <a:buChar char="•"/>
            </a:pPr>
            <a:r>
              <a:rPr lang="en-US" sz="2800" b="1" i="0" dirty="0">
                <a:solidFill>
                  <a:srgbClr val="C00000"/>
                </a:solidFill>
              </a:rPr>
              <a:t>Compute signature of candidates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8160" y="509563"/>
            <a:ext cx="11155680" cy="517065"/>
          </a:xfrm>
          <a:prstGeom prst="rect">
            <a:avLst/>
          </a:prstGeom>
          <a:noFill/>
        </p:spPr>
        <p:txBody>
          <a:bodyPr wrap="square" lIns="45720" tIns="27432" rIns="45720" bIns="27432" anchor="ctr">
            <a:spAutoFit/>
          </a:bodyPr>
          <a:lstStyle/>
          <a:p>
            <a:r>
              <a:rPr lang="en-US" sz="3000" b="1" dirty="0">
                <a:solidFill>
                  <a:srgbClr val="1F2A44"/>
                </a:solidFill>
              </a:rPr>
              <a:t>Our second algorithm: </a:t>
            </a:r>
            <a:r>
              <a:rPr sz="3000" b="1" i="0" dirty="0" err="1">
                <a:solidFill>
                  <a:srgbClr val="1F2A44"/>
                </a:solidFill>
                <a:latin typeface="Calibri"/>
              </a:rPr>
              <a:t>FilterCC</a:t>
            </a:r>
            <a:r>
              <a:rPr sz="3000" b="1" i="0" dirty="0">
                <a:solidFill>
                  <a:srgbClr val="1F2A44"/>
                </a:solidFill>
                <a:latin typeface="Calibri"/>
              </a:rPr>
              <a:t> on the example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56</a:t>
            </a:r>
          </a:p>
        </p:txBody>
      </p:sp>
      <p:sp>
        <p:nvSpPr>
          <p:cNvPr id="6" name="Rounded Rectangle 5"/>
          <p:cNvSpPr/>
          <p:nvPr/>
        </p:nvSpPr>
        <p:spPr>
          <a:xfrm>
            <a:off x="4105656" y="465429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p:cNvSpPr/>
          <p:nvPr/>
        </p:nvSpPr>
        <p:spPr>
          <a:xfrm>
            <a:off x="5605271" y="465429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p:cNvSpPr/>
          <p:nvPr/>
        </p:nvSpPr>
        <p:spPr>
          <a:xfrm>
            <a:off x="7104888" y="465429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p:cNvSpPr/>
          <p:nvPr/>
        </p:nvSpPr>
        <p:spPr>
          <a:xfrm>
            <a:off x="8604504" y="465429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p:cNvSpPr/>
          <p:nvPr/>
        </p:nvSpPr>
        <p:spPr>
          <a:xfrm>
            <a:off x="10104120" y="465429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1" name="Rounded Rectangle 10"/>
          <p:cNvSpPr/>
          <p:nvPr/>
        </p:nvSpPr>
        <p:spPr>
          <a:xfrm>
            <a:off x="4517136" y="2706623"/>
            <a:ext cx="2139696" cy="1078992"/>
          </a:xfrm>
          <a:prstGeom prst="roundRect">
            <a:avLst>
              <a:gd name="adj" fmla="val 25000"/>
            </a:avLst>
          </a:prstGeom>
          <a:solidFill>
            <a:srgbClr val="DCEAF8"/>
          </a:solidFill>
          <a:ln w="19050">
            <a:solidFill>
              <a:srgbClr val="2E6FB0"/>
            </a:solidFill>
            <a:prstDash val="dash"/>
          </a:ln>
          <a:effectLst/>
        </p:spPr>
        <p:txBody>
          <a:bodyPr wrap="square" lIns="54864" tIns="27432" rIns="54864" bIns="27432" rtlCol="0" anchor="ctr"/>
          <a:lstStyle/>
          <a:p>
            <a:pPr algn="ctr"/>
            <a:endParaRPr/>
          </a:p>
        </p:txBody>
      </p:sp>
      <p:sp>
        <p:nvSpPr>
          <p:cNvPr id="12" name="Rounded Rectangle 11"/>
          <p:cNvSpPr/>
          <p:nvPr/>
        </p:nvSpPr>
        <p:spPr>
          <a:xfrm>
            <a:off x="8951975" y="2706623"/>
            <a:ext cx="2139696" cy="1078992"/>
          </a:xfrm>
          <a:prstGeom prst="roundRect">
            <a:avLst>
              <a:gd name="adj" fmla="val 25000"/>
            </a:avLst>
          </a:prstGeom>
          <a:solidFill>
            <a:srgbClr val="DDF1E2"/>
          </a:solidFill>
          <a:ln w="19050">
            <a:solidFill>
              <a:srgbClr val="3A9A5B"/>
            </a:solidFill>
            <a:prstDash val="dash"/>
          </a:ln>
          <a:effectLst/>
        </p:spPr>
        <p:txBody>
          <a:bodyPr wrap="square" lIns="54864" tIns="27432" rIns="54864" bIns="27432" rtlCol="0" anchor="ctr"/>
          <a:lstStyle/>
          <a:p>
            <a:pPr algn="ctr"/>
            <a:endParaRPr/>
          </a:p>
        </p:txBody>
      </p:sp>
      <p:cxnSp>
        <p:nvCxnSpPr>
          <p:cNvPr id="13" name="Connector 12"/>
          <p:cNvCxnSpPr/>
          <p:nvPr/>
        </p:nvCxnSpPr>
        <p:spPr>
          <a:xfrm flipH="1">
            <a:off x="4498848" y="3666743"/>
            <a:ext cx="539496" cy="1106425"/>
          </a:xfrm>
          <a:prstGeom prst="line">
            <a:avLst/>
          </a:prstGeom>
          <a:ln w="15875">
            <a:solidFill>
              <a:srgbClr val="C9CDD3"/>
            </a:solidFill>
          </a:ln>
          <a:effectLst/>
        </p:spPr>
      </p:cxnSp>
      <p:cxnSp>
        <p:nvCxnSpPr>
          <p:cNvPr id="14" name="Connector 13"/>
          <p:cNvCxnSpPr/>
          <p:nvPr/>
        </p:nvCxnSpPr>
        <p:spPr>
          <a:xfrm>
            <a:off x="5038344" y="3666743"/>
            <a:ext cx="960120" cy="1106425"/>
          </a:xfrm>
          <a:prstGeom prst="line">
            <a:avLst/>
          </a:prstGeom>
          <a:ln w="15875">
            <a:solidFill>
              <a:srgbClr val="C9CDD3"/>
            </a:solidFill>
          </a:ln>
          <a:effectLst/>
        </p:spPr>
      </p:cxnSp>
      <p:cxnSp>
        <p:nvCxnSpPr>
          <p:cNvPr id="15" name="Connector 14"/>
          <p:cNvCxnSpPr/>
          <p:nvPr/>
        </p:nvCxnSpPr>
        <p:spPr>
          <a:xfrm flipH="1">
            <a:off x="5120639" y="3666743"/>
            <a:ext cx="1014985" cy="1106425"/>
          </a:xfrm>
          <a:prstGeom prst="line">
            <a:avLst/>
          </a:prstGeom>
          <a:ln w="15875">
            <a:solidFill>
              <a:srgbClr val="C9CDD3"/>
            </a:solidFill>
          </a:ln>
          <a:effectLst/>
        </p:spPr>
      </p:cxnSp>
      <p:cxnSp>
        <p:nvCxnSpPr>
          <p:cNvPr id="16" name="Connector 15"/>
          <p:cNvCxnSpPr/>
          <p:nvPr/>
        </p:nvCxnSpPr>
        <p:spPr>
          <a:xfrm>
            <a:off x="6135624" y="3666743"/>
            <a:ext cx="484632" cy="1106425"/>
          </a:xfrm>
          <a:prstGeom prst="line">
            <a:avLst/>
          </a:prstGeom>
          <a:ln w="15875">
            <a:solidFill>
              <a:srgbClr val="C9CDD3"/>
            </a:solidFill>
          </a:ln>
          <a:effectLst/>
        </p:spPr>
      </p:cxnSp>
      <p:cxnSp>
        <p:nvCxnSpPr>
          <p:cNvPr id="17" name="Connector 16"/>
          <p:cNvCxnSpPr/>
          <p:nvPr/>
        </p:nvCxnSpPr>
        <p:spPr>
          <a:xfrm flipH="1">
            <a:off x="8997696" y="3666743"/>
            <a:ext cx="475487" cy="1106425"/>
          </a:xfrm>
          <a:prstGeom prst="line">
            <a:avLst/>
          </a:prstGeom>
          <a:ln w="15875">
            <a:solidFill>
              <a:srgbClr val="C9CDD3"/>
            </a:solidFill>
          </a:ln>
          <a:effectLst/>
        </p:spPr>
      </p:cxnSp>
      <p:cxnSp>
        <p:nvCxnSpPr>
          <p:cNvPr id="18" name="Connector 17"/>
          <p:cNvCxnSpPr/>
          <p:nvPr/>
        </p:nvCxnSpPr>
        <p:spPr>
          <a:xfrm>
            <a:off x="9473183" y="3666743"/>
            <a:ext cx="1024129" cy="1106425"/>
          </a:xfrm>
          <a:prstGeom prst="line">
            <a:avLst/>
          </a:prstGeom>
          <a:ln w="15875">
            <a:solidFill>
              <a:srgbClr val="C9CDD3"/>
            </a:solidFill>
          </a:ln>
          <a:effectLst/>
        </p:spPr>
      </p:cxnSp>
      <p:cxnSp>
        <p:nvCxnSpPr>
          <p:cNvPr id="19" name="Connector 18"/>
          <p:cNvCxnSpPr/>
          <p:nvPr/>
        </p:nvCxnSpPr>
        <p:spPr>
          <a:xfrm flipH="1">
            <a:off x="9619488" y="3666743"/>
            <a:ext cx="950975" cy="1106425"/>
          </a:xfrm>
          <a:prstGeom prst="line">
            <a:avLst/>
          </a:prstGeom>
          <a:ln w="15875">
            <a:solidFill>
              <a:srgbClr val="C9CDD3"/>
            </a:solidFill>
          </a:ln>
          <a:effectLst/>
        </p:spPr>
      </p:cxnSp>
      <p:cxnSp>
        <p:nvCxnSpPr>
          <p:cNvPr id="20" name="Connector 19"/>
          <p:cNvCxnSpPr/>
          <p:nvPr/>
        </p:nvCxnSpPr>
        <p:spPr>
          <a:xfrm>
            <a:off x="10570463" y="3666743"/>
            <a:ext cx="548641" cy="1106425"/>
          </a:xfrm>
          <a:prstGeom prst="line">
            <a:avLst/>
          </a:prstGeom>
          <a:ln w="15875">
            <a:solidFill>
              <a:srgbClr val="C9CDD3"/>
            </a:solidFill>
          </a:ln>
          <a:effectLst/>
        </p:spPr>
      </p:cxnSp>
      <p:cxnSp>
        <p:nvCxnSpPr>
          <p:cNvPr id="21" name="Connector 20"/>
          <p:cNvCxnSpPr/>
          <p:nvPr/>
        </p:nvCxnSpPr>
        <p:spPr>
          <a:xfrm>
            <a:off x="7278624" y="2066544"/>
            <a:ext cx="219455" cy="2706624"/>
          </a:xfrm>
          <a:prstGeom prst="line">
            <a:avLst/>
          </a:prstGeom>
          <a:ln w="15875">
            <a:solidFill>
              <a:srgbClr val="C9CDD3"/>
            </a:solidFill>
          </a:ln>
          <a:effectLst/>
        </p:spPr>
      </p:cxnSp>
      <p:cxnSp>
        <p:nvCxnSpPr>
          <p:cNvPr id="22" name="Connector 21"/>
          <p:cNvCxnSpPr/>
          <p:nvPr/>
        </p:nvCxnSpPr>
        <p:spPr>
          <a:xfrm flipH="1">
            <a:off x="5038344" y="2066544"/>
            <a:ext cx="2240280" cy="749807"/>
          </a:xfrm>
          <a:prstGeom prst="line">
            <a:avLst/>
          </a:prstGeom>
          <a:ln w="15875">
            <a:solidFill>
              <a:srgbClr val="8A8F98"/>
            </a:solidFill>
          </a:ln>
          <a:effectLst/>
        </p:spPr>
      </p:cxnSp>
      <p:cxnSp>
        <p:nvCxnSpPr>
          <p:cNvPr id="23" name="Connector 22"/>
          <p:cNvCxnSpPr/>
          <p:nvPr/>
        </p:nvCxnSpPr>
        <p:spPr>
          <a:xfrm>
            <a:off x="7278624" y="2066544"/>
            <a:ext cx="2194559" cy="749807"/>
          </a:xfrm>
          <a:prstGeom prst="line">
            <a:avLst/>
          </a:prstGeom>
          <a:ln w="15875">
            <a:solidFill>
              <a:srgbClr val="8A8F98"/>
            </a:solidFill>
          </a:ln>
          <a:effectLst/>
        </p:spPr>
      </p:cxnSp>
      <p:cxnSp>
        <p:nvCxnSpPr>
          <p:cNvPr id="24" name="Connector 23"/>
          <p:cNvCxnSpPr/>
          <p:nvPr/>
        </p:nvCxnSpPr>
        <p:spPr>
          <a:xfrm flipH="1">
            <a:off x="8119872" y="2066544"/>
            <a:ext cx="484632" cy="2706624"/>
          </a:xfrm>
          <a:prstGeom prst="line">
            <a:avLst/>
          </a:prstGeom>
          <a:ln w="15875">
            <a:solidFill>
              <a:srgbClr val="C9CDD3"/>
            </a:solidFill>
          </a:ln>
          <a:effectLst/>
        </p:spPr>
      </p:cxnSp>
      <p:cxnSp>
        <p:nvCxnSpPr>
          <p:cNvPr id="25" name="Connector 24"/>
          <p:cNvCxnSpPr/>
          <p:nvPr/>
        </p:nvCxnSpPr>
        <p:spPr>
          <a:xfrm flipH="1">
            <a:off x="6135624" y="2066544"/>
            <a:ext cx="2468880" cy="749807"/>
          </a:xfrm>
          <a:prstGeom prst="line">
            <a:avLst/>
          </a:prstGeom>
          <a:ln w="15875">
            <a:solidFill>
              <a:srgbClr val="8A8F98"/>
            </a:solidFill>
          </a:ln>
          <a:effectLst/>
        </p:spPr>
      </p:cxnSp>
      <p:cxnSp>
        <p:nvCxnSpPr>
          <p:cNvPr id="26" name="Connector 25"/>
          <p:cNvCxnSpPr/>
          <p:nvPr/>
        </p:nvCxnSpPr>
        <p:spPr>
          <a:xfrm>
            <a:off x="8604504" y="2066544"/>
            <a:ext cx="1965959" cy="749807"/>
          </a:xfrm>
          <a:prstGeom prst="line">
            <a:avLst/>
          </a:prstGeom>
          <a:ln w="15875">
            <a:solidFill>
              <a:srgbClr val="8A8F98"/>
            </a:solidFill>
          </a:ln>
          <a:effectLst/>
        </p:spPr>
      </p:cxnSp>
      <p:sp>
        <p:nvSpPr>
          <p:cNvPr id="27" name="Rounded Rectangle 26"/>
          <p:cNvSpPr/>
          <p:nvPr/>
        </p:nvSpPr>
        <p:spPr>
          <a:xfrm>
            <a:off x="4224528"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r</a:t>
            </a:r>
          </a:p>
        </p:txBody>
      </p:sp>
      <p:sp>
        <p:nvSpPr>
          <p:cNvPr id="28" name="Rounded Rectangle 27"/>
          <p:cNvSpPr/>
          <p:nvPr/>
        </p:nvSpPr>
        <p:spPr>
          <a:xfrm>
            <a:off x="4846320"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r′</a:t>
            </a:r>
          </a:p>
        </p:txBody>
      </p:sp>
      <p:sp>
        <p:nvSpPr>
          <p:cNvPr id="29" name="Rounded Rectangle 28"/>
          <p:cNvSpPr/>
          <p:nvPr/>
        </p:nvSpPr>
        <p:spPr>
          <a:xfrm>
            <a:off x="5724144"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s</a:t>
            </a:r>
          </a:p>
        </p:txBody>
      </p:sp>
      <p:sp>
        <p:nvSpPr>
          <p:cNvPr id="30" name="Rounded Rectangle 29"/>
          <p:cNvSpPr/>
          <p:nvPr/>
        </p:nvSpPr>
        <p:spPr>
          <a:xfrm>
            <a:off x="6345936"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s′</a:t>
            </a:r>
          </a:p>
        </p:txBody>
      </p:sp>
      <p:sp>
        <p:nvSpPr>
          <p:cNvPr id="31" name="Rounded Rectangle 30"/>
          <p:cNvSpPr/>
          <p:nvPr/>
        </p:nvSpPr>
        <p:spPr>
          <a:xfrm>
            <a:off x="7223759"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c</a:t>
            </a:r>
          </a:p>
        </p:txBody>
      </p:sp>
      <p:sp>
        <p:nvSpPr>
          <p:cNvPr id="32" name="Rounded Rectangle 31"/>
          <p:cNvSpPr/>
          <p:nvPr/>
        </p:nvSpPr>
        <p:spPr>
          <a:xfrm>
            <a:off x="7845552"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c′</a:t>
            </a:r>
          </a:p>
        </p:txBody>
      </p:sp>
      <p:sp>
        <p:nvSpPr>
          <p:cNvPr id="33" name="Rounded Rectangle 32"/>
          <p:cNvSpPr/>
          <p:nvPr/>
        </p:nvSpPr>
        <p:spPr>
          <a:xfrm>
            <a:off x="8723376"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u</a:t>
            </a:r>
          </a:p>
        </p:txBody>
      </p:sp>
      <p:sp>
        <p:nvSpPr>
          <p:cNvPr id="34" name="Rounded Rectangle 33"/>
          <p:cNvSpPr/>
          <p:nvPr/>
        </p:nvSpPr>
        <p:spPr>
          <a:xfrm>
            <a:off x="9345167"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u′</a:t>
            </a:r>
          </a:p>
        </p:txBody>
      </p:sp>
      <p:sp>
        <p:nvSpPr>
          <p:cNvPr id="35" name="Rounded Rectangle 34"/>
          <p:cNvSpPr/>
          <p:nvPr/>
        </p:nvSpPr>
        <p:spPr>
          <a:xfrm>
            <a:off x="10222992"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v</a:t>
            </a:r>
          </a:p>
        </p:txBody>
      </p:sp>
      <p:sp>
        <p:nvSpPr>
          <p:cNvPr id="36" name="Rounded Rectangle 35"/>
          <p:cNvSpPr/>
          <p:nvPr/>
        </p:nvSpPr>
        <p:spPr>
          <a:xfrm>
            <a:off x="10844784"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v′</a:t>
            </a:r>
          </a:p>
        </p:txBody>
      </p:sp>
      <p:sp>
        <p:nvSpPr>
          <p:cNvPr id="37" name="Rounded Rectangle 36"/>
          <p:cNvSpPr/>
          <p:nvPr/>
        </p:nvSpPr>
        <p:spPr>
          <a:xfrm>
            <a:off x="4636008" y="309981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38" name="TextBox 37"/>
          <p:cNvSpPr txBox="1"/>
          <p:nvPr/>
        </p:nvSpPr>
        <p:spPr>
          <a:xfrm>
            <a:off x="4626863" y="283463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a₁</a:t>
            </a:r>
          </a:p>
        </p:txBody>
      </p:sp>
      <p:sp>
        <p:nvSpPr>
          <p:cNvPr id="39" name="Rounded Rectangle 38"/>
          <p:cNvSpPr/>
          <p:nvPr/>
        </p:nvSpPr>
        <p:spPr>
          <a:xfrm>
            <a:off x="5733287" y="309981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40" name="TextBox 39"/>
          <p:cNvSpPr txBox="1"/>
          <p:nvPr/>
        </p:nvSpPr>
        <p:spPr>
          <a:xfrm>
            <a:off x="5724144" y="283463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41" name="Rounded Rectangle 40"/>
          <p:cNvSpPr/>
          <p:nvPr/>
        </p:nvSpPr>
        <p:spPr>
          <a:xfrm>
            <a:off x="9070848" y="309981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2" name="TextBox 41"/>
          <p:cNvSpPr txBox="1"/>
          <p:nvPr/>
        </p:nvSpPr>
        <p:spPr>
          <a:xfrm>
            <a:off x="9061704" y="283463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x₁</a:t>
            </a:r>
          </a:p>
        </p:txBody>
      </p:sp>
      <p:sp>
        <p:nvSpPr>
          <p:cNvPr id="43" name="Rounded Rectangle 42"/>
          <p:cNvSpPr/>
          <p:nvPr/>
        </p:nvSpPr>
        <p:spPr>
          <a:xfrm>
            <a:off x="10168128" y="309981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4" name="TextBox 43"/>
          <p:cNvSpPr txBox="1"/>
          <p:nvPr/>
        </p:nvSpPr>
        <p:spPr>
          <a:xfrm>
            <a:off x="10158984" y="283463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45" name="Rounded Rectangle 44"/>
          <p:cNvSpPr/>
          <p:nvPr/>
        </p:nvSpPr>
        <p:spPr>
          <a:xfrm>
            <a:off x="6876288" y="149961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6" name="TextBox 45"/>
          <p:cNvSpPr txBox="1"/>
          <p:nvPr/>
        </p:nvSpPr>
        <p:spPr>
          <a:xfrm>
            <a:off x="6547103" y="164592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7" name="Rounded Rectangle 46"/>
          <p:cNvSpPr/>
          <p:nvPr/>
        </p:nvSpPr>
        <p:spPr>
          <a:xfrm>
            <a:off x="8202168" y="149961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8" name="TextBox 47"/>
          <p:cNvSpPr txBox="1"/>
          <p:nvPr/>
        </p:nvSpPr>
        <p:spPr>
          <a:xfrm>
            <a:off x="9025128" y="164592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
        <p:nvSpPr>
          <p:cNvPr id="52" name="TextBox 51"/>
          <p:cNvSpPr txBox="1"/>
          <p:nvPr/>
        </p:nvSpPr>
        <p:spPr>
          <a:xfrm>
            <a:off x="5221223" y="3108960"/>
            <a:ext cx="731520" cy="548640"/>
          </a:xfrm>
          <a:prstGeom prst="rect">
            <a:avLst/>
          </a:prstGeom>
          <a:noFill/>
        </p:spPr>
        <p:txBody>
          <a:bodyPr wrap="square" lIns="45720" tIns="27432" rIns="45720" bIns="27432" anchor="ctr">
            <a:spAutoFit/>
          </a:bodyPr>
          <a:lstStyle/>
          <a:p>
            <a:pPr algn="ctr"/>
            <a:r>
              <a:rPr sz="2200" b="1" i="0">
                <a:solidFill>
                  <a:srgbClr val="C8501E"/>
                </a:solidFill>
                <a:latin typeface="Calibri"/>
              </a:rPr>
              <a:t>∪</a:t>
            </a:r>
          </a:p>
        </p:txBody>
      </p:sp>
      <p:sp>
        <p:nvSpPr>
          <p:cNvPr id="53" name="TextBox 52"/>
          <p:cNvSpPr txBox="1"/>
          <p:nvPr/>
        </p:nvSpPr>
        <p:spPr>
          <a:xfrm>
            <a:off x="9656063" y="3108960"/>
            <a:ext cx="731520" cy="548640"/>
          </a:xfrm>
          <a:prstGeom prst="rect">
            <a:avLst/>
          </a:prstGeom>
          <a:noFill/>
        </p:spPr>
        <p:txBody>
          <a:bodyPr wrap="square" lIns="45720" tIns="27432" rIns="45720" bIns="27432" anchor="ctr">
            <a:spAutoFit/>
          </a:bodyPr>
          <a:lstStyle/>
          <a:p>
            <a:pPr algn="ctr"/>
            <a:r>
              <a:rPr sz="2200" b="1" i="0">
                <a:solidFill>
                  <a:srgbClr val="C8501E"/>
                </a:solidFill>
                <a:latin typeface="Calibri"/>
              </a:rPr>
              <a:t>∪</a:t>
            </a:r>
          </a:p>
        </p:txBody>
      </p:sp>
      <p:sp>
        <p:nvSpPr>
          <p:cNvPr id="54" name="FilterCC dirty tag 54"/>
          <p:cNvSpPr/>
          <p:nvPr/>
        </p:nvSpPr>
        <p:spPr>
          <a:xfrm>
            <a:off x="6181344" y="2578607"/>
            <a:ext cx="512064" cy="237744"/>
          </a:xfrm>
          <a:prstGeom prst="roundRect">
            <a:avLst>
              <a:gd name="adj" fmla="val 50000"/>
            </a:avLst>
          </a:prstGeom>
          <a:solidFill>
            <a:srgbClr val="FFFFFF"/>
          </a:solidFill>
          <a:ln w="15875">
            <a:solidFill>
              <a:srgbClr val="C8501E"/>
            </a:solidFill>
          </a:ln>
          <a:effectLst/>
        </p:spPr>
        <p:txBody>
          <a:bodyPr wrap="square" lIns="27432" tIns="0" rIns="27432" bIns="0" rtlCol="0" anchor="ctr"/>
          <a:lstStyle/>
          <a:p>
            <a:pPr algn="ctr"/>
            <a:r>
              <a:rPr sz="950" b="1" i="0">
                <a:solidFill>
                  <a:srgbClr val="C8501E"/>
                </a:solidFill>
                <a:latin typeface="Calibri"/>
              </a:rPr>
              <a:t>dirty</a:t>
            </a:r>
          </a:p>
        </p:txBody>
      </p:sp>
      <p:sp>
        <p:nvSpPr>
          <p:cNvPr id="55" name="FilterCC dirty tag 55"/>
          <p:cNvSpPr/>
          <p:nvPr/>
        </p:nvSpPr>
        <p:spPr>
          <a:xfrm>
            <a:off x="10616183" y="2578607"/>
            <a:ext cx="512064" cy="237744"/>
          </a:xfrm>
          <a:prstGeom prst="roundRect">
            <a:avLst>
              <a:gd name="adj" fmla="val 50000"/>
            </a:avLst>
          </a:prstGeom>
          <a:solidFill>
            <a:srgbClr val="FFFFFF"/>
          </a:solidFill>
          <a:ln w="15875">
            <a:solidFill>
              <a:srgbClr val="C8501E"/>
            </a:solidFill>
          </a:ln>
          <a:effectLst/>
        </p:spPr>
        <p:txBody>
          <a:bodyPr wrap="square" lIns="27432" tIns="0" rIns="27432" bIns="0" rtlCol="0" anchor="ctr"/>
          <a:lstStyle/>
          <a:p>
            <a:pPr algn="ctr"/>
            <a:r>
              <a:rPr sz="950" b="1" i="0">
                <a:solidFill>
                  <a:srgbClr val="C8501E"/>
                </a:solidFill>
                <a:latin typeface="Calibri"/>
              </a:rPr>
              <a:t>dirty</a:t>
            </a:r>
          </a:p>
        </p:txBody>
      </p:sp>
      <p:sp>
        <p:nvSpPr>
          <p:cNvPr id="59" name="FilterCC persistent bullets">
            <a:extLst>
              <a:ext uri="{FF2B5EF4-FFF2-40B4-BE49-F238E27FC236}">
                <a16:creationId xmlns:a16="http://schemas.microsoft.com/office/drawing/2014/main" id="{D6E8B7CA-5EC8-82A2-7AFF-CE5F4C6B5C14}"/>
              </a:ext>
            </a:extLst>
          </p:cNvPr>
          <p:cNvSpPr txBox="1"/>
          <p:nvPr/>
        </p:nvSpPr>
        <p:spPr>
          <a:xfrm>
            <a:off x="344036" y="1346215"/>
            <a:ext cx="3810763" cy="3924151"/>
          </a:xfrm>
          <a:prstGeom prst="rect">
            <a:avLst/>
          </a:prstGeom>
          <a:noFill/>
        </p:spPr>
        <p:txBody>
          <a:bodyPr wrap="square" lIns="45720" rIns="45720">
            <a:spAutoFit/>
          </a:bodyPr>
          <a:lstStyle/>
          <a:p>
            <a:pPr marL="274320" indent="-237744">
              <a:spcBef>
                <a:spcPts val="1000"/>
              </a:spcBef>
              <a:buClr>
                <a:srgbClr val="6B717A"/>
              </a:buClr>
              <a:buChar char="•"/>
            </a:pPr>
            <a:r>
              <a:rPr lang="en-US" sz="2800" b="0" i="0" dirty="0">
                <a:solidFill>
                  <a:srgbClr val="2B2F36"/>
                </a:solidFill>
              </a:rPr>
              <a:t>a merge marks its classes dirty</a:t>
            </a:r>
          </a:p>
          <a:p>
            <a:pPr marL="274320" indent="-237744">
              <a:spcBef>
                <a:spcPts val="1000"/>
              </a:spcBef>
              <a:buClr>
                <a:srgbClr val="6B717A"/>
              </a:buClr>
              <a:buChar char="•"/>
            </a:pPr>
            <a:r>
              <a:rPr lang="en-US" sz="2800" b="0" i="0" dirty="0">
                <a:solidFill>
                  <a:srgbClr val="2B2F36"/>
                </a:solidFill>
              </a:rPr>
              <a:t>filter all terms for a dirty child</a:t>
            </a:r>
          </a:p>
          <a:p>
            <a:pPr marL="274320" indent="-237744">
              <a:spcBef>
                <a:spcPts val="1000"/>
              </a:spcBef>
              <a:buClr>
                <a:srgbClr val="6B717A"/>
              </a:buClr>
              <a:buChar char="•"/>
            </a:pPr>
            <a:r>
              <a:rPr lang="en-US" sz="2800" b="0" i="0" dirty="0">
                <a:solidFill>
                  <a:srgbClr val="2B2F36"/>
                </a:solidFill>
              </a:rPr>
              <a:t>Compute signature of candidates</a:t>
            </a:r>
            <a:endParaRPr lang="en-US" sz="2800" i="0" dirty="0">
              <a:latin typeface="Calibri"/>
            </a:endParaRPr>
          </a:p>
          <a:p>
            <a:pPr marL="274320" indent="-237744">
              <a:spcBef>
                <a:spcPts val="1000"/>
              </a:spcBef>
              <a:buClr>
                <a:srgbClr val="6B717A"/>
              </a:buClr>
              <a:buChar char="•"/>
            </a:pPr>
            <a:r>
              <a:rPr lang="en-US" sz="2800" b="1" i="0" dirty="0">
                <a:solidFill>
                  <a:srgbClr val="C00000"/>
                </a:solidFill>
                <a:latin typeface="Calibri"/>
              </a:rPr>
              <a:t>Then merge congruent terms, mark dirty, and repeat</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3C0B0-397C-4586-94C0-D75C99BC4F7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F101E86-C843-1CCB-3BF6-024A98DE2EDE}"/>
              </a:ext>
            </a:extLst>
          </p:cNvPr>
          <p:cNvSpPr txBox="1"/>
          <p:nvPr/>
        </p:nvSpPr>
        <p:spPr>
          <a:xfrm>
            <a:off x="518160" y="509563"/>
            <a:ext cx="11155680" cy="517065"/>
          </a:xfrm>
          <a:prstGeom prst="rect">
            <a:avLst/>
          </a:prstGeom>
          <a:noFill/>
        </p:spPr>
        <p:txBody>
          <a:bodyPr wrap="square" lIns="45720" tIns="27432" rIns="45720" bIns="27432" anchor="ctr">
            <a:spAutoFit/>
          </a:bodyPr>
          <a:lstStyle/>
          <a:p>
            <a:r>
              <a:rPr lang="en-US" sz="3000" b="1" dirty="0">
                <a:solidFill>
                  <a:srgbClr val="1F2A44"/>
                </a:solidFill>
              </a:rPr>
              <a:t>Our second algorithm: </a:t>
            </a:r>
            <a:r>
              <a:rPr sz="3000" b="1" i="0" dirty="0" err="1">
                <a:solidFill>
                  <a:srgbClr val="1F2A44"/>
                </a:solidFill>
                <a:latin typeface="Calibri"/>
              </a:rPr>
              <a:t>FilterCC</a:t>
            </a:r>
            <a:r>
              <a:rPr sz="3000" b="1" i="0" dirty="0">
                <a:solidFill>
                  <a:srgbClr val="1F2A44"/>
                </a:solidFill>
                <a:latin typeface="Calibri"/>
              </a:rPr>
              <a:t> on the example</a:t>
            </a:r>
          </a:p>
        </p:txBody>
      </p:sp>
      <p:cxnSp>
        <p:nvCxnSpPr>
          <p:cNvPr id="3" name="Connector 2">
            <a:extLst>
              <a:ext uri="{FF2B5EF4-FFF2-40B4-BE49-F238E27FC236}">
                <a16:creationId xmlns:a16="http://schemas.microsoft.com/office/drawing/2014/main" id="{7AD9792B-4325-0840-B683-E68D483F6097}"/>
              </a:ext>
            </a:extLst>
          </p:cNvPr>
          <p:cNvCxnSpPr/>
          <p:nvPr/>
        </p:nvCxnSpPr>
        <p:spPr>
          <a:xfrm>
            <a:off x="566928" y="1024128"/>
            <a:ext cx="2176272" cy="0"/>
          </a:xfrm>
          <a:prstGeom prst="line">
            <a:avLst/>
          </a:prstGeom>
          <a:ln w="31750">
            <a:solidFill>
              <a:srgbClr val="C8501E"/>
            </a:solidFill>
          </a:ln>
          <a:effectLst/>
        </p:spPr>
      </p:cxnSp>
      <p:sp>
        <p:nvSpPr>
          <p:cNvPr id="4" name="TextBox 3">
            <a:extLst>
              <a:ext uri="{FF2B5EF4-FFF2-40B4-BE49-F238E27FC236}">
                <a16:creationId xmlns:a16="http://schemas.microsoft.com/office/drawing/2014/main" id="{D6F0A9AE-001C-CE59-1F05-8CD90E91C04E}"/>
              </a:ext>
            </a:extLst>
          </p:cNvPr>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56</a:t>
            </a:r>
          </a:p>
        </p:txBody>
      </p:sp>
      <p:sp>
        <p:nvSpPr>
          <p:cNvPr id="6" name="Rounded Rectangle 5">
            <a:extLst>
              <a:ext uri="{FF2B5EF4-FFF2-40B4-BE49-F238E27FC236}">
                <a16:creationId xmlns:a16="http://schemas.microsoft.com/office/drawing/2014/main" id="{B6675429-5F52-4B8A-019E-3CF790C76468}"/>
              </a:ext>
            </a:extLst>
          </p:cNvPr>
          <p:cNvSpPr/>
          <p:nvPr/>
        </p:nvSpPr>
        <p:spPr>
          <a:xfrm>
            <a:off x="4105656" y="465429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7" name="Rounded Rectangle 6">
            <a:extLst>
              <a:ext uri="{FF2B5EF4-FFF2-40B4-BE49-F238E27FC236}">
                <a16:creationId xmlns:a16="http://schemas.microsoft.com/office/drawing/2014/main" id="{ECE802A4-0AE7-2249-DEA0-8B6709B1A153}"/>
              </a:ext>
            </a:extLst>
          </p:cNvPr>
          <p:cNvSpPr/>
          <p:nvPr/>
        </p:nvSpPr>
        <p:spPr>
          <a:xfrm>
            <a:off x="5605271" y="465429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8" name="Rounded Rectangle 7">
            <a:extLst>
              <a:ext uri="{FF2B5EF4-FFF2-40B4-BE49-F238E27FC236}">
                <a16:creationId xmlns:a16="http://schemas.microsoft.com/office/drawing/2014/main" id="{9720EEC6-A88A-15C7-55AB-3D9262B12956}"/>
              </a:ext>
            </a:extLst>
          </p:cNvPr>
          <p:cNvSpPr/>
          <p:nvPr/>
        </p:nvSpPr>
        <p:spPr>
          <a:xfrm>
            <a:off x="7104888" y="465429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9" name="Rounded Rectangle 8">
            <a:extLst>
              <a:ext uri="{FF2B5EF4-FFF2-40B4-BE49-F238E27FC236}">
                <a16:creationId xmlns:a16="http://schemas.microsoft.com/office/drawing/2014/main" id="{BE1F1872-6802-2D3B-95F3-9833F13DF46D}"/>
              </a:ext>
            </a:extLst>
          </p:cNvPr>
          <p:cNvSpPr/>
          <p:nvPr/>
        </p:nvSpPr>
        <p:spPr>
          <a:xfrm>
            <a:off x="8604504" y="4654296"/>
            <a:ext cx="1408175"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0" name="Rounded Rectangle 9">
            <a:extLst>
              <a:ext uri="{FF2B5EF4-FFF2-40B4-BE49-F238E27FC236}">
                <a16:creationId xmlns:a16="http://schemas.microsoft.com/office/drawing/2014/main" id="{34DAA51A-7A11-96A3-A34E-7ED36AD66D3C}"/>
              </a:ext>
            </a:extLst>
          </p:cNvPr>
          <p:cNvSpPr/>
          <p:nvPr/>
        </p:nvSpPr>
        <p:spPr>
          <a:xfrm>
            <a:off x="10104120" y="4654296"/>
            <a:ext cx="1408176" cy="658368"/>
          </a:xfrm>
          <a:prstGeom prst="roundRect">
            <a:avLst>
              <a:gd name="adj" fmla="val 25000"/>
            </a:avLst>
          </a:prstGeom>
          <a:solidFill>
            <a:srgbClr val="EEF0F3"/>
          </a:solidFill>
          <a:ln w="19050">
            <a:solidFill>
              <a:srgbClr val="9AA0A8"/>
            </a:solidFill>
            <a:prstDash val="dash"/>
          </a:ln>
          <a:effectLst/>
        </p:spPr>
        <p:txBody>
          <a:bodyPr wrap="square" lIns="54864" tIns="27432" rIns="54864" bIns="27432" rtlCol="0" anchor="ctr"/>
          <a:lstStyle/>
          <a:p>
            <a:pPr algn="ctr"/>
            <a:endParaRPr/>
          </a:p>
        </p:txBody>
      </p:sp>
      <p:sp>
        <p:nvSpPr>
          <p:cNvPr id="11" name="Rounded Rectangle 10">
            <a:extLst>
              <a:ext uri="{FF2B5EF4-FFF2-40B4-BE49-F238E27FC236}">
                <a16:creationId xmlns:a16="http://schemas.microsoft.com/office/drawing/2014/main" id="{E79CCD62-9B15-1581-FDA0-C132A59323E5}"/>
              </a:ext>
            </a:extLst>
          </p:cNvPr>
          <p:cNvSpPr/>
          <p:nvPr/>
        </p:nvSpPr>
        <p:spPr>
          <a:xfrm>
            <a:off x="4517136" y="2706623"/>
            <a:ext cx="2139696" cy="1078992"/>
          </a:xfrm>
          <a:prstGeom prst="roundRect">
            <a:avLst>
              <a:gd name="adj" fmla="val 25000"/>
            </a:avLst>
          </a:prstGeom>
          <a:solidFill>
            <a:srgbClr val="DCEAF8"/>
          </a:solidFill>
          <a:ln w="19050">
            <a:solidFill>
              <a:srgbClr val="2E6FB0"/>
            </a:solidFill>
            <a:prstDash val="dash"/>
          </a:ln>
          <a:effectLst/>
        </p:spPr>
        <p:txBody>
          <a:bodyPr wrap="square" lIns="54864" tIns="27432" rIns="54864" bIns="27432" rtlCol="0" anchor="ctr"/>
          <a:lstStyle/>
          <a:p>
            <a:pPr algn="ctr"/>
            <a:endParaRPr/>
          </a:p>
        </p:txBody>
      </p:sp>
      <p:sp>
        <p:nvSpPr>
          <p:cNvPr id="12" name="Rounded Rectangle 11">
            <a:extLst>
              <a:ext uri="{FF2B5EF4-FFF2-40B4-BE49-F238E27FC236}">
                <a16:creationId xmlns:a16="http://schemas.microsoft.com/office/drawing/2014/main" id="{B2874F99-9F2E-8FD0-CF47-1C158544C323}"/>
              </a:ext>
            </a:extLst>
          </p:cNvPr>
          <p:cNvSpPr/>
          <p:nvPr/>
        </p:nvSpPr>
        <p:spPr>
          <a:xfrm>
            <a:off x="8951975" y="2706623"/>
            <a:ext cx="2139696" cy="1078992"/>
          </a:xfrm>
          <a:prstGeom prst="roundRect">
            <a:avLst>
              <a:gd name="adj" fmla="val 25000"/>
            </a:avLst>
          </a:prstGeom>
          <a:solidFill>
            <a:srgbClr val="DDF1E2"/>
          </a:solidFill>
          <a:ln w="19050">
            <a:solidFill>
              <a:srgbClr val="3A9A5B"/>
            </a:solidFill>
            <a:prstDash val="dash"/>
          </a:ln>
          <a:effectLst/>
        </p:spPr>
        <p:txBody>
          <a:bodyPr wrap="square" lIns="54864" tIns="27432" rIns="54864" bIns="27432" rtlCol="0" anchor="ctr"/>
          <a:lstStyle/>
          <a:p>
            <a:pPr algn="ctr"/>
            <a:endParaRPr/>
          </a:p>
        </p:txBody>
      </p:sp>
      <p:cxnSp>
        <p:nvCxnSpPr>
          <p:cNvPr id="13" name="Connector 12">
            <a:extLst>
              <a:ext uri="{FF2B5EF4-FFF2-40B4-BE49-F238E27FC236}">
                <a16:creationId xmlns:a16="http://schemas.microsoft.com/office/drawing/2014/main" id="{228CBDE2-0070-0E20-1A49-EDE6FD4C4F2B}"/>
              </a:ext>
            </a:extLst>
          </p:cNvPr>
          <p:cNvCxnSpPr/>
          <p:nvPr/>
        </p:nvCxnSpPr>
        <p:spPr>
          <a:xfrm flipH="1">
            <a:off x="4498848" y="3666743"/>
            <a:ext cx="539496" cy="1106425"/>
          </a:xfrm>
          <a:prstGeom prst="line">
            <a:avLst/>
          </a:prstGeom>
          <a:ln w="15875">
            <a:solidFill>
              <a:srgbClr val="C9CDD3"/>
            </a:solidFill>
          </a:ln>
          <a:effectLst/>
        </p:spPr>
      </p:cxnSp>
      <p:cxnSp>
        <p:nvCxnSpPr>
          <p:cNvPr id="14" name="Connector 13">
            <a:extLst>
              <a:ext uri="{FF2B5EF4-FFF2-40B4-BE49-F238E27FC236}">
                <a16:creationId xmlns:a16="http://schemas.microsoft.com/office/drawing/2014/main" id="{637D8B9E-FAC8-8658-49D6-6D86BFD046F7}"/>
              </a:ext>
            </a:extLst>
          </p:cNvPr>
          <p:cNvCxnSpPr/>
          <p:nvPr/>
        </p:nvCxnSpPr>
        <p:spPr>
          <a:xfrm>
            <a:off x="5038344" y="3666743"/>
            <a:ext cx="960120" cy="1106425"/>
          </a:xfrm>
          <a:prstGeom prst="line">
            <a:avLst/>
          </a:prstGeom>
          <a:ln w="15875">
            <a:solidFill>
              <a:srgbClr val="C9CDD3"/>
            </a:solidFill>
          </a:ln>
          <a:effectLst/>
        </p:spPr>
      </p:cxnSp>
      <p:cxnSp>
        <p:nvCxnSpPr>
          <p:cNvPr id="15" name="Connector 14">
            <a:extLst>
              <a:ext uri="{FF2B5EF4-FFF2-40B4-BE49-F238E27FC236}">
                <a16:creationId xmlns:a16="http://schemas.microsoft.com/office/drawing/2014/main" id="{F78F6E9A-6508-B146-4DB7-3F783D834489}"/>
              </a:ext>
            </a:extLst>
          </p:cNvPr>
          <p:cNvCxnSpPr/>
          <p:nvPr/>
        </p:nvCxnSpPr>
        <p:spPr>
          <a:xfrm flipH="1">
            <a:off x="5120639" y="3666743"/>
            <a:ext cx="1014985" cy="1106425"/>
          </a:xfrm>
          <a:prstGeom prst="line">
            <a:avLst/>
          </a:prstGeom>
          <a:ln w="15875">
            <a:solidFill>
              <a:srgbClr val="C9CDD3"/>
            </a:solidFill>
          </a:ln>
          <a:effectLst/>
        </p:spPr>
      </p:cxnSp>
      <p:cxnSp>
        <p:nvCxnSpPr>
          <p:cNvPr id="16" name="Connector 15">
            <a:extLst>
              <a:ext uri="{FF2B5EF4-FFF2-40B4-BE49-F238E27FC236}">
                <a16:creationId xmlns:a16="http://schemas.microsoft.com/office/drawing/2014/main" id="{5E6C2A3E-2AD8-94CC-318F-BC3915DA1CF3}"/>
              </a:ext>
            </a:extLst>
          </p:cNvPr>
          <p:cNvCxnSpPr/>
          <p:nvPr/>
        </p:nvCxnSpPr>
        <p:spPr>
          <a:xfrm>
            <a:off x="6135624" y="3666743"/>
            <a:ext cx="484632" cy="1106425"/>
          </a:xfrm>
          <a:prstGeom prst="line">
            <a:avLst/>
          </a:prstGeom>
          <a:ln w="15875">
            <a:solidFill>
              <a:srgbClr val="C9CDD3"/>
            </a:solidFill>
          </a:ln>
          <a:effectLst/>
        </p:spPr>
      </p:cxnSp>
      <p:cxnSp>
        <p:nvCxnSpPr>
          <p:cNvPr id="17" name="Connector 16">
            <a:extLst>
              <a:ext uri="{FF2B5EF4-FFF2-40B4-BE49-F238E27FC236}">
                <a16:creationId xmlns:a16="http://schemas.microsoft.com/office/drawing/2014/main" id="{946ED7E8-9A51-2462-7F26-11EA27730B35}"/>
              </a:ext>
            </a:extLst>
          </p:cNvPr>
          <p:cNvCxnSpPr/>
          <p:nvPr/>
        </p:nvCxnSpPr>
        <p:spPr>
          <a:xfrm flipH="1">
            <a:off x="8997696" y="3666743"/>
            <a:ext cx="475487" cy="1106425"/>
          </a:xfrm>
          <a:prstGeom prst="line">
            <a:avLst/>
          </a:prstGeom>
          <a:ln w="15875">
            <a:solidFill>
              <a:srgbClr val="C9CDD3"/>
            </a:solidFill>
          </a:ln>
          <a:effectLst/>
        </p:spPr>
      </p:cxnSp>
      <p:cxnSp>
        <p:nvCxnSpPr>
          <p:cNvPr id="18" name="Connector 17">
            <a:extLst>
              <a:ext uri="{FF2B5EF4-FFF2-40B4-BE49-F238E27FC236}">
                <a16:creationId xmlns:a16="http://schemas.microsoft.com/office/drawing/2014/main" id="{03F0DDD8-FCD8-C9FF-5A84-BA7CAE95DB5D}"/>
              </a:ext>
            </a:extLst>
          </p:cNvPr>
          <p:cNvCxnSpPr/>
          <p:nvPr/>
        </p:nvCxnSpPr>
        <p:spPr>
          <a:xfrm>
            <a:off x="9473183" y="3666743"/>
            <a:ext cx="1024129" cy="1106425"/>
          </a:xfrm>
          <a:prstGeom prst="line">
            <a:avLst/>
          </a:prstGeom>
          <a:ln w="15875">
            <a:solidFill>
              <a:srgbClr val="C9CDD3"/>
            </a:solidFill>
          </a:ln>
          <a:effectLst/>
        </p:spPr>
      </p:cxnSp>
      <p:cxnSp>
        <p:nvCxnSpPr>
          <p:cNvPr id="19" name="Connector 18">
            <a:extLst>
              <a:ext uri="{FF2B5EF4-FFF2-40B4-BE49-F238E27FC236}">
                <a16:creationId xmlns:a16="http://schemas.microsoft.com/office/drawing/2014/main" id="{BD2231CE-3559-1284-2539-8A0C86965099}"/>
              </a:ext>
            </a:extLst>
          </p:cNvPr>
          <p:cNvCxnSpPr/>
          <p:nvPr/>
        </p:nvCxnSpPr>
        <p:spPr>
          <a:xfrm flipH="1">
            <a:off x="9619488" y="3666743"/>
            <a:ext cx="950975" cy="1106425"/>
          </a:xfrm>
          <a:prstGeom prst="line">
            <a:avLst/>
          </a:prstGeom>
          <a:ln w="15875">
            <a:solidFill>
              <a:srgbClr val="C9CDD3"/>
            </a:solidFill>
          </a:ln>
          <a:effectLst/>
        </p:spPr>
      </p:cxnSp>
      <p:cxnSp>
        <p:nvCxnSpPr>
          <p:cNvPr id="20" name="Connector 19">
            <a:extLst>
              <a:ext uri="{FF2B5EF4-FFF2-40B4-BE49-F238E27FC236}">
                <a16:creationId xmlns:a16="http://schemas.microsoft.com/office/drawing/2014/main" id="{04DB9339-ACA0-DA42-CAF9-31EBC17FD429}"/>
              </a:ext>
            </a:extLst>
          </p:cNvPr>
          <p:cNvCxnSpPr/>
          <p:nvPr/>
        </p:nvCxnSpPr>
        <p:spPr>
          <a:xfrm>
            <a:off x="10570463" y="3666743"/>
            <a:ext cx="548641" cy="1106425"/>
          </a:xfrm>
          <a:prstGeom prst="line">
            <a:avLst/>
          </a:prstGeom>
          <a:ln w="15875">
            <a:solidFill>
              <a:srgbClr val="C9CDD3"/>
            </a:solidFill>
          </a:ln>
          <a:effectLst/>
        </p:spPr>
      </p:cxnSp>
      <p:cxnSp>
        <p:nvCxnSpPr>
          <p:cNvPr id="21" name="Connector 20">
            <a:extLst>
              <a:ext uri="{FF2B5EF4-FFF2-40B4-BE49-F238E27FC236}">
                <a16:creationId xmlns:a16="http://schemas.microsoft.com/office/drawing/2014/main" id="{8ADDE663-7BB3-3F96-66F9-981E674E1743}"/>
              </a:ext>
            </a:extLst>
          </p:cNvPr>
          <p:cNvCxnSpPr/>
          <p:nvPr/>
        </p:nvCxnSpPr>
        <p:spPr>
          <a:xfrm>
            <a:off x="7278624" y="2066544"/>
            <a:ext cx="219455" cy="2706624"/>
          </a:xfrm>
          <a:prstGeom prst="line">
            <a:avLst/>
          </a:prstGeom>
          <a:ln w="15875">
            <a:solidFill>
              <a:srgbClr val="C9CDD3"/>
            </a:solidFill>
          </a:ln>
          <a:effectLst/>
        </p:spPr>
      </p:cxnSp>
      <p:cxnSp>
        <p:nvCxnSpPr>
          <p:cNvPr id="22" name="Connector 21">
            <a:extLst>
              <a:ext uri="{FF2B5EF4-FFF2-40B4-BE49-F238E27FC236}">
                <a16:creationId xmlns:a16="http://schemas.microsoft.com/office/drawing/2014/main" id="{6C157D30-5ED4-522A-2AB9-4E039A7176FD}"/>
              </a:ext>
            </a:extLst>
          </p:cNvPr>
          <p:cNvCxnSpPr/>
          <p:nvPr/>
        </p:nvCxnSpPr>
        <p:spPr>
          <a:xfrm flipH="1">
            <a:off x="5038344" y="2066544"/>
            <a:ext cx="2240280" cy="749807"/>
          </a:xfrm>
          <a:prstGeom prst="line">
            <a:avLst/>
          </a:prstGeom>
          <a:ln w="15875">
            <a:solidFill>
              <a:srgbClr val="8A8F98"/>
            </a:solidFill>
          </a:ln>
          <a:effectLst/>
        </p:spPr>
      </p:cxnSp>
      <p:cxnSp>
        <p:nvCxnSpPr>
          <p:cNvPr id="23" name="Connector 22">
            <a:extLst>
              <a:ext uri="{FF2B5EF4-FFF2-40B4-BE49-F238E27FC236}">
                <a16:creationId xmlns:a16="http://schemas.microsoft.com/office/drawing/2014/main" id="{64631AFE-CDB5-8616-8C68-3C50ED1897EF}"/>
              </a:ext>
            </a:extLst>
          </p:cNvPr>
          <p:cNvCxnSpPr/>
          <p:nvPr/>
        </p:nvCxnSpPr>
        <p:spPr>
          <a:xfrm>
            <a:off x="7278624" y="2066544"/>
            <a:ext cx="2194559" cy="749807"/>
          </a:xfrm>
          <a:prstGeom prst="line">
            <a:avLst/>
          </a:prstGeom>
          <a:ln w="15875">
            <a:solidFill>
              <a:srgbClr val="8A8F98"/>
            </a:solidFill>
          </a:ln>
          <a:effectLst/>
        </p:spPr>
      </p:cxnSp>
      <p:cxnSp>
        <p:nvCxnSpPr>
          <p:cNvPr id="24" name="Connector 23">
            <a:extLst>
              <a:ext uri="{FF2B5EF4-FFF2-40B4-BE49-F238E27FC236}">
                <a16:creationId xmlns:a16="http://schemas.microsoft.com/office/drawing/2014/main" id="{8D43C4EB-E81C-280F-9DBD-F16C77F7818F}"/>
              </a:ext>
            </a:extLst>
          </p:cNvPr>
          <p:cNvCxnSpPr/>
          <p:nvPr/>
        </p:nvCxnSpPr>
        <p:spPr>
          <a:xfrm flipH="1">
            <a:off x="8119872" y="2066544"/>
            <a:ext cx="484632" cy="2706624"/>
          </a:xfrm>
          <a:prstGeom prst="line">
            <a:avLst/>
          </a:prstGeom>
          <a:ln w="15875">
            <a:solidFill>
              <a:srgbClr val="C9CDD3"/>
            </a:solidFill>
          </a:ln>
          <a:effectLst/>
        </p:spPr>
      </p:cxnSp>
      <p:cxnSp>
        <p:nvCxnSpPr>
          <p:cNvPr id="25" name="Connector 24">
            <a:extLst>
              <a:ext uri="{FF2B5EF4-FFF2-40B4-BE49-F238E27FC236}">
                <a16:creationId xmlns:a16="http://schemas.microsoft.com/office/drawing/2014/main" id="{CDDEB357-034C-07EA-AFA6-F8940B217604}"/>
              </a:ext>
            </a:extLst>
          </p:cNvPr>
          <p:cNvCxnSpPr/>
          <p:nvPr/>
        </p:nvCxnSpPr>
        <p:spPr>
          <a:xfrm flipH="1">
            <a:off x="6135624" y="2066544"/>
            <a:ext cx="2468880" cy="749807"/>
          </a:xfrm>
          <a:prstGeom prst="line">
            <a:avLst/>
          </a:prstGeom>
          <a:ln w="15875">
            <a:solidFill>
              <a:srgbClr val="8A8F98"/>
            </a:solidFill>
          </a:ln>
          <a:effectLst/>
        </p:spPr>
      </p:cxnSp>
      <p:cxnSp>
        <p:nvCxnSpPr>
          <p:cNvPr id="26" name="Connector 25">
            <a:extLst>
              <a:ext uri="{FF2B5EF4-FFF2-40B4-BE49-F238E27FC236}">
                <a16:creationId xmlns:a16="http://schemas.microsoft.com/office/drawing/2014/main" id="{F14E8D66-20B9-C852-B4FA-DD83201D154A}"/>
              </a:ext>
            </a:extLst>
          </p:cNvPr>
          <p:cNvCxnSpPr/>
          <p:nvPr/>
        </p:nvCxnSpPr>
        <p:spPr>
          <a:xfrm>
            <a:off x="8604504" y="2066544"/>
            <a:ext cx="1965959" cy="749807"/>
          </a:xfrm>
          <a:prstGeom prst="line">
            <a:avLst/>
          </a:prstGeom>
          <a:ln w="15875">
            <a:solidFill>
              <a:srgbClr val="8A8F98"/>
            </a:solidFill>
          </a:ln>
          <a:effectLst/>
        </p:spPr>
      </p:cxnSp>
      <p:sp>
        <p:nvSpPr>
          <p:cNvPr id="27" name="Rounded Rectangle 26">
            <a:extLst>
              <a:ext uri="{FF2B5EF4-FFF2-40B4-BE49-F238E27FC236}">
                <a16:creationId xmlns:a16="http://schemas.microsoft.com/office/drawing/2014/main" id="{AEEF99E4-CB90-DD92-E503-BF4281465F51}"/>
              </a:ext>
            </a:extLst>
          </p:cNvPr>
          <p:cNvSpPr/>
          <p:nvPr/>
        </p:nvSpPr>
        <p:spPr>
          <a:xfrm>
            <a:off x="4224528"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r</a:t>
            </a:r>
          </a:p>
        </p:txBody>
      </p:sp>
      <p:sp>
        <p:nvSpPr>
          <p:cNvPr id="28" name="Rounded Rectangle 27">
            <a:extLst>
              <a:ext uri="{FF2B5EF4-FFF2-40B4-BE49-F238E27FC236}">
                <a16:creationId xmlns:a16="http://schemas.microsoft.com/office/drawing/2014/main" id="{36451B60-A396-A5AE-0BB3-0DD96455D0CB}"/>
              </a:ext>
            </a:extLst>
          </p:cNvPr>
          <p:cNvSpPr/>
          <p:nvPr/>
        </p:nvSpPr>
        <p:spPr>
          <a:xfrm>
            <a:off x="4846320"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r′</a:t>
            </a:r>
          </a:p>
        </p:txBody>
      </p:sp>
      <p:sp>
        <p:nvSpPr>
          <p:cNvPr id="29" name="Rounded Rectangle 28">
            <a:extLst>
              <a:ext uri="{FF2B5EF4-FFF2-40B4-BE49-F238E27FC236}">
                <a16:creationId xmlns:a16="http://schemas.microsoft.com/office/drawing/2014/main" id="{AE21B4DA-7CA5-7BE1-76FD-1A2E1B74DF12}"/>
              </a:ext>
            </a:extLst>
          </p:cNvPr>
          <p:cNvSpPr/>
          <p:nvPr/>
        </p:nvSpPr>
        <p:spPr>
          <a:xfrm>
            <a:off x="5724144"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s</a:t>
            </a:r>
          </a:p>
        </p:txBody>
      </p:sp>
      <p:sp>
        <p:nvSpPr>
          <p:cNvPr id="30" name="Rounded Rectangle 29">
            <a:extLst>
              <a:ext uri="{FF2B5EF4-FFF2-40B4-BE49-F238E27FC236}">
                <a16:creationId xmlns:a16="http://schemas.microsoft.com/office/drawing/2014/main" id="{83966962-3E06-4A84-54D8-5301D2B2A7CC}"/>
              </a:ext>
            </a:extLst>
          </p:cNvPr>
          <p:cNvSpPr/>
          <p:nvPr/>
        </p:nvSpPr>
        <p:spPr>
          <a:xfrm>
            <a:off x="6345936"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s′</a:t>
            </a:r>
          </a:p>
        </p:txBody>
      </p:sp>
      <p:sp>
        <p:nvSpPr>
          <p:cNvPr id="31" name="Rounded Rectangle 30">
            <a:extLst>
              <a:ext uri="{FF2B5EF4-FFF2-40B4-BE49-F238E27FC236}">
                <a16:creationId xmlns:a16="http://schemas.microsoft.com/office/drawing/2014/main" id="{924569BF-FC12-AE64-05F7-C2849148AD56}"/>
              </a:ext>
            </a:extLst>
          </p:cNvPr>
          <p:cNvSpPr/>
          <p:nvPr/>
        </p:nvSpPr>
        <p:spPr>
          <a:xfrm>
            <a:off x="7223759"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c</a:t>
            </a:r>
          </a:p>
        </p:txBody>
      </p:sp>
      <p:sp>
        <p:nvSpPr>
          <p:cNvPr id="32" name="Rounded Rectangle 31">
            <a:extLst>
              <a:ext uri="{FF2B5EF4-FFF2-40B4-BE49-F238E27FC236}">
                <a16:creationId xmlns:a16="http://schemas.microsoft.com/office/drawing/2014/main" id="{7294A3B2-0A3E-77D0-9A53-9CC87B0917EA}"/>
              </a:ext>
            </a:extLst>
          </p:cNvPr>
          <p:cNvSpPr/>
          <p:nvPr/>
        </p:nvSpPr>
        <p:spPr>
          <a:xfrm>
            <a:off x="7845552"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c′</a:t>
            </a:r>
          </a:p>
        </p:txBody>
      </p:sp>
      <p:sp>
        <p:nvSpPr>
          <p:cNvPr id="33" name="Rounded Rectangle 32">
            <a:extLst>
              <a:ext uri="{FF2B5EF4-FFF2-40B4-BE49-F238E27FC236}">
                <a16:creationId xmlns:a16="http://schemas.microsoft.com/office/drawing/2014/main" id="{00810288-67F2-F5D7-E6AC-FD07185D0F40}"/>
              </a:ext>
            </a:extLst>
          </p:cNvPr>
          <p:cNvSpPr/>
          <p:nvPr/>
        </p:nvSpPr>
        <p:spPr>
          <a:xfrm>
            <a:off x="8723376"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u</a:t>
            </a:r>
          </a:p>
        </p:txBody>
      </p:sp>
      <p:sp>
        <p:nvSpPr>
          <p:cNvPr id="34" name="Rounded Rectangle 33">
            <a:extLst>
              <a:ext uri="{FF2B5EF4-FFF2-40B4-BE49-F238E27FC236}">
                <a16:creationId xmlns:a16="http://schemas.microsoft.com/office/drawing/2014/main" id="{A302088A-930D-F458-98AB-6AD4699722ED}"/>
              </a:ext>
            </a:extLst>
          </p:cNvPr>
          <p:cNvSpPr/>
          <p:nvPr/>
        </p:nvSpPr>
        <p:spPr>
          <a:xfrm>
            <a:off x="9345167"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u′</a:t>
            </a:r>
          </a:p>
        </p:txBody>
      </p:sp>
      <p:sp>
        <p:nvSpPr>
          <p:cNvPr id="35" name="Rounded Rectangle 34">
            <a:extLst>
              <a:ext uri="{FF2B5EF4-FFF2-40B4-BE49-F238E27FC236}">
                <a16:creationId xmlns:a16="http://schemas.microsoft.com/office/drawing/2014/main" id="{657BDF7C-59DB-B82B-6A09-A8CE7E67BFBC}"/>
              </a:ext>
            </a:extLst>
          </p:cNvPr>
          <p:cNvSpPr/>
          <p:nvPr/>
        </p:nvSpPr>
        <p:spPr>
          <a:xfrm>
            <a:off x="10222992"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v</a:t>
            </a:r>
          </a:p>
        </p:txBody>
      </p:sp>
      <p:sp>
        <p:nvSpPr>
          <p:cNvPr id="36" name="Rounded Rectangle 35">
            <a:extLst>
              <a:ext uri="{FF2B5EF4-FFF2-40B4-BE49-F238E27FC236}">
                <a16:creationId xmlns:a16="http://schemas.microsoft.com/office/drawing/2014/main" id="{7D8C3491-098F-FCB6-6322-C4702652F269}"/>
              </a:ext>
            </a:extLst>
          </p:cNvPr>
          <p:cNvSpPr/>
          <p:nvPr/>
        </p:nvSpPr>
        <p:spPr>
          <a:xfrm>
            <a:off x="10844784" y="4773167"/>
            <a:ext cx="548640" cy="420624"/>
          </a:xfrm>
          <a:prstGeom prst="roundRect">
            <a:avLst>
              <a:gd name="adj" fmla="val 20000"/>
            </a:avLst>
          </a:prstGeom>
          <a:solidFill>
            <a:srgbClr val="FFFFFF"/>
          </a:solidFill>
          <a:ln w="12700">
            <a:solidFill>
              <a:srgbClr val="C9CDD3"/>
            </a:solidFill>
          </a:ln>
          <a:effectLst/>
        </p:spPr>
        <p:txBody>
          <a:bodyPr wrap="square" lIns="54864" tIns="0" rIns="54864" bIns="0" rtlCol="0" anchor="ctr"/>
          <a:lstStyle/>
          <a:p>
            <a:pPr algn="ctr"/>
            <a:r>
              <a:rPr sz="1400" b="1" i="0">
                <a:solidFill>
                  <a:srgbClr val="C9CDD3"/>
                </a:solidFill>
                <a:latin typeface="Calibri"/>
              </a:rPr>
              <a:t>v′</a:t>
            </a:r>
          </a:p>
        </p:txBody>
      </p:sp>
      <p:sp>
        <p:nvSpPr>
          <p:cNvPr id="37" name="Rounded Rectangle 36">
            <a:extLst>
              <a:ext uri="{FF2B5EF4-FFF2-40B4-BE49-F238E27FC236}">
                <a16:creationId xmlns:a16="http://schemas.microsoft.com/office/drawing/2014/main" id="{3BE0D377-3081-60A3-C8DF-40901F3FDF42}"/>
              </a:ext>
            </a:extLst>
          </p:cNvPr>
          <p:cNvSpPr/>
          <p:nvPr/>
        </p:nvSpPr>
        <p:spPr>
          <a:xfrm>
            <a:off x="4636008" y="309981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38" name="TextBox 37">
            <a:extLst>
              <a:ext uri="{FF2B5EF4-FFF2-40B4-BE49-F238E27FC236}">
                <a16:creationId xmlns:a16="http://schemas.microsoft.com/office/drawing/2014/main" id="{28F3C036-CDBB-A7C9-4736-48890DD5B2AF}"/>
              </a:ext>
            </a:extLst>
          </p:cNvPr>
          <p:cNvSpPr txBox="1"/>
          <p:nvPr/>
        </p:nvSpPr>
        <p:spPr>
          <a:xfrm>
            <a:off x="4626863" y="283463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a₁</a:t>
            </a:r>
          </a:p>
        </p:txBody>
      </p:sp>
      <p:sp>
        <p:nvSpPr>
          <p:cNvPr id="39" name="Rounded Rectangle 38">
            <a:extLst>
              <a:ext uri="{FF2B5EF4-FFF2-40B4-BE49-F238E27FC236}">
                <a16:creationId xmlns:a16="http://schemas.microsoft.com/office/drawing/2014/main" id="{311EF23F-E89D-8D9E-5060-5E98689DF6F0}"/>
              </a:ext>
            </a:extLst>
          </p:cNvPr>
          <p:cNvSpPr/>
          <p:nvPr/>
        </p:nvSpPr>
        <p:spPr>
          <a:xfrm>
            <a:off x="5733287" y="309981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AND</a:t>
            </a:r>
          </a:p>
        </p:txBody>
      </p:sp>
      <p:sp>
        <p:nvSpPr>
          <p:cNvPr id="40" name="TextBox 39">
            <a:extLst>
              <a:ext uri="{FF2B5EF4-FFF2-40B4-BE49-F238E27FC236}">
                <a16:creationId xmlns:a16="http://schemas.microsoft.com/office/drawing/2014/main" id="{065CAAF4-43B0-820D-1E0E-1040A26419FC}"/>
              </a:ext>
            </a:extLst>
          </p:cNvPr>
          <p:cNvSpPr txBox="1"/>
          <p:nvPr/>
        </p:nvSpPr>
        <p:spPr>
          <a:xfrm>
            <a:off x="5724144" y="283463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a₂</a:t>
            </a:r>
          </a:p>
        </p:txBody>
      </p:sp>
      <p:sp>
        <p:nvSpPr>
          <p:cNvPr id="41" name="Rounded Rectangle 40">
            <a:extLst>
              <a:ext uri="{FF2B5EF4-FFF2-40B4-BE49-F238E27FC236}">
                <a16:creationId xmlns:a16="http://schemas.microsoft.com/office/drawing/2014/main" id="{D908F68A-76F5-02B2-9EC2-4FB84BDCDEF6}"/>
              </a:ext>
            </a:extLst>
          </p:cNvPr>
          <p:cNvSpPr/>
          <p:nvPr/>
        </p:nvSpPr>
        <p:spPr>
          <a:xfrm>
            <a:off x="9070848" y="309981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2" name="TextBox 41">
            <a:extLst>
              <a:ext uri="{FF2B5EF4-FFF2-40B4-BE49-F238E27FC236}">
                <a16:creationId xmlns:a16="http://schemas.microsoft.com/office/drawing/2014/main" id="{A1F59A61-9EA6-DF72-D29C-5916FBDFE35B}"/>
              </a:ext>
            </a:extLst>
          </p:cNvPr>
          <p:cNvSpPr txBox="1"/>
          <p:nvPr/>
        </p:nvSpPr>
        <p:spPr>
          <a:xfrm>
            <a:off x="9061704" y="283463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x₁</a:t>
            </a:r>
          </a:p>
        </p:txBody>
      </p:sp>
      <p:sp>
        <p:nvSpPr>
          <p:cNvPr id="43" name="Rounded Rectangle 42">
            <a:extLst>
              <a:ext uri="{FF2B5EF4-FFF2-40B4-BE49-F238E27FC236}">
                <a16:creationId xmlns:a16="http://schemas.microsoft.com/office/drawing/2014/main" id="{BFE37745-158E-779D-A8B4-30953EF25376}"/>
              </a:ext>
            </a:extLst>
          </p:cNvPr>
          <p:cNvSpPr/>
          <p:nvPr/>
        </p:nvSpPr>
        <p:spPr>
          <a:xfrm>
            <a:off x="10168128" y="3099815"/>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XOR</a:t>
            </a:r>
          </a:p>
        </p:txBody>
      </p:sp>
      <p:sp>
        <p:nvSpPr>
          <p:cNvPr id="44" name="TextBox 43">
            <a:extLst>
              <a:ext uri="{FF2B5EF4-FFF2-40B4-BE49-F238E27FC236}">
                <a16:creationId xmlns:a16="http://schemas.microsoft.com/office/drawing/2014/main" id="{6EED88EC-794A-FCAC-60EB-A7120F32417B}"/>
              </a:ext>
            </a:extLst>
          </p:cNvPr>
          <p:cNvSpPr txBox="1"/>
          <p:nvPr/>
        </p:nvSpPr>
        <p:spPr>
          <a:xfrm>
            <a:off x="10158984" y="2834639"/>
            <a:ext cx="822960" cy="256032"/>
          </a:xfrm>
          <a:prstGeom prst="rect">
            <a:avLst/>
          </a:prstGeom>
          <a:noFill/>
        </p:spPr>
        <p:txBody>
          <a:bodyPr wrap="square" lIns="45720" tIns="27432" rIns="45720" bIns="27432" anchor="ctr">
            <a:spAutoFit/>
          </a:bodyPr>
          <a:lstStyle/>
          <a:p>
            <a:pPr algn="ctr"/>
            <a:r>
              <a:rPr sz="1300" b="1" i="0">
                <a:solidFill>
                  <a:srgbClr val="2B2F36"/>
                </a:solidFill>
                <a:latin typeface="Calibri"/>
              </a:rPr>
              <a:t>x₂</a:t>
            </a:r>
          </a:p>
        </p:txBody>
      </p:sp>
      <p:sp>
        <p:nvSpPr>
          <p:cNvPr id="45" name="Rounded Rectangle 44">
            <a:extLst>
              <a:ext uri="{FF2B5EF4-FFF2-40B4-BE49-F238E27FC236}">
                <a16:creationId xmlns:a16="http://schemas.microsoft.com/office/drawing/2014/main" id="{853EC41A-3A4A-8CEB-E961-2BBECA5BB36B}"/>
              </a:ext>
            </a:extLst>
          </p:cNvPr>
          <p:cNvSpPr/>
          <p:nvPr/>
        </p:nvSpPr>
        <p:spPr>
          <a:xfrm>
            <a:off x="6876288" y="149961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6" name="TextBox 45">
            <a:extLst>
              <a:ext uri="{FF2B5EF4-FFF2-40B4-BE49-F238E27FC236}">
                <a16:creationId xmlns:a16="http://schemas.microsoft.com/office/drawing/2014/main" id="{6B0133F1-B7D4-8D42-76BB-53D097A8621A}"/>
              </a:ext>
            </a:extLst>
          </p:cNvPr>
          <p:cNvSpPr txBox="1"/>
          <p:nvPr/>
        </p:nvSpPr>
        <p:spPr>
          <a:xfrm>
            <a:off x="6547103" y="1645920"/>
            <a:ext cx="320040" cy="274320"/>
          </a:xfrm>
          <a:prstGeom prst="rect">
            <a:avLst/>
          </a:prstGeom>
          <a:noFill/>
        </p:spPr>
        <p:txBody>
          <a:bodyPr wrap="square" lIns="45720" tIns="27432" rIns="45720" bIns="27432" anchor="ctr">
            <a:spAutoFit/>
          </a:bodyPr>
          <a:lstStyle/>
          <a:p>
            <a:pPr algn="r"/>
            <a:r>
              <a:rPr sz="1300" b="1" i="0">
                <a:solidFill>
                  <a:srgbClr val="2B2F36"/>
                </a:solidFill>
                <a:latin typeface="Calibri"/>
              </a:rPr>
              <a:t>m₁</a:t>
            </a:r>
          </a:p>
        </p:txBody>
      </p:sp>
      <p:sp>
        <p:nvSpPr>
          <p:cNvPr id="47" name="Rounded Rectangle 46">
            <a:extLst>
              <a:ext uri="{FF2B5EF4-FFF2-40B4-BE49-F238E27FC236}">
                <a16:creationId xmlns:a16="http://schemas.microsoft.com/office/drawing/2014/main" id="{46CDF1CA-7D81-C501-C0EA-A1B9B0107BB0}"/>
              </a:ext>
            </a:extLst>
          </p:cNvPr>
          <p:cNvSpPr/>
          <p:nvPr/>
        </p:nvSpPr>
        <p:spPr>
          <a:xfrm>
            <a:off x="8202168" y="1499616"/>
            <a:ext cx="804672" cy="566928"/>
          </a:xfrm>
          <a:prstGeom prst="roundRect">
            <a:avLst>
              <a:gd name="adj" fmla="val 20000"/>
            </a:avLst>
          </a:prstGeom>
          <a:solidFill>
            <a:srgbClr val="FFFFFF"/>
          </a:solidFill>
          <a:ln w="12700">
            <a:solidFill>
              <a:srgbClr val="4A4F57"/>
            </a:solidFill>
          </a:ln>
          <a:effectLst/>
        </p:spPr>
        <p:txBody>
          <a:bodyPr wrap="square" lIns="54864" tIns="0" rIns="54864" bIns="0" rtlCol="0" anchor="ctr"/>
          <a:lstStyle/>
          <a:p>
            <a:pPr algn="ctr"/>
            <a:r>
              <a:rPr sz="1600" b="1" i="0">
                <a:solidFill>
                  <a:srgbClr val="2B2F36"/>
                </a:solidFill>
                <a:latin typeface="Calibri"/>
              </a:rPr>
              <a:t>ITE</a:t>
            </a:r>
          </a:p>
        </p:txBody>
      </p:sp>
      <p:sp>
        <p:nvSpPr>
          <p:cNvPr id="48" name="TextBox 47">
            <a:extLst>
              <a:ext uri="{FF2B5EF4-FFF2-40B4-BE49-F238E27FC236}">
                <a16:creationId xmlns:a16="http://schemas.microsoft.com/office/drawing/2014/main" id="{CFA2B973-4287-92FB-3C04-3B797B33D388}"/>
              </a:ext>
            </a:extLst>
          </p:cNvPr>
          <p:cNvSpPr txBox="1"/>
          <p:nvPr/>
        </p:nvSpPr>
        <p:spPr>
          <a:xfrm>
            <a:off x="9025128" y="1645920"/>
            <a:ext cx="320040" cy="274320"/>
          </a:xfrm>
          <a:prstGeom prst="rect">
            <a:avLst/>
          </a:prstGeom>
          <a:noFill/>
        </p:spPr>
        <p:txBody>
          <a:bodyPr wrap="square" lIns="45720" tIns="27432" rIns="45720" bIns="27432" anchor="ctr">
            <a:spAutoFit/>
          </a:bodyPr>
          <a:lstStyle/>
          <a:p>
            <a:pPr algn="l"/>
            <a:r>
              <a:rPr sz="1300" b="1" i="0">
                <a:solidFill>
                  <a:srgbClr val="2B2F36"/>
                </a:solidFill>
                <a:latin typeface="Calibri"/>
              </a:rPr>
              <a:t>m₂</a:t>
            </a:r>
          </a:p>
        </p:txBody>
      </p:sp>
      <p:sp>
        <p:nvSpPr>
          <p:cNvPr id="52" name="TextBox 51">
            <a:extLst>
              <a:ext uri="{FF2B5EF4-FFF2-40B4-BE49-F238E27FC236}">
                <a16:creationId xmlns:a16="http://schemas.microsoft.com/office/drawing/2014/main" id="{8F7C3E38-1888-7DB5-C9DF-0F3133922478}"/>
              </a:ext>
            </a:extLst>
          </p:cNvPr>
          <p:cNvSpPr txBox="1"/>
          <p:nvPr/>
        </p:nvSpPr>
        <p:spPr>
          <a:xfrm>
            <a:off x="5221223" y="3108960"/>
            <a:ext cx="731520" cy="548640"/>
          </a:xfrm>
          <a:prstGeom prst="rect">
            <a:avLst/>
          </a:prstGeom>
          <a:noFill/>
        </p:spPr>
        <p:txBody>
          <a:bodyPr wrap="square" lIns="45720" tIns="27432" rIns="45720" bIns="27432" anchor="ctr">
            <a:spAutoFit/>
          </a:bodyPr>
          <a:lstStyle/>
          <a:p>
            <a:pPr algn="ctr"/>
            <a:r>
              <a:rPr sz="2200" b="1" i="0">
                <a:solidFill>
                  <a:srgbClr val="C8501E"/>
                </a:solidFill>
                <a:latin typeface="Calibri"/>
              </a:rPr>
              <a:t>∪</a:t>
            </a:r>
          </a:p>
        </p:txBody>
      </p:sp>
      <p:sp>
        <p:nvSpPr>
          <p:cNvPr id="53" name="TextBox 52">
            <a:extLst>
              <a:ext uri="{FF2B5EF4-FFF2-40B4-BE49-F238E27FC236}">
                <a16:creationId xmlns:a16="http://schemas.microsoft.com/office/drawing/2014/main" id="{611A7A12-253A-5CB0-6C65-8A7E40157407}"/>
              </a:ext>
            </a:extLst>
          </p:cNvPr>
          <p:cNvSpPr txBox="1"/>
          <p:nvPr/>
        </p:nvSpPr>
        <p:spPr>
          <a:xfrm>
            <a:off x="9656063" y="3108960"/>
            <a:ext cx="731520" cy="548640"/>
          </a:xfrm>
          <a:prstGeom prst="rect">
            <a:avLst/>
          </a:prstGeom>
          <a:noFill/>
        </p:spPr>
        <p:txBody>
          <a:bodyPr wrap="square" lIns="45720" tIns="27432" rIns="45720" bIns="27432" anchor="ctr">
            <a:spAutoFit/>
          </a:bodyPr>
          <a:lstStyle/>
          <a:p>
            <a:pPr algn="ctr"/>
            <a:r>
              <a:rPr sz="2200" b="1" i="0">
                <a:solidFill>
                  <a:srgbClr val="C8501E"/>
                </a:solidFill>
                <a:latin typeface="Calibri"/>
              </a:rPr>
              <a:t>∪</a:t>
            </a:r>
          </a:p>
        </p:txBody>
      </p:sp>
      <p:sp>
        <p:nvSpPr>
          <p:cNvPr id="54" name="FilterCC dirty tag 54">
            <a:extLst>
              <a:ext uri="{FF2B5EF4-FFF2-40B4-BE49-F238E27FC236}">
                <a16:creationId xmlns:a16="http://schemas.microsoft.com/office/drawing/2014/main" id="{AAE2C38A-E767-3800-D33A-800C5949A70C}"/>
              </a:ext>
            </a:extLst>
          </p:cNvPr>
          <p:cNvSpPr/>
          <p:nvPr/>
        </p:nvSpPr>
        <p:spPr>
          <a:xfrm>
            <a:off x="6181344" y="2578607"/>
            <a:ext cx="512064" cy="237744"/>
          </a:xfrm>
          <a:prstGeom prst="roundRect">
            <a:avLst>
              <a:gd name="adj" fmla="val 50000"/>
            </a:avLst>
          </a:prstGeom>
          <a:solidFill>
            <a:srgbClr val="FFFFFF"/>
          </a:solidFill>
          <a:ln w="15875">
            <a:solidFill>
              <a:srgbClr val="C8501E"/>
            </a:solidFill>
          </a:ln>
          <a:effectLst/>
        </p:spPr>
        <p:txBody>
          <a:bodyPr wrap="square" lIns="27432" tIns="0" rIns="27432" bIns="0" rtlCol="0" anchor="ctr"/>
          <a:lstStyle/>
          <a:p>
            <a:pPr algn="ctr"/>
            <a:r>
              <a:rPr sz="950" b="1" i="0">
                <a:solidFill>
                  <a:srgbClr val="C8501E"/>
                </a:solidFill>
                <a:latin typeface="Calibri"/>
              </a:rPr>
              <a:t>dirty</a:t>
            </a:r>
          </a:p>
        </p:txBody>
      </p:sp>
      <p:sp>
        <p:nvSpPr>
          <p:cNvPr id="55" name="FilterCC dirty tag 55">
            <a:extLst>
              <a:ext uri="{FF2B5EF4-FFF2-40B4-BE49-F238E27FC236}">
                <a16:creationId xmlns:a16="http://schemas.microsoft.com/office/drawing/2014/main" id="{A95A50AE-51C1-04D4-B2A3-C071DFF3BD12}"/>
              </a:ext>
            </a:extLst>
          </p:cNvPr>
          <p:cNvSpPr/>
          <p:nvPr/>
        </p:nvSpPr>
        <p:spPr>
          <a:xfrm>
            <a:off x="10616183" y="2578607"/>
            <a:ext cx="512064" cy="237744"/>
          </a:xfrm>
          <a:prstGeom prst="roundRect">
            <a:avLst>
              <a:gd name="adj" fmla="val 50000"/>
            </a:avLst>
          </a:prstGeom>
          <a:solidFill>
            <a:srgbClr val="FFFFFF"/>
          </a:solidFill>
          <a:ln w="15875">
            <a:solidFill>
              <a:srgbClr val="C8501E"/>
            </a:solidFill>
          </a:ln>
          <a:effectLst/>
        </p:spPr>
        <p:txBody>
          <a:bodyPr wrap="square" lIns="27432" tIns="0" rIns="27432" bIns="0" rtlCol="0" anchor="ctr"/>
          <a:lstStyle/>
          <a:p>
            <a:pPr algn="ctr"/>
            <a:r>
              <a:rPr sz="950" b="1" i="0">
                <a:solidFill>
                  <a:srgbClr val="C8501E"/>
                </a:solidFill>
                <a:latin typeface="Calibri"/>
              </a:rPr>
              <a:t>dirty</a:t>
            </a:r>
          </a:p>
        </p:txBody>
      </p:sp>
      <p:sp>
        <p:nvSpPr>
          <p:cNvPr id="58" name="FilterCC conclusion">
            <a:extLst>
              <a:ext uri="{FF2B5EF4-FFF2-40B4-BE49-F238E27FC236}">
                <a16:creationId xmlns:a16="http://schemas.microsoft.com/office/drawing/2014/main" id="{76164149-B76F-14EA-5B42-A87865287B80}"/>
              </a:ext>
            </a:extLst>
          </p:cNvPr>
          <p:cNvSpPr/>
          <p:nvPr/>
        </p:nvSpPr>
        <p:spPr>
          <a:xfrm>
            <a:off x="486916" y="5746440"/>
            <a:ext cx="10440000" cy="822960"/>
          </a:xfrm>
          <a:prstGeom prst="roundRect">
            <a:avLst>
              <a:gd name="adj" fmla="val 15000"/>
            </a:avLst>
          </a:prstGeom>
          <a:solidFill>
            <a:srgbClr val="1F2A44"/>
          </a:solidFill>
          <a:ln>
            <a:noFill/>
          </a:ln>
          <a:effectLst/>
        </p:spPr>
        <p:txBody>
          <a:bodyPr wrap="square" lIns="54864" tIns="27432" rIns="54864" bIns="27432" rtlCol="0" anchor="ctr"/>
          <a:lstStyle/>
          <a:p>
            <a:pPr algn="ctr"/>
            <a:r>
              <a:rPr lang="en-US" sz="2200" b="1" i="0" dirty="0">
                <a:solidFill>
                  <a:srgbClr val="FFFFFF"/>
                </a:solidFill>
                <a:latin typeface="Calibri"/>
              </a:rPr>
              <a:t>No</a:t>
            </a:r>
            <a:r>
              <a:rPr sz="2200" b="1" i="0" dirty="0">
                <a:solidFill>
                  <a:srgbClr val="FFFFFF"/>
                </a:solidFill>
                <a:latin typeface="Calibri"/>
              </a:rPr>
              <a:t> allocation, but a scan of every term per round</a:t>
            </a:r>
            <a:r>
              <a:rPr lang="en-US" sz="2200" b="1" dirty="0">
                <a:solidFill>
                  <a:srgbClr val="FFFFFF"/>
                </a:solidFill>
                <a:latin typeface="Calibri"/>
              </a:rPr>
              <a:t>.</a:t>
            </a:r>
          </a:p>
          <a:p>
            <a:pPr algn="ctr"/>
            <a:r>
              <a:rPr lang="en-US" sz="2200" b="1" i="0" dirty="0">
                <a:solidFill>
                  <a:srgbClr val="FFFFFF"/>
                </a:solidFill>
                <a:latin typeface="Calibri"/>
              </a:rPr>
              <a:t>This beats </a:t>
            </a:r>
            <a:r>
              <a:rPr lang="en-US" sz="2200" b="1" i="0" dirty="0" err="1">
                <a:solidFill>
                  <a:srgbClr val="FFFFFF"/>
                </a:solidFill>
                <a:latin typeface="Calibri"/>
              </a:rPr>
              <a:t>Parent</a:t>
            </a:r>
            <a:r>
              <a:rPr lang="en-US" sz="2200" b="1" dirty="0" err="1">
                <a:solidFill>
                  <a:srgbClr val="FFFFFF"/>
                </a:solidFill>
                <a:latin typeface="Calibri"/>
              </a:rPr>
              <a:t>CC</a:t>
            </a:r>
            <a:r>
              <a:rPr lang="en-US" sz="2200" b="1" dirty="0">
                <a:solidFill>
                  <a:srgbClr val="FFFFFF"/>
                </a:solidFill>
                <a:latin typeface="Calibri"/>
              </a:rPr>
              <a:t> </a:t>
            </a:r>
            <a:r>
              <a:rPr sz="2200" b="1" i="0" dirty="0">
                <a:solidFill>
                  <a:srgbClr val="FFFFFF"/>
                </a:solidFill>
                <a:latin typeface="Calibri"/>
              </a:rPr>
              <a:t>when </a:t>
            </a:r>
            <a:r>
              <a:rPr lang="en-US" sz="2200" b="1" i="0" dirty="0">
                <a:solidFill>
                  <a:srgbClr val="FFFFFF"/>
                </a:solidFill>
                <a:latin typeface="Calibri"/>
              </a:rPr>
              <a:t>there </a:t>
            </a:r>
            <a:r>
              <a:rPr lang="en-US" sz="2200" b="1" i="0">
                <a:solidFill>
                  <a:srgbClr val="FFFFFF"/>
                </a:solidFill>
                <a:latin typeface="Calibri"/>
              </a:rPr>
              <a:t>are fewer </a:t>
            </a:r>
            <a:r>
              <a:rPr lang="en-US" sz="2200" b="1" i="0" dirty="0">
                <a:solidFill>
                  <a:srgbClr val="FFFFFF"/>
                </a:solidFill>
                <a:latin typeface="Calibri"/>
              </a:rPr>
              <a:t>total rounds.</a:t>
            </a:r>
            <a:endParaRPr sz="2200" b="1" i="0" dirty="0">
              <a:solidFill>
                <a:srgbClr val="FFFFFF"/>
              </a:solidFill>
              <a:latin typeface="Calibri"/>
            </a:endParaRPr>
          </a:p>
        </p:txBody>
      </p:sp>
      <p:sp>
        <p:nvSpPr>
          <p:cNvPr id="59" name="FilterCC persistent bullets">
            <a:extLst>
              <a:ext uri="{FF2B5EF4-FFF2-40B4-BE49-F238E27FC236}">
                <a16:creationId xmlns:a16="http://schemas.microsoft.com/office/drawing/2014/main" id="{35CD2BA4-6975-196D-EB8F-4D70781C98A3}"/>
              </a:ext>
            </a:extLst>
          </p:cNvPr>
          <p:cNvSpPr txBox="1"/>
          <p:nvPr/>
        </p:nvSpPr>
        <p:spPr>
          <a:xfrm>
            <a:off x="344036" y="1346215"/>
            <a:ext cx="3810763" cy="3924151"/>
          </a:xfrm>
          <a:prstGeom prst="rect">
            <a:avLst/>
          </a:prstGeom>
          <a:noFill/>
        </p:spPr>
        <p:txBody>
          <a:bodyPr wrap="square" lIns="45720" rIns="45720">
            <a:spAutoFit/>
          </a:bodyPr>
          <a:lstStyle/>
          <a:p>
            <a:pPr marL="274320" indent="-237744">
              <a:spcBef>
                <a:spcPts val="1000"/>
              </a:spcBef>
              <a:buClr>
                <a:srgbClr val="6B717A"/>
              </a:buClr>
              <a:buChar char="•"/>
            </a:pPr>
            <a:r>
              <a:rPr lang="en-US" sz="2800" b="0" i="0" dirty="0">
                <a:solidFill>
                  <a:srgbClr val="2B2F36"/>
                </a:solidFill>
              </a:rPr>
              <a:t>a merge marks its classes dirty</a:t>
            </a:r>
          </a:p>
          <a:p>
            <a:pPr marL="274320" indent="-237744">
              <a:spcBef>
                <a:spcPts val="1000"/>
              </a:spcBef>
              <a:buClr>
                <a:srgbClr val="6B717A"/>
              </a:buClr>
              <a:buChar char="•"/>
            </a:pPr>
            <a:r>
              <a:rPr lang="en-US" sz="2800" b="0" i="0" dirty="0">
                <a:solidFill>
                  <a:srgbClr val="2B2F36"/>
                </a:solidFill>
              </a:rPr>
              <a:t>filter all terms for a dirty child</a:t>
            </a:r>
          </a:p>
          <a:p>
            <a:pPr marL="274320" indent="-237744">
              <a:spcBef>
                <a:spcPts val="1000"/>
              </a:spcBef>
              <a:buClr>
                <a:srgbClr val="6B717A"/>
              </a:buClr>
              <a:buChar char="•"/>
            </a:pPr>
            <a:r>
              <a:rPr lang="en-US" sz="2800" b="0" i="0" dirty="0">
                <a:solidFill>
                  <a:srgbClr val="2B2F36"/>
                </a:solidFill>
              </a:rPr>
              <a:t>Compute signature of candidates</a:t>
            </a:r>
            <a:endParaRPr lang="en-US" sz="2800" i="0" dirty="0">
              <a:latin typeface="Calibri"/>
            </a:endParaRPr>
          </a:p>
          <a:p>
            <a:pPr marL="274320" indent="-237744">
              <a:spcBef>
                <a:spcPts val="1000"/>
              </a:spcBef>
              <a:buClr>
                <a:srgbClr val="6B717A"/>
              </a:buClr>
              <a:buChar char="•"/>
            </a:pPr>
            <a:r>
              <a:rPr lang="en-US" sz="2800" b="1" i="0" dirty="0">
                <a:solidFill>
                  <a:srgbClr val="C00000"/>
                </a:solidFill>
                <a:latin typeface="Calibri"/>
              </a:rPr>
              <a:t>Then merge congruent terms, mark dirty, and repeat</a:t>
            </a:r>
          </a:p>
        </p:txBody>
      </p:sp>
    </p:spTree>
    <p:extLst>
      <p:ext uri="{BB962C8B-B14F-4D97-AF65-F5344CB8AC3E}">
        <p14:creationId xmlns:p14="http://schemas.microsoft.com/office/powerpoint/2010/main" val="8909417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urring TOC Marker - Evaluation"/>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Outline</a:t>
            </a:r>
          </a:p>
        </p:txBody>
      </p:sp>
      <p:sp>
        <p:nvSpPr>
          <p:cNvPr id="3" name="Outline title rule"/>
          <p:cNvSpPr/>
          <p:nvPr/>
        </p:nvSpPr>
        <p:spPr>
          <a:xfrm>
            <a:off x="566928" y="1005840"/>
            <a:ext cx="2176272" cy="32004"/>
          </a:xfrm>
          <a:prstGeom prst="rect">
            <a:avLst/>
          </a:prstGeom>
          <a:solidFill>
            <a:srgbClr val="C8501E"/>
          </a:solidFill>
          <a:ln>
            <a:noFill/>
          </a:ln>
        </p:spPr>
        <p:txBody>
          <a:bodyPr/>
          <a:lstStyle/>
          <a:p>
            <a:endParaRPr lang="en-US"/>
          </a:p>
        </p:txBody>
      </p:sp>
      <p:sp>
        <p:nvSpPr>
          <p:cNvPr id="16" name="Outline number Intro"/>
          <p:cNvSpPr txBox="1"/>
          <p:nvPr/>
        </p:nvSpPr>
        <p:spPr>
          <a:xfrm>
            <a:off x="804672" y="1463040"/>
            <a:ext cx="347472" cy="566928"/>
          </a:xfrm>
          <a:prstGeom prst="rect">
            <a:avLst/>
          </a:prstGeom>
          <a:noFill/>
        </p:spPr>
        <p:txBody>
          <a:bodyPr wrap="square" lIns="45720" tIns="27432" rIns="45720" bIns="27432" anchor="ctr">
            <a:spAutoFit/>
          </a:bodyPr>
          <a:lstStyle/>
          <a:p>
            <a:pPr algn="l"/>
            <a:r>
              <a:rPr sz="1200" b="0" i="0">
                <a:solidFill>
                  <a:srgbClr val="C9CDD3"/>
                </a:solidFill>
                <a:latin typeface="Calibri"/>
              </a:rPr>
              <a:t>1</a:t>
            </a:r>
          </a:p>
        </p:txBody>
      </p:sp>
      <p:sp>
        <p:nvSpPr>
          <p:cNvPr id="17" name="Outline label Intro"/>
          <p:cNvSpPr txBox="1"/>
          <p:nvPr/>
        </p:nvSpPr>
        <p:spPr>
          <a:xfrm>
            <a:off x="1298448" y="1417320"/>
            <a:ext cx="7132320" cy="658368"/>
          </a:xfrm>
          <a:prstGeom prst="rect">
            <a:avLst/>
          </a:prstGeom>
          <a:noFill/>
        </p:spPr>
        <p:txBody>
          <a:bodyPr wrap="square" lIns="45720" tIns="27432" rIns="45720" bIns="27432" anchor="ctr">
            <a:spAutoFit/>
          </a:bodyPr>
          <a:lstStyle/>
          <a:p>
            <a:pPr algn="l"/>
            <a:r>
              <a:rPr sz="2400" b="0" i="0">
                <a:solidFill>
                  <a:srgbClr val="6B717A"/>
                </a:solidFill>
                <a:latin typeface="Calibri"/>
              </a:rPr>
              <a:t>Intro</a:t>
            </a:r>
          </a:p>
        </p:txBody>
      </p:sp>
      <p:sp>
        <p:nvSpPr>
          <p:cNvPr id="20" name="Outline number Background"/>
          <p:cNvSpPr txBox="1"/>
          <p:nvPr/>
        </p:nvSpPr>
        <p:spPr>
          <a:xfrm>
            <a:off x="804672" y="2304288"/>
            <a:ext cx="347472" cy="566928"/>
          </a:xfrm>
          <a:prstGeom prst="rect">
            <a:avLst/>
          </a:prstGeom>
          <a:noFill/>
        </p:spPr>
        <p:txBody>
          <a:bodyPr wrap="square" lIns="45720" tIns="27432" rIns="45720" bIns="27432" anchor="ctr">
            <a:spAutoFit/>
          </a:bodyPr>
          <a:lstStyle/>
          <a:p>
            <a:pPr algn="l"/>
            <a:r>
              <a:rPr sz="1200" b="0" i="0">
                <a:solidFill>
                  <a:srgbClr val="C9CDD3"/>
                </a:solidFill>
                <a:latin typeface="Calibri"/>
              </a:rPr>
              <a:t>2</a:t>
            </a:r>
          </a:p>
        </p:txBody>
      </p:sp>
      <p:sp>
        <p:nvSpPr>
          <p:cNvPr id="21" name="Outline label Background"/>
          <p:cNvSpPr txBox="1"/>
          <p:nvPr/>
        </p:nvSpPr>
        <p:spPr>
          <a:xfrm>
            <a:off x="1298448" y="2258568"/>
            <a:ext cx="7132320" cy="658368"/>
          </a:xfrm>
          <a:prstGeom prst="rect">
            <a:avLst/>
          </a:prstGeom>
          <a:noFill/>
        </p:spPr>
        <p:txBody>
          <a:bodyPr wrap="square" lIns="45720" tIns="27432" rIns="45720" bIns="27432" anchor="ctr">
            <a:spAutoFit/>
          </a:bodyPr>
          <a:lstStyle/>
          <a:p>
            <a:pPr algn="l"/>
            <a:r>
              <a:rPr sz="2400" b="0" i="0">
                <a:solidFill>
                  <a:srgbClr val="6B717A"/>
                </a:solidFill>
                <a:latin typeface="Calibri"/>
              </a:rPr>
              <a:t>Background</a:t>
            </a:r>
          </a:p>
        </p:txBody>
      </p:sp>
      <p:sp>
        <p:nvSpPr>
          <p:cNvPr id="24" name="Outline number Motivating example"/>
          <p:cNvSpPr txBox="1"/>
          <p:nvPr/>
        </p:nvSpPr>
        <p:spPr>
          <a:xfrm>
            <a:off x="804672" y="3145536"/>
            <a:ext cx="347472" cy="566928"/>
          </a:xfrm>
          <a:prstGeom prst="rect">
            <a:avLst/>
          </a:prstGeom>
          <a:noFill/>
        </p:spPr>
        <p:txBody>
          <a:bodyPr wrap="square" lIns="45720" tIns="27432" rIns="45720" bIns="27432" anchor="ctr">
            <a:spAutoFit/>
          </a:bodyPr>
          <a:lstStyle/>
          <a:p>
            <a:pPr algn="l"/>
            <a:r>
              <a:rPr sz="1200" b="0" i="0">
                <a:solidFill>
                  <a:srgbClr val="C9CDD3"/>
                </a:solidFill>
                <a:latin typeface="Calibri"/>
              </a:rPr>
              <a:t>3</a:t>
            </a:r>
          </a:p>
        </p:txBody>
      </p:sp>
      <p:sp>
        <p:nvSpPr>
          <p:cNvPr id="25" name="Outline label Motivating example"/>
          <p:cNvSpPr txBox="1"/>
          <p:nvPr/>
        </p:nvSpPr>
        <p:spPr>
          <a:xfrm>
            <a:off x="1298448" y="3099816"/>
            <a:ext cx="7132320" cy="658368"/>
          </a:xfrm>
          <a:prstGeom prst="rect">
            <a:avLst/>
          </a:prstGeom>
          <a:noFill/>
        </p:spPr>
        <p:txBody>
          <a:bodyPr wrap="square" lIns="45720" tIns="27432" rIns="45720" bIns="27432" anchor="ctr">
            <a:spAutoFit/>
          </a:bodyPr>
          <a:lstStyle/>
          <a:p>
            <a:pPr algn="l"/>
            <a:r>
              <a:rPr sz="2400" b="0" i="0">
                <a:solidFill>
                  <a:srgbClr val="6B717A"/>
                </a:solidFill>
                <a:latin typeface="Calibri"/>
              </a:rPr>
              <a:t>Motivating example</a:t>
            </a:r>
          </a:p>
        </p:txBody>
      </p:sp>
      <p:sp>
        <p:nvSpPr>
          <p:cNvPr id="28" name="Outline number Algorithm"/>
          <p:cNvSpPr txBox="1"/>
          <p:nvPr/>
        </p:nvSpPr>
        <p:spPr>
          <a:xfrm>
            <a:off x="804672" y="3986784"/>
            <a:ext cx="347472" cy="566928"/>
          </a:xfrm>
          <a:prstGeom prst="rect">
            <a:avLst/>
          </a:prstGeom>
          <a:noFill/>
        </p:spPr>
        <p:txBody>
          <a:bodyPr wrap="square" lIns="45720" tIns="27432" rIns="45720" bIns="27432" anchor="ctr">
            <a:spAutoFit/>
          </a:bodyPr>
          <a:lstStyle/>
          <a:p>
            <a:pPr algn="l"/>
            <a:r>
              <a:rPr sz="1200" b="0" i="0">
                <a:solidFill>
                  <a:srgbClr val="C9CDD3"/>
                </a:solidFill>
                <a:latin typeface="Calibri"/>
              </a:rPr>
              <a:t>4</a:t>
            </a:r>
          </a:p>
        </p:txBody>
      </p:sp>
      <p:sp>
        <p:nvSpPr>
          <p:cNvPr id="29" name="Outline label Algorithm"/>
          <p:cNvSpPr txBox="1"/>
          <p:nvPr/>
        </p:nvSpPr>
        <p:spPr>
          <a:xfrm>
            <a:off x="1298448" y="3941064"/>
            <a:ext cx="7132320" cy="658368"/>
          </a:xfrm>
          <a:prstGeom prst="rect">
            <a:avLst/>
          </a:prstGeom>
          <a:noFill/>
        </p:spPr>
        <p:txBody>
          <a:bodyPr wrap="square" lIns="45720" tIns="27432" rIns="45720" bIns="27432" anchor="ctr">
            <a:spAutoFit/>
          </a:bodyPr>
          <a:lstStyle/>
          <a:p>
            <a:pPr algn="l"/>
            <a:r>
              <a:rPr sz="2400" b="0" i="0">
                <a:solidFill>
                  <a:srgbClr val="6B717A"/>
                </a:solidFill>
                <a:latin typeface="Calibri"/>
              </a:rPr>
              <a:t>Algorithm</a:t>
            </a:r>
          </a:p>
        </p:txBody>
      </p:sp>
      <p:sp>
        <p:nvSpPr>
          <p:cNvPr id="30" name="Outline accent Evaluation"/>
          <p:cNvSpPr/>
          <p:nvPr/>
        </p:nvSpPr>
        <p:spPr>
          <a:xfrm>
            <a:off x="621792" y="4864608"/>
            <a:ext cx="50292" cy="493776"/>
          </a:xfrm>
          <a:prstGeom prst="rect">
            <a:avLst/>
          </a:prstGeom>
          <a:solidFill>
            <a:srgbClr val="C8501E"/>
          </a:solidFill>
          <a:ln>
            <a:noFill/>
          </a:ln>
        </p:spPr>
        <p:txBody>
          <a:bodyPr/>
          <a:lstStyle/>
          <a:p>
            <a:endParaRPr lang="en-US"/>
          </a:p>
        </p:txBody>
      </p:sp>
      <p:sp>
        <p:nvSpPr>
          <p:cNvPr id="32" name="Outline number Evaluation"/>
          <p:cNvSpPr txBox="1"/>
          <p:nvPr/>
        </p:nvSpPr>
        <p:spPr>
          <a:xfrm>
            <a:off x="804672" y="4828032"/>
            <a:ext cx="347472" cy="566928"/>
          </a:xfrm>
          <a:prstGeom prst="rect">
            <a:avLst/>
          </a:prstGeom>
          <a:noFill/>
        </p:spPr>
        <p:txBody>
          <a:bodyPr wrap="square" lIns="45720" tIns="27432" rIns="45720" bIns="27432" anchor="ctr">
            <a:spAutoFit/>
          </a:bodyPr>
          <a:lstStyle/>
          <a:p>
            <a:pPr algn="l"/>
            <a:r>
              <a:rPr sz="1200" b="1" i="0">
                <a:solidFill>
                  <a:srgbClr val="C8501E"/>
                </a:solidFill>
                <a:latin typeface="Calibri"/>
              </a:rPr>
              <a:t>5</a:t>
            </a:r>
          </a:p>
        </p:txBody>
      </p:sp>
      <p:sp>
        <p:nvSpPr>
          <p:cNvPr id="33" name="Outline label Evaluation"/>
          <p:cNvSpPr txBox="1"/>
          <p:nvPr/>
        </p:nvSpPr>
        <p:spPr>
          <a:xfrm>
            <a:off x="1298448" y="4782312"/>
            <a:ext cx="7132320" cy="658368"/>
          </a:xfrm>
          <a:prstGeom prst="rect">
            <a:avLst/>
          </a:prstGeom>
          <a:noFill/>
        </p:spPr>
        <p:txBody>
          <a:bodyPr wrap="square" lIns="45720" tIns="27432" rIns="45720" bIns="27432" anchor="ctr">
            <a:spAutoFit/>
          </a:bodyPr>
          <a:lstStyle/>
          <a:p>
            <a:pPr algn="l"/>
            <a:r>
              <a:rPr sz="2600" b="1" i="0">
                <a:solidFill>
                  <a:srgbClr val="1F2A44"/>
                </a:solidFill>
                <a:latin typeface="Calibri"/>
              </a:rPr>
              <a:t>Evaluation</a:t>
            </a:r>
          </a:p>
        </p:txBody>
      </p:sp>
    </p:spTree>
  </p:cSld>
  <p:clrMapOvr>
    <a:masterClrMapping/>
  </p:clrMapOvr>
</p:sld>
</file>

<file path=ppt/slides/slide68.xml><?xml version="1.0" encoding="utf-8"?>
<p:sld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Implementation</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064240" y="6345936"/>
            <a:ext cx="914400" cy="365760"/>
          </a:xfrm>
          <a:prstGeom prst="rect">
            <a:avLst/>
          </a:prstGeom>
          <a:noFill/>
        </p:spPr>
        <p:txBody>
          <a:bodyPr wrap="square" lIns="45720" tIns="27432" rIns="45720" bIns="27432" anchor="t">
            <a:spAutoFit/>
          </a:bodyPr>
          <a:lstStyle/>
          <a:p>
            <a:pPr algn="r"/>
            <a:r>
              <a:rPr sz="1500" b="0" i="0">
                <a:solidFill>
                  <a:srgbClr val="2B2F36"/>
                </a:solidFill>
                <a:latin typeface="Calibri"/>
              </a:rPr>
              <a:t>75</a:t>
            </a:r>
          </a:p>
        </p:txBody>
      </p:sp>
      <p:sp>
        <p:nvSpPr>
          <p:cNvPr id="5" name="Implementation bullets"/>
          <p:cNvSpPr txBox="1"/>
          <p:nvPr/>
        </p:nvSpPr>
        <p:spPr>
          <a:xfrm>
            <a:off x="822960" y="1417320"/>
            <a:ext cx="10515600" cy="4389120"/>
          </a:xfrm>
          <a:prstGeom prst="rect">
            <a:avLst/>
          </a:prstGeom>
          <a:noFill/>
        </p:spPr>
        <p:txBody>
          <a:bodyPr wrap="square" lIns="45720" rIns="45720" tIns="0" bIns="0"/>
          <a:lstStyle/>
          <a:p>
            <a:pPr marL="365760" indent="-274320">
              <a:spcBef>
                <a:spcPts val="1800"/>
              </a:spcBef>
              <a:spcAft>
                <a:spcPts val="800"/>
              </a:spcAft>
              <a:buClr>
                <a:srgbClr val="C8501E"/>
              </a:buClr>
              <a:buChar char="•"/>
            </a:pPr>
            <a:r>
              <a:rPr lang="en-US" sz="2300" b="1">
                <a:solidFill>
                  <a:srgbClr val="1F2A44"/>
                </a:solidFill>
                <a:latin typeface="Calibri"/>
              </a:rPr>
              <a:t>Parallel implementation</a:t>
            </a:r>
            <a:r>
              <a:rPr lang="en-US" sz="2300" b="0">
                <a:solidFill>
                  <a:srgbClr val="2B2F36"/>
                </a:solidFill>
                <a:latin typeface="Calibri"/>
              </a:rPr>
              <a:t> — built with ParlayLib.</a:t>
            </a:r>
          </a:p>
          <a:p>
            <a:pPr marL="365760" indent="-274320">
              <a:spcBef>
                <a:spcPts val="1800"/>
              </a:spcBef>
              <a:spcAft>
                <a:spcPts val="800"/>
              </a:spcAft>
              <a:buClr>
                <a:srgbClr val="C8501E"/>
              </a:buClr>
              <a:buChar char="•"/>
            </a:pPr>
            <a:r>
              <a:rPr lang="en-US" sz="2300" b="1">
                <a:solidFill>
                  <a:srgbClr val="1F2A44"/>
                </a:solidFill>
                <a:latin typeface="Calibri"/>
              </a:rPr>
              <a:t>Sequential approaches tried</a:t>
            </a:r>
            <a:r>
              <a:rPr lang="en-US" sz="2300" b="0">
                <a:solidFill>
                  <a:srgbClr val="2B2F36"/>
                </a:solidFill>
                <a:latin typeface="Calibri"/>
              </a:rPr>
              <a:t> — Nieuwenhuis–Oliveras worklist, topological-sort fixpoint, and Downey–Sethi–Tarjan.</a:t>
            </a:r>
          </a:p>
          <a:p>
            <a:pPr marL="365760" indent="-274320">
              <a:spcBef>
                <a:spcPts val="1800"/>
              </a:spcBef>
              <a:spcAft>
                <a:spcPts val="800"/>
              </a:spcAft>
              <a:buClr>
                <a:srgbClr val="C8501E"/>
              </a:buClr>
              <a:buChar char="•"/>
            </a:pPr>
            <a:r>
              <a:rPr lang="en-US" sz="2300" b="1">
                <a:solidFill>
                  <a:srgbClr val="1F2A44"/>
                </a:solidFill>
                <a:latin typeface="Calibri"/>
              </a:rPr>
              <a:t>Best sequential baseline</a:t>
            </a:r>
            <a:r>
              <a:rPr lang="en-US" sz="2300" b="0">
                <a:solidFill>
                  <a:srgbClr val="2B2F36"/>
                </a:solidFill>
                <a:latin typeface="Calibri"/>
              </a:rPr>
              <a:t> — tuned Nieuwenhuis–Oliveras worklist, with arity-specialized signature tables and a bump allocator.</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rrectness title"/>
          <p:cNvSpPr txBox="1"/>
          <p:nvPr/>
        </p:nvSpPr>
        <p:spPr>
          <a:xfrm>
            <a:off x="502920" y="399835"/>
            <a:ext cx="11155680" cy="517065"/>
          </a:xfrm>
          <a:prstGeom prst="rect">
            <a:avLst/>
          </a:prstGeom>
          <a:noFill/>
        </p:spPr>
        <p:txBody>
          <a:bodyPr wrap="square" lIns="45720" tIns="27432" rIns="45720" bIns="27432" anchor="ctr">
            <a:spAutoFit/>
          </a:bodyPr>
          <a:lstStyle/>
          <a:p>
            <a:pPr algn="l"/>
            <a:r>
              <a:rPr sz="3000" b="1" i="0" dirty="0">
                <a:solidFill>
                  <a:srgbClr val="1F2A44"/>
                </a:solidFill>
                <a:latin typeface="Calibri"/>
              </a:rPr>
              <a:t>RQ1 — </a:t>
            </a:r>
            <a:r>
              <a:rPr lang="en-US" sz="3000" b="1" i="0" dirty="0">
                <a:solidFill>
                  <a:srgbClr val="1F2A44"/>
                </a:solidFill>
                <a:latin typeface="Calibri"/>
              </a:rPr>
              <a:t>How does the performance scale with the benchmark size</a:t>
            </a:r>
            <a:r>
              <a:rPr sz="3000" b="1" i="0" dirty="0">
                <a:solidFill>
                  <a:srgbClr val="1F2A44"/>
                </a:solidFill>
                <a:latin typeface="Calibri"/>
              </a:rPr>
              <a:t>?</a:t>
            </a:r>
          </a:p>
        </p:txBody>
      </p:sp>
      <p:sp>
        <p:nvSpPr>
          <p:cNvPr id="4" name="Correctness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57</a:t>
            </a:r>
          </a:p>
        </p:txBody>
      </p:sp>
      <p:sp>
        <p:nvSpPr>
          <p:cNvPr id="5" name="Benchmark introduction"/>
          <p:cNvSpPr txBox="1"/>
          <p:nvPr/>
        </p:nvSpPr>
        <p:spPr>
          <a:xfrm>
            <a:off x="548640" y="1097280"/>
            <a:ext cx="11064240" cy="438912"/>
          </a:xfrm>
          <a:prstGeom prst="rect">
            <a:avLst/>
          </a:prstGeom>
          <a:noFill/>
        </p:spPr>
        <p:txBody>
          <a:bodyPr wrap="square" lIns="0" tIns="0" rIns="0" bIns="0" anchor="ctr"/>
          <a:lstStyle/>
          <a:p>
            <a:pPr algn="l"/>
            <a:r>
              <a:rPr lang="en-US" sz="1700" b="0">
                <a:solidFill>
                  <a:srgbClr val="2B2F36"/>
                </a:solidFill>
                <a:latin typeface="Calibri"/>
              </a:rPr>
              <a:t>We generate depth-3 terms from random binary function symbols, then seed closure with random xᵢ = yᵢ leaf equalities.</a:t>
            </a:r>
          </a:p>
        </p:txBody>
      </p:sp>
      <p:sp>
        <p:nvSpPr>
          <p:cNvPr id="7" name="ParentCC chart label"/>
          <p:cNvSpPr txBox="1"/>
          <p:nvPr/>
        </p:nvSpPr>
        <p:spPr>
          <a:xfrm>
            <a:off x="365760" y="1773936"/>
            <a:ext cx="5577840" cy="274320"/>
          </a:xfrm>
          <a:prstGeom prst="rect">
            <a:avLst/>
          </a:prstGeom>
          <a:noFill/>
        </p:spPr>
        <p:txBody>
          <a:bodyPr wrap="square" lIns="0" tIns="0" rIns="0" bIns="0" anchor="ctr"/>
          <a:lstStyle/>
          <a:p>
            <a:pPr algn="ctr"/>
            <a:r>
              <a:rPr lang="en-US" sz="1600" b="1">
                <a:solidFill>
                  <a:srgbClr val="1F2A44"/>
                </a:solidFill>
                <a:latin typeface="Calibri"/>
              </a:rPr>
              <a:t>ParentCC</a:t>
            </a:r>
          </a:p>
        </p:txBody>
      </p:sp>
      <p:sp>
        <p:nvSpPr>
          <p:cNvPr id="8" name="FilterCC chart label"/>
          <p:cNvSpPr txBox="1"/>
          <p:nvPr/>
        </p:nvSpPr>
        <p:spPr>
          <a:xfrm>
            <a:off x="6245352" y="1773936"/>
            <a:ext cx="5577840" cy="274320"/>
          </a:xfrm>
          <a:prstGeom prst="rect">
            <a:avLst/>
          </a:prstGeom>
          <a:noFill/>
        </p:spPr>
        <p:txBody>
          <a:bodyPr wrap="square" lIns="0" tIns="0" rIns="0" bIns="0" anchor="ctr"/>
          <a:lstStyle/>
          <a:p>
            <a:pPr algn="ctr"/>
            <a:r>
              <a:rPr lang="en-US" sz="1600" b="1">
                <a:solidFill>
                  <a:srgbClr val="1F2A44"/>
                </a:solidFill>
                <a:latin typeface="Calibri"/>
              </a:rPr>
              <a:t>FilterCC</a:t>
            </a:r>
          </a:p>
        </p:txBody>
      </p:sp>
      <p:pic>
        <p:nvPicPr>
          <p:cNvPr id="9" name="ParentCC benchmark chart"/>
          <p:cNvPicPr>
            <a:picLocks noChangeAspect="1"/>
          </p:cNvPicPr>
          <p:nvPr/>
        </p:nvPicPr>
        <p:blipFill>
          <a:blip r:embed="rId2"/>
          <a:stretch>
            <a:fillRect/>
          </a:stretch>
        </p:blipFill>
        <p:spPr>
          <a:xfrm>
            <a:off x="563489" y="2011680"/>
            <a:ext cx="5182382" cy="3977640"/>
          </a:xfrm>
          <a:prstGeom prst="rect">
            <a:avLst/>
          </a:prstGeom>
        </p:spPr>
      </p:pic>
      <p:pic>
        <p:nvPicPr>
          <p:cNvPr id="10" name="FilterCC benchmark chart"/>
          <p:cNvPicPr>
            <a:picLocks noChangeAspect="1"/>
          </p:cNvPicPr>
          <p:nvPr/>
        </p:nvPicPr>
        <p:blipFill>
          <a:blip r:embed="rId3"/>
          <a:stretch>
            <a:fillRect/>
          </a:stretch>
        </p:blipFill>
        <p:spPr>
          <a:xfrm>
            <a:off x="6443081" y="2011680"/>
            <a:ext cx="5182382" cy="397764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rrectness title"/>
          <p:cNvSpPr txBox="1"/>
          <p:nvPr/>
        </p:nvSpPr>
        <p:spPr>
          <a:xfrm>
            <a:off x="502920" y="399835"/>
            <a:ext cx="11155680" cy="517065"/>
          </a:xfrm>
          <a:prstGeom prst="rect">
            <a:avLst/>
          </a:prstGeom>
          <a:noFill/>
        </p:spPr>
        <p:txBody>
          <a:bodyPr wrap="square" lIns="45720" tIns="27432" rIns="45720" bIns="27432" anchor="ctr">
            <a:spAutoFit/>
          </a:bodyPr>
          <a:lstStyle/>
          <a:p>
            <a:r>
              <a:rPr lang="en-US" sz="3000" b="1" dirty="0">
                <a:solidFill>
                  <a:srgbClr val="1F2A44"/>
                </a:solidFill>
              </a:rPr>
              <a:t>RQ1 — How does the performance scale with the benchmark size?</a:t>
            </a:r>
          </a:p>
        </p:txBody>
      </p:sp>
      <p:sp>
        <p:nvSpPr>
          <p:cNvPr id="4" name="Correctness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58</a:t>
            </a:r>
          </a:p>
        </p:txBody>
      </p:sp>
      <p:sp>
        <p:nvSpPr>
          <p:cNvPr id="5" name="Benchmark introduction"/>
          <p:cNvSpPr txBox="1"/>
          <p:nvPr/>
        </p:nvSpPr>
        <p:spPr>
          <a:xfrm>
            <a:off x="548640" y="1097280"/>
            <a:ext cx="11064240" cy="438912"/>
          </a:xfrm>
          <a:prstGeom prst="rect">
            <a:avLst/>
          </a:prstGeom>
          <a:noFill/>
        </p:spPr>
        <p:txBody>
          <a:bodyPr wrap="square" lIns="0" tIns="0" rIns="0" bIns="0" anchor="ctr"/>
          <a:lstStyle/>
          <a:p>
            <a:pPr algn="l"/>
            <a:r>
              <a:rPr lang="en-US" sz="1700" b="0">
                <a:solidFill>
                  <a:srgbClr val="2B2F36"/>
                </a:solidFill>
                <a:latin typeface="Calibri"/>
              </a:rPr>
              <a:t>We generate depth-3 terms from random binary function symbols, then seed closure with random xᵢ = yᵢ leaf equalities.</a:t>
            </a:r>
          </a:p>
        </p:txBody>
      </p:sp>
      <p:sp>
        <p:nvSpPr>
          <p:cNvPr id="7" name="ParentCC chart label"/>
          <p:cNvSpPr txBox="1"/>
          <p:nvPr/>
        </p:nvSpPr>
        <p:spPr>
          <a:xfrm>
            <a:off x="365760" y="1773936"/>
            <a:ext cx="5577840" cy="274320"/>
          </a:xfrm>
          <a:prstGeom prst="rect">
            <a:avLst/>
          </a:prstGeom>
          <a:noFill/>
        </p:spPr>
        <p:txBody>
          <a:bodyPr wrap="square" lIns="0" tIns="0" rIns="0" bIns="0" anchor="ctr"/>
          <a:lstStyle/>
          <a:p>
            <a:pPr algn="ctr"/>
            <a:r>
              <a:rPr lang="en-US" sz="1600" b="1">
                <a:solidFill>
                  <a:srgbClr val="1F2A44"/>
                </a:solidFill>
                <a:latin typeface="Calibri"/>
              </a:rPr>
              <a:t>ParentCC</a:t>
            </a:r>
          </a:p>
        </p:txBody>
      </p:sp>
      <p:sp>
        <p:nvSpPr>
          <p:cNvPr id="8" name="FilterCC chart label"/>
          <p:cNvSpPr txBox="1"/>
          <p:nvPr/>
        </p:nvSpPr>
        <p:spPr>
          <a:xfrm>
            <a:off x="6245352" y="1773936"/>
            <a:ext cx="5577840" cy="274320"/>
          </a:xfrm>
          <a:prstGeom prst="rect">
            <a:avLst/>
          </a:prstGeom>
          <a:noFill/>
        </p:spPr>
        <p:txBody>
          <a:bodyPr wrap="square" lIns="0" tIns="0" rIns="0" bIns="0" anchor="ctr"/>
          <a:lstStyle/>
          <a:p>
            <a:pPr algn="ctr"/>
            <a:r>
              <a:rPr lang="en-US" sz="1600" b="1">
                <a:solidFill>
                  <a:srgbClr val="1F2A44"/>
                </a:solidFill>
                <a:latin typeface="Calibri"/>
              </a:rPr>
              <a:t>FilterCC</a:t>
            </a:r>
          </a:p>
        </p:txBody>
      </p:sp>
      <p:pic>
        <p:nvPicPr>
          <p:cNvPr id="9" name="ParentCC benchmark chart"/>
          <p:cNvPicPr>
            <a:picLocks noChangeAspect="1"/>
          </p:cNvPicPr>
          <p:nvPr/>
        </p:nvPicPr>
        <p:blipFill>
          <a:blip r:embed="rId2"/>
          <a:stretch>
            <a:fillRect/>
          </a:stretch>
        </p:blipFill>
        <p:spPr>
          <a:xfrm>
            <a:off x="563489" y="2011680"/>
            <a:ext cx="5182382" cy="3977640"/>
          </a:xfrm>
          <a:prstGeom prst="rect">
            <a:avLst/>
          </a:prstGeom>
        </p:spPr>
      </p:pic>
      <p:pic>
        <p:nvPicPr>
          <p:cNvPr id="10" name="FilterCC benchmark chart"/>
          <p:cNvPicPr>
            <a:picLocks noChangeAspect="1"/>
          </p:cNvPicPr>
          <p:nvPr/>
        </p:nvPicPr>
        <p:blipFill>
          <a:blip r:embed="rId3"/>
          <a:stretch>
            <a:fillRect/>
          </a:stretch>
        </p:blipFill>
        <p:spPr>
          <a:xfrm>
            <a:off x="6443081" y="2011680"/>
            <a:ext cx="5182382" cy="397764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rrectness title"/>
          <p:cNvSpPr txBox="1"/>
          <p:nvPr/>
        </p:nvSpPr>
        <p:spPr>
          <a:xfrm>
            <a:off x="502920" y="399835"/>
            <a:ext cx="11155680" cy="517065"/>
          </a:xfrm>
          <a:prstGeom prst="rect">
            <a:avLst/>
          </a:prstGeom>
          <a:noFill/>
        </p:spPr>
        <p:txBody>
          <a:bodyPr wrap="square" lIns="45720" tIns="27432" rIns="45720" bIns="27432" anchor="ctr">
            <a:spAutoFit/>
          </a:bodyPr>
          <a:lstStyle/>
          <a:p>
            <a:r>
              <a:rPr lang="en-US" sz="3000" b="1" dirty="0">
                <a:solidFill>
                  <a:srgbClr val="1F2A44"/>
                </a:solidFill>
              </a:rPr>
              <a:t>RQ1 — How does the performance scale with the benchmark size?</a:t>
            </a:r>
          </a:p>
        </p:txBody>
      </p:sp>
      <p:sp>
        <p:nvSpPr>
          <p:cNvPr id="4" name="Correctness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59</a:t>
            </a:r>
          </a:p>
        </p:txBody>
      </p:sp>
      <p:sp>
        <p:nvSpPr>
          <p:cNvPr id="5" name="Benchmark introduction"/>
          <p:cNvSpPr txBox="1"/>
          <p:nvPr/>
        </p:nvSpPr>
        <p:spPr>
          <a:xfrm>
            <a:off x="548640" y="1097280"/>
            <a:ext cx="11064240" cy="438912"/>
          </a:xfrm>
          <a:prstGeom prst="rect">
            <a:avLst/>
          </a:prstGeom>
          <a:noFill/>
        </p:spPr>
        <p:txBody>
          <a:bodyPr wrap="square" lIns="0" tIns="0" rIns="0" bIns="0" anchor="ctr"/>
          <a:lstStyle/>
          <a:p>
            <a:pPr algn="l"/>
            <a:r>
              <a:rPr lang="en-US" sz="1700" b="0">
                <a:solidFill>
                  <a:srgbClr val="2B2F36"/>
                </a:solidFill>
                <a:latin typeface="Calibri"/>
              </a:rPr>
              <a:t>We generate depth-3 terms from random binary function symbols, then seed closure with random xᵢ = yᵢ leaf equalities.</a:t>
            </a:r>
          </a:p>
        </p:txBody>
      </p:sp>
      <p:sp>
        <p:nvSpPr>
          <p:cNvPr id="7" name="ParentCC chart label"/>
          <p:cNvSpPr txBox="1"/>
          <p:nvPr/>
        </p:nvSpPr>
        <p:spPr>
          <a:xfrm>
            <a:off x="365760" y="1773936"/>
            <a:ext cx="5577840" cy="274320"/>
          </a:xfrm>
          <a:prstGeom prst="rect">
            <a:avLst/>
          </a:prstGeom>
          <a:noFill/>
        </p:spPr>
        <p:txBody>
          <a:bodyPr wrap="square" lIns="0" tIns="0" rIns="0" bIns="0" anchor="ctr"/>
          <a:lstStyle/>
          <a:p>
            <a:pPr algn="ctr"/>
            <a:r>
              <a:rPr lang="en-US" sz="1600" b="1">
                <a:solidFill>
                  <a:srgbClr val="1F2A44"/>
                </a:solidFill>
                <a:latin typeface="Calibri"/>
              </a:rPr>
              <a:t>ParentCC</a:t>
            </a:r>
          </a:p>
        </p:txBody>
      </p:sp>
      <p:sp>
        <p:nvSpPr>
          <p:cNvPr id="8" name="FilterCC chart label"/>
          <p:cNvSpPr txBox="1"/>
          <p:nvPr/>
        </p:nvSpPr>
        <p:spPr>
          <a:xfrm>
            <a:off x="6245352" y="1773936"/>
            <a:ext cx="5577840" cy="274320"/>
          </a:xfrm>
          <a:prstGeom prst="rect">
            <a:avLst/>
          </a:prstGeom>
          <a:noFill/>
        </p:spPr>
        <p:txBody>
          <a:bodyPr wrap="square" lIns="0" tIns="0" rIns="0" bIns="0" anchor="ctr"/>
          <a:lstStyle/>
          <a:p>
            <a:pPr algn="ctr"/>
            <a:r>
              <a:rPr lang="en-US" sz="1600" b="1">
                <a:solidFill>
                  <a:srgbClr val="1F2A44"/>
                </a:solidFill>
                <a:latin typeface="Calibri"/>
              </a:rPr>
              <a:t>FilterCC</a:t>
            </a:r>
          </a:p>
        </p:txBody>
      </p:sp>
      <p:pic>
        <p:nvPicPr>
          <p:cNvPr id="9" name="ParentCC benchmark chart"/>
          <p:cNvPicPr>
            <a:picLocks noChangeAspect="1"/>
          </p:cNvPicPr>
          <p:nvPr/>
        </p:nvPicPr>
        <p:blipFill>
          <a:blip r:embed="rId2"/>
          <a:stretch>
            <a:fillRect/>
          </a:stretch>
        </p:blipFill>
        <p:spPr>
          <a:xfrm>
            <a:off x="563489" y="2011680"/>
            <a:ext cx="5182382" cy="3977640"/>
          </a:xfrm>
          <a:prstGeom prst="rect">
            <a:avLst/>
          </a:prstGeom>
        </p:spPr>
      </p:pic>
      <p:pic>
        <p:nvPicPr>
          <p:cNvPr id="10" name="FilterCC benchmark chart"/>
          <p:cNvPicPr>
            <a:picLocks noChangeAspect="1"/>
          </p:cNvPicPr>
          <p:nvPr/>
        </p:nvPicPr>
        <p:blipFill>
          <a:blip r:embed="rId3"/>
          <a:stretch>
            <a:fillRect/>
          </a:stretch>
        </p:blipFill>
        <p:spPr>
          <a:xfrm>
            <a:off x="6443081" y="2011680"/>
            <a:ext cx="5182382" cy="397764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rrectness title"/>
          <p:cNvSpPr txBox="1"/>
          <p:nvPr/>
        </p:nvSpPr>
        <p:spPr>
          <a:xfrm>
            <a:off x="502920" y="399835"/>
            <a:ext cx="11155680" cy="517065"/>
          </a:xfrm>
          <a:prstGeom prst="rect">
            <a:avLst/>
          </a:prstGeom>
          <a:noFill/>
        </p:spPr>
        <p:txBody>
          <a:bodyPr wrap="square" lIns="45720" tIns="27432" rIns="45720" bIns="27432" anchor="ctr">
            <a:spAutoFit/>
          </a:bodyPr>
          <a:lstStyle/>
          <a:p>
            <a:r>
              <a:rPr lang="en-US" sz="3000" b="1" dirty="0">
                <a:solidFill>
                  <a:srgbClr val="1F2A44"/>
                </a:solidFill>
              </a:rPr>
              <a:t>RQ1 — How does the performance scale with the benchmark size?</a:t>
            </a:r>
          </a:p>
        </p:txBody>
      </p:sp>
      <p:sp>
        <p:nvSpPr>
          <p:cNvPr id="4" name="Correctness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60</a:t>
            </a:r>
          </a:p>
        </p:txBody>
      </p:sp>
      <p:sp>
        <p:nvSpPr>
          <p:cNvPr id="5" name="Benchmark introduction"/>
          <p:cNvSpPr txBox="1"/>
          <p:nvPr/>
        </p:nvSpPr>
        <p:spPr>
          <a:xfrm>
            <a:off x="548640" y="1097280"/>
            <a:ext cx="11064240" cy="438912"/>
          </a:xfrm>
          <a:prstGeom prst="rect">
            <a:avLst/>
          </a:prstGeom>
          <a:noFill/>
        </p:spPr>
        <p:txBody>
          <a:bodyPr wrap="square" lIns="0" tIns="0" rIns="0" bIns="0" anchor="ctr"/>
          <a:lstStyle/>
          <a:p>
            <a:pPr algn="l"/>
            <a:r>
              <a:rPr lang="en-US" sz="1700" b="0">
                <a:solidFill>
                  <a:srgbClr val="2B2F36"/>
                </a:solidFill>
                <a:latin typeface="Calibri"/>
              </a:rPr>
              <a:t>We generate depth-3 terms from random binary function symbols, then seed closure with random xᵢ = yᵢ leaf equalities.</a:t>
            </a:r>
          </a:p>
        </p:txBody>
      </p:sp>
      <p:sp>
        <p:nvSpPr>
          <p:cNvPr id="7" name="ParentCC chart label"/>
          <p:cNvSpPr txBox="1"/>
          <p:nvPr/>
        </p:nvSpPr>
        <p:spPr>
          <a:xfrm>
            <a:off x="365760" y="1773936"/>
            <a:ext cx="5577840" cy="274320"/>
          </a:xfrm>
          <a:prstGeom prst="rect">
            <a:avLst/>
          </a:prstGeom>
          <a:noFill/>
        </p:spPr>
        <p:txBody>
          <a:bodyPr wrap="square" lIns="0" tIns="0" rIns="0" bIns="0" anchor="ctr"/>
          <a:lstStyle/>
          <a:p>
            <a:pPr algn="ctr"/>
            <a:r>
              <a:rPr lang="en-US" sz="1600" b="1">
                <a:solidFill>
                  <a:srgbClr val="1F2A44"/>
                </a:solidFill>
                <a:latin typeface="Calibri"/>
              </a:rPr>
              <a:t>ParentCC</a:t>
            </a:r>
          </a:p>
        </p:txBody>
      </p:sp>
      <p:sp>
        <p:nvSpPr>
          <p:cNvPr id="8" name="FilterCC chart label"/>
          <p:cNvSpPr txBox="1"/>
          <p:nvPr/>
        </p:nvSpPr>
        <p:spPr>
          <a:xfrm>
            <a:off x="6245352" y="1773936"/>
            <a:ext cx="5577840" cy="274320"/>
          </a:xfrm>
          <a:prstGeom prst="rect">
            <a:avLst/>
          </a:prstGeom>
          <a:noFill/>
        </p:spPr>
        <p:txBody>
          <a:bodyPr wrap="square" lIns="0" tIns="0" rIns="0" bIns="0" anchor="ctr"/>
          <a:lstStyle/>
          <a:p>
            <a:pPr algn="ctr"/>
            <a:r>
              <a:rPr lang="en-US" sz="1600" b="1">
                <a:solidFill>
                  <a:srgbClr val="1F2A44"/>
                </a:solidFill>
                <a:latin typeface="Calibri"/>
              </a:rPr>
              <a:t>FilterCC</a:t>
            </a:r>
          </a:p>
        </p:txBody>
      </p:sp>
      <p:pic>
        <p:nvPicPr>
          <p:cNvPr id="9" name="ParentCC benchmark chart"/>
          <p:cNvPicPr>
            <a:picLocks noChangeAspect="1"/>
          </p:cNvPicPr>
          <p:nvPr/>
        </p:nvPicPr>
        <p:blipFill>
          <a:blip r:embed="rId2"/>
          <a:stretch>
            <a:fillRect/>
          </a:stretch>
        </p:blipFill>
        <p:spPr>
          <a:xfrm>
            <a:off x="563489" y="2011680"/>
            <a:ext cx="5182382" cy="3977640"/>
          </a:xfrm>
          <a:prstGeom prst="rect">
            <a:avLst/>
          </a:prstGeom>
        </p:spPr>
      </p:pic>
      <p:pic>
        <p:nvPicPr>
          <p:cNvPr id="10" name="FilterCC benchmark chart"/>
          <p:cNvPicPr>
            <a:picLocks noChangeAspect="1"/>
          </p:cNvPicPr>
          <p:nvPr/>
        </p:nvPicPr>
        <p:blipFill>
          <a:blip r:embed="rId3"/>
          <a:stretch>
            <a:fillRect/>
          </a:stretch>
        </p:blipFill>
        <p:spPr>
          <a:xfrm>
            <a:off x="6443081" y="2011680"/>
            <a:ext cx="5182382" cy="397764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rrectness title"/>
          <p:cNvSpPr txBox="1"/>
          <p:nvPr/>
        </p:nvSpPr>
        <p:spPr>
          <a:xfrm>
            <a:off x="502920" y="399835"/>
            <a:ext cx="11155680" cy="517065"/>
          </a:xfrm>
          <a:prstGeom prst="rect">
            <a:avLst/>
          </a:prstGeom>
          <a:noFill/>
        </p:spPr>
        <p:txBody>
          <a:bodyPr wrap="square" lIns="45720" tIns="27432" rIns="45720" bIns="27432" anchor="ctr">
            <a:spAutoFit/>
          </a:bodyPr>
          <a:lstStyle/>
          <a:p>
            <a:r>
              <a:rPr lang="en-US" sz="3000" b="1" dirty="0">
                <a:solidFill>
                  <a:srgbClr val="1F2A44"/>
                </a:solidFill>
              </a:rPr>
              <a:t>RQ1 — How does the performance scale with the benchmark size?</a:t>
            </a:r>
          </a:p>
        </p:txBody>
      </p:sp>
      <p:sp>
        <p:nvSpPr>
          <p:cNvPr id="4" name="Correctness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61</a:t>
            </a:r>
          </a:p>
        </p:txBody>
      </p:sp>
      <p:sp>
        <p:nvSpPr>
          <p:cNvPr id="5" name="Benchmark introduction"/>
          <p:cNvSpPr txBox="1"/>
          <p:nvPr/>
        </p:nvSpPr>
        <p:spPr>
          <a:xfrm>
            <a:off x="548640" y="1097280"/>
            <a:ext cx="11064240" cy="438912"/>
          </a:xfrm>
          <a:prstGeom prst="rect">
            <a:avLst/>
          </a:prstGeom>
          <a:noFill/>
        </p:spPr>
        <p:txBody>
          <a:bodyPr wrap="square" lIns="0" tIns="0" rIns="0" bIns="0" anchor="ctr"/>
          <a:lstStyle/>
          <a:p>
            <a:pPr algn="l"/>
            <a:r>
              <a:rPr lang="en-US" sz="1700" b="0">
                <a:solidFill>
                  <a:srgbClr val="2B2F36"/>
                </a:solidFill>
                <a:latin typeface="Calibri"/>
              </a:rPr>
              <a:t>We generate depth-3 terms from random binary function symbols, then seed closure with random xᵢ = yᵢ leaf equalities.</a:t>
            </a:r>
          </a:p>
        </p:txBody>
      </p:sp>
      <p:sp>
        <p:nvSpPr>
          <p:cNvPr id="7" name="ParentCC chart label"/>
          <p:cNvSpPr txBox="1"/>
          <p:nvPr/>
        </p:nvSpPr>
        <p:spPr>
          <a:xfrm>
            <a:off x="365760" y="1773936"/>
            <a:ext cx="5577840" cy="274320"/>
          </a:xfrm>
          <a:prstGeom prst="rect">
            <a:avLst/>
          </a:prstGeom>
          <a:noFill/>
        </p:spPr>
        <p:txBody>
          <a:bodyPr wrap="square" lIns="0" tIns="0" rIns="0" bIns="0" anchor="ctr"/>
          <a:lstStyle/>
          <a:p>
            <a:pPr algn="ctr"/>
            <a:r>
              <a:rPr lang="en-US" sz="1600" b="1">
                <a:solidFill>
                  <a:srgbClr val="1F2A44"/>
                </a:solidFill>
                <a:latin typeface="Calibri"/>
              </a:rPr>
              <a:t>ParentCC</a:t>
            </a:r>
          </a:p>
        </p:txBody>
      </p:sp>
      <p:sp>
        <p:nvSpPr>
          <p:cNvPr id="8" name="FilterCC chart label"/>
          <p:cNvSpPr txBox="1"/>
          <p:nvPr/>
        </p:nvSpPr>
        <p:spPr>
          <a:xfrm>
            <a:off x="6245352" y="1773936"/>
            <a:ext cx="5577840" cy="274320"/>
          </a:xfrm>
          <a:prstGeom prst="rect">
            <a:avLst/>
          </a:prstGeom>
          <a:noFill/>
        </p:spPr>
        <p:txBody>
          <a:bodyPr wrap="square" lIns="0" tIns="0" rIns="0" bIns="0" anchor="ctr"/>
          <a:lstStyle/>
          <a:p>
            <a:pPr algn="ctr"/>
            <a:r>
              <a:rPr lang="en-US" sz="1600" b="1">
                <a:solidFill>
                  <a:srgbClr val="1F2A44"/>
                </a:solidFill>
                <a:latin typeface="Calibri"/>
              </a:rPr>
              <a:t>FilterCC</a:t>
            </a:r>
          </a:p>
        </p:txBody>
      </p:sp>
      <p:pic>
        <p:nvPicPr>
          <p:cNvPr id="9" name="ParentCC benchmark chart"/>
          <p:cNvPicPr>
            <a:picLocks noChangeAspect="1"/>
          </p:cNvPicPr>
          <p:nvPr/>
        </p:nvPicPr>
        <p:blipFill>
          <a:blip r:embed="rId2"/>
          <a:stretch>
            <a:fillRect/>
          </a:stretch>
        </p:blipFill>
        <p:spPr>
          <a:xfrm>
            <a:off x="563489" y="2011680"/>
            <a:ext cx="5182382" cy="3977640"/>
          </a:xfrm>
          <a:prstGeom prst="rect">
            <a:avLst/>
          </a:prstGeom>
        </p:spPr>
      </p:pic>
      <p:pic>
        <p:nvPicPr>
          <p:cNvPr id="10" name="FilterCC benchmark chart"/>
          <p:cNvPicPr>
            <a:picLocks noChangeAspect="1"/>
          </p:cNvPicPr>
          <p:nvPr/>
        </p:nvPicPr>
        <p:blipFill>
          <a:blip r:embed="rId3"/>
          <a:stretch>
            <a:fillRect/>
          </a:stretch>
        </p:blipFill>
        <p:spPr>
          <a:xfrm>
            <a:off x="6443081" y="2011680"/>
            <a:ext cx="5182382" cy="397764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rrectness title"/>
          <p:cNvSpPr txBox="1"/>
          <p:nvPr/>
        </p:nvSpPr>
        <p:spPr>
          <a:xfrm>
            <a:off x="502920" y="399835"/>
            <a:ext cx="11155680" cy="517065"/>
          </a:xfrm>
          <a:prstGeom prst="rect">
            <a:avLst/>
          </a:prstGeom>
          <a:noFill/>
        </p:spPr>
        <p:txBody>
          <a:bodyPr wrap="square" lIns="45720" tIns="27432" rIns="45720" bIns="27432" anchor="ctr">
            <a:spAutoFit/>
          </a:bodyPr>
          <a:lstStyle/>
          <a:p>
            <a:r>
              <a:rPr lang="en-US" sz="3000" b="1" dirty="0">
                <a:solidFill>
                  <a:srgbClr val="1F2A44"/>
                </a:solidFill>
              </a:rPr>
              <a:t>RQ1 — How does the performance scale with the benchmark size?</a:t>
            </a:r>
          </a:p>
        </p:txBody>
      </p:sp>
      <p:sp>
        <p:nvSpPr>
          <p:cNvPr id="4" name="Correctness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62</a:t>
            </a:r>
          </a:p>
        </p:txBody>
      </p:sp>
      <p:sp>
        <p:nvSpPr>
          <p:cNvPr id="5" name="Benchmark introduction"/>
          <p:cNvSpPr txBox="1"/>
          <p:nvPr/>
        </p:nvSpPr>
        <p:spPr>
          <a:xfrm>
            <a:off x="548640" y="1097280"/>
            <a:ext cx="11064240" cy="438912"/>
          </a:xfrm>
          <a:prstGeom prst="rect">
            <a:avLst/>
          </a:prstGeom>
          <a:noFill/>
        </p:spPr>
        <p:txBody>
          <a:bodyPr wrap="square" lIns="0" tIns="0" rIns="0" bIns="0" anchor="ctr"/>
          <a:lstStyle/>
          <a:p>
            <a:pPr algn="l"/>
            <a:r>
              <a:rPr lang="en-US" sz="1700" b="0">
                <a:solidFill>
                  <a:srgbClr val="2B2F36"/>
                </a:solidFill>
                <a:latin typeface="Calibri"/>
              </a:rPr>
              <a:t>We generate depth-3 terms from random binary function symbols, then seed closure with random xᵢ = yᵢ leaf equalities.</a:t>
            </a:r>
          </a:p>
        </p:txBody>
      </p:sp>
      <p:sp>
        <p:nvSpPr>
          <p:cNvPr id="7" name="ParentCC chart label"/>
          <p:cNvSpPr txBox="1"/>
          <p:nvPr/>
        </p:nvSpPr>
        <p:spPr>
          <a:xfrm>
            <a:off x="365760" y="1773936"/>
            <a:ext cx="5577840" cy="274320"/>
          </a:xfrm>
          <a:prstGeom prst="rect">
            <a:avLst/>
          </a:prstGeom>
          <a:noFill/>
        </p:spPr>
        <p:txBody>
          <a:bodyPr wrap="square" lIns="0" tIns="0" rIns="0" bIns="0" anchor="ctr"/>
          <a:lstStyle/>
          <a:p>
            <a:pPr algn="ctr"/>
            <a:r>
              <a:rPr lang="en-US" sz="1600" b="1">
                <a:solidFill>
                  <a:srgbClr val="1F2A44"/>
                </a:solidFill>
                <a:latin typeface="Calibri"/>
              </a:rPr>
              <a:t>ParentCC</a:t>
            </a:r>
          </a:p>
        </p:txBody>
      </p:sp>
      <p:sp>
        <p:nvSpPr>
          <p:cNvPr id="8" name="FilterCC chart label"/>
          <p:cNvSpPr txBox="1"/>
          <p:nvPr/>
        </p:nvSpPr>
        <p:spPr>
          <a:xfrm>
            <a:off x="6245352" y="1773936"/>
            <a:ext cx="5577840" cy="274320"/>
          </a:xfrm>
          <a:prstGeom prst="rect">
            <a:avLst/>
          </a:prstGeom>
          <a:noFill/>
        </p:spPr>
        <p:txBody>
          <a:bodyPr wrap="square" lIns="0" tIns="0" rIns="0" bIns="0" anchor="ctr"/>
          <a:lstStyle/>
          <a:p>
            <a:pPr algn="ctr"/>
            <a:r>
              <a:rPr lang="en-US" sz="1600" b="1">
                <a:solidFill>
                  <a:srgbClr val="1F2A44"/>
                </a:solidFill>
                <a:latin typeface="Calibri"/>
              </a:rPr>
              <a:t>FilterCC</a:t>
            </a:r>
          </a:p>
        </p:txBody>
      </p:sp>
      <p:pic>
        <p:nvPicPr>
          <p:cNvPr id="9" name="ParentCC benchmark chart"/>
          <p:cNvPicPr>
            <a:picLocks noChangeAspect="1"/>
          </p:cNvPicPr>
          <p:nvPr/>
        </p:nvPicPr>
        <p:blipFill>
          <a:blip r:embed="rId2"/>
          <a:stretch>
            <a:fillRect/>
          </a:stretch>
        </p:blipFill>
        <p:spPr>
          <a:xfrm>
            <a:off x="563489" y="2011680"/>
            <a:ext cx="5182382" cy="3977640"/>
          </a:xfrm>
          <a:prstGeom prst="rect">
            <a:avLst/>
          </a:prstGeom>
        </p:spPr>
      </p:pic>
      <p:pic>
        <p:nvPicPr>
          <p:cNvPr id="10" name="FilterCC benchmark chart"/>
          <p:cNvPicPr>
            <a:picLocks noChangeAspect="1"/>
          </p:cNvPicPr>
          <p:nvPr/>
        </p:nvPicPr>
        <p:blipFill>
          <a:blip r:embed="rId3"/>
          <a:stretch>
            <a:fillRect/>
          </a:stretch>
        </p:blipFill>
        <p:spPr>
          <a:xfrm>
            <a:off x="6443081" y="2011680"/>
            <a:ext cx="5182382" cy="397764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rrectness title"/>
          <p:cNvSpPr txBox="1"/>
          <p:nvPr/>
        </p:nvSpPr>
        <p:spPr>
          <a:xfrm>
            <a:off x="502920" y="399835"/>
            <a:ext cx="11155680" cy="517065"/>
          </a:xfrm>
          <a:prstGeom prst="rect">
            <a:avLst/>
          </a:prstGeom>
          <a:noFill/>
        </p:spPr>
        <p:txBody>
          <a:bodyPr wrap="square" lIns="45720" tIns="27432" rIns="45720" bIns="27432" anchor="ctr">
            <a:spAutoFit/>
          </a:bodyPr>
          <a:lstStyle/>
          <a:p>
            <a:r>
              <a:rPr lang="en-US" sz="3000" b="1" dirty="0">
                <a:solidFill>
                  <a:srgbClr val="1F2A44"/>
                </a:solidFill>
              </a:rPr>
              <a:t>RQ1 — How does the performance scale with the benchmark size?</a:t>
            </a:r>
          </a:p>
        </p:txBody>
      </p:sp>
      <p:sp>
        <p:nvSpPr>
          <p:cNvPr id="4" name="Correctness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63</a:t>
            </a:r>
          </a:p>
        </p:txBody>
      </p:sp>
      <p:sp>
        <p:nvSpPr>
          <p:cNvPr id="5" name="Benchmark introduction"/>
          <p:cNvSpPr txBox="1"/>
          <p:nvPr/>
        </p:nvSpPr>
        <p:spPr>
          <a:xfrm>
            <a:off x="548640" y="1097280"/>
            <a:ext cx="11064240" cy="438912"/>
          </a:xfrm>
          <a:prstGeom prst="rect">
            <a:avLst/>
          </a:prstGeom>
          <a:noFill/>
        </p:spPr>
        <p:txBody>
          <a:bodyPr wrap="square" lIns="0" tIns="0" rIns="0" bIns="0" anchor="ctr"/>
          <a:lstStyle/>
          <a:p>
            <a:pPr algn="l"/>
            <a:r>
              <a:rPr lang="en-US" sz="1700" b="0">
                <a:solidFill>
                  <a:srgbClr val="2B2F36"/>
                </a:solidFill>
                <a:latin typeface="Calibri"/>
              </a:rPr>
              <a:t>We generate depth-3 terms from random binary function symbols, then seed closure with random xᵢ = yᵢ leaf equalities.</a:t>
            </a:r>
          </a:p>
        </p:txBody>
      </p:sp>
      <p:sp>
        <p:nvSpPr>
          <p:cNvPr id="7" name="ParentCC chart label"/>
          <p:cNvSpPr txBox="1"/>
          <p:nvPr/>
        </p:nvSpPr>
        <p:spPr>
          <a:xfrm>
            <a:off x="365760" y="1773936"/>
            <a:ext cx="5577840" cy="274320"/>
          </a:xfrm>
          <a:prstGeom prst="rect">
            <a:avLst/>
          </a:prstGeom>
          <a:noFill/>
        </p:spPr>
        <p:txBody>
          <a:bodyPr wrap="square" lIns="0" tIns="0" rIns="0" bIns="0" anchor="ctr"/>
          <a:lstStyle/>
          <a:p>
            <a:pPr algn="ctr"/>
            <a:r>
              <a:rPr lang="en-US" sz="1600" b="1">
                <a:solidFill>
                  <a:srgbClr val="1F2A44"/>
                </a:solidFill>
                <a:latin typeface="Calibri"/>
              </a:rPr>
              <a:t>ParentCC</a:t>
            </a:r>
          </a:p>
        </p:txBody>
      </p:sp>
      <p:sp>
        <p:nvSpPr>
          <p:cNvPr id="8" name="FilterCC chart label"/>
          <p:cNvSpPr txBox="1"/>
          <p:nvPr/>
        </p:nvSpPr>
        <p:spPr>
          <a:xfrm>
            <a:off x="6245352" y="1773936"/>
            <a:ext cx="5577840" cy="274320"/>
          </a:xfrm>
          <a:prstGeom prst="rect">
            <a:avLst/>
          </a:prstGeom>
          <a:noFill/>
        </p:spPr>
        <p:txBody>
          <a:bodyPr wrap="square" lIns="0" tIns="0" rIns="0" bIns="0" anchor="ctr"/>
          <a:lstStyle/>
          <a:p>
            <a:pPr algn="ctr"/>
            <a:r>
              <a:rPr lang="en-US" sz="1600" b="1">
                <a:solidFill>
                  <a:srgbClr val="1F2A44"/>
                </a:solidFill>
                <a:latin typeface="Calibri"/>
              </a:rPr>
              <a:t>FilterCC</a:t>
            </a:r>
          </a:p>
        </p:txBody>
      </p:sp>
      <p:pic>
        <p:nvPicPr>
          <p:cNvPr id="9" name="ParentCC benchmark chart"/>
          <p:cNvPicPr>
            <a:picLocks noChangeAspect="1"/>
          </p:cNvPicPr>
          <p:nvPr/>
        </p:nvPicPr>
        <p:blipFill>
          <a:blip r:embed="rId2"/>
          <a:stretch>
            <a:fillRect/>
          </a:stretch>
        </p:blipFill>
        <p:spPr>
          <a:xfrm>
            <a:off x="563489" y="2011680"/>
            <a:ext cx="5182382" cy="3977640"/>
          </a:xfrm>
          <a:prstGeom prst="rect">
            <a:avLst/>
          </a:prstGeom>
        </p:spPr>
      </p:pic>
      <p:pic>
        <p:nvPicPr>
          <p:cNvPr id="10" name="FilterCC benchmark chart"/>
          <p:cNvPicPr>
            <a:picLocks noChangeAspect="1"/>
          </p:cNvPicPr>
          <p:nvPr/>
        </p:nvPicPr>
        <p:blipFill>
          <a:blip r:embed="rId3"/>
          <a:stretch>
            <a:fillRect/>
          </a:stretch>
        </p:blipFill>
        <p:spPr>
          <a:xfrm>
            <a:off x="6443081" y="2011680"/>
            <a:ext cx="5182382" cy="397764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rrectness title"/>
          <p:cNvSpPr txBox="1"/>
          <p:nvPr/>
        </p:nvSpPr>
        <p:spPr>
          <a:xfrm>
            <a:off x="502920" y="399835"/>
            <a:ext cx="11155680" cy="517065"/>
          </a:xfrm>
          <a:prstGeom prst="rect">
            <a:avLst/>
          </a:prstGeom>
          <a:noFill/>
        </p:spPr>
        <p:txBody>
          <a:bodyPr wrap="square" lIns="45720" tIns="27432" rIns="45720" bIns="27432" anchor="ctr">
            <a:spAutoFit/>
          </a:bodyPr>
          <a:lstStyle/>
          <a:p>
            <a:r>
              <a:rPr lang="en-US" sz="3000" b="1" dirty="0">
                <a:solidFill>
                  <a:srgbClr val="1F2A44"/>
                </a:solidFill>
              </a:rPr>
              <a:t>RQ1 — How does the performance scale with the benchmark size?</a:t>
            </a:r>
          </a:p>
        </p:txBody>
      </p:sp>
      <p:sp>
        <p:nvSpPr>
          <p:cNvPr id="4" name="Correctness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64</a:t>
            </a:r>
          </a:p>
        </p:txBody>
      </p:sp>
      <p:sp>
        <p:nvSpPr>
          <p:cNvPr id="5" name="Benchmark introduction"/>
          <p:cNvSpPr txBox="1"/>
          <p:nvPr/>
        </p:nvSpPr>
        <p:spPr>
          <a:xfrm>
            <a:off x="548640" y="1097280"/>
            <a:ext cx="11064240" cy="438912"/>
          </a:xfrm>
          <a:prstGeom prst="rect">
            <a:avLst/>
          </a:prstGeom>
          <a:noFill/>
        </p:spPr>
        <p:txBody>
          <a:bodyPr wrap="square" lIns="0" tIns="0" rIns="0" bIns="0" anchor="ctr"/>
          <a:lstStyle/>
          <a:p>
            <a:pPr algn="l"/>
            <a:r>
              <a:rPr lang="en-US" sz="1700" b="0">
                <a:solidFill>
                  <a:srgbClr val="2B2F36"/>
                </a:solidFill>
                <a:latin typeface="Calibri"/>
              </a:rPr>
              <a:t>We generate depth-3 terms from random binary function symbols, then seed closure with random xᵢ = yᵢ leaf equalities.</a:t>
            </a:r>
          </a:p>
        </p:txBody>
      </p:sp>
      <p:sp>
        <p:nvSpPr>
          <p:cNvPr id="7" name="ParentCC chart label"/>
          <p:cNvSpPr txBox="1"/>
          <p:nvPr/>
        </p:nvSpPr>
        <p:spPr>
          <a:xfrm>
            <a:off x="365760" y="1773936"/>
            <a:ext cx="5577840" cy="274320"/>
          </a:xfrm>
          <a:prstGeom prst="rect">
            <a:avLst/>
          </a:prstGeom>
          <a:noFill/>
        </p:spPr>
        <p:txBody>
          <a:bodyPr wrap="square" lIns="0" tIns="0" rIns="0" bIns="0" anchor="ctr"/>
          <a:lstStyle/>
          <a:p>
            <a:pPr algn="ctr"/>
            <a:r>
              <a:rPr lang="en-US" sz="1600" b="1">
                <a:solidFill>
                  <a:srgbClr val="1F2A44"/>
                </a:solidFill>
                <a:latin typeface="Calibri"/>
              </a:rPr>
              <a:t>ParentCC</a:t>
            </a:r>
          </a:p>
        </p:txBody>
      </p:sp>
      <p:sp>
        <p:nvSpPr>
          <p:cNvPr id="8" name="FilterCC chart label"/>
          <p:cNvSpPr txBox="1"/>
          <p:nvPr/>
        </p:nvSpPr>
        <p:spPr>
          <a:xfrm>
            <a:off x="6245352" y="1773936"/>
            <a:ext cx="5577840" cy="274320"/>
          </a:xfrm>
          <a:prstGeom prst="rect">
            <a:avLst/>
          </a:prstGeom>
          <a:noFill/>
        </p:spPr>
        <p:txBody>
          <a:bodyPr wrap="square" lIns="0" tIns="0" rIns="0" bIns="0" anchor="ctr"/>
          <a:lstStyle/>
          <a:p>
            <a:pPr algn="ctr"/>
            <a:r>
              <a:rPr lang="en-US" sz="1600" b="1">
                <a:solidFill>
                  <a:srgbClr val="1F2A44"/>
                </a:solidFill>
                <a:latin typeface="Calibri"/>
              </a:rPr>
              <a:t>FilterCC</a:t>
            </a:r>
          </a:p>
        </p:txBody>
      </p:sp>
      <p:pic>
        <p:nvPicPr>
          <p:cNvPr id="9" name="ParentCC benchmark chart"/>
          <p:cNvPicPr>
            <a:picLocks noChangeAspect="1"/>
          </p:cNvPicPr>
          <p:nvPr/>
        </p:nvPicPr>
        <p:blipFill>
          <a:blip r:embed="rId2"/>
          <a:stretch>
            <a:fillRect/>
          </a:stretch>
        </p:blipFill>
        <p:spPr>
          <a:xfrm>
            <a:off x="563489" y="2011680"/>
            <a:ext cx="5182382" cy="3977640"/>
          </a:xfrm>
          <a:prstGeom prst="rect">
            <a:avLst/>
          </a:prstGeom>
        </p:spPr>
      </p:pic>
      <p:pic>
        <p:nvPicPr>
          <p:cNvPr id="10" name="FilterCC benchmark chart"/>
          <p:cNvPicPr>
            <a:picLocks noChangeAspect="1"/>
          </p:cNvPicPr>
          <p:nvPr/>
        </p:nvPicPr>
        <p:blipFill>
          <a:blip r:embed="rId3"/>
          <a:stretch>
            <a:fillRect/>
          </a:stretch>
        </p:blipFill>
        <p:spPr>
          <a:xfrm>
            <a:off x="6443081" y="2011680"/>
            <a:ext cx="5182382" cy="397764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rrectness title"/>
          <p:cNvSpPr txBox="1"/>
          <p:nvPr/>
        </p:nvSpPr>
        <p:spPr>
          <a:xfrm>
            <a:off x="502920" y="399835"/>
            <a:ext cx="11155680" cy="517065"/>
          </a:xfrm>
          <a:prstGeom prst="rect">
            <a:avLst/>
          </a:prstGeom>
          <a:noFill/>
        </p:spPr>
        <p:txBody>
          <a:bodyPr wrap="square" lIns="45720" tIns="27432" rIns="45720" bIns="27432" anchor="ctr">
            <a:spAutoFit/>
          </a:bodyPr>
          <a:lstStyle/>
          <a:p>
            <a:r>
              <a:rPr lang="en-US" sz="3000" b="1" dirty="0">
                <a:solidFill>
                  <a:srgbClr val="1F2A44"/>
                </a:solidFill>
              </a:rPr>
              <a:t>RQ1 — How does the performance scale with the benchmark size?</a:t>
            </a:r>
          </a:p>
        </p:txBody>
      </p:sp>
      <p:sp>
        <p:nvSpPr>
          <p:cNvPr id="4" name="Correctness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65</a:t>
            </a:r>
          </a:p>
        </p:txBody>
      </p:sp>
      <p:sp>
        <p:nvSpPr>
          <p:cNvPr id="5" name="Benchmark introduction"/>
          <p:cNvSpPr txBox="1"/>
          <p:nvPr/>
        </p:nvSpPr>
        <p:spPr>
          <a:xfrm>
            <a:off x="548640" y="1097280"/>
            <a:ext cx="11064240" cy="438912"/>
          </a:xfrm>
          <a:prstGeom prst="rect">
            <a:avLst/>
          </a:prstGeom>
          <a:noFill/>
        </p:spPr>
        <p:txBody>
          <a:bodyPr wrap="square" lIns="0" tIns="0" rIns="0" bIns="0" anchor="ctr"/>
          <a:lstStyle/>
          <a:p>
            <a:pPr algn="l"/>
            <a:r>
              <a:rPr lang="en-US" sz="1700" b="0">
                <a:solidFill>
                  <a:srgbClr val="2B2F36"/>
                </a:solidFill>
                <a:latin typeface="Calibri"/>
              </a:rPr>
              <a:t>We generate depth-3 terms from random binary function symbols, then seed closure with random xᵢ = yᵢ leaf equalities.</a:t>
            </a:r>
          </a:p>
        </p:txBody>
      </p:sp>
      <p:sp>
        <p:nvSpPr>
          <p:cNvPr id="7" name="ParentCC chart label"/>
          <p:cNvSpPr txBox="1"/>
          <p:nvPr/>
        </p:nvSpPr>
        <p:spPr>
          <a:xfrm>
            <a:off x="365760" y="1773936"/>
            <a:ext cx="5577840" cy="274320"/>
          </a:xfrm>
          <a:prstGeom prst="rect">
            <a:avLst/>
          </a:prstGeom>
          <a:noFill/>
        </p:spPr>
        <p:txBody>
          <a:bodyPr wrap="square" lIns="0" tIns="0" rIns="0" bIns="0" anchor="ctr"/>
          <a:lstStyle/>
          <a:p>
            <a:pPr algn="ctr"/>
            <a:r>
              <a:rPr lang="en-US" sz="1600" b="1">
                <a:solidFill>
                  <a:srgbClr val="1F2A44"/>
                </a:solidFill>
                <a:latin typeface="Calibri"/>
              </a:rPr>
              <a:t>ParentCC</a:t>
            </a:r>
          </a:p>
        </p:txBody>
      </p:sp>
      <p:sp>
        <p:nvSpPr>
          <p:cNvPr id="8" name="FilterCC chart label"/>
          <p:cNvSpPr txBox="1"/>
          <p:nvPr/>
        </p:nvSpPr>
        <p:spPr>
          <a:xfrm>
            <a:off x="6245352" y="1773936"/>
            <a:ext cx="5577840" cy="274320"/>
          </a:xfrm>
          <a:prstGeom prst="rect">
            <a:avLst/>
          </a:prstGeom>
          <a:noFill/>
        </p:spPr>
        <p:txBody>
          <a:bodyPr wrap="square" lIns="0" tIns="0" rIns="0" bIns="0" anchor="ctr"/>
          <a:lstStyle/>
          <a:p>
            <a:pPr algn="ctr"/>
            <a:r>
              <a:rPr lang="en-US" sz="1600" b="1">
                <a:solidFill>
                  <a:srgbClr val="1F2A44"/>
                </a:solidFill>
                <a:latin typeface="Calibri"/>
              </a:rPr>
              <a:t>FilterCC</a:t>
            </a:r>
          </a:p>
        </p:txBody>
      </p:sp>
      <p:pic>
        <p:nvPicPr>
          <p:cNvPr id="9" name="ParentCC benchmark chart"/>
          <p:cNvPicPr>
            <a:picLocks noChangeAspect="1"/>
          </p:cNvPicPr>
          <p:nvPr/>
        </p:nvPicPr>
        <p:blipFill>
          <a:blip r:embed="rId2"/>
          <a:stretch>
            <a:fillRect/>
          </a:stretch>
        </p:blipFill>
        <p:spPr>
          <a:xfrm>
            <a:off x="563489" y="2011680"/>
            <a:ext cx="5182382" cy="3977640"/>
          </a:xfrm>
          <a:prstGeom prst="rect">
            <a:avLst/>
          </a:prstGeom>
        </p:spPr>
      </p:pic>
      <p:pic>
        <p:nvPicPr>
          <p:cNvPr id="10" name="FilterCC benchmark chart"/>
          <p:cNvPicPr>
            <a:picLocks noChangeAspect="1"/>
          </p:cNvPicPr>
          <p:nvPr/>
        </p:nvPicPr>
        <p:blipFill>
          <a:blip r:embed="rId3"/>
          <a:stretch>
            <a:fillRect/>
          </a:stretch>
        </p:blipFill>
        <p:spPr>
          <a:xfrm>
            <a:off x="6443081" y="2011680"/>
            <a:ext cx="5182382" cy="397764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rrectness title"/>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RQ2 — What benchmark characteristics make this work?</a:t>
            </a:r>
          </a:p>
        </p:txBody>
      </p:sp>
      <p:sp>
        <p:nvSpPr>
          <p:cNvPr id="4" name="Correctness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66</a:t>
            </a:r>
          </a:p>
        </p:txBody>
      </p:sp>
      <p:sp>
        <p:nvSpPr>
          <p:cNvPr id="5" name="Benchmark introduction"/>
          <p:cNvSpPr txBox="1"/>
          <p:nvPr/>
        </p:nvSpPr>
        <p:spPr>
          <a:xfrm>
            <a:off x="548640" y="1097280"/>
            <a:ext cx="11064240" cy="438912"/>
          </a:xfrm>
          <a:prstGeom prst="rect">
            <a:avLst/>
          </a:prstGeom>
          <a:noFill/>
        </p:spPr>
        <p:txBody>
          <a:bodyPr wrap="square" lIns="0" tIns="0" rIns="0" bIns="0" anchor="ctr"/>
          <a:lstStyle/>
          <a:p>
            <a:pPr algn="l"/>
            <a:r>
              <a:rPr lang="en-US" sz="1700" b="0" dirty="0">
                <a:solidFill>
                  <a:srgbClr val="2B2F36"/>
                </a:solidFill>
                <a:latin typeface="Calibri"/>
              </a:rPr>
              <a:t>Synthetic benchmarks: k controls width: larger k creates a k³-wide merge frontier. l controls depth: smaller l </a:t>
            </a:r>
            <a:r>
              <a:rPr lang="en-US" sz="1700" dirty="0">
                <a:solidFill>
                  <a:srgbClr val="2B2F36"/>
                </a:solidFill>
                <a:latin typeface="Calibri"/>
              </a:rPr>
              <a:t>is deeper</a:t>
            </a:r>
            <a:endParaRPr lang="en-US" sz="1700" b="0" dirty="0">
              <a:solidFill>
                <a:srgbClr val="2B2F36"/>
              </a:solidFill>
              <a:latin typeface="Calibri"/>
            </a:endParaRPr>
          </a:p>
        </p:txBody>
      </p:sp>
      <p:sp>
        <p:nvSpPr>
          <p:cNvPr id="7" name="ParentCC chart label"/>
          <p:cNvSpPr txBox="1"/>
          <p:nvPr/>
        </p:nvSpPr>
        <p:spPr>
          <a:xfrm>
            <a:off x="365760" y="1773936"/>
            <a:ext cx="5577840" cy="274320"/>
          </a:xfrm>
          <a:prstGeom prst="rect">
            <a:avLst/>
          </a:prstGeom>
          <a:noFill/>
        </p:spPr>
        <p:txBody>
          <a:bodyPr wrap="square" lIns="0" tIns="0" rIns="0" bIns="0" anchor="ctr"/>
          <a:lstStyle/>
          <a:p>
            <a:pPr algn="ctr"/>
            <a:r>
              <a:rPr lang="en-US" sz="1600" b="1">
                <a:solidFill>
                  <a:srgbClr val="1F2A44"/>
                </a:solidFill>
                <a:latin typeface="Calibri"/>
              </a:rPr>
              <a:t>ParentCC</a:t>
            </a:r>
          </a:p>
        </p:txBody>
      </p:sp>
      <p:sp>
        <p:nvSpPr>
          <p:cNvPr id="8" name="FilterCC chart label"/>
          <p:cNvSpPr txBox="1"/>
          <p:nvPr/>
        </p:nvSpPr>
        <p:spPr>
          <a:xfrm>
            <a:off x="6245352" y="1773936"/>
            <a:ext cx="5577840" cy="274320"/>
          </a:xfrm>
          <a:prstGeom prst="rect">
            <a:avLst/>
          </a:prstGeom>
          <a:noFill/>
        </p:spPr>
        <p:txBody>
          <a:bodyPr wrap="square" lIns="0" tIns="0" rIns="0" bIns="0" anchor="ctr"/>
          <a:lstStyle/>
          <a:p>
            <a:pPr algn="ctr"/>
            <a:r>
              <a:rPr lang="en-US" sz="1600" b="1">
                <a:solidFill>
                  <a:srgbClr val="1F2A44"/>
                </a:solidFill>
                <a:latin typeface="Calibri"/>
              </a:rPr>
              <a:t>FilterCC</a:t>
            </a:r>
          </a:p>
        </p:txBody>
      </p:sp>
      <p:pic>
        <p:nvPicPr>
          <p:cNvPr id="9" name="ParentCC benchmark chart"/>
          <p:cNvPicPr>
            <a:picLocks noChangeAspect="1"/>
          </p:cNvPicPr>
          <p:nvPr/>
        </p:nvPicPr>
        <p:blipFill>
          <a:blip r:embed="rId2"/>
          <a:stretch>
            <a:fillRect/>
          </a:stretch>
        </p:blipFill>
        <p:spPr>
          <a:xfrm>
            <a:off x="365760" y="2076193"/>
            <a:ext cx="5577840" cy="3848613"/>
          </a:xfrm>
          <a:prstGeom prst="rect">
            <a:avLst/>
          </a:prstGeom>
        </p:spPr>
      </p:pic>
      <p:pic>
        <p:nvPicPr>
          <p:cNvPr id="10" name="FilterCC benchmark chart"/>
          <p:cNvPicPr>
            <a:picLocks noChangeAspect="1"/>
          </p:cNvPicPr>
          <p:nvPr/>
        </p:nvPicPr>
        <p:blipFill>
          <a:blip r:embed="rId3"/>
          <a:stretch>
            <a:fillRect/>
          </a:stretch>
        </p:blipFill>
        <p:spPr>
          <a:xfrm>
            <a:off x="6245352" y="2076193"/>
            <a:ext cx="5577840" cy="3848613"/>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rrectness title"/>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RQ2 — What benchmark characteristics make this work?</a:t>
            </a:r>
          </a:p>
        </p:txBody>
      </p:sp>
      <p:sp>
        <p:nvSpPr>
          <p:cNvPr id="4" name="Correctness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67</a:t>
            </a:r>
          </a:p>
        </p:txBody>
      </p:sp>
      <p:sp>
        <p:nvSpPr>
          <p:cNvPr id="5" name="Benchmark introduction"/>
          <p:cNvSpPr txBox="1"/>
          <p:nvPr/>
        </p:nvSpPr>
        <p:spPr>
          <a:xfrm>
            <a:off x="548640" y="1097280"/>
            <a:ext cx="11064240" cy="438912"/>
          </a:xfrm>
          <a:prstGeom prst="rect">
            <a:avLst/>
          </a:prstGeom>
          <a:noFill/>
        </p:spPr>
        <p:txBody>
          <a:bodyPr wrap="square" lIns="0" tIns="0" rIns="0" bIns="0" anchor="ctr"/>
          <a:lstStyle/>
          <a:p>
            <a:r>
              <a:rPr lang="en-US" sz="1700" dirty="0">
                <a:solidFill>
                  <a:srgbClr val="2B2F36"/>
                </a:solidFill>
              </a:rPr>
              <a:t>Synthetic benchmarks: k controls width: larger k creates a k³-wide merge frontier. l controls depth: smaller l is deeper</a:t>
            </a:r>
          </a:p>
        </p:txBody>
      </p:sp>
      <p:sp>
        <p:nvSpPr>
          <p:cNvPr id="7" name="ParentCC chart label"/>
          <p:cNvSpPr txBox="1"/>
          <p:nvPr/>
        </p:nvSpPr>
        <p:spPr>
          <a:xfrm>
            <a:off x="365760" y="1773936"/>
            <a:ext cx="5577840" cy="274320"/>
          </a:xfrm>
          <a:prstGeom prst="rect">
            <a:avLst/>
          </a:prstGeom>
          <a:noFill/>
        </p:spPr>
        <p:txBody>
          <a:bodyPr wrap="square" lIns="0" tIns="0" rIns="0" bIns="0" anchor="ctr"/>
          <a:lstStyle/>
          <a:p>
            <a:pPr algn="ctr"/>
            <a:r>
              <a:rPr lang="en-US" sz="1600" b="1">
                <a:solidFill>
                  <a:srgbClr val="1F2A44"/>
                </a:solidFill>
                <a:latin typeface="Calibri"/>
              </a:rPr>
              <a:t>ParentCC</a:t>
            </a:r>
          </a:p>
        </p:txBody>
      </p:sp>
      <p:sp>
        <p:nvSpPr>
          <p:cNvPr id="8" name="FilterCC chart label"/>
          <p:cNvSpPr txBox="1"/>
          <p:nvPr/>
        </p:nvSpPr>
        <p:spPr>
          <a:xfrm>
            <a:off x="6245352" y="1773936"/>
            <a:ext cx="5577840" cy="274320"/>
          </a:xfrm>
          <a:prstGeom prst="rect">
            <a:avLst/>
          </a:prstGeom>
          <a:noFill/>
        </p:spPr>
        <p:txBody>
          <a:bodyPr wrap="square" lIns="0" tIns="0" rIns="0" bIns="0" anchor="ctr"/>
          <a:lstStyle/>
          <a:p>
            <a:pPr algn="ctr"/>
            <a:r>
              <a:rPr lang="en-US" sz="1600" b="1">
                <a:solidFill>
                  <a:srgbClr val="1F2A44"/>
                </a:solidFill>
                <a:latin typeface="Calibri"/>
              </a:rPr>
              <a:t>FilterCC</a:t>
            </a:r>
          </a:p>
        </p:txBody>
      </p:sp>
      <p:pic>
        <p:nvPicPr>
          <p:cNvPr id="9" name="ParentCC benchmark chart"/>
          <p:cNvPicPr>
            <a:picLocks noChangeAspect="1"/>
          </p:cNvPicPr>
          <p:nvPr/>
        </p:nvPicPr>
        <p:blipFill>
          <a:blip r:embed="rId2"/>
          <a:stretch>
            <a:fillRect/>
          </a:stretch>
        </p:blipFill>
        <p:spPr>
          <a:xfrm>
            <a:off x="365760" y="2076193"/>
            <a:ext cx="5577840" cy="3848613"/>
          </a:xfrm>
          <a:prstGeom prst="rect">
            <a:avLst/>
          </a:prstGeom>
        </p:spPr>
      </p:pic>
      <p:pic>
        <p:nvPicPr>
          <p:cNvPr id="10" name="FilterCC benchmark chart"/>
          <p:cNvPicPr>
            <a:picLocks noChangeAspect="1"/>
          </p:cNvPicPr>
          <p:nvPr/>
        </p:nvPicPr>
        <p:blipFill>
          <a:blip r:embed="rId3"/>
          <a:stretch>
            <a:fillRect/>
          </a:stretch>
        </p:blipFill>
        <p:spPr>
          <a:xfrm>
            <a:off x="6245352" y="2076193"/>
            <a:ext cx="5577840" cy="3848613"/>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rrectness title"/>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RQ2 — What benchmark characteristics make this work?</a:t>
            </a:r>
          </a:p>
        </p:txBody>
      </p:sp>
      <p:sp>
        <p:nvSpPr>
          <p:cNvPr id="4" name="Correctness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68</a:t>
            </a:r>
          </a:p>
        </p:txBody>
      </p:sp>
      <p:sp>
        <p:nvSpPr>
          <p:cNvPr id="5" name="Benchmark introduction"/>
          <p:cNvSpPr txBox="1"/>
          <p:nvPr/>
        </p:nvSpPr>
        <p:spPr>
          <a:xfrm>
            <a:off x="548640" y="1097280"/>
            <a:ext cx="11064240" cy="438912"/>
          </a:xfrm>
          <a:prstGeom prst="rect">
            <a:avLst/>
          </a:prstGeom>
          <a:noFill/>
        </p:spPr>
        <p:txBody>
          <a:bodyPr wrap="square" lIns="0" tIns="0" rIns="0" bIns="0" anchor="ctr"/>
          <a:lstStyle/>
          <a:p>
            <a:r>
              <a:rPr lang="en-US" sz="1700" dirty="0">
                <a:solidFill>
                  <a:srgbClr val="2B2F36"/>
                </a:solidFill>
              </a:rPr>
              <a:t>Synthetic benchmarks: k controls width: larger k creates a k³-wide merge frontier. l controls depth: smaller l is deeper</a:t>
            </a:r>
          </a:p>
        </p:txBody>
      </p:sp>
      <p:sp>
        <p:nvSpPr>
          <p:cNvPr id="7" name="ParentCC chart label"/>
          <p:cNvSpPr txBox="1"/>
          <p:nvPr/>
        </p:nvSpPr>
        <p:spPr>
          <a:xfrm>
            <a:off x="365760" y="1773936"/>
            <a:ext cx="5577840" cy="274320"/>
          </a:xfrm>
          <a:prstGeom prst="rect">
            <a:avLst/>
          </a:prstGeom>
          <a:noFill/>
        </p:spPr>
        <p:txBody>
          <a:bodyPr wrap="square" lIns="0" tIns="0" rIns="0" bIns="0" anchor="ctr"/>
          <a:lstStyle/>
          <a:p>
            <a:pPr algn="ctr"/>
            <a:r>
              <a:rPr lang="en-US" sz="1600" b="1">
                <a:solidFill>
                  <a:srgbClr val="1F2A44"/>
                </a:solidFill>
                <a:latin typeface="Calibri"/>
              </a:rPr>
              <a:t>ParentCC</a:t>
            </a:r>
          </a:p>
        </p:txBody>
      </p:sp>
      <p:sp>
        <p:nvSpPr>
          <p:cNvPr id="8" name="FilterCC chart label"/>
          <p:cNvSpPr txBox="1"/>
          <p:nvPr/>
        </p:nvSpPr>
        <p:spPr>
          <a:xfrm>
            <a:off x="6245352" y="1773936"/>
            <a:ext cx="5577840" cy="274320"/>
          </a:xfrm>
          <a:prstGeom prst="rect">
            <a:avLst/>
          </a:prstGeom>
          <a:noFill/>
        </p:spPr>
        <p:txBody>
          <a:bodyPr wrap="square" lIns="0" tIns="0" rIns="0" bIns="0" anchor="ctr"/>
          <a:lstStyle/>
          <a:p>
            <a:pPr algn="ctr"/>
            <a:r>
              <a:rPr lang="en-US" sz="1600" b="1">
                <a:solidFill>
                  <a:srgbClr val="1F2A44"/>
                </a:solidFill>
                <a:latin typeface="Calibri"/>
              </a:rPr>
              <a:t>FilterCC</a:t>
            </a:r>
          </a:p>
        </p:txBody>
      </p:sp>
      <p:pic>
        <p:nvPicPr>
          <p:cNvPr id="9" name="ParentCC benchmark chart"/>
          <p:cNvPicPr>
            <a:picLocks noChangeAspect="1"/>
          </p:cNvPicPr>
          <p:nvPr/>
        </p:nvPicPr>
        <p:blipFill>
          <a:blip r:embed="rId2"/>
          <a:stretch>
            <a:fillRect/>
          </a:stretch>
        </p:blipFill>
        <p:spPr>
          <a:xfrm>
            <a:off x="365760" y="2076193"/>
            <a:ext cx="5577840" cy="3848613"/>
          </a:xfrm>
          <a:prstGeom prst="rect">
            <a:avLst/>
          </a:prstGeom>
        </p:spPr>
      </p:pic>
      <p:pic>
        <p:nvPicPr>
          <p:cNvPr id="10" name="FilterCC benchmark chart"/>
          <p:cNvPicPr>
            <a:picLocks noChangeAspect="1"/>
          </p:cNvPicPr>
          <p:nvPr/>
        </p:nvPicPr>
        <p:blipFill>
          <a:blip r:embed="rId3"/>
          <a:stretch>
            <a:fillRect/>
          </a:stretch>
        </p:blipFill>
        <p:spPr>
          <a:xfrm>
            <a:off x="6245352" y="2076193"/>
            <a:ext cx="5577840" cy="3848613"/>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rrectness title"/>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RQ2 — What benchmark characteristics make this work?</a:t>
            </a:r>
          </a:p>
        </p:txBody>
      </p:sp>
      <p:sp>
        <p:nvSpPr>
          <p:cNvPr id="4" name="Correctness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69</a:t>
            </a:r>
          </a:p>
        </p:txBody>
      </p:sp>
      <p:sp>
        <p:nvSpPr>
          <p:cNvPr id="5" name="Benchmark introduction"/>
          <p:cNvSpPr txBox="1"/>
          <p:nvPr/>
        </p:nvSpPr>
        <p:spPr>
          <a:xfrm>
            <a:off x="548640" y="1097280"/>
            <a:ext cx="11064240" cy="438912"/>
          </a:xfrm>
          <a:prstGeom prst="rect">
            <a:avLst/>
          </a:prstGeom>
          <a:noFill/>
        </p:spPr>
        <p:txBody>
          <a:bodyPr wrap="square" lIns="0" tIns="0" rIns="0" bIns="0" anchor="ctr"/>
          <a:lstStyle/>
          <a:p>
            <a:pPr algn="l"/>
            <a:r>
              <a:rPr lang="en-US" sz="1700" b="0">
                <a:solidFill>
                  <a:srgbClr val="2B2F36"/>
                </a:solidFill>
                <a:latin typeface="Calibri"/>
              </a:rPr>
              <a:t>k controls width: larger k creates a k³-wide merge frontier. l controls depth: smaller l makes the g-trees taller.</a:t>
            </a:r>
          </a:p>
        </p:txBody>
      </p:sp>
      <p:sp>
        <p:nvSpPr>
          <p:cNvPr id="7" name="ParentCC chart label"/>
          <p:cNvSpPr txBox="1"/>
          <p:nvPr/>
        </p:nvSpPr>
        <p:spPr>
          <a:xfrm>
            <a:off x="365760" y="1773936"/>
            <a:ext cx="5577840" cy="274320"/>
          </a:xfrm>
          <a:prstGeom prst="rect">
            <a:avLst/>
          </a:prstGeom>
          <a:noFill/>
        </p:spPr>
        <p:txBody>
          <a:bodyPr wrap="square" lIns="0" tIns="0" rIns="0" bIns="0" anchor="ctr"/>
          <a:lstStyle/>
          <a:p>
            <a:pPr algn="ctr"/>
            <a:r>
              <a:rPr lang="en-US" sz="1600" b="1">
                <a:solidFill>
                  <a:srgbClr val="1F2A44"/>
                </a:solidFill>
                <a:latin typeface="Calibri"/>
              </a:rPr>
              <a:t>ParentCC</a:t>
            </a:r>
          </a:p>
        </p:txBody>
      </p:sp>
      <p:sp>
        <p:nvSpPr>
          <p:cNvPr id="8" name="FilterCC chart label"/>
          <p:cNvSpPr txBox="1"/>
          <p:nvPr/>
        </p:nvSpPr>
        <p:spPr>
          <a:xfrm>
            <a:off x="6245352" y="1773936"/>
            <a:ext cx="5577840" cy="274320"/>
          </a:xfrm>
          <a:prstGeom prst="rect">
            <a:avLst/>
          </a:prstGeom>
          <a:noFill/>
        </p:spPr>
        <p:txBody>
          <a:bodyPr wrap="square" lIns="0" tIns="0" rIns="0" bIns="0" anchor="ctr"/>
          <a:lstStyle/>
          <a:p>
            <a:pPr algn="ctr"/>
            <a:r>
              <a:rPr lang="en-US" sz="1600" b="1">
                <a:solidFill>
                  <a:srgbClr val="1F2A44"/>
                </a:solidFill>
                <a:latin typeface="Calibri"/>
              </a:rPr>
              <a:t>FilterCC</a:t>
            </a:r>
          </a:p>
        </p:txBody>
      </p:sp>
      <p:pic>
        <p:nvPicPr>
          <p:cNvPr id="9" name="ParentCC benchmark chart"/>
          <p:cNvPicPr>
            <a:picLocks noChangeAspect="1"/>
          </p:cNvPicPr>
          <p:nvPr/>
        </p:nvPicPr>
        <p:blipFill>
          <a:blip r:embed="rId2"/>
          <a:stretch>
            <a:fillRect/>
          </a:stretch>
        </p:blipFill>
        <p:spPr>
          <a:xfrm>
            <a:off x="365760" y="2076193"/>
            <a:ext cx="5577840" cy="3848613"/>
          </a:xfrm>
          <a:prstGeom prst="rect">
            <a:avLst/>
          </a:prstGeom>
        </p:spPr>
      </p:pic>
      <p:pic>
        <p:nvPicPr>
          <p:cNvPr id="10" name="FilterCC benchmark chart"/>
          <p:cNvPicPr>
            <a:picLocks noChangeAspect="1"/>
          </p:cNvPicPr>
          <p:nvPr/>
        </p:nvPicPr>
        <p:blipFill>
          <a:blip r:embed="rId3"/>
          <a:stretch>
            <a:fillRect/>
          </a:stretch>
        </p:blipFill>
        <p:spPr>
          <a:xfrm>
            <a:off x="6245352" y="2076193"/>
            <a:ext cx="5577840" cy="3848613"/>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rrectness title"/>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RQ3 — Does this help on real-world benchmarks?</a:t>
            </a:r>
          </a:p>
        </p:txBody>
      </p:sp>
      <p:sp>
        <p:nvSpPr>
          <p:cNvPr id="4" name="Correctness slide number"/>
          <p:cNvSpPr txBox="1"/>
          <p:nvPr/>
        </p:nvSpPr>
        <p:spPr>
          <a:xfrm>
            <a:off x="11064240" y="6345936"/>
            <a:ext cx="914400" cy="365760"/>
          </a:xfrm>
          <a:prstGeom prst="rect">
            <a:avLst/>
          </a:prstGeom>
          <a:noFill/>
        </p:spPr>
        <p:txBody>
          <a:bodyPr wrap="square" lIns="45720" tIns="27432" rIns="45720" bIns="27432" anchor="ctr">
            <a:spAutoFit/>
          </a:bodyPr>
          <a:lstStyle/>
          <a:p>
            <a:pPr algn="r"/>
            <a:r>
              <a:rPr sz="1500" b="0" i="0">
                <a:solidFill>
                  <a:srgbClr val="2B2F36"/>
                </a:solidFill>
                <a:latin typeface="Calibri"/>
              </a:rPr>
              <a:t>74</a:t>
            </a:r>
          </a:p>
        </p:txBody>
      </p:sp>
      <p:sp>
        <p:nvSpPr>
          <p:cNvPr id="5" name="Benchmark introduction"/>
          <p:cNvSpPr txBox="1"/>
          <p:nvPr/>
        </p:nvSpPr>
        <p:spPr>
          <a:xfrm>
            <a:off x="548640" y="1097280"/>
            <a:ext cx="11064240" cy="438912"/>
          </a:xfrm>
          <a:prstGeom prst="rect">
            <a:avLst/>
          </a:prstGeom>
          <a:noFill/>
        </p:spPr>
        <p:txBody>
          <a:bodyPr wrap="square" lIns="0" tIns="0" rIns="0" bIns="0" anchor="ctr"/>
          <a:lstStyle/>
          <a:p>
            <a:pPr algn="l"/>
            <a:r>
              <a:rPr lang="en-US" sz="1700" b="0">
                <a:solidFill>
                  <a:srgbClr val="2B2F36"/>
                </a:solidFill>
                <a:latin typeface="Calibri"/>
              </a:rPr>
              <a:t>We measure recovered gates from circuit-equivalence miters used by Biere et al.: 10 IWLS’22 and 12 HWMCC’12 instances.</a:t>
            </a:r>
          </a:p>
        </p:txBody>
      </p:sp>
      <p:sp>
        <p:nvSpPr>
          <p:cNvPr id="7" name="ParentCC chart label"/>
          <p:cNvSpPr txBox="1"/>
          <p:nvPr/>
        </p:nvSpPr>
        <p:spPr>
          <a:xfrm>
            <a:off x="365760" y="1773936"/>
            <a:ext cx="5577840" cy="274320"/>
          </a:xfrm>
          <a:prstGeom prst="rect">
            <a:avLst/>
          </a:prstGeom>
          <a:noFill/>
        </p:spPr>
        <p:txBody>
          <a:bodyPr wrap="square" lIns="0" tIns="0" rIns="0" bIns="0" anchor="ctr"/>
          <a:lstStyle/>
          <a:p>
            <a:pPr algn="ctr"/>
            <a:r>
              <a:rPr lang="en-US" sz="1600" b="1">
                <a:solidFill>
                  <a:srgbClr val="1F2A44"/>
                </a:solidFill>
                <a:latin typeface="Calibri"/>
              </a:rPr>
              <a:t>ParentCC</a:t>
            </a:r>
          </a:p>
        </p:txBody>
      </p:sp>
      <p:sp>
        <p:nvSpPr>
          <p:cNvPr id="8" name="FilterCC chart label"/>
          <p:cNvSpPr txBox="1"/>
          <p:nvPr/>
        </p:nvSpPr>
        <p:spPr>
          <a:xfrm>
            <a:off x="6245352" y="1773936"/>
            <a:ext cx="5577840" cy="274320"/>
          </a:xfrm>
          <a:prstGeom prst="rect">
            <a:avLst/>
          </a:prstGeom>
          <a:noFill/>
        </p:spPr>
        <p:txBody>
          <a:bodyPr wrap="square" lIns="0" tIns="0" rIns="0" bIns="0" anchor="ctr"/>
          <a:lstStyle/>
          <a:p>
            <a:pPr algn="ctr"/>
            <a:r>
              <a:rPr lang="en-US" sz="1600" b="1">
                <a:solidFill>
                  <a:srgbClr val="1F2A44"/>
                </a:solidFill>
                <a:latin typeface="Calibri"/>
              </a:rPr>
              <a:t>FilterCC</a:t>
            </a:r>
          </a:p>
        </p:txBody>
      </p:sp>
      <p:pic>
        <p:nvPicPr>
          <p:cNvPr id="9" name="ParentCC benchmark chart"/>
          <p:cNvPicPr>
            <a:picLocks noChangeAspect="1"/>
          </p:cNvPicPr>
          <p:nvPr/>
        </p:nvPicPr>
        <p:blipFill>
          <a:blip r:embed="rId2"/>
          <a:stretch>
            <a:fillRect/>
          </a:stretch>
        </p:blipFill>
        <p:spPr>
          <a:xfrm>
            <a:off x="365760" y="2074530"/>
            <a:ext cx="5577840" cy="3851940"/>
          </a:xfrm>
          <a:prstGeom prst="rect">
            <a:avLst/>
          </a:prstGeom>
        </p:spPr>
      </p:pic>
      <p:pic>
        <p:nvPicPr>
          <p:cNvPr id="10" name="FilterCC benchmark chart"/>
          <p:cNvPicPr>
            <a:picLocks noChangeAspect="1"/>
          </p:cNvPicPr>
          <p:nvPr/>
        </p:nvPicPr>
        <p:blipFill>
          <a:blip r:embed="rId3"/>
          <a:stretch>
            <a:fillRect/>
          </a:stretch>
        </p:blipFill>
        <p:spPr>
          <a:xfrm>
            <a:off x="6245352" y="2076193"/>
            <a:ext cx="5577840" cy="3848613"/>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Backup: ParentCC pseudocode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Rounded Rectangle 3"/>
          <p:cNvSpPr/>
          <p:nvPr/>
        </p:nvSpPr>
        <p:spPr>
          <a:xfrm>
            <a:off x="1463040" y="1325880"/>
            <a:ext cx="9235440" cy="4892040"/>
          </a:xfrm>
          <a:prstGeom prst="roundRect">
            <a:avLst>
              <a:gd name="adj" fmla="val 5000"/>
            </a:avLst>
          </a:prstGeom>
          <a:solidFill>
            <a:srgbClr val="F7F7F9"/>
          </a:solidFill>
          <a:ln>
            <a:noFill/>
          </a:ln>
          <a:effectLst/>
        </p:spPr>
        <p:txBody>
          <a:bodyPr wrap="square" lIns="54864" tIns="27432" rIns="54864" bIns="27432" rtlCol="0" anchor="ctr"/>
          <a:lstStyle/>
          <a:p>
            <a:pPr algn="ctr"/>
            <a:endParaRPr/>
          </a:p>
        </p:txBody>
      </p:sp>
      <p:sp>
        <p:nvSpPr>
          <p:cNvPr id="5" name="TextBox 4"/>
          <p:cNvSpPr txBox="1"/>
          <p:nvPr/>
        </p:nvSpPr>
        <p:spPr>
          <a:xfrm>
            <a:off x="1737360" y="1417320"/>
            <a:ext cx="8778240" cy="4754880"/>
          </a:xfrm>
          <a:prstGeom prst="rect">
            <a:avLst/>
          </a:prstGeom>
          <a:noFill/>
        </p:spPr>
        <p:txBody>
          <a:bodyPr wrap="none">
            <a:spAutoFit/>
          </a:bodyPr>
          <a:lstStyle/>
          <a:p>
            <a:pPr>
              <a:spcAft>
                <a:spcPts val="150"/>
              </a:spcAft>
            </a:pPr>
            <a:r>
              <a:rPr sz="1400" b="1" i="0">
                <a:solidFill>
                  <a:srgbClr val="2B2F36"/>
                </a:solidFill>
                <a:latin typeface="Consolas"/>
              </a:rPr>
              <a:t>ParentCC(E):</a:t>
            </a:r>
          </a:p>
          <a:p>
            <a:pPr>
              <a:spcAft>
                <a:spcPts val="150"/>
              </a:spcAft>
            </a:pPr>
            <a:r>
              <a:rPr sz="1400" b="0" i="0">
                <a:solidFill>
                  <a:srgbClr val="2B2F36"/>
                </a:solidFill>
                <a:latin typeface="Consolas"/>
              </a:rPr>
              <a:t>    parfor (u = v) ∈ E:  Union(u, v)</a:t>
            </a:r>
          </a:p>
          <a:p>
            <a:pPr>
              <a:spcAft>
                <a:spcPts val="150"/>
              </a:spcAft>
            </a:pPr>
            <a:r>
              <a:rPr sz="1400" b="0" i="0">
                <a:solidFill>
                  <a:srgbClr val="2B2F36"/>
                </a:solidFill>
                <a:latin typeface="Consolas"/>
              </a:rPr>
              <a:t>    Work ← terms of E</a:t>
            </a:r>
          </a:p>
          <a:p>
            <a:pPr>
              <a:spcAft>
                <a:spcPts val="150"/>
              </a:spcAft>
            </a:pPr>
            <a:r>
              <a:rPr sz="1400" b="0" i="0">
                <a:solidFill>
                  <a:srgbClr val="2B2F36"/>
                </a:solidFill>
                <a:latin typeface="Consolas"/>
              </a:rPr>
              <a:t>    while Work ≠ ∅:</a:t>
            </a:r>
          </a:p>
          <a:p>
            <a:pPr>
              <a:spcAft>
                <a:spcPts val="150"/>
              </a:spcAft>
            </a:pPr>
            <a:r>
              <a:rPr sz="1400" b="0" i="0">
                <a:solidFill>
                  <a:srgbClr val="2B2F36"/>
                </a:solidFill>
                <a:latin typeface="Consolas"/>
              </a:rPr>
              <a:t>        parfor c ∈ Work with c ≠ Find(c):                 </a:t>
            </a:r>
            <a:r>
              <a:rPr sz="1400" b="0" i="0">
                <a:solidFill>
                  <a:srgbClr val="6B717A"/>
                </a:solidFill>
                <a:latin typeface="Consolas"/>
              </a:rPr>
              <a:t>▹ fold parent lists</a:t>
            </a:r>
          </a:p>
          <a:p>
            <a:pPr>
              <a:spcAft>
                <a:spcPts val="150"/>
              </a:spcAft>
            </a:pPr>
            <a:r>
              <a:rPr sz="1400" b="0" i="0">
                <a:solidFill>
                  <a:srgbClr val="2B2F36"/>
                </a:solidFill>
                <a:latin typeface="Consolas"/>
              </a:rPr>
              <a:t>            Parents[Find(c)] ← Parents[Find(c)] ∪ Parents[c]</a:t>
            </a:r>
          </a:p>
          <a:p>
            <a:pPr>
              <a:spcAft>
                <a:spcPts val="150"/>
              </a:spcAft>
            </a:pPr>
            <a:r>
              <a:rPr sz="1400" b="0" i="0">
                <a:solidFill>
                  <a:srgbClr val="2B2F36"/>
                </a:solidFill>
                <a:latin typeface="Consolas"/>
              </a:rPr>
              <a:t>        Frontier ← all compound terms          on round 0   </a:t>
            </a:r>
            <a:r>
              <a:rPr sz="1400" b="0" i="0">
                <a:solidFill>
                  <a:srgbClr val="6B717A"/>
                </a:solidFill>
                <a:latin typeface="Consolas"/>
              </a:rPr>
              <a:t>▹ seed round</a:t>
            </a:r>
          </a:p>
          <a:p>
            <a:pPr>
              <a:spcAft>
                <a:spcPts val="150"/>
              </a:spcAft>
            </a:pPr>
            <a:r>
              <a:rPr sz="1400" b="0" i="0">
                <a:solidFill>
                  <a:srgbClr val="2B2F36"/>
                </a:solidFill>
                <a:latin typeface="Consolas"/>
              </a:rPr>
              <a:t>        Frontier ← ⋃ Parents[Find(c)] for c ∈ Work   otherwise</a:t>
            </a:r>
          </a:p>
          <a:p>
            <a:pPr>
              <a:spcAft>
                <a:spcPts val="150"/>
              </a:spcAft>
            </a:pPr>
            <a:r>
              <a:rPr sz="1400" b="0" i="0">
                <a:solidFill>
                  <a:srgbClr val="2B2F36"/>
                </a:solidFill>
                <a:latin typeface="Consolas"/>
              </a:rPr>
              <a:t>        groups ← GroupBy(Congruent, Frontier)          </a:t>
            </a:r>
            <a:r>
              <a:rPr sz="1400" b="0" i="0">
                <a:solidFill>
                  <a:srgbClr val="6B717A"/>
                </a:solidFill>
                <a:latin typeface="Consolas"/>
              </a:rPr>
              <a:t>▹ semisort on sigs</a:t>
            </a:r>
          </a:p>
          <a:p>
            <a:pPr>
              <a:spcAft>
                <a:spcPts val="150"/>
              </a:spcAft>
            </a:pPr>
            <a:r>
              <a:rPr sz="1400" b="0" i="0">
                <a:solidFill>
                  <a:srgbClr val="2B2F36"/>
                </a:solidFill>
                <a:latin typeface="Consolas"/>
              </a:rPr>
              <a:t>        Work ← ∅</a:t>
            </a:r>
          </a:p>
          <a:p>
            <a:pPr>
              <a:spcAft>
                <a:spcPts val="150"/>
              </a:spcAft>
            </a:pPr>
            <a:r>
              <a:rPr sz="1400" b="0" i="0">
                <a:solidFill>
                  <a:srgbClr val="2B2F36"/>
                </a:solidFill>
                <a:latin typeface="Consolas"/>
              </a:rPr>
              <a:t>        parfor g ∈ groups spanning &gt; 1 class:</a:t>
            </a:r>
          </a:p>
          <a:p>
            <a:pPr>
              <a:spcAft>
                <a:spcPts val="150"/>
              </a:spcAft>
            </a:pPr>
            <a:r>
              <a:rPr sz="1400" b="0" i="0">
                <a:solidFill>
                  <a:srgbClr val="2B2F36"/>
                </a:solidFill>
                <a:latin typeface="Consolas"/>
              </a:rPr>
              <a:t>            MergeCongruenceClass(g)                          </a:t>
            </a:r>
            <a:r>
              <a:rPr sz="1400" b="0" i="0">
                <a:solidFill>
                  <a:srgbClr val="6B717A"/>
                </a:solidFill>
                <a:latin typeface="Consolas"/>
              </a:rPr>
              <a:t>▹ parallel unions</a:t>
            </a:r>
          </a:p>
          <a:p>
            <a:pPr>
              <a:spcAft>
                <a:spcPts val="150"/>
              </a:spcAft>
            </a:pPr>
            <a:r>
              <a:rPr sz="1400" b="0" i="0">
                <a:solidFill>
                  <a:srgbClr val="2B2F36"/>
                </a:solidFill>
                <a:latin typeface="Consolas"/>
              </a:rPr>
              <a:t>            Work ← Work ∪ pre-merge roots of g</a:t>
            </a:r>
          </a:p>
          <a:p>
            <a:pPr>
              <a:spcAft>
                <a:spcPts val="150"/>
              </a:spcAft>
            </a:pPr>
            <a:endParaRPr sz="1400" b="0" i="0">
              <a:solidFill>
                <a:srgbClr val="2B2F36"/>
              </a:solidFill>
              <a:latin typeface="Consolas"/>
            </a:endParaRPr>
          </a:p>
          <a:p>
            <a:pPr>
              <a:spcAft>
                <a:spcPts val="150"/>
              </a:spcAft>
            </a:pPr>
            <a:r>
              <a:rPr sz="1400" b="0" i="0">
                <a:solidFill>
                  <a:srgbClr val="2B2F36"/>
                </a:solidFill>
                <a:latin typeface="Consolas"/>
              </a:rPr>
              <a:t>MergeCongruenceClass(S):                             </a:t>
            </a:r>
            <a:r>
              <a:rPr sz="1400" b="0" i="0">
                <a:solidFill>
                  <a:srgbClr val="6B717A"/>
                </a:solidFill>
                <a:latin typeface="Consolas"/>
              </a:rPr>
              <a:t>▹ divide and conquer</a:t>
            </a:r>
          </a:p>
          <a:p>
            <a:pPr>
              <a:spcAft>
                <a:spcPts val="150"/>
              </a:spcAft>
            </a:pPr>
            <a:r>
              <a:rPr sz="1400" b="0" i="0">
                <a:solidFill>
                  <a:srgbClr val="2B2F36"/>
                </a:solidFill>
                <a:latin typeface="Consolas"/>
              </a:rPr>
              <a:t>    if |S| = 1: return the element</a:t>
            </a:r>
          </a:p>
          <a:p>
            <a:pPr>
              <a:spcAft>
                <a:spcPts val="150"/>
              </a:spcAft>
            </a:pPr>
            <a:r>
              <a:rPr sz="1400" b="0" i="0">
                <a:solidFill>
                  <a:srgbClr val="2B2F36"/>
                </a:solidFill>
                <a:latin typeface="Consolas"/>
              </a:rPr>
              <a:t>    l, r ← MergeCongruenceClass(S[0..n/2]) ∥ MergeCongruenceClass(S[n/2..n])</a:t>
            </a:r>
          </a:p>
          <a:p>
            <a:pPr>
              <a:spcAft>
                <a:spcPts val="150"/>
              </a:spcAft>
            </a:pPr>
            <a:r>
              <a:rPr sz="1400" b="0" i="0">
                <a:solidFill>
                  <a:srgbClr val="2B2F36"/>
                </a:solidFill>
                <a:latin typeface="Consolas"/>
              </a:rPr>
              <a:t>    return Union(l, r)</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extBox 1"/>
          <p:cNvSpPr txBox="1"/>
          <p:nvPr/>
        </p:nvSpPr>
        <p:spPr>
          <a:xfrm>
            <a:off x="502920" y="292608"/>
            <a:ext cx="11155680" cy="731520"/>
          </a:xfrm>
          <a:prstGeom prst="rect">
            <a:avLst/>
          </a:prstGeom>
          <a:noFill/>
        </p:spPr>
        <p:txBody>
          <a:bodyPr wrap="square" lIns="45720" tIns="27432" rIns="45720" bIns="27432" anchor="ctr">
            <a:spAutoFit/>
          </a:bodyPr>
          <a:lstStyle/>
          <a:p>
            <a:pPr algn="l"/>
            <a:r>
              <a:rPr sz="3000" b="1" i="0">
                <a:solidFill>
                  <a:srgbClr val="1F2A44"/>
                </a:solidFill>
                <a:latin typeface="Calibri"/>
              </a:rPr>
              <a:t>Conclusion</a:t>
            </a:r>
          </a:p>
        </p:txBody>
      </p:sp>
      <p:cxnSp>
        <p:nvCxnSpPr>
          <p:cNvPr id="3" name="Connector 2"/>
          <p:cNvCxnSpPr/>
          <p:nvPr/>
        </p:nvCxnSpPr>
        <p:spPr>
          <a:xfrm>
            <a:off x="566928" y="1024128"/>
            <a:ext cx="2176272" cy="0"/>
          </a:xfrm>
          <a:prstGeom prst="line">
            <a:avLst/>
          </a:prstGeom>
          <a:ln w="31750">
            <a:solidFill>
              <a:srgbClr val="C8501E"/>
            </a:solidFill>
          </a:ln>
          <a:effectLst/>
        </p:spPr>
      </p:cxnSp>
      <p:cxnSp>
        <p:nvCxnSpPr>
          <p:cNvPr id="20" name="Conclusion e-graph 20"/>
          <p:cNvCxnSpPr/>
          <p:nvPr/>
        </p:nvCxnSpPr>
        <p:spPr>
          <a:xfrm>
            <a:off x="8194152" y="1937644"/>
            <a:ext cx="0" cy="627644"/>
          </a:xfrm>
          <a:prstGeom prst="line">
            <a:avLst/>
          </a:prstGeom>
          <a:ln w="19050">
            <a:solidFill>
              <a:srgbClr val="8A8F98"/>
            </a:solidFill>
          </a:ln>
          <a:effectLst/>
        </p:spPr>
      </p:cxnSp>
      <p:cxnSp>
        <p:nvCxnSpPr>
          <p:cNvPr id="21" name="Conclusion e-graph 21"/>
          <p:cNvCxnSpPr/>
          <p:nvPr/>
        </p:nvCxnSpPr>
        <p:spPr>
          <a:xfrm>
            <a:off x="11332373" y="1937644"/>
            <a:ext cx="0" cy="627644"/>
          </a:xfrm>
          <a:prstGeom prst="line">
            <a:avLst/>
          </a:prstGeom>
          <a:ln w="19050">
            <a:solidFill>
              <a:srgbClr val="8A8F98"/>
            </a:solidFill>
          </a:ln>
          <a:effectLst/>
        </p:spPr>
      </p:cxnSp>
      <p:sp>
        <p:nvSpPr>
          <p:cNvPr id="22" name="Conclusion e-graph 22"/>
          <p:cNvSpPr/>
          <p:nvPr/>
        </p:nvSpPr>
        <p:spPr>
          <a:xfrm>
            <a:off x="7819705" y="2565288"/>
            <a:ext cx="748894" cy="442204"/>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a</a:t>
            </a:r>
          </a:p>
        </p:txBody>
      </p:sp>
      <p:sp>
        <p:nvSpPr>
          <p:cNvPr id="23" name="Conclusion e-graph 23"/>
          <p:cNvSpPr/>
          <p:nvPr/>
        </p:nvSpPr>
        <p:spPr>
          <a:xfrm>
            <a:off x="9388815" y="2565288"/>
            <a:ext cx="748894" cy="442204"/>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b</a:t>
            </a:r>
          </a:p>
        </p:txBody>
      </p:sp>
      <p:sp>
        <p:nvSpPr>
          <p:cNvPr id="24" name="Conclusion e-graph 24"/>
          <p:cNvSpPr/>
          <p:nvPr/>
        </p:nvSpPr>
        <p:spPr>
          <a:xfrm>
            <a:off x="10957926" y="2565288"/>
            <a:ext cx="748894" cy="442204"/>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c</a:t>
            </a:r>
          </a:p>
        </p:txBody>
      </p:sp>
      <p:sp>
        <p:nvSpPr>
          <p:cNvPr id="25" name="Conclusion e-graph 25"/>
          <p:cNvSpPr/>
          <p:nvPr/>
        </p:nvSpPr>
        <p:spPr>
          <a:xfrm>
            <a:off x="7819705" y="1495440"/>
            <a:ext cx="748894" cy="442204"/>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f(a)</a:t>
            </a:r>
          </a:p>
        </p:txBody>
      </p:sp>
      <p:sp>
        <p:nvSpPr>
          <p:cNvPr id="26" name="Conclusion e-graph 26"/>
          <p:cNvSpPr/>
          <p:nvPr/>
        </p:nvSpPr>
        <p:spPr>
          <a:xfrm>
            <a:off x="10957926" y="1495440"/>
            <a:ext cx="748894" cy="442204"/>
          </a:xfrm>
          <a:prstGeom prst="roundRect">
            <a:avLst>
              <a:gd name="adj" fmla="val 25000"/>
            </a:avLst>
          </a:prstGeom>
          <a:solidFill>
            <a:srgbClr val="EEF0F3"/>
          </a:solidFill>
          <a:ln w="19050">
            <a:solidFill>
              <a:srgbClr val="9AA0A8"/>
            </a:solidFill>
          </a:ln>
          <a:effectLst/>
        </p:spPr>
        <p:txBody>
          <a:bodyPr wrap="square" lIns="54864" tIns="27432" rIns="54864" bIns="27432" rtlCol="0" anchor="ctr"/>
          <a:lstStyle/>
          <a:p>
            <a:pPr algn="ctr"/>
            <a:r>
              <a:rPr sz="2000" b="0" i="0">
                <a:solidFill>
                  <a:srgbClr val="1F2A44"/>
                </a:solidFill>
                <a:latin typeface="Calibri"/>
              </a:rPr>
              <a:t>f(c)</a:t>
            </a:r>
          </a:p>
        </p:txBody>
      </p:sp>
      <p:sp>
        <p:nvSpPr>
          <p:cNvPr id="27" name="Conclusion e-graph 27"/>
          <p:cNvSpPr txBox="1"/>
          <p:nvPr/>
        </p:nvSpPr>
        <p:spPr>
          <a:xfrm>
            <a:off x="8729076" y="2572421"/>
            <a:ext cx="499262" cy="427939"/>
          </a:xfrm>
          <a:prstGeom prst="rect">
            <a:avLst/>
          </a:prstGeom>
          <a:noFill/>
        </p:spPr>
        <p:txBody>
          <a:bodyPr wrap="square" lIns="45720" tIns="27432" rIns="45720" bIns="27432" anchor="ctr">
            <a:spAutoFit/>
          </a:bodyPr>
          <a:lstStyle/>
          <a:p>
            <a:pPr algn="ctr"/>
            <a:r>
              <a:rPr sz="3000" b="1" i="0">
                <a:solidFill>
                  <a:srgbClr val="C8501E"/>
                </a:solidFill>
                <a:latin typeface="Calibri"/>
              </a:rPr>
              <a:t>=</a:t>
            </a:r>
          </a:p>
        </p:txBody>
      </p:sp>
      <p:sp>
        <p:nvSpPr>
          <p:cNvPr id="28" name="Conclusion e-graph 28"/>
          <p:cNvSpPr txBox="1"/>
          <p:nvPr/>
        </p:nvSpPr>
        <p:spPr>
          <a:xfrm>
            <a:off x="10298186" y="2572421"/>
            <a:ext cx="499262" cy="427939"/>
          </a:xfrm>
          <a:prstGeom prst="rect">
            <a:avLst/>
          </a:prstGeom>
          <a:noFill/>
        </p:spPr>
        <p:txBody>
          <a:bodyPr wrap="square" lIns="45720" tIns="27432" rIns="45720" bIns="27432" anchor="ctr">
            <a:spAutoFit/>
          </a:bodyPr>
          <a:lstStyle/>
          <a:p>
            <a:pPr algn="ctr"/>
            <a:r>
              <a:rPr sz="3000" b="1" i="0">
                <a:solidFill>
                  <a:srgbClr val="C8501E"/>
                </a:solidFill>
                <a:latin typeface="Calibri"/>
              </a:rPr>
              <a:t>=</a:t>
            </a:r>
          </a:p>
        </p:txBody>
      </p:sp>
      <p:sp>
        <p:nvSpPr>
          <p:cNvPr id="29" name="Conclusion e-graph 29"/>
          <p:cNvSpPr/>
          <p:nvPr/>
        </p:nvSpPr>
        <p:spPr>
          <a:xfrm>
            <a:off x="7620000" y="2379848"/>
            <a:ext cx="4286524" cy="813084"/>
          </a:xfrm>
          <a:prstGeom prst="roundRect">
            <a:avLst>
              <a:gd name="adj" fmla="val 35000"/>
            </a:avLst>
          </a:prstGeom>
          <a:noFill/>
          <a:ln w="28575">
            <a:solidFill>
              <a:srgbClr val="1F2A44"/>
            </a:solidFill>
            <a:prstDash val="lgDash"/>
          </a:ln>
          <a:effectLst/>
        </p:spPr>
        <p:txBody>
          <a:bodyPr wrap="square" lIns="54864" tIns="27432" rIns="54864" bIns="27432" rtlCol="0" anchor="ctr"/>
          <a:lstStyle/>
          <a:p>
            <a:pPr algn="ctr"/>
            <a:endParaRPr/>
          </a:p>
        </p:txBody>
      </p:sp>
      <p:sp>
        <p:nvSpPr>
          <p:cNvPr id="30" name="Conclusion e-graph 30"/>
          <p:cNvSpPr/>
          <p:nvPr/>
        </p:nvSpPr>
        <p:spPr>
          <a:xfrm>
            <a:off x="7620000" y="1310000"/>
            <a:ext cx="4286524" cy="813084"/>
          </a:xfrm>
          <a:prstGeom prst="roundRect">
            <a:avLst>
              <a:gd name="adj" fmla="val 35000"/>
            </a:avLst>
          </a:prstGeom>
          <a:noFill/>
          <a:ln w="28575">
            <a:solidFill>
              <a:srgbClr val="1F2A44"/>
            </a:solidFill>
            <a:prstDash val="lgDash"/>
          </a:ln>
          <a:effectLst/>
        </p:spPr>
        <p:txBody>
          <a:bodyPr wrap="square" lIns="54864" tIns="27432" rIns="54864" bIns="27432" rtlCol="0" anchor="ctr"/>
          <a:lstStyle/>
          <a:p>
            <a:pPr algn="ctr"/>
            <a:endParaRPr/>
          </a:p>
        </p:txBody>
      </p:sp>
      <p:sp>
        <p:nvSpPr>
          <p:cNvPr id="31" name="Algorithm section label"/>
          <p:cNvSpPr txBox="1"/>
          <p:nvPr/>
        </p:nvSpPr>
        <p:spPr>
          <a:xfrm>
            <a:off x="749808" y="1298448"/>
            <a:ext cx="5394960" cy="219456"/>
          </a:xfrm>
          <a:prstGeom prst="rect">
            <a:avLst/>
          </a:prstGeom>
          <a:noFill/>
        </p:spPr>
        <p:txBody>
          <a:bodyPr wrap="square" lIns="0" rIns="0" tIns="0" bIns="0"/>
          <a:lstStyle/>
          <a:p>
            <a:pPr algn="l"/>
            <a:r>
              <a:rPr lang="en-US" sz="1150" b="1">
                <a:solidFill>
                  <a:srgbClr val="6B717A"/>
                </a:solidFill>
                <a:latin typeface="Calibri"/>
              </a:rPr>
              <a:t>TWO PARALLEL ALGORITHMS</a:t>
            </a:r>
          </a:p>
        </p:txBody>
      </p:sp>
      <p:sp>
        <p:nvSpPr>
          <p:cNvPr id="32" name="ParentCC accent"/>
          <p:cNvSpPr/>
          <p:nvPr/>
        </p:nvSpPr>
        <p:spPr>
          <a:xfrm>
            <a:off x="694944" y="1664208"/>
            <a:ext cx="41148" cy="841248"/>
          </a:xfrm>
          <a:prstGeom prst="rect">
            <a:avLst/>
          </a:prstGeom>
          <a:solidFill>
            <a:srgbClr val="C8501E"/>
          </a:solidFill>
          <a:ln w="0"/>
        </p:spPr>
      </p:sp>
      <p:sp>
        <p:nvSpPr>
          <p:cNvPr id="33" name="ParentCC heading"/>
          <p:cNvSpPr txBox="1"/>
          <p:nvPr/>
        </p:nvSpPr>
        <p:spPr>
          <a:xfrm>
            <a:off x="859536" y="1591056"/>
            <a:ext cx="5394960" cy="365760"/>
          </a:xfrm>
          <a:prstGeom prst="rect">
            <a:avLst/>
          </a:prstGeom>
          <a:noFill/>
        </p:spPr>
        <p:txBody>
          <a:bodyPr wrap="square" lIns="0" rIns="0" tIns="0" bIns="0"/>
          <a:lstStyle/>
          <a:p>
            <a:pPr algn="l"/>
            <a:r>
              <a:rPr lang="en-US" sz="2300" b="1">
                <a:solidFill>
                  <a:srgbClr val="1F2A44"/>
                </a:solidFill>
                <a:latin typeface="Calibri"/>
              </a:rPr>
              <a:t>ParentCC</a:t>
            </a:r>
          </a:p>
        </p:txBody>
      </p:sp>
      <p:sp>
        <p:nvSpPr>
          <p:cNvPr id="34" name="ParentCC description"/>
          <p:cNvSpPr txBox="1"/>
          <p:nvPr/>
        </p:nvSpPr>
        <p:spPr>
          <a:xfrm>
            <a:off x="859536" y="1993392"/>
            <a:ext cx="5715000" cy="658368"/>
          </a:xfrm>
          <a:prstGeom prst="rect">
            <a:avLst/>
          </a:prstGeom>
          <a:noFill/>
        </p:spPr>
        <p:txBody>
          <a:bodyPr wrap="square" lIns="0" rIns="0" tIns="0" bIns="0"/>
          <a:lstStyle/>
          <a:p>
            <a:pPr algn="l"/>
            <a:r>
              <a:rPr lang="en-US" sz="1650" b="0">
                <a:solidFill>
                  <a:srgbClr val="2B2F36"/>
                </a:solidFill>
                <a:latin typeface="Calibri"/>
              </a:rPr>
              <a:t>Maintain parent lists; each round revisits only parents of classes merged in the previous round.</a:t>
            </a:r>
          </a:p>
        </p:txBody>
      </p:sp>
      <p:sp>
        <p:nvSpPr>
          <p:cNvPr id="35" name="FilterCC accent"/>
          <p:cNvSpPr/>
          <p:nvPr/>
        </p:nvSpPr>
        <p:spPr>
          <a:xfrm>
            <a:off x="694944" y="2816352"/>
            <a:ext cx="41148" cy="841248"/>
          </a:xfrm>
          <a:prstGeom prst="rect">
            <a:avLst/>
          </a:prstGeom>
          <a:solidFill>
            <a:srgbClr val="C8501E"/>
          </a:solidFill>
          <a:ln w="0"/>
        </p:spPr>
      </p:sp>
      <p:sp>
        <p:nvSpPr>
          <p:cNvPr id="36" name="FilterCC heading"/>
          <p:cNvSpPr txBox="1"/>
          <p:nvPr/>
        </p:nvSpPr>
        <p:spPr>
          <a:xfrm>
            <a:off x="859536" y="2743200"/>
            <a:ext cx="5394960" cy="365760"/>
          </a:xfrm>
          <a:prstGeom prst="rect">
            <a:avLst/>
          </a:prstGeom>
          <a:noFill/>
        </p:spPr>
        <p:txBody>
          <a:bodyPr wrap="square" lIns="0" rIns="0" tIns="0" bIns="0"/>
          <a:lstStyle/>
          <a:p>
            <a:pPr algn="l"/>
            <a:r>
              <a:rPr lang="en-US" sz="2300" b="1">
                <a:solidFill>
                  <a:srgbClr val="1F2A44"/>
                </a:solidFill>
                <a:latin typeface="Calibri"/>
              </a:rPr>
              <a:t>FilterCC</a:t>
            </a:r>
          </a:p>
        </p:txBody>
      </p:sp>
      <p:sp>
        <p:nvSpPr>
          <p:cNvPr id="37" name="FilterCC description"/>
          <p:cNvSpPr txBox="1"/>
          <p:nvPr/>
        </p:nvSpPr>
        <p:spPr>
          <a:xfrm>
            <a:off x="859536" y="3145536"/>
            <a:ext cx="5715000" cy="713232"/>
          </a:xfrm>
          <a:prstGeom prst="rect">
            <a:avLst/>
          </a:prstGeom>
          <a:noFill/>
        </p:spPr>
        <p:txBody>
          <a:bodyPr wrap="square" lIns="0" rIns="0" tIns="0" bIns="0"/>
          <a:lstStyle/>
          <a:p>
            <a:pPr algn="l"/>
            <a:r>
              <a:rPr lang="en-US" sz="1650" b="0">
                <a:solidFill>
                  <a:srgbClr val="2B2F36"/>
                </a:solidFill>
                <a:latin typeface="Calibri"/>
              </a:rPr>
              <a:t>Avoid parent lists; mark merged classes dirty, then filter for terms with a dirty child before grouping and merging.</a:t>
            </a:r>
          </a:p>
        </p:txBody>
      </p:sp>
      <p:sp>
        <p:nvSpPr>
          <p:cNvPr id="38" name="Conclusion divider"/>
          <p:cNvSpPr/>
          <p:nvPr/>
        </p:nvSpPr>
        <p:spPr>
          <a:xfrm>
            <a:off x="749808" y="4151376"/>
            <a:ext cx="5897880" cy="10973"/>
          </a:xfrm>
          <a:prstGeom prst="rect">
            <a:avLst/>
          </a:prstGeom>
          <a:solidFill>
            <a:srgbClr val="C9CDD3"/>
          </a:solidFill>
          <a:ln w="0"/>
        </p:spPr>
      </p:sp>
      <p:sp>
        <p:nvSpPr>
          <p:cNvPr id="39" name="Bottom line label"/>
          <p:cNvSpPr txBox="1"/>
          <p:nvPr/>
        </p:nvSpPr>
        <p:spPr>
          <a:xfrm>
            <a:off x="749808" y="4361688"/>
            <a:ext cx="5394960" cy="219456"/>
          </a:xfrm>
          <a:prstGeom prst="rect">
            <a:avLst/>
          </a:prstGeom>
          <a:noFill/>
        </p:spPr>
        <p:txBody>
          <a:bodyPr wrap="square" lIns="0" rIns="0" tIns="0" bIns="0"/>
          <a:lstStyle/>
          <a:p>
            <a:pPr algn="l"/>
            <a:r>
              <a:rPr lang="en-US" sz="1150" b="1">
                <a:solidFill>
                  <a:srgbClr val="6B717A"/>
                </a:solidFill>
                <a:latin typeface="Calibri"/>
              </a:rPr>
              <a:t>BOTTOM LINE</a:t>
            </a:r>
          </a:p>
        </p:txBody>
      </p:sp>
      <p:sp>
        <p:nvSpPr>
          <p:cNvPr id="40" name="Bottom line heading"/>
          <p:cNvSpPr txBox="1"/>
          <p:nvPr/>
        </p:nvSpPr>
        <p:spPr>
          <a:xfrm>
            <a:off x="749808" y="4645152"/>
            <a:ext cx="5897880" cy="393192"/>
          </a:xfrm>
          <a:prstGeom prst="rect">
            <a:avLst/>
          </a:prstGeom>
          <a:noFill/>
        </p:spPr>
        <p:txBody>
          <a:bodyPr wrap="square" lIns="0" rIns="0" tIns="0" bIns="0"/>
          <a:lstStyle/>
          <a:p>
            <a:pPr algn="l"/>
            <a:r>
              <a:rPr lang="en-US" sz="2050" b="1">
                <a:solidFill>
                  <a:srgbClr val="1F2A44"/>
                </a:solidFill>
                <a:latin typeface="Calibri"/>
              </a:rPr>
              <a:t>Parallelism follows width, not depth.</a:t>
            </a:r>
          </a:p>
        </p:txBody>
      </p:sp>
      <p:sp>
        <p:nvSpPr>
          <p:cNvPr id="41" name="Bottom line detail"/>
          <p:cNvSpPr txBox="1"/>
          <p:nvPr/>
        </p:nvSpPr>
        <p:spPr>
          <a:xfrm>
            <a:off x="749808" y="5102352"/>
            <a:ext cx="5943600" cy="749808"/>
          </a:xfrm>
          <a:prstGeom prst="rect">
            <a:avLst/>
          </a:prstGeom>
          <a:noFill/>
        </p:spPr>
        <p:txBody>
          <a:bodyPr wrap="square" lIns="0" rIns="0" tIns="0" bIns="0"/>
          <a:lstStyle/>
          <a:p>
            <a:pPr algn="l"/>
            <a:r>
              <a:rPr lang="en-US" sz="1650" b="0">
                <a:solidFill>
                  <a:srgbClr val="2B2F36"/>
                </a:solidFill>
                <a:latin typeface="Calibri"/>
              </a:rPr>
              <a:t>Both algorithms approach linear speedup through 32 cores on wide workloads, including circuit-equivalence benchmarks.</a:t>
            </a:r>
          </a:p>
        </p:txBody>
      </p:sp>
      <p:sp>
        <p:nvSpPr>
          <p:cNvPr id="42" name="E-graph caption"/>
          <p:cNvSpPr txBox="1"/>
          <p:nvPr/>
        </p:nvSpPr>
        <p:spPr>
          <a:xfrm>
            <a:off x="7589520" y="3273552"/>
            <a:ext cx="4041648" cy="219456"/>
          </a:xfrm>
          <a:prstGeom prst="rect">
            <a:avLst/>
          </a:prstGeom>
          <a:noFill/>
        </p:spPr>
        <p:txBody>
          <a:bodyPr wrap="square" lIns="0" rIns="0" tIns="0" bIns="0"/>
          <a:lstStyle/>
          <a:p>
            <a:pPr algn="ctr"/>
            <a:r>
              <a:rPr lang="en-US" sz="1050" b="1">
                <a:solidFill>
                  <a:srgbClr val="6B717A"/>
                </a:solidFill>
                <a:latin typeface="Calibri"/>
              </a:rPr>
              <a:t>CONGRUENCE CLOSURE</a:t>
            </a:r>
          </a:p>
        </p:txBody>
      </p:sp>
      <p:sp>
        <p:nvSpPr>
          <p:cNvPr id="43" name="Repository divider"/>
          <p:cNvSpPr/>
          <p:nvPr/>
        </p:nvSpPr>
        <p:spPr>
          <a:xfrm>
            <a:off x="7571232" y="3840480"/>
            <a:ext cx="4096512" cy="10973"/>
          </a:xfrm>
          <a:prstGeom prst="rect">
            <a:avLst/>
          </a:prstGeom>
          <a:solidFill>
            <a:srgbClr val="C9CDD3"/>
          </a:solidFill>
          <a:ln w="0"/>
        </p:spPr>
      </p:sp>
      <p:sp>
        <p:nvSpPr>
          <p:cNvPr id="44" name="Repository label"/>
          <p:cNvSpPr txBox="1"/>
          <p:nvPr/>
        </p:nvSpPr>
        <p:spPr>
          <a:xfrm>
            <a:off x="7589520" y="4215384"/>
            <a:ext cx="1874520" cy="219456"/>
          </a:xfrm>
          <a:prstGeom prst="rect">
            <a:avLst/>
          </a:prstGeom>
          <a:noFill/>
        </p:spPr>
        <p:txBody>
          <a:bodyPr wrap="square" lIns="0" rIns="0" tIns="0" bIns="0"/>
          <a:lstStyle/>
          <a:p>
            <a:pPr algn="l"/>
            <a:r>
              <a:rPr lang="en-US" sz="1150" b="1">
                <a:solidFill>
                  <a:srgbClr val="6B717A"/>
                </a:solidFill>
                <a:latin typeface="Calibri"/>
              </a:rPr>
              <a:t>CODE + BENCHMARKS</a:t>
            </a:r>
          </a:p>
        </p:txBody>
      </p:sp>
      <p:sp>
        <p:nvSpPr>
          <p:cNvPr id="45" name="Repository name"/>
          <p:cNvSpPr txBox="1"/>
          <p:nvPr/>
        </p:nvSpPr>
        <p:spPr>
          <a:xfrm>
            <a:off x="7589520" y="4553712"/>
            <a:ext cx="1965960" cy="320040"/>
          </a:xfrm>
          <a:prstGeom prst="rect">
            <a:avLst/>
          </a:prstGeom>
          <a:noFill/>
        </p:spPr>
        <p:txBody>
          <a:bodyPr wrap="square" lIns="0" rIns="0" tIns="0" bIns="0"/>
          <a:lstStyle/>
          <a:p>
            <a:pPr algn="l"/>
            <a:r>
              <a:rPr lang="en-US" sz="1800" b="1">
                <a:solidFill>
                  <a:srgbClr val="1F2A44"/>
                </a:solidFill>
                <a:latin typeface="Calibri"/>
              </a:rPr>
              <a:t>ParallelEgraph</a:t>
            </a:r>
          </a:p>
        </p:txBody>
      </p:sp>
      <p:sp>
        <p:nvSpPr>
          <p:cNvPr id="46" name="Repository owner"/>
          <p:cNvSpPr txBox="1"/>
          <p:nvPr/>
        </p:nvSpPr>
        <p:spPr>
          <a:xfrm>
            <a:off x="7589520" y="4956048"/>
            <a:ext cx="1965960" cy="292608"/>
          </a:xfrm>
          <a:prstGeom prst="rect">
            <a:avLst/>
          </a:prstGeom>
          <a:noFill/>
        </p:spPr>
        <p:txBody>
          <a:bodyPr wrap="square" lIns="0" rIns="0" tIns="0" bIns="0"/>
          <a:lstStyle/>
          <a:p>
            <a:pPr algn="l"/>
            <a:r>
              <a:rPr lang="en-US" sz="1150" b="0">
                <a:solidFill>
                  <a:srgbClr val="6B717A"/>
                </a:solidFill>
                <a:latin typeface="Calibri"/>
              </a:rPr>
              <a:t>github.com/amarshah10</a:t>
            </a:r>
          </a:p>
        </p:txBody>
      </p:sp>
      <p:pic>
        <p:nvPicPr>
          <p:cNvPr id="47" name="ParallelEgraph repository QR code" descr="QR code linking to the ParallelEgraph GitHub repository"/>
          <p:cNvPicPr>
            <a:picLocks noChangeAspect="1"/>
          </p:cNvPicPr>
          <p:nvPr/>
        </p:nvPicPr>
        <p:blipFill>
          <a:blip r:embed="rId2"/>
          <a:stretch>
            <a:fillRect/>
          </a:stretch>
        </p:blipFill>
        <p:spPr>
          <a:xfrm>
            <a:off x="9784080" y="4078224"/>
            <a:ext cx="1627632" cy="16276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ep:Properties xmlns:ep="http://schemas.openxmlformats.org/officeDocument/2006/extended-properties" xmlns:vt="http://schemas.openxmlformats.org/officeDocument/2006/docPropsVTypes">
  <ep:TotalTime>59</ep:TotalTime>
  <ep:Words>6641</ep:Words>
  <ep:Application>Microsoft Macintosh PowerPoint</ep:Application>
  <ep:PresentationFormat>Widescreen</ep:PresentationFormat>
  <ep:Paragraphs>1371</ep:Paragraphs>
  <ep:Slides>84</ep:Slides>
  <ep:Notes>56</ep:Notes>
  <ep:HiddenSlides>5</ep:HiddenSlides>
  <ep:MMClips>0</ep:MMClips>
  <ep:ScaleCrop>false</ep:ScaleCrop>
  <ep:HeadingPairs>
    <vt:vector size="6" baseType="variant">
      <vt:variant>
        <vt:lpstr>Fonts Used</vt:lpstr>
      </vt:variant>
      <vt:variant>
        <vt:i4>3</vt:i4>
      </vt:variant>
      <vt:variant>
        <vt:lpstr>Theme</vt:lpstr>
      </vt:variant>
      <vt:variant>
        <vt:i4>1</vt:i4>
      </vt:variant>
      <vt:variant>
        <vt:lpstr>Slide Titles</vt:lpstr>
      </vt:variant>
      <vt:variant>
        <vt:i4>84</vt:i4>
      </vt:variant>
    </vt:vector>
  </ep:HeadingPairs>
  <ep:TitlesOfParts>
    <vt:vector size="88"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ep:TitlesOfParts>
  <ep:Manager/>
  <ep:Company/>
  <ep:LinksUpToDate>false</ep:LinksUpToDate>
  <ep:SharedDoc>false</ep:SharedDoc>
  <ep:HyperlinkBase/>
  <ep:HyperlinksChanged>false</ep:HyperlinksChanged>
  <ep:AppVersion>16.0000</ep:AppVersion>
</ep:Properties>
</file>

<file path=docProps/core.xml><?xml version="1.0" encoding="utf-8"?>
<ns0:coreProperties xmlns:dc="http://purl.org/dc/elements/1.1/" xmlns:dcterms="http://purl.org/dc/terms/" xmlns:ns0="http://schemas.openxmlformats.org/package/2006/metadata/core-properties" xmlns:xsi="http://www.w3.org/2001/XMLSchema-instance">
  <dc:title/>
  <dc:subject/>
  <dc:creator/>
  <ns0:keywords/>
  <dc:description>generated using python-pptx</dc:description>
  <ns0:lastModifiedBy>Shah, Amar</ns0:lastModifiedBy>
  <ns0:revision>29</ns0:revision>
  <dcterms:created xsi:type="dcterms:W3CDTF">2013-01-27T09:14:16Z</dcterms:created>
  <dcterms:modified xsi:type="dcterms:W3CDTF">2026-09-18T07:46:19Z</dcterms:modified>
  <ns0:category/>
</ns0: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2026-09-17T12:37:46Z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d65e0326-1fc0-423f-9716-1a5a0990a484</vt:lpwstr>
  </property>
  <property fmtid="{D5CDD505-2E9C-101B-9397-08002B2CF9AE}" pid="8" name="MSIP_Label_19e68092-05df-4271-8e3e-b2a4c82ba797_ContentBits">
    <vt:lpwstr>0</vt:lpwstr>
  </property>
  <property fmtid="{D5CDD505-2E9C-101B-9397-08002B2CF9AE}" pid="9" name="MSIP_Label_19e68092-05df-4271-8e3e-b2a4c82ba797_Tag">
    <vt:lpwstr>50, 3, 0, 1</vt:lpwstr>
  </property>
</Properties>
</file>