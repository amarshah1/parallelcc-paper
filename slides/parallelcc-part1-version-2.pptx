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6"/>
  </p:notesMasterIdLst>
  <p:sldIdLst>
    <p:sldId id="256" r:id="rId2"/>
    <p:sldId id="310" r:id="rId3"/>
    <p:sldId id="257" r:id="rId4"/>
    <p:sldId id="258" r:id="rId5"/>
    <p:sldId id="259" r:id="rId6"/>
    <p:sldId id="260" r:id="rId7"/>
    <p:sldId id="261" r:id="rId8"/>
    <p:sldId id="262" r:id="rId9"/>
    <p:sldId id="311" r:id="rId10"/>
    <p:sldId id="263" r:id="rId11"/>
    <p:sldId id="264" r:id="rId12"/>
    <p:sldId id="265" r:id="rId13"/>
    <p:sldId id="266" r:id="rId14"/>
    <p:sldId id="312"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313" r:id="rId38"/>
    <p:sldId id="289" r:id="rId39"/>
    <p:sldId id="290" r:id="rId40"/>
    <p:sldId id="291" r:id="rId41"/>
    <p:sldId id="292" r:id="rId42"/>
    <p:sldId id="293" r:id="rId43"/>
    <p:sldId id="294" r:id="rId44"/>
    <p:sldId id="295" r:id="rId45"/>
    <p:sldId id="296" r:id="rId46"/>
    <p:sldId id="319" r:id="rId47"/>
    <p:sldId id="315" r:id="rId48"/>
    <p:sldId id="316" r:id="rId49"/>
    <p:sldId id="317" r:id="rId50"/>
    <p:sldId id="318" r:id="rId51"/>
    <p:sldId id="297" r:id="rId52"/>
    <p:sldId id="298" r:id="rId53"/>
    <p:sldId id="299" r:id="rId54"/>
    <p:sldId id="300" r:id="rId55"/>
    <p:sldId id="301" r:id="rId56"/>
    <p:sldId id="302" r:id="rId57"/>
    <p:sldId id="303" r:id="rId58"/>
    <p:sldId id="304" r:id="rId59"/>
    <p:sldId id="320" r:id="rId60"/>
    <p:sldId id="321" r:id="rId61"/>
    <p:sldId id="325" r:id="rId62"/>
    <p:sldId id="326" r:id="rId63"/>
    <p:sldId id="322" r:id="rId64"/>
    <p:sldId id="323" r:id="rId65"/>
    <p:sldId id="324" r:id="rId66"/>
    <p:sldId id="327" r:id="rId67"/>
    <p:sldId id="314" r:id="rId68"/>
    <p:sldId id="306" r:id="rId69"/>
    <p:sldId id="332" r:id="rId70"/>
    <p:sldId id="333" r:id="rId71"/>
    <p:sldId id="334" r:id="rId72"/>
    <p:sldId id="335" r:id="rId73"/>
    <p:sldId id="336" r:id="rId74"/>
    <p:sldId id="337" r:id="rId75"/>
    <p:sldId id="338" r:id="rId76"/>
    <p:sldId id="339" r:id="rId77"/>
    <p:sldId id="340" r:id="rId78"/>
    <p:sldId id="328" r:id="rId79"/>
    <p:sldId id="329" r:id="rId80"/>
    <p:sldId id="330" r:id="rId81"/>
    <p:sldId id="331" r:id="rId82"/>
    <p:sldId id="345" r:id="rId83"/>
    <p:sldId id="346" r:id="rId84"/>
    <p:sldId id="308" r:id="rId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71849"/>
  </p:normalViewPr>
  <p:slideViewPr>
    <p:cSldViewPr snapToGrid="0" snapToObjects="1">
      <p:cViewPr varScale="1">
        <p:scale>
          <a:sx n="89" d="100"/>
          <a:sy n="89" d="100"/>
        </p:scale>
        <p:origin x="768"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78933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input equalities: a equals b, and b equals c. This is the set E we are handed.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construction, a miter. Feed both circuits the same inputs.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XOR the corresponding outputs. The XOR is 1 exactly when the two outputs differ.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XOR output is the single bit p, the miter output.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p is 1 exactly when the circuits disagree on the input we fed them.</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Assert that the two outputs differ. If that is unsatisfiable the circuits are equivalent. The query is the only thing on the slide, sitting between the two output gates. The point of the miter for us: once the gate structure is recovered from the CNF, congruence closure alone often decides the instance, which is why Biere et al. run it inside a SAT solver.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from the given equalities: each input wire of copy one equals the corresponding wire of copy two. These are the only given equalities, and they are what we union first.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each pair. The dashed boxes are the equivalence classes.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Congruence fires, so union the two classes.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XOR gates: same symbol, children pairwise equivalent.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them.</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them. Note that step 3 depended on steps 1 and 2, but 1 and 2 did not depend on each other.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outputs are in one class, so the query m1 differs from m2 is unsatisfiable: the circuits are equivalent. Count what we did: eight merges, one at a time. That is exactly the sequential worklist algorithm, and it is the baseline the parallel version has to beat.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names for the evaluation. Depth is the number of congruence rounds after the input round, here 2. Width is the most merges any one round offers, here 5, in round 0. Depth is what we cannot parallelize; width is what we can. On the circuit benchmarks width reaches millions while depth stays small, and Amar will show that width predicts speedup.</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algorithm, at the level of a round. Three phases. First: who might have become congruent? Only a term whose child just changed class, so the parents of whatever merged last round.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Of those candidates, who actually is congruent? Group them by signature: the symbol together with the classes of the children.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Then merge every group, and all the groups in parallel.</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Repeat while a round merged something. The very first round has no previous merges to look at, so it considers every term; that also catches terms that were congruent before any equality was applied. The barrier between phases is what makes the parallelism safe: while we compute signatures nobody is merging, so every thread reads the same classes, and while we merge nobody is reading signatures.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39156700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0213522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36590711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example. Round 0 is the input: union each pair of equated wires, all five at once. No congruence yet, just the equalities we were handed. The gates are greyed out because nothing happens to them this round.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Round 1, phase one: who might have become congruent? The first round considers every gate, so all six are candidates, in yellow.</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Phase two: group by signature, the symbol plus the class of each child. Same </a:t>
            </a:r>
            <a:r>
              <a:rPr dirty="0" err="1"/>
              <a:t>colour</a:t>
            </a:r>
            <a:r>
              <a:rPr dirty="0"/>
              <a:t>, same signature. The two ANDs match: both are AND of the r class and the s class. The two XORs match. The two ITEs do not, because a1 and a2 are still in different classes, so they stay </a:t>
            </a:r>
            <a:r>
              <a:rPr dirty="0" err="1"/>
              <a:t>uncoloured</a:t>
            </a:r>
            <a:r>
              <a:rPr dirty="0"/>
              <a:t>. This grouping is the </a:t>
            </a:r>
            <a:r>
              <a:rPr dirty="0" err="1"/>
              <a:t>semisort</a:t>
            </a:r>
            <a:r>
              <a:rPr dirty="0"/>
              <a:t>. Say out loud that this is the step that changes from the sequential algorithm: no hash table lookups one at a time, all the signatures of the round sorted together.</a:t>
            </a:r>
            <a:endParaRPr lang="en-US" dirty="0"/>
          </a:p>
          <a:p>
            <a:endParaRPr lang="en-US" dirty="0"/>
          </a:p>
          <a:p>
            <a:r>
              <a:rPr lang="en-US" dirty="0"/>
              <a:t>- </a:t>
            </a:r>
            <a:r>
              <a:rPr lang="en-US" dirty="0" err="1"/>
              <a:t>todo</a:t>
            </a:r>
            <a:r>
              <a:rPr lang="en-US" dirty="0"/>
              <a:t>: we need to explain what equality is </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Phase three: merge every group, concurrently. Two unions in one round; this is where the parallel run differs from the hand trace.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Round 2. Candidates are the parents of what just merged: the two ITEs. Their signatures now agree, one group.</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Merge them. One union.</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ITEs have no parents, so round 3 has no candidates and the loop stops. Eight merges in three rounds, and the rounds are exactly the schedule from before: ParentCC found all of the available parallelism.</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each; the paper has the proofs. Sound: every group has equal symbol and equal child classes, so each merge is an instance of the congruence rule. Complete: when the last of a pair’s children merge, both parents are candidates next round. Terminates: a round that merges anything reduces the number of classes.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8C01-F710-C082-13EC-D25AA3D17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3A0EC-82C0-72B2-5AE7-B715C4B2D87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A52A497-B13C-40B3-D7BE-5F8B35A00582}"/>
              </a:ext>
            </a:extLst>
          </p:cNvPr>
          <p:cNvSpPr>
            <a:spLocks noGrp="1"/>
          </p:cNvSpPr>
          <p:nvPr>
            <p:ph type="body" sz="quarter" idx="3"/>
          </p:nvPr>
        </p:nvSpPr>
        <p:spPr/>
        <p:txBody>
          <a:bodyPr/>
          <a:lstStyle/>
          <a:p>
            <a:r>
              <a:t>FilterCC keeps one dirty bit per equivalence class instead of parent lists. First, the input merges mark the changed leaf classes dirty. Next, scan every term and keep terms with a dirty child. Group and merge those candidates as in ParentCC. The resulting AND and XOR classes become dirty for the next round, which will select the two ITEs.</a:t>
            </a:r>
          </a:p>
        </p:txBody>
      </p:sp>
      <p:sp>
        <p:nvSpPr>
          <p:cNvPr id="4" name="Slide Number Placeholder 3">
            <a:extLst>
              <a:ext uri="{FF2B5EF4-FFF2-40B4-BE49-F238E27FC236}">
                <a16:creationId xmlns:a16="http://schemas.microsoft.com/office/drawing/2014/main" id="{3BB95854-3AEB-5D24-168B-4B583352A538}"/>
              </a:ext>
            </a:extLst>
          </p:cNvPr>
          <p:cNvSpPr>
            <a:spLocks noGrp="1"/>
          </p:cNvSpPr>
          <p:nvPr>
            <p:ph type="sldNum" sz="quarter" idx="5"/>
          </p:nvPr>
        </p:nvSpPr>
        <p:spPr/>
      </p:sp>
    </p:spTree>
    <p:extLst>
      <p:ext uri="{BB962C8B-B14F-4D97-AF65-F5344CB8AC3E}">
        <p14:creationId xmlns:p14="http://schemas.microsoft.com/office/powerpoint/2010/main" val="39530711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E7525-1700-447B-8326-A7385C2F02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9A90B3-D8C9-6756-8C3D-B2004F013BA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8C82A0E-6808-9FB9-EC9A-FEF4A19C3A77}"/>
              </a:ext>
            </a:extLst>
          </p:cNvPr>
          <p:cNvSpPr>
            <a:spLocks noGrp="1"/>
          </p:cNvSpPr>
          <p:nvPr>
            <p:ph type="body" sz="quarter" idx="3"/>
          </p:nvPr>
        </p:nvSpPr>
        <p:spPr/>
        <p:txBody>
          <a:bodyPr/>
          <a:lstStyle/>
          <a:p>
            <a:r>
              <a:t>FilterCC keeps one dirty bit per equivalence class instead of parent lists. First, the input merges mark the changed leaf classes dirty. Next, scan every term and keep terms with a dirty child. Group and merge those candidates as in ParentCC. The resulting AND and XOR classes become dirty for the next round, which will select the two ITEs.</a:t>
            </a:r>
          </a:p>
        </p:txBody>
      </p:sp>
      <p:sp>
        <p:nvSpPr>
          <p:cNvPr id="4" name="Slide Number Placeholder 3">
            <a:extLst>
              <a:ext uri="{FF2B5EF4-FFF2-40B4-BE49-F238E27FC236}">
                <a16:creationId xmlns:a16="http://schemas.microsoft.com/office/drawing/2014/main" id="{2212B58B-37B1-C0EE-F32B-B9D32B9D0437}"/>
              </a:ext>
            </a:extLst>
          </p:cNvPr>
          <p:cNvSpPr>
            <a:spLocks noGrp="1"/>
          </p:cNvSpPr>
          <p:nvPr>
            <p:ph type="sldNum" sz="quarter" idx="5"/>
          </p:nvPr>
        </p:nvSpPr>
        <p:spPr/>
      </p:sp>
    </p:spTree>
    <p:extLst>
      <p:ext uri="{BB962C8B-B14F-4D97-AF65-F5344CB8AC3E}">
        <p14:creationId xmlns:p14="http://schemas.microsoft.com/office/powerpoint/2010/main" val="134924306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57200"/>
            <a:ext cx="12191695" cy="6858000"/>
          </a:xfrm>
          <a:prstGeom prst="rect">
            <a:avLst/>
          </a:prstGeom>
          <a:solidFill>
            <a:srgbClr val="1F2A44"/>
          </a:solidFill>
          <a:ln>
            <a:noFill/>
          </a:ln>
          <a:effectLst/>
        </p:spPr>
        <p:txBody>
          <a:bodyPr wrap="square" lIns="54864" tIns="27432" rIns="54864" bIns="27432" rtlCol="0" anchor="ctr"/>
          <a:lstStyle/>
          <a:p>
            <a:pPr algn="ctr"/>
            <a:endParaRP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lIns="45720" tIns="27432" rIns="45720" bIns="27432" anchor="b">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lIns="45720" tIns="27432" rIns="45720" bIns="27432" anchor="t">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lIns="45720" tIns="27432" rIns="45720" bIns="27432" anchor="t">
            <a:spAutoFit/>
          </a:bodyPr>
          <a:lstStyle/>
          <a:p>
            <a:pPr algn="l"/>
            <a:r>
              <a:rPr sz="2000" b="0" i="0">
                <a:solidFill>
                  <a:srgbClr val="C9D3E6"/>
                </a:solidFill>
                <a:latin typeface="Calibri"/>
              </a:rPr>
              <a:t>Carnegie Mellon University</a:t>
            </a:r>
          </a:p>
        </p:txBody>
      </p:sp>
      <p:sp>
        <p:nvSpPr>
          <p:cNvPr id="8" name="TextBox 7"/>
          <p:cNvSpPr txBox="1"/>
          <p:nvPr/>
        </p:nvSpPr>
        <p:spPr>
          <a:xfrm>
            <a:off x="777240" y="6512242"/>
            <a:ext cx="5486400" cy="365760"/>
          </a:xfrm>
          <a:prstGeom prst="rect">
            <a:avLst/>
          </a:prstGeom>
          <a:noFill/>
        </p:spPr>
        <p:txBody>
          <a:bodyPr wrap="square" lIns="45720" tIns="27432" rIns="45720" bIns="27432" anchor="t">
            <a:spAutoFit/>
          </a:bodyPr>
          <a:lstStyle/>
          <a:p>
            <a:pPr algn="l"/>
            <a:r>
              <a:rPr sz="1300" b="0" i="0" dirty="0">
                <a:solidFill>
                  <a:srgbClr val="9AA8C4"/>
                </a:solidFill>
                <a:latin typeface="Calibri"/>
              </a:rPr>
              <a:t>* equal contribution</a:t>
            </a:r>
          </a:p>
        </p:txBody>
      </p:sp>
      <p:sp>
        <p:nvSpPr>
          <p:cNvPr id="11" name="TextBox 10">
            <a:extLst>
              <a:ext uri="{FF2B5EF4-FFF2-40B4-BE49-F238E27FC236}">
                <a16:creationId xmlns:a16="http://schemas.microsoft.com/office/drawing/2014/main" id="{98DE94AB-7702-689D-C296-EC82F48A1802}"/>
              </a:ext>
            </a:extLst>
          </p:cNvPr>
          <p:cNvSpPr txBox="1"/>
          <p:nvPr/>
        </p:nvSpPr>
        <p:spPr>
          <a:xfrm>
            <a:off x="790099" y="5103493"/>
            <a:ext cx="6100762" cy="923330"/>
          </a:xfrm>
          <a:prstGeom prst="rect">
            <a:avLst/>
          </a:prstGeom>
          <a:noFill/>
        </p:spPr>
        <p:txBody>
          <a:bodyPr wrap="square">
            <a:spAutoFit/>
          </a:bodyPr>
          <a:lstStyle/>
          <a:p>
            <a:pPr algn="l">
              <a:spcBef>
                <a:spcPts val="0"/>
              </a:spcBef>
              <a:spcAft>
                <a:spcPts val="0"/>
              </a:spcAft>
            </a:pPr>
            <a:r>
              <a:rPr lang="en-US" b="1" i="0" dirty="0">
                <a:solidFill>
                  <a:schemeClr val="bg1"/>
                </a:solidFill>
                <a:latin typeface="Avenir Next"/>
              </a:rPr>
              <a:t>AI Statement</a:t>
            </a:r>
            <a:r>
              <a:rPr lang="en-US" b="0" i="0" dirty="0">
                <a:solidFill>
                  <a:schemeClr val="bg1"/>
                </a:solidFill>
                <a:latin typeface="Avenir Next"/>
              </a:rPr>
              <a:t>: These slides wer</a:t>
            </a:r>
            <a:r>
              <a:rPr lang="en-US" dirty="0">
                <a:solidFill>
                  <a:schemeClr val="bg1"/>
                </a:solidFill>
                <a:latin typeface="Avenir Next"/>
              </a:rPr>
              <a:t>e designed with the help of GPT 5.6 Sol. All changes made by the model were reviewed and edited by us. </a:t>
            </a:r>
            <a:r>
              <a:rPr lang="en-US" b="0" i="0" dirty="0">
                <a:solidFill>
                  <a:schemeClr val="bg1"/>
                </a:solidFill>
                <a:latin typeface="Avenir Next"/>
              </a:rPr>
              <a:t> </a:t>
            </a:r>
          </a:p>
        </p:txBody>
      </p:sp>
      <p:pic>
        <p:nvPicPr>
          <p:cNvPr id="12" name="ParallelEgraph repository QR code" descr="QR code linking to the ParallelEgraph GitHub repository">
            <a:extLst>
              <a:ext uri="{FF2B5EF4-FFF2-40B4-BE49-F238E27FC236}">
                <a16:creationId xmlns:a16="http://schemas.microsoft.com/office/drawing/2014/main" id="{AD061A80-6F1C-DABD-0987-AF51DA123CD5}"/>
              </a:ext>
            </a:extLst>
          </p:cNvPr>
          <p:cNvPicPr>
            <a:picLocks noChangeAspect="1"/>
          </p:cNvPicPr>
          <p:nvPr/>
        </p:nvPicPr>
        <p:blipFill>
          <a:blip r:embed="rId3"/>
          <a:stretch>
            <a:fillRect/>
          </a:stretch>
        </p:blipFill>
        <p:spPr>
          <a:xfrm>
            <a:off x="10021824" y="4659724"/>
            <a:ext cx="1627632" cy="16276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Recurring TOC Marker - Intro"/>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4" name="Outline accent Intro"/>
          <p:cNvSpPr/>
          <p:nvPr/>
        </p:nvSpPr>
        <p:spPr>
          <a:xfrm>
            <a:off x="621792" y="1499616"/>
            <a:ext cx="50292" cy="493776"/>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input equalities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TextBox 16"/>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equivalence:  a ≡ b ≡ 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6</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8" name="TextBox 17"/>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7</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wrap="square" lIns="54864" tIns="27432" rIns="54864" bIns="27432" rtlCol="0" anchor="ctr"/>
          <a:lstStyle/>
          <a:p>
            <a:pPr algn="ctr"/>
            <a:endParaRPr/>
          </a:p>
        </p:txBody>
      </p:sp>
      <p:sp>
        <p:nvSpPr>
          <p:cNvPr id="19" name="TextBox 18"/>
          <p:cNvSpPr txBox="1"/>
          <p:nvPr/>
        </p:nvSpPr>
        <p:spPr>
          <a:xfrm>
            <a:off x="3429000" y="5084064"/>
            <a:ext cx="2743200" cy="292608"/>
          </a:xfrm>
          <a:prstGeom prst="rect">
            <a:avLst/>
          </a:prstGeom>
          <a:noFill/>
        </p:spPr>
        <p:txBody>
          <a:bodyPr wrap="square" lIns="45720" tIns="27432" rIns="45720" bIns="27432" anchor="t">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lIns="45720" tIns="27432" rIns="45720" bIns="27432" anchor="t">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lIns="45720" tIns="27432" rIns="45720" bIns="27432" anchor="t">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lIns="45720" tIns="27432" rIns="45720" bIns="27432" anchor="ctr">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9.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Recurring TOC Marker - Background"/>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18" name="Outline accent Background"/>
          <p:cNvSpPr/>
          <p:nvPr/>
        </p:nvSpPr>
        <p:spPr>
          <a:xfrm>
            <a:off x="621792" y="2340864"/>
            <a:ext cx="50292" cy="493776"/>
          </a:xfrm>
          <a:prstGeom prst="rect">
            <a:avLst/>
          </a:prstGeom>
          <a:solidFill>
            <a:srgbClr val="C8501E"/>
          </a:solidFill>
          <a:ln>
            <a:noFill/>
          </a:ln>
        </p:spPr>
        <p:txBody>
          <a:bodyPr/>
          <a:lstStyle/>
          <a:p>
            <a:endParaRPr lang="en-US"/>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8</a:t>
            </a:r>
          </a:p>
        </p:txBody>
      </p:sp>
      <p:sp>
        <p:nvSpPr>
          <p:cNvPr id="6" name="TextBox 5"/>
          <p:cNvSpPr txBox="1"/>
          <p:nvPr/>
        </p:nvSpPr>
        <p:spPr>
          <a:xfrm>
            <a:off x="640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9</a:t>
            </a:r>
          </a:p>
        </p:txBody>
      </p:sp>
      <p:sp>
        <p:nvSpPr>
          <p:cNvPr id="6" name="TextBox 5"/>
          <p:cNvSpPr txBox="1"/>
          <p:nvPr/>
        </p:nvSpPr>
        <p:spPr>
          <a:xfrm>
            <a:off x="640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wrap="square" lIns="54864" tIns="27432" rIns="54864" bIns="27432" rtlCol="0" anchor="ctr"/>
          <a:lstStyle/>
          <a:p>
            <a:pPr algn="ctr"/>
            <a:r>
              <a:rPr sz="2000" b="1" i="0">
                <a:solidFill>
                  <a:srgbClr val="1F2A44"/>
                </a:solidFill>
                <a:latin typeface="Calibri"/>
              </a:rPr>
              <a:t>Called repeatedly per solver run: the cost adds 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10</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Practice: every implementation </a:t>
            </a:r>
            <a:r>
              <a:rPr sz="2600" b="1" i="0">
                <a:solidFill>
                  <a:srgbClr val="2B2F36"/>
                </a:solidFill>
                <a:latin typeface="Calibri"/>
              </a:rPr>
              <a:t>fully sequential</a:t>
            </a:r>
            <a:r>
              <a:rPr sz="2600" b="0" i="0">
                <a:solidFill>
                  <a:srgbClr val="2B2F36"/>
                </a:solidFill>
                <a:latin typeface="Calibri"/>
              </a:rPr>
              <a:t>, on machines with </a:t>
            </a:r>
            <a:r>
              <a:rPr sz="2600" b="1" i="0">
                <a:solidFill>
                  <a:srgbClr val="2B2F36"/>
                </a:solidFill>
                <a:latin typeface="Calibri"/>
              </a:rPr>
              <a:t>96 cores</a:t>
            </a:r>
          </a:p>
          <a:p>
            <a:pPr marL="274320" indent="-237744">
              <a:spcBef>
                <a:spcPts val="1800"/>
              </a:spcBef>
              <a:buClr>
                <a:srgbClr val="6B717A"/>
              </a:buClr>
              <a:buChar char="•"/>
            </a:pPr>
            <a:r>
              <a:rPr sz="2600" b="0" i="0">
                <a:solidFill>
                  <a:srgbClr val="2B2F36"/>
                </a:solidFill>
                <a:latin typeface="Calibri"/>
              </a:rPr>
              <a:t>Theory: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Worst case: likely </a:t>
            </a:r>
            <a:r>
              <a:rPr sz="2600" b="1" i="0">
                <a:solidFill>
                  <a:srgbClr val="2B2F36"/>
                </a:solidFill>
                <a:latin typeface="Calibri"/>
              </a:rPr>
              <a:t>inherently sequential</a:t>
            </a:r>
          </a:p>
        </p:txBody>
      </p:sp>
      <p:sp>
        <p:nvSpPr>
          <p:cNvPr id="7" name="TextBox 6"/>
          <p:cNvSpPr txBox="1"/>
          <p:nvPr/>
        </p:nvSpPr>
        <p:spPr>
          <a:xfrm>
            <a:off x="822960" y="4023360"/>
            <a:ext cx="10789920" cy="320040"/>
          </a:xfrm>
          <a:prstGeom prst="rect">
            <a:avLst/>
          </a:prstGeom>
          <a:noFill/>
        </p:spPr>
        <p:txBody>
          <a:bodyPr wrap="square" lIns="45720" tIns="27432" rIns="45720" bIns="27432" anchor="t">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wrap="square" lIns="54864" tIns="27432" rIns="54864" bIns="27432" rtlCol="0" anchor="ctr"/>
          <a:lstStyle/>
          <a:p>
            <a:pPr algn="ctr"/>
            <a:r>
              <a:rPr sz="2400" b="1" i="0">
                <a:solidFill>
                  <a:srgbClr val="FFFFFF"/>
                </a:solidFill>
                <a:latin typeface="Calibri"/>
              </a:rPr>
              <a:t>Question: worst case is sequential.</a:t>
            </a:r>
          </a:p>
          <a:p>
            <a:pPr algn="ctr"/>
            <a:r>
              <a:rPr sz="2400" b="1" i="0">
                <a:solidFill>
                  <a:srgbClr val="FFFFFF"/>
                </a:solidFill>
                <a:latin typeface="Calibri"/>
              </a:rPr>
              <a:t>Are the instances people actually solve?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11</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Evaluation demonstrating effective speedup in practice</a:t>
            </a:r>
          </a:p>
        </p:txBody>
      </p:sp>
    </p:spTree>
  </p:cSld>
  <p:clrMapOvr>
    <a:masterClrMapping/>
  </p:clrMapOvr>
</p:sld>
</file>

<file path=ppt/slides/slide14.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Recurring TOC Marker - Motivating examp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2" name="Outline accent Motivating example"/>
          <p:cNvSpPr/>
          <p:nvPr/>
        </p:nvSpPr>
        <p:spPr>
          <a:xfrm>
            <a:off x="621792" y="3182112"/>
            <a:ext cx="50292" cy="493776"/>
          </a:xfrm>
          <a:prstGeom prst="rect">
            <a:avLst/>
          </a:prstGeom>
          <a:solidFill>
            <a:srgbClr val="C8501E"/>
          </a:solidFill>
          <a:ln>
            <a:noFill/>
          </a:ln>
        </p:spPr>
        <p:txBody>
          <a:bodyPr/>
          <a:lstStyle/>
          <a:p>
            <a:endParaRPr lang="en-US"/>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12</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13</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14</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15</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17</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lIns="45720" tIns="27432" rIns="45720" bIns="27432" anchor="t">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18</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lIns="45720" tIns="27432" rIns="45720" bIns="27432" anchor="t">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06440"/>
            <a:ext cx="11064240" cy="502920"/>
          </a:xfrm>
          <a:prstGeom prst="roundRect">
            <a:avLst>
              <a:gd name="adj" fmla="val 15000"/>
            </a:avLst>
          </a:prstGeom>
          <a:solidFill>
            <a:srgbClr val="1F2A44"/>
          </a:solidFill>
          <a:ln>
            <a:noFill/>
          </a:ln>
          <a:effectLst/>
        </p:spPr>
        <p:txBody>
          <a:bodyPr wrap="square" lIns="54864" tIns="27432" rIns="54864" bIns="27432" rtlCol="0" anchor="ctr"/>
          <a:lstStyle/>
          <a:p>
            <a:pPr algn="ctr"/>
            <a:r>
              <a:rPr sz="2100" b="1" i="0">
                <a:solidFill>
                  <a:srgbClr val="FFFFFF"/>
                </a:solidFill>
                <a:latin typeface="Calibri"/>
              </a:rPr>
              <a:t>equivalent   ⟺   p = 1 is unsatisfiable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19</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20</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5586984" y="1207008"/>
            <a:ext cx="1280160" cy="329184"/>
          </a:xfrm>
          <a:prstGeom prst="rect">
            <a:avLst/>
          </a:prstGeom>
          <a:noFill/>
        </p:spPr>
        <p:txBody>
          <a:bodyPr wrap="square" lIns="45720" tIns="27432" rIns="45720" bIns="27432" anchor="t">
            <a:spAutoFit/>
          </a:bodyPr>
          <a:lstStyle/>
          <a:p>
            <a:pPr algn="ctr"/>
            <a:r>
              <a:rPr sz="16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21</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wrap="square" lIns="54864" tIns="27432" rIns="54864" bIns="27432" rtlCol="0" anchor="ctr"/>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22</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lIns="45720" tIns="27432" rIns="45720" bIns="27432" anchor="ctr">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23</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28</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29</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30</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31</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586984" y="1207008"/>
            <a:ext cx="1280160" cy="329184"/>
          </a:xfrm>
          <a:prstGeom prst="rect">
            <a:avLst/>
          </a:prstGeom>
          <a:noFill/>
        </p:spPr>
        <p:txBody>
          <a:bodyPr wrap="square" lIns="45720" tIns="27432" rIns="45720" bIns="27432" anchor="t">
            <a:spAutoFit/>
          </a:bodyPr>
          <a:lstStyle/>
          <a:p>
            <a:pPr algn="ctr"/>
            <a:r>
              <a:rPr sz="16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lIns="45720" tIns="27432" rIns="45720" bIns="27432" anchor="ctr">
            <a:spAutoFit/>
          </a:bodyPr>
          <a:lstStyle/>
          <a:p>
            <a:pPr algn="ctr"/>
            <a:r>
              <a:rPr sz="2400" b="1" i="0">
                <a:solidFill>
                  <a:srgbClr val="3A9A5B"/>
                </a:solidFill>
                <a:latin typeface="Calibri"/>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32</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Data dependences are parent–child edges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33</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lIns="45720" tIns="27432" rIns="45720" bIns="27432" anchor="ctr">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lIns="45720" tIns="27432" rIns="45720" bIns="27432" anchor="t">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Unrelated merges run in parallel</a:t>
            </a:r>
          </a:p>
        </p:txBody>
      </p:sp>
    </p:spTree>
  </p:cSld>
  <p:clrMapOvr>
    <a:masterClrMapping/>
  </p:clrMapOvr>
</p:sld>
</file>

<file path=ppt/slides/slide37.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Recurring TOC Marker - Algorithms"/>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6" name="Outline accent Algorithms"/>
          <p:cNvSpPr/>
          <p:nvPr/>
        </p:nvSpPr>
        <p:spPr>
          <a:xfrm>
            <a:off x="621792" y="4023360"/>
            <a:ext cx="50292" cy="493776"/>
          </a:xfrm>
          <a:prstGeom prst="rect">
            <a:avLst/>
          </a:prstGeom>
          <a:solidFill>
            <a:srgbClr val="C8501E"/>
          </a:solidFill>
          <a:ln>
            <a:noFill/>
          </a:ln>
        </p:spPr>
        <p:txBody>
          <a:bodyPr/>
          <a:lstStyle/>
          <a:p>
            <a:endParaRPr lang="en-US"/>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200" b="1" i="0">
                <a:solidFill>
                  <a:srgbClr val="FFFFFF"/>
                </a:solidFill>
                <a:latin typeface="Calibri"/>
              </a:rPr>
              <a:t>depth: congruence rounds (2)      width: most merges in a round (5)</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rentCC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one round</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38</a:t>
            </a:r>
          </a:p>
        </p:txBody>
      </p:sp>
      <p:sp>
        <p:nvSpPr>
          <p:cNvPr id="5" name="ParentCC body"/>
          <p:cNvSpPr txBox="1"/>
          <p:nvPr/>
        </p:nvSpPr>
        <p:spPr>
          <a:xfrm>
            <a:off x="914400" y="1417320"/>
            <a:ext cx="10149840" cy="4297680"/>
          </a:xfrm>
          <a:prstGeom prst="rect">
            <a:avLst/>
          </a:prstGeom>
          <a:noFill/>
        </p:spPr>
        <p:txBody>
          <a:bodyPr wrap="square" lIns="45720" tIns="27432" rIns="45720" bIns="27432" anchor="t">
            <a:spAutoFit/>
          </a:bodyPr>
          <a:lstStyle/>
          <a:p>
            <a:pPr algn="l">
              <a:spcAft>
                <a:spcPts val="1600"/>
              </a:spcAft>
            </a:pPr>
            <a:r>
              <a:rPr sz="2000" b="1" i="0">
                <a:solidFill>
                  <a:srgbClr val="1F2A44"/>
                </a:solidFill>
                <a:latin typeface="Calibri"/>
              </a:rPr>
              <a:t>1. Find candidates</a:t>
            </a:r>
            <a:r>
              <a:rPr sz="2000" b="0" i="0">
                <a:solidFill>
                  <a:srgbClr val="2B2F36"/>
                </a:solidFill>
                <a:latin typeface="Calibri"/>
              </a:rPr>
              <a:t> — Parents of classes merged last round.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rentCC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one round</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39</a:t>
            </a:r>
          </a:p>
        </p:txBody>
      </p:sp>
      <p:sp>
        <p:nvSpPr>
          <p:cNvPr id="5" name="ParentCC body"/>
          <p:cNvSpPr txBox="1"/>
          <p:nvPr/>
        </p:nvSpPr>
        <p:spPr>
          <a:xfrm>
            <a:off x="914400" y="1417320"/>
            <a:ext cx="10149840" cy="4297680"/>
          </a:xfrm>
          <a:prstGeom prst="rect">
            <a:avLst/>
          </a:prstGeom>
          <a:noFill/>
        </p:spPr>
        <p:txBody>
          <a:bodyPr wrap="square" lIns="45720" tIns="27432" rIns="45720" bIns="27432" anchor="t">
            <a:spAutoFit/>
          </a:bodyPr>
          <a:lstStyle/>
          <a:p>
            <a:pPr algn="l">
              <a:spcAft>
                <a:spcPts val="1600"/>
              </a:spcAft>
            </a:pPr>
            <a:r>
              <a:rPr sz="2000" b="1" i="0">
                <a:solidFill>
                  <a:srgbClr val="1F2A44"/>
                </a:solidFill>
                <a:latin typeface="Calibri"/>
              </a:rPr>
              <a:t>1. Find candidates</a:t>
            </a:r>
            <a:r>
              <a:rPr sz="2000" b="0" i="0">
                <a:solidFill>
                  <a:srgbClr val="2B2F36"/>
                </a:solidFill>
                <a:latin typeface="Calibri"/>
              </a:rPr>
              <a:t> — Parents of classes merged last round.</a:t>
            </a:r>
          </a:p>
          <a:p>
            <a:pPr algn="l">
              <a:spcAft>
                <a:spcPts val="1600"/>
              </a:spcAft>
            </a:pPr>
            <a:r>
              <a:rPr sz="2000" b="1" i="0">
                <a:solidFill>
                  <a:srgbClr val="1F2A44"/>
                </a:solidFill>
                <a:latin typeface="Calibri"/>
              </a:rPr>
              <a:t>2. Group by signature</a:t>
            </a:r>
            <a:r>
              <a:rPr sz="2000" b="0" i="0">
                <a:solidFill>
                  <a:srgbClr val="2B2F36"/>
                </a:solidFill>
                <a:latin typeface="Calibri"/>
              </a:rPr>
              <a:t> — Equal signatures identify congruences.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rentCC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one round</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40</a:t>
            </a:r>
          </a:p>
        </p:txBody>
      </p:sp>
      <p:sp>
        <p:nvSpPr>
          <p:cNvPr id="5" name="ParentCC body"/>
          <p:cNvSpPr txBox="1"/>
          <p:nvPr/>
        </p:nvSpPr>
        <p:spPr>
          <a:xfrm>
            <a:off x="914400" y="1417320"/>
            <a:ext cx="10149840" cy="4297680"/>
          </a:xfrm>
          <a:prstGeom prst="rect">
            <a:avLst/>
          </a:prstGeom>
          <a:noFill/>
        </p:spPr>
        <p:txBody>
          <a:bodyPr wrap="square" lIns="45720" tIns="27432" rIns="45720" bIns="27432" anchor="t">
            <a:spAutoFit/>
          </a:bodyPr>
          <a:lstStyle/>
          <a:p>
            <a:pPr algn="l">
              <a:spcAft>
                <a:spcPts val="1600"/>
              </a:spcAft>
            </a:pPr>
            <a:r>
              <a:rPr sz="2000" b="1" i="0">
                <a:solidFill>
                  <a:srgbClr val="1F2A44"/>
                </a:solidFill>
                <a:latin typeface="Calibri"/>
              </a:rPr>
              <a:t>1. Find candidates</a:t>
            </a:r>
            <a:r>
              <a:rPr sz="2000" b="0" i="0">
                <a:solidFill>
                  <a:srgbClr val="2B2F36"/>
                </a:solidFill>
                <a:latin typeface="Calibri"/>
              </a:rPr>
              <a:t> — Parents of classes merged last round.</a:t>
            </a:r>
          </a:p>
          <a:p>
            <a:pPr algn="l">
              <a:spcAft>
                <a:spcPts val="1600"/>
              </a:spcAft>
            </a:pPr>
            <a:r>
              <a:rPr sz="2000" b="1" i="0">
                <a:solidFill>
                  <a:srgbClr val="1F2A44"/>
                </a:solidFill>
                <a:latin typeface="Calibri"/>
              </a:rPr>
              <a:t>2. Group by signature</a:t>
            </a:r>
            <a:r>
              <a:rPr sz="2000" b="0" i="0">
                <a:solidFill>
                  <a:srgbClr val="2B2F36"/>
                </a:solidFill>
                <a:latin typeface="Calibri"/>
              </a:rPr>
              <a:t> — Equal signatures identify congruences.</a:t>
            </a:r>
          </a:p>
          <a:p>
            <a:pPr algn="l">
              <a:spcAft>
                <a:spcPts val="1600"/>
              </a:spcAft>
            </a:pPr>
            <a:r>
              <a:rPr sz="2000" b="1" i="0">
                <a:solidFill>
                  <a:srgbClr val="1F2A44"/>
                </a:solidFill>
                <a:latin typeface="Calibri"/>
              </a:rPr>
              <a:t>3. Merge each group</a:t>
            </a:r>
            <a:r>
              <a:rPr sz="2000" b="0" i="0">
                <a:solidFill>
                  <a:srgbClr val="2B2F36"/>
                </a:solidFill>
                <a:latin typeface="Calibri"/>
              </a:rPr>
              <a:t> — All groups can merge in parallel.</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rentCC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one round</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41</a:t>
            </a:r>
          </a:p>
        </p:txBody>
      </p:sp>
      <p:sp>
        <p:nvSpPr>
          <p:cNvPr id="5" name="ParentCC body"/>
          <p:cNvSpPr txBox="1"/>
          <p:nvPr/>
        </p:nvSpPr>
        <p:spPr>
          <a:xfrm>
            <a:off x="914400" y="1417320"/>
            <a:ext cx="10149840" cy="2415020"/>
          </a:xfrm>
          <a:prstGeom prst="rect">
            <a:avLst/>
          </a:prstGeom>
          <a:noFill/>
        </p:spPr>
        <p:txBody>
          <a:bodyPr wrap="square" lIns="45720" tIns="27432" rIns="45720" bIns="27432" anchor="t">
            <a:spAutoFit/>
          </a:bodyPr>
          <a:lstStyle/>
          <a:p>
            <a:pPr algn="l">
              <a:spcAft>
                <a:spcPts val="1600"/>
              </a:spcAft>
            </a:pPr>
            <a:r>
              <a:rPr sz="2000" b="1" i="0" dirty="0">
                <a:solidFill>
                  <a:srgbClr val="1F2A44"/>
                </a:solidFill>
                <a:latin typeface="Calibri"/>
              </a:rPr>
              <a:t>1. Find candidates</a:t>
            </a:r>
            <a:r>
              <a:rPr lang="en-US" sz="2000" b="1" i="0" dirty="0">
                <a:solidFill>
                  <a:srgbClr val="1F2A44"/>
                </a:solidFill>
                <a:latin typeface="Calibri"/>
              </a:rPr>
              <a:t> to merge</a:t>
            </a:r>
            <a:r>
              <a:rPr sz="2000" b="0" i="0" dirty="0">
                <a:solidFill>
                  <a:srgbClr val="2B2F36"/>
                </a:solidFill>
                <a:latin typeface="Calibri"/>
              </a:rPr>
              <a:t> — Parents of classes merged last round.</a:t>
            </a:r>
          </a:p>
          <a:p>
            <a:pPr algn="l">
              <a:spcAft>
                <a:spcPts val="1600"/>
              </a:spcAft>
            </a:pPr>
            <a:r>
              <a:rPr sz="2000" b="1" i="0" dirty="0">
                <a:solidFill>
                  <a:srgbClr val="1F2A44"/>
                </a:solidFill>
                <a:latin typeface="Calibri"/>
              </a:rPr>
              <a:t>2. Group by signature</a:t>
            </a:r>
            <a:r>
              <a:rPr sz="2000" b="0" i="0" dirty="0">
                <a:solidFill>
                  <a:srgbClr val="2B2F36"/>
                </a:solidFill>
                <a:latin typeface="Calibri"/>
              </a:rPr>
              <a:t> — Equal signatures identify congruences.</a:t>
            </a:r>
          </a:p>
          <a:p>
            <a:pPr algn="l">
              <a:spcAft>
                <a:spcPts val="1600"/>
              </a:spcAft>
            </a:pPr>
            <a:r>
              <a:rPr sz="2000" b="1" i="0" dirty="0">
                <a:solidFill>
                  <a:srgbClr val="1F2A44"/>
                </a:solidFill>
                <a:latin typeface="Calibri"/>
              </a:rPr>
              <a:t>3. Merge each group</a:t>
            </a:r>
            <a:r>
              <a:rPr sz="2000" b="0" i="0" dirty="0">
                <a:solidFill>
                  <a:srgbClr val="2B2F36"/>
                </a:solidFill>
                <a:latin typeface="Calibri"/>
              </a:rPr>
              <a:t> — All groups can merge in parallel.</a:t>
            </a:r>
          </a:p>
          <a:p>
            <a:pPr algn="l">
              <a:spcAft>
                <a:spcPts val="1600"/>
              </a:spcAft>
            </a:pPr>
            <a:r>
              <a:rPr sz="2000" b="1" i="0" dirty="0">
                <a:solidFill>
                  <a:srgbClr val="1F2A44"/>
                </a:solidFill>
                <a:latin typeface="Calibri"/>
              </a:rPr>
              <a:t>Repeat</a:t>
            </a:r>
            <a:r>
              <a:rPr sz="2000" b="0" i="0" dirty="0">
                <a:solidFill>
                  <a:srgbClr val="2B2F36"/>
                </a:solidFill>
                <a:latin typeface="Calibri"/>
              </a:rPr>
              <a:t> — Until a round performs no merges.</a:t>
            </a:r>
          </a:p>
          <a:p>
            <a:pPr algn="l">
              <a:spcAft>
                <a:spcPts val="1600"/>
              </a:spcAft>
            </a:pPr>
            <a:r>
              <a:rPr sz="2000" b="1" i="0" dirty="0">
                <a:solidFill>
                  <a:srgbClr val="1F2A44"/>
                </a:solidFill>
                <a:latin typeface="Calibri"/>
              </a:rPr>
              <a:t>Initial round</a:t>
            </a:r>
            <a:r>
              <a:rPr sz="2000" b="0" i="0" dirty="0">
                <a:solidFill>
                  <a:srgbClr val="2B2F36"/>
                </a:solidFill>
                <a:latin typeface="Calibri"/>
              </a:rPr>
              <a:t> — Every term is a candidate.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38</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1"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2"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3"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4"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5"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16"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17"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18"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19"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0"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1"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2"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3"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4"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5"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6"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7"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28" name="ParentCC Highlight - Base"/>
          <p:cNvSpPr txBox="1"/>
          <p:nvPr/>
        </p:nvSpPr>
        <p:spPr>
          <a:xfrm>
            <a:off x="11612880" y="6675120"/>
            <a:ext cx="9144" cy="9144"/>
          </a:xfrm>
          <a:prstGeom prst="rect">
            <a:avLst/>
          </a:prstGeom>
          <a:noFill/>
        </p:spPr>
        <p:txBody>
          <a:bodyPr wrap="square" lIns="45720" tIns="27432" rIns="45720" bIns="27432" anchor="ctr">
            <a:spAutoFit/>
          </a:bodyPr>
          <a:lstStyle/>
          <a:p>
            <a:pPr algn="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39</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4-7"/>
          <p:cNvSpPr/>
          <p:nvPr/>
        </p:nvSpPr>
        <p:spPr>
          <a:xfrm>
            <a:off x="585216" y="2371039"/>
            <a:ext cx="7479792" cy="1054303"/>
          </a:xfrm>
          <a:prstGeom prst="rect">
            <a:avLst/>
          </a:prstGeom>
          <a:solidFill>
            <a:srgbClr val="FFF0DA"/>
          </a:solidFill>
          <a:ln>
            <a:noFill/>
          </a:ln>
        </p:spPr>
        <p:txBody>
          <a:bodyPr/>
          <a:lstStyle/>
          <a:p>
            <a:endParaRPr lang="en-US"/>
          </a:p>
        </p:txBody>
      </p:sp>
      <p:sp>
        <p:nvSpPr>
          <p:cNvPr id="11" name="ParentCC active bar 4-7"/>
          <p:cNvSpPr/>
          <p:nvPr/>
        </p:nvSpPr>
        <p:spPr>
          <a:xfrm>
            <a:off x="566928" y="2371039"/>
            <a:ext cx="50292" cy="1054303"/>
          </a:xfrm>
          <a:prstGeom prst="rect">
            <a:avLst/>
          </a:prstGeom>
          <a:solidFill>
            <a:srgbClr val="C8501E"/>
          </a:solidFill>
          <a:ln>
            <a:noFill/>
          </a:ln>
        </p:spPr>
        <p:txBody>
          <a:bodyPr/>
          <a:lstStyle/>
          <a:p>
            <a:endParaRPr lang="en-US"/>
          </a:p>
        </p:txBody>
      </p:sp>
      <p:sp>
        <p:nvSpPr>
          <p:cNvPr id="12"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3"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4"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5"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6" name="ParentCC code line 4"/>
          <p:cNvSpPr txBox="1"/>
          <p:nvPr/>
        </p:nvSpPr>
        <p:spPr>
          <a:xfrm>
            <a:off x="658368" y="2384755"/>
            <a:ext cx="7333488" cy="257861"/>
          </a:xfrm>
          <a:prstGeom prst="rect">
            <a:avLst/>
          </a:prstGeom>
          <a:noFill/>
        </p:spPr>
        <p:txBody>
          <a:bodyPr wrap="none" lIns="0" tIns="0" rIns="0" bIns="0" anchor="ctr">
            <a:spAutoFit/>
          </a:bodyPr>
          <a:lstStyle/>
          <a:p>
            <a:r>
              <a:rPr sz="1150" b="1" i="0">
                <a:solidFill>
                  <a:srgbClr val="A64018"/>
                </a:solidFill>
                <a:latin typeface="Consolas"/>
              </a:rPr>
              <a:t>        parfor c ∈ Work with c ≠ Find(c):                 ▹ fold parent lists</a:t>
            </a:r>
          </a:p>
        </p:txBody>
      </p:sp>
      <p:sp>
        <p:nvSpPr>
          <p:cNvPr id="17" name="ParentCC code line 5"/>
          <p:cNvSpPr txBox="1"/>
          <p:nvPr/>
        </p:nvSpPr>
        <p:spPr>
          <a:xfrm>
            <a:off x="658368" y="2642616"/>
            <a:ext cx="7333488" cy="257861"/>
          </a:xfrm>
          <a:prstGeom prst="rect">
            <a:avLst/>
          </a:prstGeom>
          <a:noFill/>
        </p:spPr>
        <p:txBody>
          <a:bodyPr wrap="none" lIns="0" tIns="0" rIns="0" bIns="0" anchor="ctr">
            <a:spAutoFit/>
          </a:bodyPr>
          <a:lstStyle/>
          <a:p>
            <a:r>
              <a:rPr sz="1150" b="1" i="0">
                <a:solidFill>
                  <a:srgbClr val="A64018"/>
                </a:solidFill>
                <a:latin typeface="Consolas"/>
              </a:rPr>
              <a:t>            Parents[Find(c)] ← Parents[Find(c)] ∪ Parents[c]</a:t>
            </a:r>
          </a:p>
        </p:txBody>
      </p:sp>
      <p:sp>
        <p:nvSpPr>
          <p:cNvPr id="18" name="ParentCC code line 6"/>
          <p:cNvSpPr txBox="1"/>
          <p:nvPr/>
        </p:nvSpPr>
        <p:spPr>
          <a:xfrm>
            <a:off x="658368" y="2900477"/>
            <a:ext cx="7333488" cy="257861"/>
          </a:xfrm>
          <a:prstGeom prst="rect">
            <a:avLst/>
          </a:prstGeom>
          <a:noFill/>
        </p:spPr>
        <p:txBody>
          <a:bodyPr wrap="none" lIns="0" tIns="0" rIns="0" bIns="0" anchor="ctr">
            <a:spAutoFit/>
          </a:bodyPr>
          <a:lstStyle/>
          <a:p>
            <a:r>
              <a:rPr sz="1150" b="1" i="0">
                <a:solidFill>
                  <a:srgbClr val="A64018"/>
                </a:solidFill>
                <a:latin typeface="Consolas"/>
              </a:rPr>
              <a:t>        Frontier ← all compound terms          on round 0   ▹ seed round</a:t>
            </a:r>
          </a:p>
        </p:txBody>
      </p:sp>
      <p:sp>
        <p:nvSpPr>
          <p:cNvPr id="19" name="ParentCC code line 7"/>
          <p:cNvSpPr txBox="1"/>
          <p:nvPr/>
        </p:nvSpPr>
        <p:spPr>
          <a:xfrm>
            <a:off x="658368" y="3158338"/>
            <a:ext cx="7333488" cy="257861"/>
          </a:xfrm>
          <a:prstGeom prst="rect">
            <a:avLst/>
          </a:prstGeom>
          <a:noFill/>
        </p:spPr>
        <p:txBody>
          <a:bodyPr wrap="none" lIns="0" tIns="0" rIns="0" bIns="0" anchor="ctr">
            <a:spAutoFit/>
          </a:bodyPr>
          <a:lstStyle/>
          <a:p>
            <a:r>
              <a:rPr sz="1150" b="1" i="0">
                <a:solidFill>
                  <a:srgbClr val="A64018"/>
                </a:solidFill>
                <a:latin typeface="Consolas"/>
              </a:rPr>
              <a:t>        Frontier ← ⋃ Parents[Find(c)] for c ∈ Work   otherwise</a:t>
            </a:r>
          </a:p>
        </p:txBody>
      </p:sp>
      <p:sp>
        <p:nvSpPr>
          <p:cNvPr id="20"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1"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2"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3"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4"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5"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6"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7"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8"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9"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0" name="ParentCC irrelevant veil 0-3"/>
          <p:cNvSpPr/>
          <p:nvPr/>
        </p:nvSpPr>
        <p:spPr>
          <a:xfrm>
            <a:off x="585216" y="1339596"/>
            <a:ext cx="7479792" cy="1054303"/>
          </a:xfrm>
          <a:prstGeom prst="rect">
            <a:avLst/>
          </a:prstGeom>
          <a:solidFill>
            <a:srgbClr val="D5D8DD">
              <a:alpha val="80000"/>
            </a:srgbClr>
          </a:solidFill>
          <a:ln>
            <a:noFill/>
          </a:ln>
        </p:spPr>
        <p:txBody>
          <a:bodyPr/>
          <a:lstStyle/>
          <a:p>
            <a:endParaRPr lang="en-US">
              <a:highlight>
                <a:srgbClr val="808080"/>
              </a:highlight>
            </a:endParaRPr>
          </a:p>
        </p:txBody>
      </p:sp>
      <p:sp>
        <p:nvSpPr>
          <p:cNvPr id="31" name="ParentCC irrelevant veil 8-17"/>
          <p:cNvSpPr/>
          <p:nvPr/>
        </p:nvSpPr>
        <p:spPr>
          <a:xfrm>
            <a:off x="585216" y="3402482"/>
            <a:ext cx="7479792" cy="2601468"/>
          </a:xfrm>
          <a:prstGeom prst="rect">
            <a:avLst/>
          </a:prstGeom>
          <a:solidFill>
            <a:srgbClr val="D5D8DD">
              <a:alpha val="80000"/>
            </a:srgbClr>
          </a:solidFill>
          <a:ln>
            <a:noFill/>
          </a:ln>
        </p:spPr>
        <p:txBody>
          <a:bodyPr/>
          <a:lstStyle/>
          <a:p>
            <a:endParaRPr lang="en-US">
              <a:highlight>
                <a:srgbClr val="808080"/>
              </a:highlight>
            </a:endParaRPr>
          </a:p>
        </p:txBody>
      </p:sp>
      <p:sp>
        <p:nvSpPr>
          <p:cNvPr id="33" name="ParentCC annotation heading - Find candidates"/>
          <p:cNvSpPr txBox="1"/>
          <p:nvPr/>
        </p:nvSpPr>
        <p:spPr>
          <a:xfrm>
            <a:off x="8247888" y="1270553"/>
            <a:ext cx="3944112" cy="424732"/>
          </a:xfrm>
          <a:prstGeom prst="rect">
            <a:avLst/>
          </a:prstGeom>
          <a:noFill/>
        </p:spPr>
        <p:txBody>
          <a:bodyPr wrap="square" lIns="45720" tIns="27432" rIns="45720" bIns="27432" anchor="ctr">
            <a:spAutoFit/>
          </a:bodyPr>
          <a:lstStyle/>
          <a:p>
            <a:pPr algn="l"/>
            <a:r>
              <a:rPr lang="en-US" sz="2400" b="1" i="0" dirty="0">
                <a:solidFill>
                  <a:srgbClr val="C8501E"/>
                </a:solidFill>
                <a:latin typeface="Calibri"/>
              </a:rPr>
              <a:t>1. </a:t>
            </a:r>
            <a:r>
              <a:rPr sz="2400" b="1" i="0" dirty="0">
                <a:solidFill>
                  <a:srgbClr val="C8501E"/>
                </a:solidFill>
                <a:latin typeface="Calibri"/>
              </a:rPr>
              <a:t>Find candidates</a:t>
            </a:r>
            <a:r>
              <a:rPr lang="en-US" sz="2400" b="1" i="0" dirty="0">
                <a:solidFill>
                  <a:srgbClr val="C8501E"/>
                </a:solidFill>
                <a:latin typeface="Calibri"/>
              </a:rPr>
              <a:t> for merging</a:t>
            </a:r>
            <a:endParaRPr sz="2400" b="1" i="0" dirty="0">
              <a:solidFill>
                <a:srgbClr val="C8501E"/>
              </a:solidFill>
              <a:latin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40</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8-8"/>
          <p:cNvSpPr/>
          <p:nvPr/>
        </p:nvSpPr>
        <p:spPr>
          <a:xfrm>
            <a:off x="585216" y="3402482"/>
            <a:ext cx="7479792" cy="280721"/>
          </a:xfrm>
          <a:prstGeom prst="rect">
            <a:avLst/>
          </a:prstGeom>
          <a:solidFill>
            <a:srgbClr val="FFF0DA"/>
          </a:solidFill>
          <a:ln>
            <a:noFill/>
          </a:ln>
        </p:spPr>
        <p:txBody>
          <a:bodyPr/>
          <a:lstStyle/>
          <a:p>
            <a:endParaRPr lang="en-US"/>
          </a:p>
        </p:txBody>
      </p:sp>
      <p:sp>
        <p:nvSpPr>
          <p:cNvPr id="11" name="ParentCC active bar 8-8"/>
          <p:cNvSpPr/>
          <p:nvPr/>
        </p:nvSpPr>
        <p:spPr>
          <a:xfrm>
            <a:off x="566928" y="3402482"/>
            <a:ext cx="50292" cy="280721"/>
          </a:xfrm>
          <a:prstGeom prst="rect">
            <a:avLst/>
          </a:prstGeom>
          <a:solidFill>
            <a:srgbClr val="C8501E"/>
          </a:solidFill>
          <a:ln>
            <a:noFill/>
          </a:ln>
        </p:spPr>
        <p:txBody>
          <a:bodyPr/>
          <a:lstStyle/>
          <a:p>
            <a:endParaRPr lang="en-US"/>
          </a:p>
        </p:txBody>
      </p:sp>
      <p:sp>
        <p:nvSpPr>
          <p:cNvPr id="12"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3"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4"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5"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6"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7"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18"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19"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0" name="ParentCC code line 8"/>
          <p:cNvSpPr txBox="1"/>
          <p:nvPr/>
        </p:nvSpPr>
        <p:spPr>
          <a:xfrm>
            <a:off x="658368" y="3416198"/>
            <a:ext cx="7333488" cy="257861"/>
          </a:xfrm>
          <a:prstGeom prst="rect">
            <a:avLst/>
          </a:prstGeom>
          <a:noFill/>
        </p:spPr>
        <p:txBody>
          <a:bodyPr wrap="none" lIns="0" tIns="0" rIns="0" bIns="0" anchor="ctr">
            <a:spAutoFit/>
          </a:bodyPr>
          <a:lstStyle/>
          <a:p>
            <a:r>
              <a:rPr sz="1150" b="1" i="0">
                <a:solidFill>
                  <a:srgbClr val="A64018"/>
                </a:solidFill>
                <a:latin typeface="Consolas"/>
              </a:rPr>
              <a:t>        groups ← GroupBy(Congruent, Frontier)          ▹ semisort on sigs</a:t>
            </a:r>
          </a:p>
        </p:txBody>
      </p:sp>
      <p:sp>
        <p:nvSpPr>
          <p:cNvPr id="21"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2"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3"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4"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5"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6"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7"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8"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9"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0" name="ParentCC completed veil 4-7"/>
          <p:cNvSpPr/>
          <p:nvPr/>
        </p:nvSpPr>
        <p:spPr>
          <a:xfrm>
            <a:off x="585216" y="2371039"/>
            <a:ext cx="7479792" cy="1054303"/>
          </a:xfrm>
          <a:prstGeom prst="rect">
            <a:avLst/>
          </a:prstGeom>
          <a:solidFill>
            <a:srgbClr val="D5D8DD">
              <a:alpha val="18000"/>
            </a:srgbClr>
          </a:solidFill>
          <a:ln>
            <a:noFill/>
          </a:ln>
        </p:spPr>
        <p:txBody>
          <a:bodyPr/>
          <a:lstStyle/>
          <a:p>
            <a:endParaRPr lang="en-US"/>
          </a:p>
        </p:txBody>
      </p:sp>
      <p:sp>
        <p:nvSpPr>
          <p:cNvPr id="31" name="ParentCC irrelevant veil 0-3"/>
          <p:cNvSpPr/>
          <p:nvPr/>
        </p:nvSpPr>
        <p:spPr>
          <a:xfrm>
            <a:off x="585216" y="1339596"/>
            <a:ext cx="7479792" cy="2053742"/>
          </a:xfrm>
          <a:prstGeom prst="rect">
            <a:avLst/>
          </a:prstGeom>
          <a:solidFill>
            <a:srgbClr val="D5D8DD">
              <a:alpha val="80000"/>
            </a:srgbClr>
          </a:solidFill>
          <a:ln>
            <a:noFill/>
          </a:ln>
        </p:spPr>
        <p:txBody>
          <a:bodyPr/>
          <a:lstStyle/>
          <a:p>
            <a:endParaRPr lang="en-US"/>
          </a:p>
        </p:txBody>
      </p:sp>
      <p:sp>
        <p:nvSpPr>
          <p:cNvPr id="32" name="ParentCC irrelevant veil 9-17"/>
          <p:cNvSpPr/>
          <p:nvPr/>
        </p:nvSpPr>
        <p:spPr>
          <a:xfrm>
            <a:off x="585216" y="3660343"/>
            <a:ext cx="7479792" cy="2343607"/>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FD311867-97FC-0C85-3339-C1EDE88D566A}"/>
              </a:ext>
            </a:extLst>
          </p:cNvPr>
          <p:cNvSpPr txBox="1"/>
          <p:nvPr/>
        </p:nvSpPr>
        <p:spPr>
          <a:xfrm>
            <a:off x="8247888" y="1234440"/>
            <a:ext cx="3944112" cy="1532727"/>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endParaRPr lang="en-US" sz="2400" b="1" i="0" dirty="0">
              <a:solidFill>
                <a:srgbClr val="C8501E"/>
              </a:solidFill>
              <a:latin typeface="Calibri"/>
            </a:endParaRPr>
          </a:p>
          <a:p>
            <a:pPr marL="457200" indent="-457200" algn="l">
              <a:buAutoNum type="arabicPeriod"/>
            </a:pPr>
            <a:endParaRPr sz="2400" b="1" i="0" dirty="0">
              <a:solidFill>
                <a:srgbClr val="C8501E"/>
              </a:solidFill>
              <a:latin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41</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10-11"/>
          <p:cNvSpPr/>
          <p:nvPr/>
        </p:nvSpPr>
        <p:spPr>
          <a:xfrm>
            <a:off x="585216" y="3918204"/>
            <a:ext cx="7479792" cy="538582"/>
          </a:xfrm>
          <a:prstGeom prst="rect">
            <a:avLst/>
          </a:prstGeom>
          <a:solidFill>
            <a:srgbClr val="FFF0DA"/>
          </a:solidFill>
          <a:ln>
            <a:noFill/>
          </a:ln>
        </p:spPr>
        <p:txBody>
          <a:bodyPr/>
          <a:lstStyle/>
          <a:p>
            <a:endParaRPr lang="en-US"/>
          </a:p>
        </p:txBody>
      </p:sp>
      <p:sp>
        <p:nvSpPr>
          <p:cNvPr id="11" name="ParentCC active bar 10-11"/>
          <p:cNvSpPr/>
          <p:nvPr/>
        </p:nvSpPr>
        <p:spPr>
          <a:xfrm>
            <a:off x="566928" y="3918204"/>
            <a:ext cx="50292" cy="538582"/>
          </a:xfrm>
          <a:prstGeom prst="rect">
            <a:avLst/>
          </a:prstGeom>
          <a:solidFill>
            <a:srgbClr val="C8501E"/>
          </a:solidFill>
          <a:ln>
            <a:noFill/>
          </a:ln>
        </p:spPr>
        <p:txBody>
          <a:bodyPr/>
          <a:lstStyle/>
          <a:p>
            <a:endParaRPr lang="en-US"/>
          </a:p>
        </p:txBody>
      </p:sp>
      <p:sp>
        <p:nvSpPr>
          <p:cNvPr id="12" name="ParentCC active band 14-17"/>
          <p:cNvSpPr/>
          <p:nvPr/>
        </p:nvSpPr>
        <p:spPr>
          <a:xfrm>
            <a:off x="585216" y="4949647"/>
            <a:ext cx="7479792" cy="1054303"/>
          </a:xfrm>
          <a:prstGeom prst="rect">
            <a:avLst/>
          </a:prstGeom>
          <a:solidFill>
            <a:srgbClr val="FFF0DA"/>
          </a:solidFill>
          <a:ln>
            <a:noFill/>
          </a:ln>
        </p:spPr>
        <p:txBody>
          <a:bodyPr/>
          <a:lstStyle/>
          <a:p>
            <a:endParaRPr lang="en-US"/>
          </a:p>
        </p:txBody>
      </p:sp>
      <p:sp>
        <p:nvSpPr>
          <p:cNvPr id="13" name="ParentCC active bar 14-17"/>
          <p:cNvSpPr/>
          <p:nvPr/>
        </p:nvSpPr>
        <p:spPr>
          <a:xfrm>
            <a:off x="566928" y="4949647"/>
            <a:ext cx="50292" cy="1054303"/>
          </a:xfrm>
          <a:prstGeom prst="rect">
            <a:avLst/>
          </a:prstGeom>
          <a:solidFill>
            <a:srgbClr val="C8501E"/>
          </a:solidFill>
          <a:ln>
            <a:noFill/>
          </a:ln>
        </p:spPr>
        <p:txBody>
          <a:bodyPr/>
          <a:lstStyle/>
          <a:p>
            <a:endParaRPr lang="en-US"/>
          </a:p>
        </p:txBody>
      </p:sp>
      <p:sp>
        <p:nvSpPr>
          <p:cNvPr id="14"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5"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6"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7"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8"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9"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20"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21"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2"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3"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4" name="ParentCC code line 10"/>
          <p:cNvSpPr txBox="1"/>
          <p:nvPr/>
        </p:nvSpPr>
        <p:spPr>
          <a:xfrm>
            <a:off x="658368" y="3931920"/>
            <a:ext cx="7333488" cy="257861"/>
          </a:xfrm>
          <a:prstGeom prst="rect">
            <a:avLst/>
          </a:prstGeom>
          <a:noFill/>
        </p:spPr>
        <p:txBody>
          <a:bodyPr wrap="none" lIns="0" tIns="0" rIns="0" bIns="0" anchor="ctr">
            <a:spAutoFit/>
          </a:bodyPr>
          <a:lstStyle/>
          <a:p>
            <a:r>
              <a:rPr sz="1150" b="1" i="0">
                <a:solidFill>
                  <a:srgbClr val="A64018"/>
                </a:solidFill>
                <a:latin typeface="Consolas"/>
              </a:rPr>
              <a:t>        parfor g ∈ groups spanning &gt; 1 class:</a:t>
            </a:r>
          </a:p>
        </p:txBody>
      </p:sp>
      <p:sp>
        <p:nvSpPr>
          <p:cNvPr id="25" name="ParentCC code line 11"/>
          <p:cNvSpPr txBox="1"/>
          <p:nvPr/>
        </p:nvSpPr>
        <p:spPr>
          <a:xfrm>
            <a:off x="658368" y="4189781"/>
            <a:ext cx="7333488" cy="257861"/>
          </a:xfrm>
          <a:prstGeom prst="rect">
            <a:avLst/>
          </a:prstGeom>
          <a:noFill/>
        </p:spPr>
        <p:txBody>
          <a:bodyPr wrap="none" lIns="0" tIns="0" rIns="0" bIns="0" anchor="ctr">
            <a:spAutoFit/>
          </a:bodyPr>
          <a:lstStyle/>
          <a:p>
            <a:r>
              <a:rPr sz="1150" b="1" i="0">
                <a:solidFill>
                  <a:srgbClr val="A64018"/>
                </a:solidFill>
                <a:latin typeface="Consolas"/>
              </a:rPr>
              <a:t>            MergeCongruenceClass(g)                          ▹ parallel unions</a:t>
            </a:r>
          </a:p>
        </p:txBody>
      </p:sp>
      <p:sp>
        <p:nvSpPr>
          <p:cNvPr id="26"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7"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8"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A64018"/>
                </a:solidFill>
                <a:latin typeface="Consolas"/>
              </a:rPr>
              <a:t>MergeCongruenceClass(S):                             ▹ divide and conquer</a:t>
            </a:r>
          </a:p>
        </p:txBody>
      </p:sp>
      <p:sp>
        <p:nvSpPr>
          <p:cNvPr id="29" name="ParentCC code line 15"/>
          <p:cNvSpPr txBox="1"/>
          <p:nvPr/>
        </p:nvSpPr>
        <p:spPr>
          <a:xfrm>
            <a:off x="658368" y="5221224"/>
            <a:ext cx="7333488" cy="257861"/>
          </a:xfrm>
          <a:prstGeom prst="rect">
            <a:avLst/>
          </a:prstGeom>
          <a:noFill/>
        </p:spPr>
        <p:txBody>
          <a:bodyPr wrap="none" lIns="0" tIns="0" rIns="0" bIns="0" anchor="ctr">
            <a:spAutoFit/>
          </a:bodyPr>
          <a:lstStyle/>
          <a:p>
            <a:r>
              <a:rPr sz="1150" b="1" i="0">
                <a:solidFill>
                  <a:srgbClr val="A64018"/>
                </a:solidFill>
                <a:latin typeface="Consolas"/>
              </a:rPr>
              <a:t>    if |S| = 1: return the element</a:t>
            </a:r>
          </a:p>
        </p:txBody>
      </p:sp>
      <p:sp>
        <p:nvSpPr>
          <p:cNvPr id="30" name="ParentCC code line 16"/>
          <p:cNvSpPr txBox="1"/>
          <p:nvPr/>
        </p:nvSpPr>
        <p:spPr>
          <a:xfrm>
            <a:off x="658368" y="5479085"/>
            <a:ext cx="7333488" cy="257861"/>
          </a:xfrm>
          <a:prstGeom prst="rect">
            <a:avLst/>
          </a:prstGeom>
          <a:noFill/>
        </p:spPr>
        <p:txBody>
          <a:bodyPr wrap="none" lIns="0" tIns="0" rIns="0" bIns="0" anchor="ctr">
            <a:spAutoFit/>
          </a:bodyPr>
          <a:lstStyle/>
          <a:p>
            <a:r>
              <a:rPr sz="1150" b="1" i="0">
                <a:solidFill>
                  <a:srgbClr val="A64018"/>
                </a:solidFill>
                <a:latin typeface="Consolas"/>
              </a:rPr>
              <a:t>    l, r ← MergeCongruenceClass(S[0..n/2]) ∥ MergeCongruenceClass(S[n/2..n])</a:t>
            </a:r>
          </a:p>
        </p:txBody>
      </p:sp>
      <p:sp>
        <p:nvSpPr>
          <p:cNvPr id="31" name="ParentCC code line 17"/>
          <p:cNvSpPr txBox="1"/>
          <p:nvPr/>
        </p:nvSpPr>
        <p:spPr>
          <a:xfrm>
            <a:off x="658368" y="5736946"/>
            <a:ext cx="7333488" cy="257861"/>
          </a:xfrm>
          <a:prstGeom prst="rect">
            <a:avLst/>
          </a:prstGeom>
          <a:noFill/>
        </p:spPr>
        <p:txBody>
          <a:bodyPr wrap="none" lIns="0" tIns="0" rIns="0" bIns="0" anchor="ctr">
            <a:spAutoFit/>
          </a:bodyPr>
          <a:lstStyle/>
          <a:p>
            <a:r>
              <a:rPr sz="1150" b="1" i="0">
                <a:solidFill>
                  <a:srgbClr val="A64018"/>
                </a:solidFill>
                <a:latin typeface="Consolas"/>
              </a:rPr>
              <a:t>    return Union(l, r)</a:t>
            </a:r>
          </a:p>
        </p:txBody>
      </p:sp>
      <p:sp>
        <p:nvSpPr>
          <p:cNvPr id="32" name="ParentCC completed veil 4-8"/>
          <p:cNvSpPr/>
          <p:nvPr/>
        </p:nvSpPr>
        <p:spPr>
          <a:xfrm>
            <a:off x="585216" y="2371039"/>
            <a:ext cx="7479792" cy="1312164"/>
          </a:xfrm>
          <a:prstGeom prst="rect">
            <a:avLst/>
          </a:prstGeom>
          <a:solidFill>
            <a:srgbClr val="D5D8DD">
              <a:alpha val="18000"/>
            </a:srgbClr>
          </a:solidFill>
          <a:ln>
            <a:noFill/>
          </a:ln>
        </p:spPr>
        <p:txBody>
          <a:bodyPr/>
          <a:lstStyle/>
          <a:p>
            <a:endParaRPr lang="en-US"/>
          </a:p>
        </p:txBody>
      </p:sp>
      <p:sp>
        <p:nvSpPr>
          <p:cNvPr id="33" name="ParentCC irrelevant veil 0-3"/>
          <p:cNvSpPr/>
          <p:nvPr/>
        </p:nvSpPr>
        <p:spPr>
          <a:xfrm>
            <a:off x="585216" y="1339596"/>
            <a:ext cx="7479792" cy="2615185"/>
          </a:xfrm>
          <a:prstGeom prst="rect">
            <a:avLst/>
          </a:prstGeom>
          <a:solidFill>
            <a:srgbClr val="D5D8DD">
              <a:alpha val="80000"/>
            </a:srgbClr>
          </a:solidFill>
          <a:ln>
            <a:noFill/>
          </a:ln>
        </p:spPr>
        <p:txBody>
          <a:bodyPr/>
          <a:lstStyle/>
          <a:p>
            <a:endParaRPr lang="en-US"/>
          </a:p>
        </p:txBody>
      </p:sp>
      <p:sp>
        <p:nvSpPr>
          <p:cNvPr id="34" name="ParentCC irrelevant veil 9-9"/>
          <p:cNvSpPr/>
          <p:nvPr/>
        </p:nvSpPr>
        <p:spPr>
          <a:xfrm>
            <a:off x="585216" y="3660343"/>
            <a:ext cx="7479792" cy="280721"/>
          </a:xfrm>
          <a:prstGeom prst="rect">
            <a:avLst/>
          </a:prstGeom>
          <a:solidFill>
            <a:srgbClr val="D5D8DD">
              <a:alpha val="56000"/>
            </a:srgbClr>
          </a:solidFill>
          <a:ln>
            <a:noFill/>
          </a:ln>
        </p:spPr>
        <p:txBody>
          <a:bodyPr/>
          <a:lstStyle/>
          <a:p>
            <a:endParaRPr lang="en-US"/>
          </a:p>
        </p:txBody>
      </p:sp>
      <p:sp>
        <p:nvSpPr>
          <p:cNvPr id="35" name="ParentCC irrelevant veil 12-13"/>
          <p:cNvSpPr/>
          <p:nvPr/>
        </p:nvSpPr>
        <p:spPr>
          <a:xfrm>
            <a:off x="585216" y="4433926"/>
            <a:ext cx="7479792" cy="538582"/>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AE0FF2A1-129F-652D-4457-558E2F06F888}"/>
              </a:ext>
            </a:extLst>
          </p:cNvPr>
          <p:cNvSpPr txBox="1"/>
          <p:nvPr/>
        </p:nvSpPr>
        <p:spPr>
          <a:xfrm>
            <a:off x="8238744" y="1234440"/>
            <a:ext cx="3944112" cy="1902059"/>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p>
          <a:p>
            <a:pPr marL="457200" indent="-457200" algn="l">
              <a:buAutoNum type="arabicPeriod"/>
            </a:pPr>
            <a:r>
              <a:rPr lang="en-US" sz="2400" b="1" i="0" dirty="0">
                <a:solidFill>
                  <a:srgbClr val="C8501E"/>
                </a:solidFill>
                <a:latin typeface="Calibri"/>
              </a:rPr>
              <a:t>Merge congruent terms </a:t>
            </a:r>
          </a:p>
          <a:p>
            <a:pPr marL="457200" indent="-457200" algn="l">
              <a:buAutoNum type="arabicPeriod"/>
            </a:pPr>
            <a:endParaRPr sz="2400" b="1" i="0" dirty="0">
              <a:solidFill>
                <a:srgbClr val="C8501E"/>
              </a:solidFill>
              <a:latin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42</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2-3"/>
          <p:cNvSpPr/>
          <p:nvPr/>
        </p:nvSpPr>
        <p:spPr>
          <a:xfrm>
            <a:off x="585216" y="1855318"/>
            <a:ext cx="7479792" cy="538582"/>
          </a:xfrm>
          <a:prstGeom prst="rect">
            <a:avLst/>
          </a:prstGeom>
          <a:solidFill>
            <a:srgbClr val="FFF0DA"/>
          </a:solidFill>
          <a:ln>
            <a:noFill/>
          </a:ln>
        </p:spPr>
        <p:txBody>
          <a:bodyPr/>
          <a:lstStyle/>
          <a:p>
            <a:endParaRPr lang="en-US"/>
          </a:p>
        </p:txBody>
      </p:sp>
      <p:sp>
        <p:nvSpPr>
          <p:cNvPr id="11" name="ParentCC active bar 2-3"/>
          <p:cNvSpPr/>
          <p:nvPr/>
        </p:nvSpPr>
        <p:spPr>
          <a:xfrm>
            <a:off x="566928" y="1855318"/>
            <a:ext cx="50292" cy="538582"/>
          </a:xfrm>
          <a:prstGeom prst="rect">
            <a:avLst/>
          </a:prstGeom>
          <a:solidFill>
            <a:srgbClr val="C8501E"/>
          </a:solidFill>
          <a:ln>
            <a:noFill/>
          </a:ln>
        </p:spPr>
        <p:txBody>
          <a:bodyPr/>
          <a:lstStyle/>
          <a:p>
            <a:endParaRPr lang="en-US"/>
          </a:p>
        </p:txBody>
      </p:sp>
      <p:sp>
        <p:nvSpPr>
          <p:cNvPr id="12" name="ParentCC active band 9-9"/>
          <p:cNvSpPr/>
          <p:nvPr/>
        </p:nvSpPr>
        <p:spPr>
          <a:xfrm>
            <a:off x="585216" y="3660343"/>
            <a:ext cx="7479792" cy="280721"/>
          </a:xfrm>
          <a:prstGeom prst="rect">
            <a:avLst/>
          </a:prstGeom>
          <a:solidFill>
            <a:srgbClr val="FFF0DA"/>
          </a:solidFill>
          <a:ln>
            <a:noFill/>
          </a:ln>
        </p:spPr>
        <p:txBody>
          <a:bodyPr/>
          <a:lstStyle/>
          <a:p>
            <a:endParaRPr lang="en-US"/>
          </a:p>
        </p:txBody>
      </p:sp>
      <p:sp>
        <p:nvSpPr>
          <p:cNvPr id="13" name="ParentCC active bar 9-9"/>
          <p:cNvSpPr/>
          <p:nvPr/>
        </p:nvSpPr>
        <p:spPr>
          <a:xfrm>
            <a:off x="566928" y="3660343"/>
            <a:ext cx="50292" cy="280721"/>
          </a:xfrm>
          <a:prstGeom prst="rect">
            <a:avLst/>
          </a:prstGeom>
          <a:solidFill>
            <a:srgbClr val="C8501E"/>
          </a:solidFill>
          <a:ln>
            <a:noFill/>
          </a:ln>
        </p:spPr>
        <p:txBody>
          <a:bodyPr/>
          <a:lstStyle/>
          <a:p>
            <a:endParaRPr lang="en-US"/>
          </a:p>
        </p:txBody>
      </p:sp>
      <p:sp>
        <p:nvSpPr>
          <p:cNvPr id="14" name="ParentCC active band 12-12"/>
          <p:cNvSpPr/>
          <p:nvPr/>
        </p:nvSpPr>
        <p:spPr>
          <a:xfrm>
            <a:off x="585216" y="4433926"/>
            <a:ext cx="7479792" cy="280721"/>
          </a:xfrm>
          <a:prstGeom prst="rect">
            <a:avLst/>
          </a:prstGeom>
          <a:solidFill>
            <a:srgbClr val="FFF0DA"/>
          </a:solidFill>
          <a:ln>
            <a:noFill/>
          </a:ln>
        </p:spPr>
        <p:txBody>
          <a:bodyPr/>
          <a:lstStyle/>
          <a:p>
            <a:endParaRPr lang="en-US"/>
          </a:p>
        </p:txBody>
      </p:sp>
      <p:sp>
        <p:nvSpPr>
          <p:cNvPr id="15" name="ParentCC active bar 12-12"/>
          <p:cNvSpPr/>
          <p:nvPr/>
        </p:nvSpPr>
        <p:spPr>
          <a:xfrm>
            <a:off x="566928" y="4433926"/>
            <a:ext cx="50292" cy="280721"/>
          </a:xfrm>
          <a:prstGeom prst="rect">
            <a:avLst/>
          </a:prstGeom>
          <a:solidFill>
            <a:srgbClr val="C8501E"/>
          </a:solidFill>
          <a:ln>
            <a:noFill/>
          </a:ln>
        </p:spPr>
        <p:txBody>
          <a:bodyPr/>
          <a:lstStyle/>
          <a:p>
            <a:endParaRPr lang="en-US"/>
          </a:p>
        </p:txBody>
      </p:sp>
      <p:sp>
        <p:nvSpPr>
          <p:cNvPr id="16"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7"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8" name="ParentCC code line 2"/>
          <p:cNvSpPr txBox="1"/>
          <p:nvPr/>
        </p:nvSpPr>
        <p:spPr>
          <a:xfrm>
            <a:off x="658368" y="1869034"/>
            <a:ext cx="7333488" cy="257861"/>
          </a:xfrm>
          <a:prstGeom prst="rect">
            <a:avLst/>
          </a:prstGeom>
          <a:noFill/>
        </p:spPr>
        <p:txBody>
          <a:bodyPr wrap="none" lIns="0" tIns="0" rIns="0" bIns="0" anchor="ctr">
            <a:spAutoFit/>
          </a:bodyPr>
          <a:lstStyle/>
          <a:p>
            <a:r>
              <a:rPr sz="1150" b="1" i="0">
                <a:solidFill>
                  <a:srgbClr val="A64018"/>
                </a:solidFill>
                <a:latin typeface="Consolas"/>
              </a:rPr>
              <a:t>    Work ← terms of E</a:t>
            </a:r>
          </a:p>
        </p:txBody>
      </p:sp>
      <p:sp>
        <p:nvSpPr>
          <p:cNvPr id="19" name="ParentCC code line 3"/>
          <p:cNvSpPr txBox="1"/>
          <p:nvPr/>
        </p:nvSpPr>
        <p:spPr>
          <a:xfrm>
            <a:off x="658368" y="2126894"/>
            <a:ext cx="7333488" cy="257861"/>
          </a:xfrm>
          <a:prstGeom prst="rect">
            <a:avLst/>
          </a:prstGeom>
          <a:noFill/>
        </p:spPr>
        <p:txBody>
          <a:bodyPr wrap="none" lIns="0" tIns="0" rIns="0" bIns="0" anchor="ctr">
            <a:spAutoFit/>
          </a:bodyPr>
          <a:lstStyle/>
          <a:p>
            <a:r>
              <a:rPr sz="1150" b="1" i="0">
                <a:solidFill>
                  <a:srgbClr val="A64018"/>
                </a:solidFill>
                <a:latin typeface="Consolas"/>
              </a:rPr>
              <a:t>    while Work ≠ ∅:</a:t>
            </a:r>
          </a:p>
        </p:txBody>
      </p:sp>
      <p:sp>
        <p:nvSpPr>
          <p:cNvPr id="20"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21"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22"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23"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4"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5" name="ParentCC code line 9"/>
          <p:cNvSpPr txBox="1"/>
          <p:nvPr/>
        </p:nvSpPr>
        <p:spPr>
          <a:xfrm>
            <a:off x="658368" y="3674059"/>
            <a:ext cx="7333488" cy="257861"/>
          </a:xfrm>
          <a:prstGeom prst="rect">
            <a:avLst/>
          </a:prstGeom>
          <a:noFill/>
        </p:spPr>
        <p:txBody>
          <a:bodyPr wrap="none" lIns="0" tIns="0" rIns="0" bIns="0" anchor="ctr">
            <a:spAutoFit/>
          </a:bodyPr>
          <a:lstStyle/>
          <a:p>
            <a:r>
              <a:rPr sz="1150" b="1" i="0">
                <a:solidFill>
                  <a:srgbClr val="A64018"/>
                </a:solidFill>
                <a:latin typeface="Consolas"/>
              </a:rPr>
              <a:t>        Work ← ∅</a:t>
            </a:r>
          </a:p>
        </p:txBody>
      </p:sp>
      <p:sp>
        <p:nvSpPr>
          <p:cNvPr id="26"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7"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8" name="ParentCC code line 12"/>
          <p:cNvSpPr txBox="1"/>
          <p:nvPr/>
        </p:nvSpPr>
        <p:spPr>
          <a:xfrm>
            <a:off x="658368" y="4447642"/>
            <a:ext cx="7333488" cy="257861"/>
          </a:xfrm>
          <a:prstGeom prst="rect">
            <a:avLst/>
          </a:prstGeom>
          <a:noFill/>
        </p:spPr>
        <p:txBody>
          <a:bodyPr wrap="none" lIns="0" tIns="0" rIns="0" bIns="0" anchor="ctr">
            <a:spAutoFit/>
          </a:bodyPr>
          <a:lstStyle/>
          <a:p>
            <a:r>
              <a:rPr sz="1150" b="1" i="0">
                <a:solidFill>
                  <a:srgbClr val="A64018"/>
                </a:solidFill>
                <a:latin typeface="Consolas"/>
              </a:rPr>
              <a:t>            Work ← Work ∪ pre-merge roots of g</a:t>
            </a:r>
          </a:p>
        </p:txBody>
      </p:sp>
      <p:sp>
        <p:nvSpPr>
          <p:cNvPr id="29"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30"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31"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32"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33"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4" name="ParentCC completed veil 4-8"/>
          <p:cNvSpPr/>
          <p:nvPr/>
        </p:nvSpPr>
        <p:spPr>
          <a:xfrm>
            <a:off x="585216" y="2371039"/>
            <a:ext cx="7479792" cy="1312164"/>
          </a:xfrm>
          <a:prstGeom prst="rect">
            <a:avLst/>
          </a:prstGeom>
          <a:solidFill>
            <a:srgbClr val="D5D8DD">
              <a:alpha val="18000"/>
            </a:srgbClr>
          </a:solidFill>
          <a:ln>
            <a:noFill/>
          </a:ln>
        </p:spPr>
        <p:txBody>
          <a:bodyPr/>
          <a:lstStyle/>
          <a:p>
            <a:endParaRPr lang="en-US"/>
          </a:p>
        </p:txBody>
      </p:sp>
      <p:sp>
        <p:nvSpPr>
          <p:cNvPr id="35" name="ParentCC completed veil 10-11"/>
          <p:cNvSpPr/>
          <p:nvPr/>
        </p:nvSpPr>
        <p:spPr>
          <a:xfrm>
            <a:off x="585216" y="3918204"/>
            <a:ext cx="7479792" cy="538582"/>
          </a:xfrm>
          <a:prstGeom prst="rect">
            <a:avLst/>
          </a:prstGeom>
          <a:solidFill>
            <a:srgbClr val="D5D8DD">
              <a:alpha val="18000"/>
            </a:srgbClr>
          </a:solidFill>
          <a:ln>
            <a:noFill/>
          </a:ln>
        </p:spPr>
        <p:txBody>
          <a:bodyPr/>
          <a:lstStyle/>
          <a:p>
            <a:endParaRPr lang="en-US"/>
          </a:p>
        </p:txBody>
      </p:sp>
      <p:sp>
        <p:nvSpPr>
          <p:cNvPr id="36" name="ParentCC completed veil 14-17"/>
          <p:cNvSpPr/>
          <p:nvPr/>
        </p:nvSpPr>
        <p:spPr>
          <a:xfrm>
            <a:off x="585216" y="4949647"/>
            <a:ext cx="7479792" cy="1054303"/>
          </a:xfrm>
          <a:prstGeom prst="rect">
            <a:avLst/>
          </a:prstGeom>
          <a:solidFill>
            <a:srgbClr val="D5D8DD">
              <a:alpha val="18000"/>
            </a:srgbClr>
          </a:solidFill>
          <a:ln>
            <a:noFill/>
          </a:ln>
        </p:spPr>
        <p:txBody>
          <a:bodyPr/>
          <a:lstStyle/>
          <a:p>
            <a:endParaRPr lang="en-US"/>
          </a:p>
        </p:txBody>
      </p:sp>
      <p:sp>
        <p:nvSpPr>
          <p:cNvPr id="37" name="ParentCC irrelevant veil 0-1"/>
          <p:cNvSpPr/>
          <p:nvPr/>
        </p:nvSpPr>
        <p:spPr>
          <a:xfrm>
            <a:off x="585216" y="1339596"/>
            <a:ext cx="7479792" cy="538582"/>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62C98169-880E-AA0B-9982-0842D7E432B1}"/>
              </a:ext>
            </a:extLst>
          </p:cNvPr>
          <p:cNvSpPr txBox="1"/>
          <p:nvPr/>
        </p:nvSpPr>
        <p:spPr>
          <a:xfrm>
            <a:off x="8247888" y="1234440"/>
            <a:ext cx="3944112" cy="2271391"/>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p>
          <a:p>
            <a:pPr marL="457200" indent="-457200" algn="l">
              <a:buAutoNum type="arabicPeriod"/>
            </a:pPr>
            <a:r>
              <a:rPr lang="en-US" sz="2400" b="1" i="0" dirty="0">
                <a:solidFill>
                  <a:srgbClr val="C8501E"/>
                </a:solidFill>
                <a:latin typeface="Calibri"/>
              </a:rPr>
              <a:t>Merge congruent terms</a:t>
            </a:r>
          </a:p>
          <a:p>
            <a:pPr marL="457200" indent="-457200" algn="l">
              <a:buAutoNum type="arabicPeriod"/>
            </a:pPr>
            <a:r>
              <a:rPr lang="en-US" sz="2400" b="1" dirty="0">
                <a:solidFill>
                  <a:srgbClr val="C8501E"/>
                </a:solidFill>
                <a:latin typeface="Calibri"/>
              </a:rPr>
              <a:t>Repeat</a:t>
            </a:r>
            <a:r>
              <a:rPr lang="en-US" sz="2400" b="1" i="0" dirty="0">
                <a:solidFill>
                  <a:srgbClr val="C8501E"/>
                </a:solidFill>
                <a:latin typeface="Calibri"/>
              </a:rPr>
              <a:t> </a:t>
            </a:r>
          </a:p>
          <a:p>
            <a:pPr marL="457200" indent="-457200" algn="l">
              <a:buAutoNum type="arabicPeriod"/>
            </a:pPr>
            <a:endParaRPr sz="2400" b="1" i="0" dirty="0">
              <a:solidFill>
                <a:srgbClr val="C8501E"/>
              </a:solidFill>
              <a:latin typeface="Calibri"/>
            </a:endParaRPr>
          </a:p>
        </p:txBody>
      </p:sp>
      <p:sp>
        <p:nvSpPr>
          <p:cNvPr id="9" name="ParentCC irrelevant veil 0-1">
            <a:extLst>
              <a:ext uri="{FF2B5EF4-FFF2-40B4-BE49-F238E27FC236}">
                <a16:creationId xmlns:a16="http://schemas.microsoft.com/office/drawing/2014/main" id="{A153BC25-9920-3651-E177-CEA61470643E}"/>
              </a:ext>
            </a:extLst>
          </p:cNvPr>
          <p:cNvSpPr/>
          <p:nvPr/>
        </p:nvSpPr>
        <p:spPr>
          <a:xfrm>
            <a:off x="585216" y="2407614"/>
            <a:ext cx="7479792" cy="1243583"/>
          </a:xfrm>
          <a:prstGeom prst="rect">
            <a:avLst/>
          </a:prstGeom>
          <a:solidFill>
            <a:srgbClr val="D5D8DD">
              <a:alpha val="80000"/>
            </a:srgbClr>
          </a:solidFill>
          <a:ln>
            <a:noFill/>
          </a:ln>
        </p:spPr>
        <p:txBody>
          <a:bodyPr/>
          <a:lstStyle/>
          <a:p>
            <a:endParaRPr lang="en-US"/>
          </a:p>
        </p:txBody>
      </p:sp>
      <p:sp>
        <p:nvSpPr>
          <p:cNvPr id="43" name="ParentCC irrelevant veil 0-1">
            <a:extLst>
              <a:ext uri="{FF2B5EF4-FFF2-40B4-BE49-F238E27FC236}">
                <a16:creationId xmlns:a16="http://schemas.microsoft.com/office/drawing/2014/main" id="{7FD6568A-487B-041C-8CA6-EE1921BA506A}"/>
              </a:ext>
            </a:extLst>
          </p:cNvPr>
          <p:cNvSpPr/>
          <p:nvPr/>
        </p:nvSpPr>
        <p:spPr>
          <a:xfrm>
            <a:off x="585216" y="3950210"/>
            <a:ext cx="7479792" cy="474571"/>
          </a:xfrm>
          <a:prstGeom prst="rect">
            <a:avLst/>
          </a:prstGeom>
          <a:solidFill>
            <a:srgbClr val="D5D8DD">
              <a:alpha val="80000"/>
            </a:srgbClr>
          </a:solidFill>
          <a:ln>
            <a:noFill/>
          </a:ln>
        </p:spPr>
        <p:txBody>
          <a:bodyPr/>
          <a:lstStyle/>
          <a:p>
            <a:endParaRPr lang="en-US"/>
          </a:p>
        </p:txBody>
      </p:sp>
      <p:sp>
        <p:nvSpPr>
          <p:cNvPr id="44" name="ParentCC irrelevant veil 0-1">
            <a:extLst>
              <a:ext uri="{FF2B5EF4-FFF2-40B4-BE49-F238E27FC236}">
                <a16:creationId xmlns:a16="http://schemas.microsoft.com/office/drawing/2014/main" id="{6648BA35-41D4-44CF-DA24-3084E600BDC4}"/>
              </a:ext>
            </a:extLst>
          </p:cNvPr>
          <p:cNvSpPr/>
          <p:nvPr/>
        </p:nvSpPr>
        <p:spPr>
          <a:xfrm>
            <a:off x="585216" y="4723792"/>
            <a:ext cx="7479792" cy="1293873"/>
          </a:xfrm>
          <a:prstGeom prst="rect">
            <a:avLst/>
          </a:prstGeom>
          <a:solidFill>
            <a:srgbClr val="D5D8DD">
              <a:alpha val="80000"/>
            </a:srgbClr>
          </a:solidFill>
          <a:ln>
            <a:noFill/>
          </a:ln>
        </p:spPr>
        <p:txBody>
          <a:bodyPr/>
          <a:lstStyle/>
          <a:p>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43</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C9CDD3"/>
            </a:solidFill>
          </a:ln>
          <a:effectLst/>
        </p:spPr>
      </p:cxnSp>
      <p:cxnSp>
        <p:nvCxnSpPr>
          <p:cNvPr id="21" name="Connector 20"/>
          <p:cNvCxnSpPr/>
          <p:nvPr/>
        </p:nvCxnSpPr>
        <p:spPr>
          <a:xfrm>
            <a:off x="5564124" y="2203704"/>
            <a:ext cx="2194559" cy="749807"/>
          </a:xfrm>
          <a:prstGeom prst="line">
            <a:avLst/>
          </a:prstGeom>
          <a:ln w="15875">
            <a:solidFill>
              <a:srgbClr val="C9CDD3"/>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C9CDD3"/>
            </a:solidFill>
          </a:ln>
          <a:effectLst/>
        </p:spPr>
      </p:cxnSp>
      <p:cxnSp>
        <p:nvCxnSpPr>
          <p:cNvPr id="24" name="Connector 23"/>
          <p:cNvCxnSpPr/>
          <p:nvPr/>
        </p:nvCxnSpPr>
        <p:spPr>
          <a:xfrm>
            <a:off x="6890004" y="2203704"/>
            <a:ext cx="1965959" cy="749807"/>
          </a:xfrm>
          <a:prstGeom prst="line">
            <a:avLst/>
          </a:prstGeom>
          <a:ln w="15875">
            <a:solidFill>
              <a:srgbClr val="C9CDD3"/>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C9CDD3"/>
                </a:solidFill>
                <a:latin typeface="Calibri"/>
              </a:rPr>
              <a:t>m₂</a:t>
            </a:r>
          </a:p>
        </p:txBody>
      </p:sp>
      <p:sp>
        <p:nvSpPr>
          <p:cNvPr id="47" name="TextBox 46"/>
          <p:cNvSpPr txBox="1"/>
          <p:nvPr/>
        </p:nvSpPr>
        <p:spPr>
          <a:xfrm>
            <a:off x="2775203"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2" name="Rounded Rectangle 51"/>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3" name="TextBox 52"/>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4" name="TextBox 53"/>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union input equalities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Rounded Rectangle 46"/>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48" name="TextBox 47"/>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49" name="Rounded Rectangle 48"/>
          <p:cNvSpPr/>
          <p:nvPr/>
        </p:nvSpPr>
        <p:spPr>
          <a:xfrm>
            <a:off x="502920" y="2066543"/>
            <a:ext cx="329184" cy="219456"/>
          </a:xfrm>
          <a:prstGeom prst="roundRect">
            <a:avLst>
              <a:gd name="adj" fmla="val 15000"/>
            </a:avLst>
          </a:prstGeom>
          <a:solidFill>
            <a:srgbClr val="FFF3CC"/>
          </a:solidFill>
          <a:ln w="25400">
            <a:solidFill>
              <a:srgbClr val="E0A300"/>
            </a:solidFill>
          </a:ln>
          <a:effectLst/>
        </p:spPr>
        <p:txBody>
          <a:bodyPr wrap="square" lIns="54864" tIns="27432" rIns="54864" bIns="27432" rtlCol="0" anchor="ctr"/>
          <a:lstStyle/>
          <a:p>
            <a:pPr algn="ctr"/>
            <a:endParaRPr/>
          </a:p>
        </p:txBody>
      </p:sp>
      <p:sp>
        <p:nvSpPr>
          <p:cNvPr id="50" name="TextBox 49"/>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candidate</a:t>
            </a:r>
          </a:p>
        </p:txBody>
      </p:sp>
      <p:sp>
        <p:nvSpPr>
          <p:cNvPr id="51" name="TextBox 50"/>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candidates: all terms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Rounded Rectangle 46"/>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48" name="TextBox 47"/>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49" name="Rounded Rectangle 48"/>
          <p:cNvSpPr/>
          <p:nvPr/>
        </p:nvSpPr>
        <p:spPr>
          <a:xfrm>
            <a:off x="502920" y="2066543"/>
            <a:ext cx="146304" cy="219456"/>
          </a:xfrm>
          <a:prstGeom prst="roundRect">
            <a:avLst>
              <a:gd name="adj" fmla="val 30000"/>
            </a:avLst>
          </a:prstGeom>
          <a:solidFill>
            <a:srgbClr val="DCEAF8"/>
          </a:solidFill>
          <a:ln w="19050">
            <a:solidFill>
              <a:srgbClr val="2E6FB0"/>
            </a:solidFill>
          </a:ln>
          <a:effectLst/>
        </p:spPr>
        <p:txBody>
          <a:bodyPr wrap="square" lIns="54864" tIns="27432" rIns="54864" bIns="27432" rtlCol="0" anchor="ctr"/>
          <a:lstStyle/>
          <a:p>
            <a:pPr algn="ctr"/>
            <a:endParaRPr/>
          </a:p>
        </p:txBody>
      </p:sp>
      <p:sp>
        <p:nvSpPr>
          <p:cNvPr id="50" name="Rounded Rectangle 49"/>
          <p:cNvSpPr/>
          <p:nvPr/>
        </p:nvSpPr>
        <p:spPr>
          <a:xfrm>
            <a:off x="685800" y="2066543"/>
            <a:ext cx="146304" cy="219456"/>
          </a:xfrm>
          <a:prstGeom prst="roundRect">
            <a:avLst>
              <a:gd name="adj" fmla="val 30000"/>
            </a:avLst>
          </a:prstGeom>
          <a:solidFill>
            <a:srgbClr val="DDF1E2"/>
          </a:solidFill>
          <a:ln w="19050">
            <a:solidFill>
              <a:srgbClr val="3A9A5B"/>
            </a:solidFill>
          </a:ln>
          <a:effectLst/>
        </p:spPr>
        <p:txBody>
          <a:bodyPr wrap="square" lIns="54864" tIns="27432" rIns="54864" bIns="27432" rtlCol="0" anchor="ctr"/>
          <a:lstStyle/>
          <a:p>
            <a:pPr algn="ctr"/>
            <a:endParaRPr/>
          </a:p>
        </p:txBody>
      </p:sp>
      <p:sp>
        <p:nvSpPr>
          <p:cNvPr id="51" name="TextBox 50"/>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same signature</a:t>
            </a:r>
          </a:p>
        </p:txBody>
      </p:sp>
      <p:sp>
        <p:nvSpPr>
          <p:cNvPr id="52" name="TextBox 51"/>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group by signature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Rounded Rectangle 48"/>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0" name="TextBox 49"/>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1" name="TextBox 50"/>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merge groups</a:t>
            </a:r>
          </a:p>
        </p:txBody>
      </p:sp>
      <p:sp>
        <p:nvSpPr>
          <p:cNvPr id="52" name="TextBox 51"/>
          <p:cNvSpPr txBox="1"/>
          <p:nvPr/>
        </p:nvSpPr>
        <p:spPr>
          <a:xfrm>
            <a:off x="350672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p:cNvSpPr txBox="1"/>
          <p:nvPr/>
        </p:nvSpPr>
        <p:spPr>
          <a:xfrm>
            <a:off x="794156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C9CDD3"/>
            </a:solidFill>
          </a:ln>
          <a:effectLst/>
        </p:spPr>
      </p:cxnSp>
      <p:cxnSp>
        <p:nvCxnSpPr>
          <p:cNvPr id="23" name="Connector 22"/>
          <p:cNvCxnSpPr/>
          <p:nvPr/>
        </p:nvCxnSpPr>
        <p:spPr>
          <a:xfrm>
            <a:off x="5564124" y="2203704"/>
            <a:ext cx="2194559" cy="749807"/>
          </a:xfrm>
          <a:prstGeom prst="line">
            <a:avLst/>
          </a:prstGeom>
          <a:ln w="15875">
            <a:solidFill>
              <a:srgbClr val="C9CDD3"/>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C9CDD3"/>
            </a:solidFill>
          </a:ln>
          <a:effectLst/>
        </p:spPr>
      </p:cxnSp>
      <p:cxnSp>
        <p:nvCxnSpPr>
          <p:cNvPr id="26" name="Connector 25"/>
          <p:cNvCxnSpPr/>
          <p:nvPr/>
        </p:nvCxnSpPr>
        <p:spPr>
          <a:xfrm>
            <a:off x="6890004" y="2203704"/>
            <a:ext cx="1965959" cy="749807"/>
          </a:xfrm>
          <a:prstGeom prst="line">
            <a:avLst/>
          </a:prstGeom>
          <a:ln w="15875">
            <a:solidFill>
              <a:srgbClr val="C9CDD3"/>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Rounded Rectangle 48"/>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0" name="TextBox 49"/>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1" name="Rounded Rectangle 50"/>
          <p:cNvSpPr/>
          <p:nvPr/>
        </p:nvSpPr>
        <p:spPr>
          <a:xfrm>
            <a:off x="502920" y="2066543"/>
            <a:ext cx="329184" cy="219456"/>
          </a:xfrm>
          <a:prstGeom prst="roundRect">
            <a:avLst>
              <a:gd name="adj" fmla="val 15000"/>
            </a:avLst>
          </a:prstGeom>
          <a:solidFill>
            <a:srgbClr val="FFF3CC"/>
          </a:solidFill>
          <a:ln w="25400">
            <a:solidFill>
              <a:srgbClr val="E0A300"/>
            </a:solidFill>
          </a:ln>
          <a:effectLst/>
        </p:spPr>
        <p:txBody>
          <a:bodyPr wrap="square" lIns="54864" tIns="27432" rIns="54864" bIns="27432" rtlCol="0" anchor="ctr"/>
          <a:lstStyle/>
          <a:p>
            <a:pPr algn="ctr"/>
            <a:endParaRPr/>
          </a:p>
        </p:txBody>
      </p:sp>
      <p:sp>
        <p:nvSpPr>
          <p:cNvPr id="52" name="TextBox 51"/>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candidate</a:t>
            </a:r>
          </a:p>
        </p:txBody>
      </p:sp>
      <p:sp>
        <p:nvSpPr>
          <p:cNvPr id="53" name="TextBox 52"/>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candidates: parents of merged</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48</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C9CDD3"/>
            </a:solidFill>
          </a:ln>
          <a:effectLst/>
        </p:spPr>
      </p:cxnSp>
      <p:cxnSp>
        <p:nvCxnSpPr>
          <p:cNvPr id="15" name="Connector 14"/>
          <p:cNvCxnSpPr/>
          <p:nvPr/>
        </p:nvCxnSpPr>
        <p:spPr>
          <a:xfrm>
            <a:off x="3323844" y="3803903"/>
            <a:ext cx="960120" cy="1106425"/>
          </a:xfrm>
          <a:prstGeom prst="line">
            <a:avLst/>
          </a:prstGeom>
          <a:ln w="15875">
            <a:solidFill>
              <a:srgbClr val="C9CDD3"/>
            </a:solidFill>
          </a:ln>
          <a:effectLst/>
        </p:spPr>
      </p:cxnSp>
      <p:cxnSp>
        <p:nvCxnSpPr>
          <p:cNvPr id="16" name="Connector 15"/>
          <p:cNvCxnSpPr/>
          <p:nvPr/>
        </p:nvCxnSpPr>
        <p:spPr>
          <a:xfrm flipH="1">
            <a:off x="3406139" y="3803903"/>
            <a:ext cx="1014985" cy="1106425"/>
          </a:xfrm>
          <a:prstGeom prst="line">
            <a:avLst/>
          </a:prstGeom>
          <a:ln w="15875">
            <a:solidFill>
              <a:srgbClr val="C9CDD3"/>
            </a:solidFill>
          </a:ln>
          <a:effectLst/>
        </p:spPr>
      </p:cxnSp>
      <p:cxnSp>
        <p:nvCxnSpPr>
          <p:cNvPr id="17" name="Connector 16"/>
          <p:cNvCxnSpPr/>
          <p:nvPr/>
        </p:nvCxnSpPr>
        <p:spPr>
          <a:xfrm>
            <a:off x="4421124" y="3803903"/>
            <a:ext cx="484632" cy="1106425"/>
          </a:xfrm>
          <a:prstGeom prst="line">
            <a:avLst/>
          </a:prstGeom>
          <a:ln w="15875">
            <a:solidFill>
              <a:srgbClr val="C9CDD3"/>
            </a:solidFill>
          </a:ln>
          <a:effectLst/>
        </p:spPr>
      </p:cxnSp>
      <p:cxnSp>
        <p:nvCxnSpPr>
          <p:cNvPr id="18" name="Connector 17"/>
          <p:cNvCxnSpPr/>
          <p:nvPr/>
        </p:nvCxnSpPr>
        <p:spPr>
          <a:xfrm flipH="1">
            <a:off x="7283196" y="3803903"/>
            <a:ext cx="475487" cy="1106425"/>
          </a:xfrm>
          <a:prstGeom prst="line">
            <a:avLst/>
          </a:prstGeom>
          <a:ln w="15875">
            <a:solidFill>
              <a:srgbClr val="C9CDD3"/>
            </a:solidFill>
          </a:ln>
          <a:effectLst/>
        </p:spPr>
      </p:cxnSp>
      <p:cxnSp>
        <p:nvCxnSpPr>
          <p:cNvPr id="19" name="Connector 18"/>
          <p:cNvCxnSpPr/>
          <p:nvPr/>
        </p:nvCxnSpPr>
        <p:spPr>
          <a:xfrm>
            <a:off x="7758683" y="3803903"/>
            <a:ext cx="1024129" cy="1106425"/>
          </a:xfrm>
          <a:prstGeom prst="line">
            <a:avLst/>
          </a:prstGeom>
          <a:ln w="15875">
            <a:solidFill>
              <a:srgbClr val="C9CDD3"/>
            </a:solidFill>
          </a:ln>
          <a:effectLst/>
        </p:spPr>
      </p:cxnSp>
      <p:cxnSp>
        <p:nvCxnSpPr>
          <p:cNvPr id="20" name="Connector 19"/>
          <p:cNvCxnSpPr/>
          <p:nvPr/>
        </p:nvCxnSpPr>
        <p:spPr>
          <a:xfrm flipH="1">
            <a:off x="7904988" y="3803903"/>
            <a:ext cx="950975" cy="1106425"/>
          </a:xfrm>
          <a:prstGeom prst="line">
            <a:avLst/>
          </a:prstGeom>
          <a:ln w="15875">
            <a:solidFill>
              <a:srgbClr val="C9CDD3"/>
            </a:solidFill>
          </a:ln>
          <a:effectLst/>
        </p:spPr>
      </p:cxnSp>
      <p:cxnSp>
        <p:nvCxnSpPr>
          <p:cNvPr id="21" name="Connector 20"/>
          <p:cNvCxnSpPr/>
          <p:nvPr/>
        </p:nvCxnSpPr>
        <p:spPr>
          <a:xfrm>
            <a:off x="8855963" y="3803903"/>
            <a:ext cx="548641" cy="1106425"/>
          </a:xfrm>
          <a:prstGeom prst="line">
            <a:avLst/>
          </a:prstGeom>
          <a:ln w="15875">
            <a:solidFill>
              <a:srgbClr val="C9CDD3"/>
            </a:solidFill>
          </a:ln>
          <a:effectLst/>
        </p:spPr>
      </p:cxnSp>
      <p:cxnSp>
        <p:nvCxnSpPr>
          <p:cNvPr id="22" name="Connector 21"/>
          <p:cNvCxnSpPr/>
          <p:nvPr/>
        </p:nvCxnSpPr>
        <p:spPr>
          <a:xfrm>
            <a:off x="5564124" y="2203704"/>
            <a:ext cx="219455" cy="2706624"/>
          </a:xfrm>
          <a:prstGeom prst="line">
            <a:avLst/>
          </a:prstGeom>
          <a:ln w="15875">
            <a:solidFill>
              <a:srgbClr val="C9CDD3"/>
            </a:solidFill>
          </a:ln>
          <a:effectLst/>
        </p:spPr>
      </p:cxnSp>
      <p:cxnSp>
        <p:nvCxnSpPr>
          <p:cNvPr id="23" name="Connector 22"/>
          <p:cNvCxnSpPr/>
          <p:nvPr/>
        </p:nvCxnSpPr>
        <p:spPr>
          <a:xfrm flipH="1">
            <a:off x="3323844" y="2203704"/>
            <a:ext cx="2240280" cy="749807"/>
          </a:xfrm>
          <a:prstGeom prst="line">
            <a:avLst/>
          </a:prstGeom>
          <a:ln w="15875">
            <a:solidFill>
              <a:srgbClr val="C9CDD3"/>
            </a:solidFill>
          </a:ln>
          <a:effectLst/>
        </p:spPr>
      </p:cxnSp>
      <p:cxnSp>
        <p:nvCxnSpPr>
          <p:cNvPr id="24" name="Connector 23"/>
          <p:cNvCxnSpPr/>
          <p:nvPr/>
        </p:nvCxnSpPr>
        <p:spPr>
          <a:xfrm>
            <a:off x="5564124" y="2203704"/>
            <a:ext cx="2194559" cy="749807"/>
          </a:xfrm>
          <a:prstGeom prst="line">
            <a:avLst/>
          </a:prstGeom>
          <a:ln w="15875">
            <a:solidFill>
              <a:srgbClr val="C9CDD3"/>
            </a:solidFill>
          </a:ln>
          <a:effectLst/>
        </p:spPr>
      </p:cxnSp>
      <p:cxnSp>
        <p:nvCxnSpPr>
          <p:cNvPr id="25" name="Connector 24"/>
          <p:cNvCxnSpPr/>
          <p:nvPr/>
        </p:nvCxnSpPr>
        <p:spPr>
          <a:xfrm flipH="1">
            <a:off x="6405372" y="2203704"/>
            <a:ext cx="484632" cy="2706624"/>
          </a:xfrm>
          <a:prstGeom prst="line">
            <a:avLst/>
          </a:prstGeom>
          <a:ln w="15875">
            <a:solidFill>
              <a:srgbClr val="C9CDD3"/>
            </a:solidFill>
          </a:ln>
          <a:effectLst/>
        </p:spPr>
      </p:cxnSp>
      <p:cxnSp>
        <p:nvCxnSpPr>
          <p:cNvPr id="26" name="Connector 25"/>
          <p:cNvCxnSpPr/>
          <p:nvPr/>
        </p:nvCxnSpPr>
        <p:spPr>
          <a:xfrm flipH="1">
            <a:off x="4421124" y="2203704"/>
            <a:ext cx="2468880" cy="749807"/>
          </a:xfrm>
          <a:prstGeom prst="line">
            <a:avLst/>
          </a:prstGeom>
          <a:ln w="15875">
            <a:solidFill>
              <a:srgbClr val="C9CDD3"/>
            </a:solidFill>
          </a:ln>
          <a:effectLst/>
        </p:spPr>
      </p:cxnSp>
      <p:cxnSp>
        <p:nvCxnSpPr>
          <p:cNvPr id="27" name="Connector 26"/>
          <p:cNvCxnSpPr/>
          <p:nvPr/>
        </p:nvCxnSpPr>
        <p:spPr>
          <a:xfrm>
            <a:off x="6890004" y="2203704"/>
            <a:ext cx="1965959" cy="749807"/>
          </a:xfrm>
          <a:prstGeom prst="line">
            <a:avLst/>
          </a:prstGeom>
          <a:ln w="15875">
            <a:solidFill>
              <a:srgbClr val="C9CDD3"/>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1" name="TextBox 50"/>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2" name="TextBox 51"/>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group, merge</a:t>
            </a:r>
          </a:p>
        </p:txBody>
      </p:sp>
      <p:sp>
        <p:nvSpPr>
          <p:cNvPr id="53" name="TextBox 52"/>
          <p:cNvSpPr txBox="1"/>
          <p:nvPr/>
        </p:nvSpPr>
        <p:spPr>
          <a:xfrm>
            <a:off x="5861304" y="16459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done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49</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7" name="TextBox 56"/>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8" name="Rounded Rectangle 57"/>
          <p:cNvSpPr/>
          <p:nvPr/>
        </p:nvSpPr>
        <p:spPr>
          <a:xfrm>
            <a:off x="502920" y="2066543"/>
            <a:ext cx="329184" cy="219456"/>
          </a:xfrm>
          <a:prstGeom prst="roundRect">
            <a:avLst>
              <a:gd name="adj" fmla="val 1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9" name="TextBox 58"/>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round</a:t>
            </a:r>
          </a:p>
        </p:txBody>
      </p:sp>
      <p:sp>
        <p:nvSpPr>
          <p:cNvPr id="60" name="TextBox 59"/>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no candidates: stop</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50</a:t>
            </a:r>
          </a:p>
        </p:txBody>
      </p:sp>
      <p:sp>
        <p:nvSpPr>
          <p:cNvPr id="5" name="Correctness Build 1"/>
          <p:cNvSpPr txBox="1"/>
          <p:nvPr/>
        </p:nvSpPr>
        <p:spPr>
          <a:xfrm>
            <a:off x="868680" y="1554480"/>
            <a:ext cx="10287000" cy="338554"/>
          </a:xfrm>
          <a:prstGeom prst="rect">
            <a:avLst/>
          </a:prstGeom>
          <a:noFill/>
        </p:spPr>
        <p:txBody>
          <a:bodyPr wrap="square" lIns="0" tIns="0" rIns="0" bIns="0" anchor="t">
            <a:spAutoFit/>
          </a:bodyPr>
          <a:lstStyle/>
          <a:p>
            <a:pPr algn="l">
              <a:spcAft>
                <a:spcPts val="1900"/>
              </a:spcAft>
            </a:pPr>
            <a:r>
              <a:rPr sz="2200" b="1" i="0" dirty="0">
                <a:solidFill>
                  <a:srgbClr val="C8501E"/>
                </a:solidFill>
                <a:latin typeface="Calibri"/>
              </a:rPr>
              <a:t>•  </a:t>
            </a:r>
            <a:r>
              <a:rPr sz="2200" b="1" i="0" dirty="0">
                <a:solidFill>
                  <a:srgbClr val="1F2A44"/>
                </a:solidFill>
                <a:latin typeface="Calibri"/>
              </a:rPr>
              <a:t>Soundness</a:t>
            </a:r>
            <a:r>
              <a:rPr sz="1900" b="0" i="0" dirty="0">
                <a:solidFill>
                  <a:srgbClr val="2B2F36"/>
                </a:solidFill>
                <a:latin typeface="Calibri"/>
              </a:rPr>
              <a:t> — Every merge is</a:t>
            </a:r>
            <a:r>
              <a:rPr lang="en-US" sz="1900" b="0" i="0" dirty="0">
                <a:solidFill>
                  <a:srgbClr val="2B2F36"/>
                </a:solidFill>
                <a:latin typeface="Calibri"/>
              </a:rPr>
              <a:t> between two congruen</a:t>
            </a:r>
            <a:r>
              <a:rPr lang="en-US" sz="1900" dirty="0">
                <a:solidFill>
                  <a:srgbClr val="2B2F36"/>
                </a:solidFill>
                <a:latin typeface="Calibri"/>
              </a:rPr>
              <a:t>t terms</a:t>
            </a:r>
            <a:endParaRPr sz="1900" b="0" i="0" dirty="0">
              <a:solidFill>
                <a:srgbClr val="2B2F36"/>
              </a:solidFill>
              <a:latin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51</a:t>
            </a:r>
          </a:p>
        </p:txBody>
      </p:sp>
      <p:sp>
        <p:nvSpPr>
          <p:cNvPr id="5" name="Correctness Build 2"/>
          <p:cNvSpPr txBox="1"/>
          <p:nvPr/>
        </p:nvSpPr>
        <p:spPr>
          <a:xfrm>
            <a:off x="868680" y="1554480"/>
            <a:ext cx="10287000" cy="920765"/>
          </a:xfrm>
          <a:prstGeom prst="rect">
            <a:avLst/>
          </a:prstGeom>
          <a:noFill/>
        </p:spPr>
        <p:txBody>
          <a:bodyPr wrap="square" lIns="0" tIns="0" rIns="0" bIns="0" anchor="t">
            <a:spAutoFit/>
          </a:bodyPr>
          <a:lstStyle/>
          <a:p>
            <a:pPr>
              <a:spcAft>
                <a:spcPts val="1900"/>
              </a:spcAft>
            </a:pPr>
            <a:r>
              <a:rPr sz="2200" b="1" i="0" dirty="0">
                <a:solidFill>
                  <a:schemeClr val="bg1">
                    <a:lumMod val="65000"/>
                  </a:schemeClr>
                </a:solidFill>
                <a:latin typeface="Calibri"/>
              </a:rPr>
              <a:t>•  Soundness</a:t>
            </a:r>
            <a:r>
              <a:rPr sz="1900" b="0" i="0" dirty="0">
                <a:solidFill>
                  <a:schemeClr val="bg1">
                    <a:lumMod val="65000"/>
                  </a:schemeClr>
                </a:solidFill>
                <a:latin typeface="Calibri"/>
              </a:rPr>
              <a:t> — </a:t>
            </a:r>
            <a:r>
              <a:rPr lang="en-US" sz="1900" dirty="0">
                <a:solidFill>
                  <a:schemeClr val="bg1">
                    <a:lumMod val="65000"/>
                  </a:schemeClr>
                </a:solidFill>
              </a:rPr>
              <a:t>Every merge is between two congruent terms</a:t>
            </a:r>
            <a:r>
              <a:rPr sz="1900" b="0" i="0" dirty="0">
                <a:solidFill>
                  <a:schemeClr val="bg1">
                    <a:lumMod val="65000"/>
                  </a:schemeClr>
                </a:solidFill>
                <a:latin typeface="Calibri"/>
              </a:rPr>
              <a:t>.</a:t>
            </a:r>
          </a:p>
          <a:p>
            <a:pPr algn="l">
              <a:spcAft>
                <a:spcPts val="1900"/>
              </a:spcAft>
            </a:pPr>
            <a:r>
              <a:rPr sz="2200" b="1" i="0" dirty="0">
                <a:solidFill>
                  <a:srgbClr val="C8501E"/>
                </a:solidFill>
                <a:latin typeface="Calibri"/>
              </a:rPr>
              <a:t>•  </a:t>
            </a:r>
            <a:r>
              <a:rPr sz="2200" b="1" i="0" dirty="0">
                <a:solidFill>
                  <a:srgbClr val="1F2A44"/>
                </a:solidFill>
                <a:latin typeface="Calibri"/>
              </a:rPr>
              <a:t>Completeness</a:t>
            </a:r>
            <a:r>
              <a:rPr sz="1900" b="0" i="0" dirty="0">
                <a:solidFill>
                  <a:srgbClr val="2B2F36"/>
                </a:solidFill>
                <a:latin typeface="Calibri"/>
              </a:rPr>
              <a:t> — Every newly congruent pair becomes a candidate in the next round</a:t>
            </a:r>
            <a:r>
              <a:rPr lang="en-US" sz="1900" b="0" i="0" dirty="0">
                <a:solidFill>
                  <a:srgbClr val="2B2F36"/>
                </a:solidFill>
                <a:latin typeface="Calibri"/>
              </a:rPr>
              <a:t>.</a:t>
            </a:r>
            <a:endParaRPr sz="1900" b="0" i="0" dirty="0">
              <a:solidFill>
                <a:srgbClr val="2B2F36"/>
              </a:solidFill>
              <a:latin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52</a:t>
            </a:r>
          </a:p>
        </p:txBody>
      </p:sp>
      <p:sp>
        <p:nvSpPr>
          <p:cNvPr id="5" name="Correctness Build 3"/>
          <p:cNvSpPr txBox="1"/>
          <p:nvPr/>
        </p:nvSpPr>
        <p:spPr>
          <a:xfrm>
            <a:off x="868680" y="1554480"/>
            <a:ext cx="10287000" cy="1502976"/>
          </a:xfrm>
          <a:prstGeom prst="rect">
            <a:avLst/>
          </a:prstGeom>
          <a:noFill/>
        </p:spPr>
        <p:txBody>
          <a:bodyPr wrap="square" lIns="0" tIns="0" rIns="0" bIns="0" anchor="t">
            <a:spAutoFit/>
          </a:bodyPr>
          <a:lstStyle/>
          <a:p>
            <a:pPr>
              <a:spcAft>
                <a:spcPts val="1900"/>
              </a:spcAft>
            </a:pPr>
            <a:r>
              <a:rPr sz="2200" b="1" i="0" dirty="0">
                <a:solidFill>
                  <a:srgbClr val="C9CDD3"/>
                </a:solidFill>
                <a:latin typeface="Calibri"/>
              </a:rPr>
              <a:t>•  </a:t>
            </a:r>
            <a:r>
              <a:rPr sz="2200" b="1" i="0" dirty="0">
                <a:solidFill>
                  <a:srgbClr val="7D838C"/>
                </a:solidFill>
                <a:latin typeface="Calibri"/>
              </a:rPr>
              <a:t>Soundness</a:t>
            </a:r>
            <a:r>
              <a:rPr sz="1900" b="0" i="0" dirty="0">
                <a:solidFill>
                  <a:srgbClr val="8A8F98"/>
                </a:solidFill>
                <a:latin typeface="Calibri"/>
              </a:rPr>
              <a:t> — </a:t>
            </a:r>
            <a:r>
              <a:rPr lang="en-US" sz="1900" dirty="0">
                <a:solidFill>
                  <a:schemeClr val="bg1">
                    <a:lumMod val="65000"/>
                  </a:schemeClr>
                </a:solidFill>
              </a:rPr>
              <a:t>Every merge is between two congruent terms.</a:t>
            </a:r>
          </a:p>
          <a:p>
            <a:pPr algn="l">
              <a:spcAft>
                <a:spcPts val="1900"/>
              </a:spcAft>
            </a:pPr>
            <a:r>
              <a:rPr sz="2200" b="1" i="0" dirty="0">
                <a:solidFill>
                  <a:srgbClr val="C9CDD3"/>
                </a:solidFill>
                <a:latin typeface="Calibri"/>
              </a:rPr>
              <a:t>•  </a:t>
            </a:r>
            <a:r>
              <a:rPr sz="2200" b="1" i="0" dirty="0">
                <a:solidFill>
                  <a:srgbClr val="7D838C"/>
                </a:solidFill>
                <a:latin typeface="Calibri"/>
              </a:rPr>
              <a:t>Completeness</a:t>
            </a:r>
            <a:r>
              <a:rPr sz="1900" b="0" i="0" dirty="0">
                <a:solidFill>
                  <a:srgbClr val="8A8F98"/>
                </a:solidFill>
                <a:latin typeface="Calibri"/>
              </a:rPr>
              <a:t> — Every newly congruent pair becomes a candidate in the next round.</a:t>
            </a:r>
          </a:p>
          <a:p>
            <a:pPr algn="l">
              <a:spcAft>
                <a:spcPts val="1900"/>
              </a:spcAft>
            </a:pPr>
            <a:r>
              <a:rPr sz="2200" b="1" i="0" dirty="0">
                <a:solidFill>
                  <a:srgbClr val="C8501E"/>
                </a:solidFill>
                <a:latin typeface="Calibri"/>
              </a:rPr>
              <a:t>•  </a:t>
            </a:r>
            <a:r>
              <a:rPr sz="2200" b="1" i="0" dirty="0">
                <a:solidFill>
                  <a:srgbClr val="1F2A44"/>
                </a:solidFill>
                <a:latin typeface="Calibri"/>
              </a:rPr>
              <a:t>Termination</a:t>
            </a:r>
            <a:r>
              <a:rPr sz="1900" b="0" i="0" dirty="0">
                <a:solidFill>
                  <a:srgbClr val="2B2F36"/>
                </a:solidFill>
                <a:latin typeface="Calibri"/>
              </a:rPr>
              <a:t> — Every round strictly reduces the number of </a:t>
            </a:r>
            <a:r>
              <a:rPr lang="en-US" sz="1900" b="0" i="0" dirty="0">
                <a:solidFill>
                  <a:srgbClr val="2B2F36"/>
                </a:solidFill>
                <a:latin typeface="Calibri"/>
              </a:rPr>
              <a:t>equality-</a:t>
            </a:r>
            <a:r>
              <a:rPr sz="1900" b="0" i="0" dirty="0">
                <a:solidFill>
                  <a:srgbClr val="2B2F36"/>
                </a:solidFill>
                <a:latin typeface="Calibri"/>
              </a:rPr>
              <a:t>classes.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EA8514-2C91-6ADF-2276-44E2CDC439D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C0DE6D-0FD4-DD01-AEFB-4869A38CB9D3}"/>
              </a:ext>
            </a:extLst>
          </p:cNvPr>
          <p:cNvSpPr txBox="1"/>
          <p:nvPr/>
        </p:nvSpPr>
        <p:spPr>
          <a:xfrm>
            <a:off x="518160" y="402336"/>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FilterCC on the example</a:t>
            </a:r>
          </a:p>
        </p:txBody>
      </p:sp>
      <p:cxnSp>
        <p:nvCxnSpPr>
          <p:cNvPr id="3" name="Connector 2">
            <a:extLst>
              <a:ext uri="{FF2B5EF4-FFF2-40B4-BE49-F238E27FC236}">
                <a16:creationId xmlns:a16="http://schemas.microsoft.com/office/drawing/2014/main" id="{0B60A96E-EE08-2418-90EB-B3748FA580A6}"/>
              </a:ext>
            </a:extLst>
          </p:cNvPr>
          <p:cNvCxnSpPr/>
          <p:nvPr/>
        </p:nvCxnSpPr>
        <p:spPr>
          <a:xfrm>
            <a:off x="566928" y="1024128"/>
            <a:ext cx="2176272" cy="0"/>
          </a:xfrm>
          <a:prstGeom prst="line">
            <a:avLst/>
          </a:prstGeom>
          <a:ln w="31750">
            <a:solidFill>
              <a:srgbClr val="C8501E"/>
            </a:solidFill>
          </a:ln>
          <a:effectLst/>
        </p:spPr>
      </p:cxnSp>
      <p:sp>
        <p:nvSpPr>
          <p:cNvPr id="4" name="TextBox 3">
            <a:extLst>
              <a:ext uri="{FF2B5EF4-FFF2-40B4-BE49-F238E27FC236}">
                <a16:creationId xmlns:a16="http://schemas.microsoft.com/office/drawing/2014/main" id="{CA6B403D-1F03-F60C-C76F-F3ADF4589009}"/>
              </a:ext>
            </a:extLst>
          </p:cNvPr>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53</a:t>
            </a:r>
          </a:p>
        </p:txBody>
      </p:sp>
      <p:sp>
        <p:nvSpPr>
          <p:cNvPr id="60" name="FilterCC persistent bullets">
            <a:extLst>
              <a:ext uri="{FF2B5EF4-FFF2-40B4-BE49-F238E27FC236}">
                <a16:creationId xmlns:a16="http://schemas.microsoft.com/office/drawing/2014/main" id="{7FB11228-3761-D6A4-AD1B-CA1D19931CD0}"/>
              </a:ext>
            </a:extLst>
          </p:cNvPr>
          <p:cNvSpPr txBox="1"/>
          <p:nvPr/>
        </p:nvSpPr>
        <p:spPr>
          <a:xfrm>
            <a:off x="48691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i="0" dirty="0">
                <a:solidFill>
                  <a:schemeClr val="tx1">
                    <a:lumMod val="75000"/>
                    <a:lumOff val="25000"/>
                  </a:schemeClr>
                </a:solidFill>
                <a:latin typeface="Calibri"/>
              </a:rPr>
              <a:t>one dirty bit per class</a:t>
            </a:r>
          </a:p>
          <a:p>
            <a:pPr marL="274320" indent="-237744">
              <a:spcBef>
                <a:spcPts val="1000"/>
              </a:spcBef>
              <a:buClr>
                <a:srgbClr val="6B717A"/>
              </a:buClr>
              <a:buChar char="•"/>
            </a:pPr>
            <a:r>
              <a:rPr lang="en-US" sz="2800" b="0" i="0" dirty="0">
                <a:solidFill>
                  <a:srgbClr val="2B2F36"/>
                </a:solidFill>
                <a:latin typeface="Calibri"/>
              </a:rPr>
              <a:t>a merge marks its classes dirty</a:t>
            </a:r>
          </a:p>
          <a:p>
            <a:pPr marL="274320" indent="-237744">
              <a:spcBef>
                <a:spcPts val="1000"/>
              </a:spcBef>
              <a:buClr>
                <a:srgbClr val="6B717A"/>
              </a:buClr>
              <a:buChar char="•"/>
            </a:pPr>
            <a:r>
              <a:rPr lang="en-US" sz="2800" b="0" i="0" dirty="0">
                <a:solidFill>
                  <a:srgbClr val="2B2F36"/>
                </a:solidFill>
                <a:latin typeface="Calibri"/>
              </a:rPr>
              <a:t>candidates: filter all terms for a dirty child</a:t>
            </a:r>
          </a:p>
          <a:p>
            <a:pPr marL="274320" indent="-237744">
              <a:spcBef>
                <a:spcPts val="1000"/>
              </a:spcBef>
              <a:buClr>
                <a:srgbClr val="6B717A"/>
              </a:buClr>
              <a:buChar char="•"/>
            </a:pPr>
            <a:r>
              <a:rPr lang="en-US" sz="2800" b="0" i="0" dirty="0">
                <a:solidFill>
                  <a:srgbClr val="2B2F36"/>
                </a:solidFill>
                <a:latin typeface="Calibri"/>
              </a:rPr>
              <a:t>racing marks are fine: setting a bit is idempotent</a:t>
            </a:r>
          </a:p>
        </p:txBody>
      </p:sp>
    </p:spTree>
    <p:extLst>
      <p:ext uri="{BB962C8B-B14F-4D97-AF65-F5344CB8AC3E}">
        <p14:creationId xmlns:p14="http://schemas.microsoft.com/office/powerpoint/2010/main" val="349734103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0BB86-8DAE-C86F-A10C-2AF4C450D76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6CF7F1D-2532-338F-6D5F-225B7F52FEAF}"/>
              </a:ext>
            </a:extLst>
          </p:cNvPr>
          <p:cNvSpPr txBox="1"/>
          <p:nvPr/>
        </p:nvSpPr>
        <p:spPr>
          <a:xfrm>
            <a:off x="518160" y="509563"/>
            <a:ext cx="11155680" cy="517065"/>
          </a:xfrm>
          <a:prstGeom prst="rect">
            <a:avLst/>
          </a:prstGeom>
          <a:noFill/>
        </p:spPr>
        <p:txBody>
          <a:bodyPr wrap="square" lIns="45720" tIns="27432" rIns="45720" bIns="27432" anchor="ctr">
            <a:spAutoFit/>
          </a:bodyPr>
          <a:lstStyle/>
          <a:p>
            <a:pPr algn="l"/>
            <a:r>
              <a:rPr lang="en-US" sz="3000" b="1" i="0" dirty="0">
                <a:solidFill>
                  <a:srgbClr val="1F2A44"/>
                </a:solidFill>
                <a:latin typeface="Calibri"/>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a:extLst>
              <a:ext uri="{FF2B5EF4-FFF2-40B4-BE49-F238E27FC236}">
                <a16:creationId xmlns:a16="http://schemas.microsoft.com/office/drawing/2014/main" id="{066732BD-ED57-7902-0151-D357296A506C}"/>
              </a:ext>
            </a:extLst>
          </p:cNvPr>
          <p:cNvCxnSpPr/>
          <p:nvPr/>
        </p:nvCxnSpPr>
        <p:spPr>
          <a:xfrm>
            <a:off x="566928" y="1024128"/>
            <a:ext cx="2176272" cy="0"/>
          </a:xfrm>
          <a:prstGeom prst="line">
            <a:avLst/>
          </a:prstGeom>
          <a:ln w="31750">
            <a:solidFill>
              <a:srgbClr val="C8501E"/>
            </a:solidFill>
          </a:ln>
          <a:effectLst/>
        </p:spPr>
      </p:cxnSp>
      <p:sp>
        <p:nvSpPr>
          <p:cNvPr id="4" name="TextBox 3">
            <a:extLst>
              <a:ext uri="{FF2B5EF4-FFF2-40B4-BE49-F238E27FC236}">
                <a16:creationId xmlns:a16="http://schemas.microsoft.com/office/drawing/2014/main" id="{AF12BA0B-623B-5FD7-B7D4-2C229355A28E}"/>
              </a:ext>
            </a:extLst>
          </p:cNvPr>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53</a:t>
            </a:r>
          </a:p>
        </p:txBody>
      </p:sp>
      <p:sp>
        <p:nvSpPr>
          <p:cNvPr id="6" name="Rounded Rectangle 5">
            <a:extLst>
              <a:ext uri="{FF2B5EF4-FFF2-40B4-BE49-F238E27FC236}">
                <a16:creationId xmlns:a16="http://schemas.microsoft.com/office/drawing/2014/main" id="{F2704C58-691C-A039-77B0-4B77F3741D44}"/>
              </a:ext>
            </a:extLst>
          </p:cNvPr>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a:extLst>
              <a:ext uri="{FF2B5EF4-FFF2-40B4-BE49-F238E27FC236}">
                <a16:creationId xmlns:a16="http://schemas.microsoft.com/office/drawing/2014/main" id="{E51AFDA5-0F51-897A-7CCF-2D2C52BE1F64}"/>
              </a:ext>
            </a:extLst>
          </p:cNvPr>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a:extLst>
              <a:ext uri="{FF2B5EF4-FFF2-40B4-BE49-F238E27FC236}">
                <a16:creationId xmlns:a16="http://schemas.microsoft.com/office/drawing/2014/main" id="{FEFE00EE-D20C-6241-664B-99AE6F60C30C}"/>
              </a:ext>
            </a:extLst>
          </p:cNvPr>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a:extLst>
              <a:ext uri="{FF2B5EF4-FFF2-40B4-BE49-F238E27FC236}">
                <a16:creationId xmlns:a16="http://schemas.microsoft.com/office/drawing/2014/main" id="{E3F93A8E-E7E4-88AE-BF1F-65A31DC64C5A}"/>
              </a:ext>
            </a:extLst>
          </p:cNvPr>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a:extLst>
              <a:ext uri="{FF2B5EF4-FFF2-40B4-BE49-F238E27FC236}">
                <a16:creationId xmlns:a16="http://schemas.microsoft.com/office/drawing/2014/main" id="{F8413004-9EB5-EBBF-7D62-AE2637AA4B66}"/>
              </a:ext>
            </a:extLst>
          </p:cNvPr>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a:extLst>
              <a:ext uri="{FF2B5EF4-FFF2-40B4-BE49-F238E27FC236}">
                <a16:creationId xmlns:a16="http://schemas.microsoft.com/office/drawing/2014/main" id="{914FF22D-B81D-0922-3B7F-9021AD76D327}"/>
              </a:ext>
            </a:extLst>
          </p:cNvPr>
          <p:cNvCxnSpPr/>
          <p:nvPr/>
        </p:nvCxnSpPr>
        <p:spPr>
          <a:xfrm flipH="1">
            <a:off x="4498848" y="3666743"/>
            <a:ext cx="539496" cy="1106425"/>
          </a:xfrm>
          <a:prstGeom prst="line">
            <a:avLst/>
          </a:prstGeom>
          <a:ln w="15875">
            <a:solidFill>
              <a:srgbClr val="C9CDD3"/>
            </a:solidFill>
          </a:ln>
          <a:effectLst/>
        </p:spPr>
      </p:cxnSp>
      <p:cxnSp>
        <p:nvCxnSpPr>
          <p:cNvPr id="12" name="Connector 11">
            <a:extLst>
              <a:ext uri="{FF2B5EF4-FFF2-40B4-BE49-F238E27FC236}">
                <a16:creationId xmlns:a16="http://schemas.microsoft.com/office/drawing/2014/main" id="{B1E3D25D-1274-2146-23E3-CDDE8F24280C}"/>
              </a:ext>
            </a:extLst>
          </p:cNvPr>
          <p:cNvCxnSpPr/>
          <p:nvPr/>
        </p:nvCxnSpPr>
        <p:spPr>
          <a:xfrm>
            <a:off x="5038344" y="3666743"/>
            <a:ext cx="960120" cy="1106425"/>
          </a:xfrm>
          <a:prstGeom prst="line">
            <a:avLst/>
          </a:prstGeom>
          <a:ln w="15875">
            <a:solidFill>
              <a:srgbClr val="C9CDD3"/>
            </a:solidFill>
          </a:ln>
          <a:effectLst/>
        </p:spPr>
      </p:cxnSp>
      <p:cxnSp>
        <p:nvCxnSpPr>
          <p:cNvPr id="13" name="Connector 12">
            <a:extLst>
              <a:ext uri="{FF2B5EF4-FFF2-40B4-BE49-F238E27FC236}">
                <a16:creationId xmlns:a16="http://schemas.microsoft.com/office/drawing/2014/main" id="{3580CEA8-C22D-177F-408F-520B1AC72221}"/>
              </a:ext>
            </a:extLst>
          </p:cNvPr>
          <p:cNvCxnSpPr/>
          <p:nvPr/>
        </p:nvCxnSpPr>
        <p:spPr>
          <a:xfrm flipH="1">
            <a:off x="5120639" y="3666743"/>
            <a:ext cx="1014985" cy="1106425"/>
          </a:xfrm>
          <a:prstGeom prst="line">
            <a:avLst/>
          </a:prstGeom>
          <a:ln w="15875">
            <a:solidFill>
              <a:srgbClr val="C9CDD3"/>
            </a:solidFill>
          </a:ln>
          <a:effectLst/>
        </p:spPr>
      </p:cxnSp>
      <p:cxnSp>
        <p:nvCxnSpPr>
          <p:cNvPr id="14" name="Connector 13">
            <a:extLst>
              <a:ext uri="{FF2B5EF4-FFF2-40B4-BE49-F238E27FC236}">
                <a16:creationId xmlns:a16="http://schemas.microsoft.com/office/drawing/2014/main" id="{60084B91-1BCF-B899-3E81-01B876319D1F}"/>
              </a:ext>
            </a:extLst>
          </p:cNvPr>
          <p:cNvCxnSpPr/>
          <p:nvPr/>
        </p:nvCxnSpPr>
        <p:spPr>
          <a:xfrm>
            <a:off x="6135624" y="3666743"/>
            <a:ext cx="484632" cy="1106425"/>
          </a:xfrm>
          <a:prstGeom prst="line">
            <a:avLst/>
          </a:prstGeom>
          <a:ln w="15875">
            <a:solidFill>
              <a:srgbClr val="C9CDD3"/>
            </a:solidFill>
          </a:ln>
          <a:effectLst/>
        </p:spPr>
      </p:cxnSp>
      <p:cxnSp>
        <p:nvCxnSpPr>
          <p:cNvPr id="15" name="Connector 14">
            <a:extLst>
              <a:ext uri="{FF2B5EF4-FFF2-40B4-BE49-F238E27FC236}">
                <a16:creationId xmlns:a16="http://schemas.microsoft.com/office/drawing/2014/main" id="{93232807-705A-C48C-C57A-8EB72D84FA4A}"/>
              </a:ext>
            </a:extLst>
          </p:cNvPr>
          <p:cNvCxnSpPr/>
          <p:nvPr/>
        </p:nvCxnSpPr>
        <p:spPr>
          <a:xfrm flipH="1">
            <a:off x="8997696" y="3666743"/>
            <a:ext cx="475487" cy="1106425"/>
          </a:xfrm>
          <a:prstGeom prst="line">
            <a:avLst/>
          </a:prstGeom>
          <a:ln w="15875">
            <a:solidFill>
              <a:srgbClr val="C9CDD3"/>
            </a:solidFill>
          </a:ln>
          <a:effectLst/>
        </p:spPr>
      </p:cxnSp>
      <p:cxnSp>
        <p:nvCxnSpPr>
          <p:cNvPr id="16" name="Connector 15">
            <a:extLst>
              <a:ext uri="{FF2B5EF4-FFF2-40B4-BE49-F238E27FC236}">
                <a16:creationId xmlns:a16="http://schemas.microsoft.com/office/drawing/2014/main" id="{3B2DEC6C-48A4-6C93-91C9-E85AA3122F5C}"/>
              </a:ext>
            </a:extLst>
          </p:cNvPr>
          <p:cNvCxnSpPr/>
          <p:nvPr/>
        </p:nvCxnSpPr>
        <p:spPr>
          <a:xfrm>
            <a:off x="9473183" y="3666743"/>
            <a:ext cx="1024129" cy="1106425"/>
          </a:xfrm>
          <a:prstGeom prst="line">
            <a:avLst/>
          </a:prstGeom>
          <a:ln w="15875">
            <a:solidFill>
              <a:srgbClr val="C9CDD3"/>
            </a:solidFill>
          </a:ln>
          <a:effectLst/>
        </p:spPr>
      </p:cxnSp>
      <p:cxnSp>
        <p:nvCxnSpPr>
          <p:cNvPr id="17" name="Connector 16">
            <a:extLst>
              <a:ext uri="{FF2B5EF4-FFF2-40B4-BE49-F238E27FC236}">
                <a16:creationId xmlns:a16="http://schemas.microsoft.com/office/drawing/2014/main" id="{168E0D2D-51DB-8D01-77F3-BEBDA7BD07EE}"/>
              </a:ext>
            </a:extLst>
          </p:cNvPr>
          <p:cNvCxnSpPr/>
          <p:nvPr/>
        </p:nvCxnSpPr>
        <p:spPr>
          <a:xfrm flipH="1">
            <a:off x="9619488" y="3666743"/>
            <a:ext cx="950975" cy="1106425"/>
          </a:xfrm>
          <a:prstGeom prst="line">
            <a:avLst/>
          </a:prstGeom>
          <a:ln w="15875">
            <a:solidFill>
              <a:srgbClr val="C9CDD3"/>
            </a:solidFill>
          </a:ln>
          <a:effectLst/>
        </p:spPr>
      </p:cxnSp>
      <p:cxnSp>
        <p:nvCxnSpPr>
          <p:cNvPr id="18" name="Connector 17">
            <a:extLst>
              <a:ext uri="{FF2B5EF4-FFF2-40B4-BE49-F238E27FC236}">
                <a16:creationId xmlns:a16="http://schemas.microsoft.com/office/drawing/2014/main" id="{7CB1D636-8A85-98A4-EDEC-8E0A453BC0A9}"/>
              </a:ext>
            </a:extLst>
          </p:cNvPr>
          <p:cNvCxnSpPr/>
          <p:nvPr/>
        </p:nvCxnSpPr>
        <p:spPr>
          <a:xfrm>
            <a:off x="10570463" y="3666743"/>
            <a:ext cx="548641" cy="1106425"/>
          </a:xfrm>
          <a:prstGeom prst="line">
            <a:avLst/>
          </a:prstGeom>
          <a:ln w="15875">
            <a:solidFill>
              <a:srgbClr val="C9CDD3"/>
            </a:solidFill>
          </a:ln>
          <a:effectLst/>
        </p:spPr>
      </p:cxnSp>
      <p:cxnSp>
        <p:nvCxnSpPr>
          <p:cNvPr id="19" name="Connector 18">
            <a:extLst>
              <a:ext uri="{FF2B5EF4-FFF2-40B4-BE49-F238E27FC236}">
                <a16:creationId xmlns:a16="http://schemas.microsoft.com/office/drawing/2014/main" id="{C22A7F03-3A4F-1948-977E-4D7ED2FEA01F}"/>
              </a:ext>
            </a:extLst>
          </p:cNvPr>
          <p:cNvCxnSpPr/>
          <p:nvPr/>
        </p:nvCxnSpPr>
        <p:spPr>
          <a:xfrm>
            <a:off x="7278624" y="2066544"/>
            <a:ext cx="219455" cy="2706624"/>
          </a:xfrm>
          <a:prstGeom prst="line">
            <a:avLst/>
          </a:prstGeom>
          <a:ln w="15875">
            <a:solidFill>
              <a:srgbClr val="C9CDD3"/>
            </a:solidFill>
          </a:ln>
          <a:effectLst/>
        </p:spPr>
      </p:cxnSp>
      <p:cxnSp>
        <p:nvCxnSpPr>
          <p:cNvPr id="20" name="Connector 19">
            <a:extLst>
              <a:ext uri="{FF2B5EF4-FFF2-40B4-BE49-F238E27FC236}">
                <a16:creationId xmlns:a16="http://schemas.microsoft.com/office/drawing/2014/main" id="{9BE37A53-52CD-8A19-F39E-BA2B6FA3F6F0}"/>
              </a:ext>
            </a:extLst>
          </p:cNvPr>
          <p:cNvCxnSpPr/>
          <p:nvPr/>
        </p:nvCxnSpPr>
        <p:spPr>
          <a:xfrm flipH="1">
            <a:off x="5038344" y="2066544"/>
            <a:ext cx="2240280" cy="749807"/>
          </a:xfrm>
          <a:prstGeom prst="line">
            <a:avLst/>
          </a:prstGeom>
          <a:ln w="15875">
            <a:solidFill>
              <a:srgbClr val="C9CDD3"/>
            </a:solidFill>
          </a:ln>
          <a:effectLst/>
        </p:spPr>
      </p:cxnSp>
      <p:cxnSp>
        <p:nvCxnSpPr>
          <p:cNvPr id="21" name="Connector 20">
            <a:extLst>
              <a:ext uri="{FF2B5EF4-FFF2-40B4-BE49-F238E27FC236}">
                <a16:creationId xmlns:a16="http://schemas.microsoft.com/office/drawing/2014/main" id="{9F53070A-7663-3AF7-C6FE-36DC4F0B8B8A}"/>
              </a:ext>
            </a:extLst>
          </p:cNvPr>
          <p:cNvCxnSpPr/>
          <p:nvPr/>
        </p:nvCxnSpPr>
        <p:spPr>
          <a:xfrm>
            <a:off x="7278624" y="2066544"/>
            <a:ext cx="2194559" cy="749807"/>
          </a:xfrm>
          <a:prstGeom prst="line">
            <a:avLst/>
          </a:prstGeom>
          <a:ln w="15875">
            <a:solidFill>
              <a:srgbClr val="C9CDD3"/>
            </a:solidFill>
          </a:ln>
          <a:effectLst/>
        </p:spPr>
      </p:cxnSp>
      <p:cxnSp>
        <p:nvCxnSpPr>
          <p:cNvPr id="22" name="Connector 21">
            <a:extLst>
              <a:ext uri="{FF2B5EF4-FFF2-40B4-BE49-F238E27FC236}">
                <a16:creationId xmlns:a16="http://schemas.microsoft.com/office/drawing/2014/main" id="{C10E6AEB-C0AC-C999-2905-DB6C3547DD37}"/>
              </a:ext>
            </a:extLst>
          </p:cNvPr>
          <p:cNvCxnSpPr/>
          <p:nvPr/>
        </p:nvCxnSpPr>
        <p:spPr>
          <a:xfrm flipH="1">
            <a:off x="8119872" y="2066544"/>
            <a:ext cx="484632" cy="2706624"/>
          </a:xfrm>
          <a:prstGeom prst="line">
            <a:avLst/>
          </a:prstGeom>
          <a:ln w="15875">
            <a:solidFill>
              <a:srgbClr val="C9CDD3"/>
            </a:solidFill>
          </a:ln>
          <a:effectLst/>
        </p:spPr>
      </p:cxnSp>
      <p:cxnSp>
        <p:nvCxnSpPr>
          <p:cNvPr id="23" name="Connector 22">
            <a:extLst>
              <a:ext uri="{FF2B5EF4-FFF2-40B4-BE49-F238E27FC236}">
                <a16:creationId xmlns:a16="http://schemas.microsoft.com/office/drawing/2014/main" id="{7A06BEC0-691D-66D6-EA2E-5B41558539B6}"/>
              </a:ext>
            </a:extLst>
          </p:cNvPr>
          <p:cNvCxnSpPr/>
          <p:nvPr/>
        </p:nvCxnSpPr>
        <p:spPr>
          <a:xfrm flipH="1">
            <a:off x="6135624" y="2066544"/>
            <a:ext cx="2468880" cy="749807"/>
          </a:xfrm>
          <a:prstGeom prst="line">
            <a:avLst/>
          </a:prstGeom>
          <a:ln w="15875">
            <a:solidFill>
              <a:srgbClr val="C9CDD3"/>
            </a:solidFill>
          </a:ln>
          <a:effectLst/>
        </p:spPr>
      </p:cxnSp>
      <p:cxnSp>
        <p:nvCxnSpPr>
          <p:cNvPr id="24" name="Connector 23">
            <a:extLst>
              <a:ext uri="{FF2B5EF4-FFF2-40B4-BE49-F238E27FC236}">
                <a16:creationId xmlns:a16="http://schemas.microsoft.com/office/drawing/2014/main" id="{4196C009-A0EC-E4BB-2A1F-81C0B2EA7C2B}"/>
              </a:ext>
            </a:extLst>
          </p:cNvPr>
          <p:cNvCxnSpPr/>
          <p:nvPr/>
        </p:nvCxnSpPr>
        <p:spPr>
          <a:xfrm>
            <a:off x="8604504" y="2066544"/>
            <a:ext cx="1965959" cy="749807"/>
          </a:xfrm>
          <a:prstGeom prst="line">
            <a:avLst/>
          </a:prstGeom>
          <a:ln w="15875">
            <a:solidFill>
              <a:srgbClr val="C9CDD3"/>
            </a:solidFill>
          </a:ln>
          <a:effectLst/>
        </p:spPr>
      </p:cxnSp>
      <p:sp>
        <p:nvSpPr>
          <p:cNvPr id="25" name="Rounded Rectangle 24">
            <a:extLst>
              <a:ext uri="{FF2B5EF4-FFF2-40B4-BE49-F238E27FC236}">
                <a16:creationId xmlns:a16="http://schemas.microsoft.com/office/drawing/2014/main" id="{FCD75A82-9910-3F26-D5E0-B933DF3080B2}"/>
              </a:ext>
            </a:extLst>
          </p:cNvPr>
          <p:cNvSpPr/>
          <p:nvPr/>
        </p:nvSpPr>
        <p:spPr>
          <a:xfrm>
            <a:off x="4224528"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a:extLst>
              <a:ext uri="{FF2B5EF4-FFF2-40B4-BE49-F238E27FC236}">
                <a16:creationId xmlns:a16="http://schemas.microsoft.com/office/drawing/2014/main" id="{CCA0AC23-E9E3-2F84-6228-2BE67B1F3502}"/>
              </a:ext>
            </a:extLst>
          </p:cNvPr>
          <p:cNvSpPr/>
          <p:nvPr/>
        </p:nvSpPr>
        <p:spPr>
          <a:xfrm>
            <a:off x="4846320"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a:extLst>
              <a:ext uri="{FF2B5EF4-FFF2-40B4-BE49-F238E27FC236}">
                <a16:creationId xmlns:a16="http://schemas.microsoft.com/office/drawing/2014/main" id="{E4BE0A72-9A85-96DD-8EBC-C2C9C326B12E}"/>
              </a:ext>
            </a:extLst>
          </p:cNvPr>
          <p:cNvSpPr/>
          <p:nvPr/>
        </p:nvSpPr>
        <p:spPr>
          <a:xfrm>
            <a:off x="5724144"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a:extLst>
              <a:ext uri="{FF2B5EF4-FFF2-40B4-BE49-F238E27FC236}">
                <a16:creationId xmlns:a16="http://schemas.microsoft.com/office/drawing/2014/main" id="{28627975-DDAF-C030-5F6A-802DF3D3E206}"/>
              </a:ext>
            </a:extLst>
          </p:cNvPr>
          <p:cNvSpPr/>
          <p:nvPr/>
        </p:nvSpPr>
        <p:spPr>
          <a:xfrm>
            <a:off x="6345936"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a:extLst>
              <a:ext uri="{FF2B5EF4-FFF2-40B4-BE49-F238E27FC236}">
                <a16:creationId xmlns:a16="http://schemas.microsoft.com/office/drawing/2014/main" id="{D9F80B4F-2868-DF4A-DAB8-4EFD95F1B977}"/>
              </a:ext>
            </a:extLst>
          </p:cNvPr>
          <p:cNvSpPr/>
          <p:nvPr/>
        </p:nvSpPr>
        <p:spPr>
          <a:xfrm>
            <a:off x="7223759"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a:extLst>
              <a:ext uri="{FF2B5EF4-FFF2-40B4-BE49-F238E27FC236}">
                <a16:creationId xmlns:a16="http://schemas.microsoft.com/office/drawing/2014/main" id="{7C368F4A-D2FE-BB6C-5A22-BCF51945FA38}"/>
              </a:ext>
            </a:extLst>
          </p:cNvPr>
          <p:cNvSpPr/>
          <p:nvPr/>
        </p:nvSpPr>
        <p:spPr>
          <a:xfrm>
            <a:off x="7845552"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a:extLst>
              <a:ext uri="{FF2B5EF4-FFF2-40B4-BE49-F238E27FC236}">
                <a16:creationId xmlns:a16="http://schemas.microsoft.com/office/drawing/2014/main" id="{5EA9B54F-AAF2-AF55-32E8-B848D533ADE9}"/>
              </a:ext>
            </a:extLst>
          </p:cNvPr>
          <p:cNvSpPr/>
          <p:nvPr/>
        </p:nvSpPr>
        <p:spPr>
          <a:xfrm>
            <a:off x="8723376"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a:extLst>
              <a:ext uri="{FF2B5EF4-FFF2-40B4-BE49-F238E27FC236}">
                <a16:creationId xmlns:a16="http://schemas.microsoft.com/office/drawing/2014/main" id="{0A718697-1AEB-DF3D-B478-0BC551813F8A}"/>
              </a:ext>
            </a:extLst>
          </p:cNvPr>
          <p:cNvSpPr/>
          <p:nvPr/>
        </p:nvSpPr>
        <p:spPr>
          <a:xfrm>
            <a:off x="9345167"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a:extLst>
              <a:ext uri="{FF2B5EF4-FFF2-40B4-BE49-F238E27FC236}">
                <a16:creationId xmlns:a16="http://schemas.microsoft.com/office/drawing/2014/main" id="{B8BFEBBB-922E-1A42-8C9F-0B5EEE30A7D9}"/>
              </a:ext>
            </a:extLst>
          </p:cNvPr>
          <p:cNvSpPr/>
          <p:nvPr/>
        </p:nvSpPr>
        <p:spPr>
          <a:xfrm>
            <a:off x="10222992"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a:extLst>
              <a:ext uri="{FF2B5EF4-FFF2-40B4-BE49-F238E27FC236}">
                <a16:creationId xmlns:a16="http://schemas.microsoft.com/office/drawing/2014/main" id="{550C2CBE-D209-F43C-6FB6-0BC686166AE0}"/>
              </a:ext>
            </a:extLst>
          </p:cNvPr>
          <p:cNvSpPr/>
          <p:nvPr/>
        </p:nvSpPr>
        <p:spPr>
          <a:xfrm>
            <a:off x="10844784"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a:extLst>
              <a:ext uri="{FF2B5EF4-FFF2-40B4-BE49-F238E27FC236}">
                <a16:creationId xmlns:a16="http://schemas.microsoft.com/office/drawing/2014/main" id="{105D72FE-E8A0-20F8-CCD5-3BAB6BB74576}"/>
              </a:ext>
            </a:extLst>
          </p:cNvPr>
          <p:cNvSpPr/>
          <p:nvPr/>
        </p:nvSpPr>
        <p:spPr>
          <a:xfrm>
            <a:off x="463600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dirty="0">
                <a:solidFill>
                  <a:srgbClr val="C9CDD3"/>
                </a:solidFill>
                <a:latin typeface="Calibri"/>
              </a:rPr>
              <a:t>AND</a:t>
            </a:r>
          </a:p>
        </p:txBody>
      </p:sp>
      <p:sp>
        <p:nvSpPr>
          <p:cNvPr id="36" name="TextBox 35">
            <a:extLst>
              <a:ext uri="{FF2B5EF4-FFF2-40B4-BE49-F238E27FC236}">
                <a16:creationId xmlns:a16="http://schemas.microsoft.com/office/drawing/2014/main" id="{6DE1E7AD-3B6C-9C08-D156-04A4FA38A934}"/>
              </a:ext>
            </a:extLst>
          </p:cNvPr>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7" name="Rounded Rectangle 36">
            <a:extLst>
              <a:ext uri="{FF2B5EF4-FFF2-40B4-BE49-F238E27FC236}">
                <a16:creationId xmlns:a16="http://schemas.microsoft.com/office/drawing/2014/main" id="{161C7703-5F48-C76A-B767-3C85F93989D9}"/>
              </a:ext>
            </a:extLst>
          </p:cNvPr>
          <p:cNvSpPr/>
          <p:nvPr/>
        </p:nvSpPr>
        <p:spPr>
          <a:xfrm>
            <a:off x="5733287"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a:extLst>
              <a:ext uri="{FF2B5EF4-FFF2-40B4-BE49-F238E27FC236}">
                <a16:creationId xmlns:a16="http://schemas.microsoft.com/office/drawing/2014/main" id="{750E3B20-2C7C-3192-30A5-3D4E3D56C6DF}"/>
              </a:ext>
            </a:extLst>
          </p:cNvPr>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39" name="Rounded Rectangle 38">
            <a:extLst>
              <a:ext uri="{FF2B5EF4-FFF2-40B4-BE49-F238E27FC236}">
                <a16:creationId xmlns:a16="http://schemas.microsoft.com/office/drawing/2014/main" id="{DE273BDB-FF2A-6A0B-B3CE-EB3AEC71A117}"/>
              </a:ext>
            </a:extLst>
          </p:cNvPr>
          <p:cNvSpPr/>
          <p:nvPr/>
        </p:nvSpPr>
        <p:spPr>
          <a:xfrm>
            <a:off x="907084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0" name="TextBox 39">
            <a:extLst>
              <a:ext uri="{FF2B5EF4-FFF2-40B4-BE49-F238E27FC236}">
                <a16:creationId xmlns:a16="http://schemas.microsoft.com/office/drawing/2014/main" id="{45433A18-5DC4-4397-1B18-99EADFDA4C2A}"/>
              </a:ext>
            </a:extLst>
          </p:cNvPr>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1" name="Rounded Rectangle 40">
            <a:extLst>
              <a:ext uri="{FF2B5EF4-FFF2-40B4-BE49-F238E27FC236}">
                <a16:creationId xmlns:a16="http://schemas.microsoft.com/office/drawing/2014/main" id="{0041A60B-DE37-3C27-023F-CAFAFD09E7FB}"/>
              </a:ext>
            </a:extLst>
          </p:cNvPr>
          <p:cNvSpPr/>
          <p:nvPr/>
        </p:nvSpPr>
        <p:spPr>
          <a:xfrm>
            <a:off x="1016812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a:extLst>
              <a:ext uri="{FF2B5EF4-FFF2-40B4-BE49-F238E27FC236}">
                <a16:creationId xmlns:a16="http://schemas.microsoft.com/office/drawing/2014/main" id="{4E33BF83-E195-60C5-922E-2FA828282038}"/>
              </a:ext>
            </a:extLst>
          </p:cNvPr>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3" name="Rounded Rectangle 42">
            <a:extLst>
              <a:ext uri="{FF2B5EF4-FFF2-40B4-BE49-F238E27FC236}">
                <a16:creationId xmlns:a16="http://schemas.microsoft.com/office/drawing/2014/main" id="{536B604A-2550-7570-9DD1-96414CDB90BE}"/>
              </a:ext>
            </a:extLst>
          </p:cNvPr>
          <p:cNvSpPr/>
          <p:nvPr/>
        </p:nvSpPr>
        <p:spPr>
          <a:xfrm>
            <a:off x="6876288" y="149961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4" name="TextBox 43">
            <a:extLst>
              <a:ext uri="{FF2B5EF4-FFF2-40B4-BE49-F238E27FC236}">
                <a16:creationId xmlns:a16="http://schemas.microsoft.com/office/drawing/2014/main" id="{387699AF-4E69-F86F-85C3-54299F51E1C9}"/>
              </a:ext>
            </a:extLst>
          </p:cNvPr>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5" name="Rounded Rectangle 44">
            <a:extLst>
              <a:ext uri="{FF2B5EF4-FFF2-40B4-BE49-F238E27FC236}">
                <a16:creationId xmlns:a16="http://schemas.microsoft.com/office/drawing/2014/main" id="{91D4A0C0-EE47-3FE1-2C34-4579A0645228}"/>
              </a:ext>
            </a:extLst>
          </p:cNvPr>
          <p:cNvSpPr/>
          <p:nvPr/>
        </p:nvSpPr>
        <p:spPr>
          <a:xfrm>
            <a:off x="8202168" y="149961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6" name="TextBox 45">
            <a:extLst>
              <a:ext uri="{FF2B5EF4-FFF2-40B4-BE49-F238E27FC236}">
                <a16:creationId xmlns:a16="http://schemas.microsoft.com/office/drawing/2014/main" id="{C0333091-7562-58D6-D15A-1396B826D5B0}"/>
              </a:ext>
            </a:extLst>
          </p:cNvPr>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C9CDD3"/>
                </a:solidFill>
                <a:latin typeface="Calibri"/>
              </a:rPr>
              <a:t>m₂</a:t>
            </a:r>
          </a:p>
        </p:txBody>
      </p:sp>
      <p:sp>
        <p:nvSpPr>
          <p:cNvPr id="47" name="TextBox 46">
            <a:extLst>
              <a:ext uri="{FF2B5EF4-FFF2-40B4-BE49-F238E27FC236}">
                <a16:creationId xmlns:a16="http://schemas.microsoft.com/office/drawing/2014/main" id="{56F8C43A-A6AA-24A6-3329-A8B440BBD803}"/>
              </a:ext>
            </a:extLst>
          </p:cNvPr>
          <p:cNvSpPr txBox="1"/>
          <p:nvPr/>
        </p:nvSpPr>
        <p:spPr>
          <a:xfrm>
            <a:off x="4489703"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a:extLst>
              <a:ext uri="{FF2B5EF4-FFF2-40B4-BE49-F238E27FC236}">
                <a16:creationId xmlns:a16="http://schemas.microsoft.com/office/drawing/2014/main" id="{DEF27248-941A-CFF7-7846-FE719AA824BC}"/>
              </a:ext>
            </a:extLst>
          </p:cNvPr>
          <p:cNvSpPr txBox="1"/>
          <p:nvPr/>
        </p:nvSpPr>
        <p:spPr>
          <a:xfrm>
            <a:off x="5989320"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a:extLst>
              <a:ext uri="{FF2B5EF4-FFF2-40B4-BE49-F238E27FC236}">
                <a16:creationId xmlns:a16="http://schemas.microsoft.com/office/drawing/2014/main" id="{AF11687A-24AF-0DA9-70DC-5108F86B0C28}"/>
              </a:ext>
            </a:extLst>
          </p:cNvPr>
          <p:cNvSpPr txBox="1"/>
          <p:nvPr/>
        </p:nvSpPr>
        <p:spPr>
          <a:xfrm>
            <a:off x="7488936"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a:extLst>
              <a:ext uri="{FF2B5EF4-FFF2-40B4-BE49-F238E27FC236}">
                <a16:creationId xmlns:a16="http://schemas.microsoft.com/office/drawing/2014/main" id="{B8821691-F08C-65F3-219B-2414C5E8765B}"/>
              </a:ext>
            </a:extLst>
          </p:cNvPr>
          <p:cNvSpPr txBox="1"/>
          <p:nvPr/>
        </p:nvSpPr>
        <p:spPr>
          <a:xfrm>
            <a:off x="8988552"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a:extLst>
              <a:ext uri="{FF2B5EF4-FFF2-40B4-BE49-F238E27FC236}">
                <a16:creationId xmlns:a16="http://schemas.microsoft.com/office/drawing/2014/main" id="{25EC1077-9AEF-12E9-6D69-968381E60396}"/>
              </a:ext>
            </a:extLst>
          </p:cNvPr>
          <p:cNvSpPr txBox="1"/>
          <p:nvPr/>
        </p:nvSpPr>
        <p:spPr>
          <a:xfrm>
            <a:off x="10488168"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5" name="FilterCC dirty tag 55">
            <a:extLst>
              <a:ext uri="{FF2B5EF4-FFF2-40B4-BE49-F238E27FC236}">
                <a16:creationId xmlns:a16="http://schemas.microsoft.com/office/drawing/2014/main" id="{3D65634E-0746-DC07-05CA-08B627784B01}"/>
              </a:ext>
            </a:extLst>
          </p:cNvPr>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a:extLst>
              <a:ext uri="{FF2B5EF4-FFF2-40B4-BE49-F238E27FC236}">
                <a16:creationId xmlns:a16="http://schemas.microsoft.com/office/drawing/2014/main" id="{1727D2B0-F25B-F614-52A3-70B473D230D5}"/>
              </a:ext>
            </a:extLst>
          </p:cNvPr>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dirty tag 57">
            <a:extLst>
              <a:ext uri="{FF2B5EF4-FFF2-40B4-BE49-F238E27FC236}">
                <a16:creationId xmlns:a16="http://schemas.microsoft.com/office/drawing/2014/main" id="{18788E92-AC1D-B35E-4375-1F3FA5586ABA}"/>
              </a:ext>
            </a:extLst>
          </p:cNvPr>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dirty tag 58">
            <a:extLst>
              <a:ext uri="{FF2B5EF4-FFF2-40B4-BE49-F238E27FC236}">
                <a16:creationId xmlns:a16="http://schemas.microsoft.com/office/drawing/2014/main" id="{30CD090E-D1AF-2EBC-5A5F-8F64CA4019D8}"/>
              </a:ext>
            </a:extLst>
          </p:cNvPr>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9" name="FilterCC dirty tag 59">
            <a:extLst>
              <a:ext uri="{FF2B5EF4-FFF2-40B4-BE49-F238E27FC236}">
                <a16:creationId xmlns:a16="http://schemas.microsoft.com/office/drawing/2014/main" id="{6E28C3C2-02A7-4BA1-A30D-1B3D45EC19E9}"/>
              </a:ext>
            </a:extLst>
          </p:cNvPr>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60"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1" i="0" dirty="0">
                <a:solidFill>
                  <a:srgbClr val="C00000"/>
                </a:solidFill>
              </a:rPr>
              <a:t>a merge marks its classes dirty</a:t>
            </a:r>
          </a:p>
        </p:txBody>
      </p:sp>
    </p:spTree>
    <p:extLst>
      <p:ext uri="{BB962C8B-B14F-4D97-AF65-F5344CB8AC3E}">
        <p14:creationId xmlns:p14="http://schemas.microsoft.com/office/powerpoint/2010/main" val="426170544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54</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4498848" y="3666743"/>
            <a:ext cx="539496" cy="1106425"/>
          </a:xfrm>
          <a:prstGeom prst="line">
            <a:avLst/>
          </a:prstGeom>
          <a:ln w="15875">
            <a:solidFill>
              <a:srgbClr val="C9CDD3"/>
            </a:solidFill>
          </a:ln>
          <a:effectLst/>
        </p:spPr>
      </p:cxnSp>
      <p:cxnSp>
        <p:nvCxnSpPr>
          <p:cNvPr id="12" name="Connector 11"/>
          <p:cNvCxnSpPr/>
          <p:nvPr/>
        </p:nvCxnSpPr>
        <p:spPr>
          <a:xfrm>
            <a:off x="5038344" y="3666743"/>
            <a:ext cx="960120" cy="1106425"/>
          </a:xfrm>
          <a:prstGeom prst="line">
            <a:avLst/>
          </a:prstGeom>
          <a:ln w="15875">
            <a:solidFill>
              <a:srgbClr val="C9CDD3"/>
            </a:solidFill>
          </a:ln>
          <a:effectLst/>
        </p:spPr>
      </p:cxnSp>
      <p:cxnSp>
        <p:nvCxnSpPr>
          <p:cNvPr id="13" name="Connector 12"/>
          <p:cNvCxnSpPr/>
          <p:nvPr/>
        </p:nvCxnSpPr>
        <p:spPr>
          <a:xfrm flipH="1">
            <a:off x="5120639" y="3666743"/>
            <a:ext cx="1014985" cy="1106425"/>
          </a:xfrm>
          <a:prstGeom prst="line">
            <a:avLst/>
          </a:prstGeom>
          <a:ln w="15875">
            <a:solidFill>
              <a:srgbClr val="C9CDD3"/>
            </a:solidFill>
          </a:ln>
          <a:effectLst/>
        </p:spPr>
      </p:cxnSp>
      <p:cxnSp>
        <p:nvCxnSpPr>
          <p:cNvPr id="14" name="Connector 13"/>
          <p:cNvCxnSpPr/>
          <p:nvPr/>
        </p:nvCxnSpPr>
        <p:spPr>
          <a:xfrm>
            <a:off x="6135624" y="3666743"/>
            <a:ext cx="484632" cy="1106425"/>
          </a:xfrm>
          <a:prstGeom prst="line">
            <a:avLst/>
          </a:prstGeom>
          <a:ln w="15875">
            <a:solidFill>
              <a:srgbClr val="C9CDD3"/>
            </a:solidFill>
          </a:ln>
          <a:effectLst/>
        </p:spPr>
      </p:cxnSp>
      <p:cxnSp>
        <p:nvCxnSpPr>
          <p:cNvPr id="15" name="Connector 14"/>
          <p:cNvCxnSpPr/>
          <p:nvPr/>
        </p:nvCxnSpPr>
        <p:spPr>
          <a:xfrm flipH="1">
            <a:off x="8997696" y="3666743"/>
            <a:ext cx="475487" cy="1106425"/>
          </a:xfrm>
          <a:prstGeom prst="line">
            <a:avLst/>
          </a:prstGeom>
          <a:ln w="15875">
            <a:solidFill>
              <a:srgbClr val="C9CDD3"/>
            </a:solidFill>
          </a:ln>
          <a:effectLst/>
        </p:spPr>
      </p:cxnSp>
      <p:cxnSp>
        <p:nvCxnSpPr>
          <p:cNvPr id="16" name="Connector 15"/>
          <p:cNvCxnSpPr/>
          <p:nvPr/>
        </p:nvCxnSpPr>
        <p:spPr>
          <a:xfrm>
            <a:off x="9473183" y="3666743"/>
            <a:ext cx="1024129" cy="1106425"/>
          </a:xfrm>
          <a:prstGeom prst="line">
            <a:avLst/>
          </a:prstGeom>
          <a:ln w="15875">
            <a:solidFill>
              <a:srgbClr val="C9CDD3"/>
            </a:solidFill>
          </a:ln>
          <a:effectLst/>
        </p:spPr>
      </p:cxnSp>
      <p:cxnSp>
        <p:nvCxnSpPr>
          <p:cNvPr id="17" name="Connector 16"/>
          <p:cNvCxnSpPr/>
          <p:nvPr/>
        </p:nvCxnSpPr>
        <p:spPr>
          <a:xfrm flipH="1">
            <a:off x="9619488" y="3666743"/>
            <a:ext cx="950975" cy="1106425"/>
          </a:xfrm>
          <a:prstGeom prst="line">
            <a:avLst/>
          </a:prstGeom>
          <a:ln w="15875">
            <a:solidFill>
              <a:srgbClr val="C9CDD3"/>
            </a:solidFill>
          </a:ln>
          <a:effectLst/>
        </p:spPr>
      </p:cxnSp>
      <p:cxnSp>
        <p:nvCxnSpPr>
          <p:cNvPr id="18" name="Connector 17"/>
          <p:cNvCxnSpPr/>
          <p:nvPr/>
        </p:nvCxnSpPr>
        <p:spPr>
          <a:xfrm>
            <a:off x="10570463" y="3666743"/>
            <a:ext cx="548641" cy="1106425"/>
          </a:xfrm>
          <a:prstGeom prst="line">
            <a:avLst/>
          </a:prstGeom>
          <a:ln w="15875">
            <a:solidFill>
              <a:srgbClr val="C9CDD3"/>
            </a:solidFill>
          </a:ln>
          <a:effectLst/>
        </p:spPr>
      </p:cxnSp>
      <p:cxnSp>
        <p:nvCxnSpPr>
          <p:cNvPr id="19" name="Connector 18"/>
          <p:cNvCxnSpPr/>
          <p:nvPr/>
        </p:nvCxnSpPr>
        <p:spPr>
          <a:xfrm>
            <a:off x="7278624" y="2066544"/>
            <a:ext cx="219455" cy="2706624"/>
          </a:xfrm>
          <a:prstGeom prst="line">
            <a:avLst/>
          </a:prstGeom>
          <a:ln w="15875">
            <a:solidFill>
              <a:srgbClr val="C9CDD3"/>
            </a:solidFill>
          </a:ln>
          <a:effectLst/>
        </p:spPr>
      </p:cxnSp>
      <p:cxnSp>
        <p:nvCxnSpPr>
          <p:cNvPr id="20" name="Connector 19"/>
          <p:cNvCxnSpPr/>
          <p:nvPr/>
        </p:nvCxnSpPr>
        <p:spPr>
          <a:xfrm flipH="1">
            <a:off x="5038344" y="2066544"/>
            <a:ext cx="2240280" cy="749807"/>
          </a:xfrm>
          <a:prstGeom prst="line">
            <a:avLst/>
          </a:prstGeom>
          <a:ln w="15875">
            <a:solidFill>
              <a:srgbClr val="8A8F98"/>
            </a:solidFill>
          </a:ln>
          <a:effectLst/>
        </p:spPr>
      </p:cxnSp>
      <p:cxnSp>
        <p:nvCxnSpPr>
          <p:cNvPr id="21" name="Connector 20"/>
          <p:cNvCxnSpPr/>
          <p:nvPr/>
        </p:nvCxnSpPr>
        <p:spPr>
          <a:xfrm>
            <a:off x="7278624" y="2066544"/>
            <a:ext cx="2194559" cy="749807"/>
          </a:xfrm>
          <a:prstGeom prst="line">
            <a:avLst/>
          </a:prstGeom>
          <a:ln w="15875">
            <a:solidFill>
              <a:srgbClr val="8A8F98"/>
            </a:solidFill>
          </a:ln>
          <a:effectLst/>
        </p:spPr>
      </p:cxnSp>
      <p:cxnSp>
        <p:nvCxnSpPr>
          <p:cNvPr id="22" name="Connector 21"/>
          <p:cNvCxnSpPr/>
          <p:nvPr/>
        </p:nvCxnSpPr>
        <p:spPr>
          <a:xfrm flipH="1">
            <a:off x="8119872" y="2066544"/>
            <a:ext cx="484632" cy="2706624"/>
          </a:xfrm>
          <a:prstGeom prst="line">
            <a:avLst/>
          </a:prstGeom>
          <a:ln w="15875">
            <a:solidFill>
              <a:srgbClr val="C9CDD3"/>
            </a:solidFill>
          </a:ln>
          <a:effectLst/>
        </p:spPr>
      </p:cxnSp>
      <p:cxnSp>
        <p:nvCxnSpPr>
          <p:cNvPr id="23" name="Connector 22"/>
          <p:cNvCxnSpPr/>
          <p:nvPr/>
        </p:nvCxnSpPr>
        <p:spPr>
          <a:xfrm flipH="1">
            <a:off x="6135624" y="2066544"/>
            <a:ext cx="2468880" cy="749807"/>
          </a:xfrm>
          <a:prstGeom prst="line">
            <a:avLst/>
          </a:prstGeom>
          <a:ln w="15875">
            <a:solidFill>
              <a:srgbClr val="8A8F98"/>
            </a:solidFill>
          </a:ln>
          <a:effectLst/>
        </p:spPr>
      </p:cxnSp>
      <p:cxnSp>
        <p:nvCxnSpPr>
          <p:cNvPr id="24" name="Connector 23"/>
          <p:cNvCxnSpPr/>
          <p:nvPr/>
        </p:nvCxnSpPr>
        <p:spPr>
          <a:xfrm>
            <a:off x="8604504" y="2066544"/>
            <a:ext cx="1965959" cy="749807"/>
          </a:xfrm>
          <a:prstGeom prst="line">
            <a:avLst/>
          </a:prstGeom>
          <a:ln w="15875">
            <a:solidFill>
              <a:srgbClr val="8A8F98"/>
            </a:solidFill>
          </a:ln>
          <a:effectLst/>
        </p:spPr>
      </p:cxnSp>
      <p:sp>
        <p:nvSpPr>
          <p:cNvPr id="25" name="Rounded Rectangle 24"/>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463600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5733287"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907084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1016812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6876288" y="149961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8202168" y="149961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FilterCC dirty tag 52"/>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3" name="FilterCC dirty tag 53"/>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4" name="FilterCC dirty tag 54"/>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1" i="0" dirty="0">
                <a:solidFill>
                  <a:srgbClr val="C00000"/>
                </a:solidFill>
              </a:rPr>
              <a:t>filter all terms for a dirty child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55</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4498848" y="3666743"/>
            <a:ext cx="539496" cy="1106425"/>
          </a:xfrm>
          <a:prstGeom prst="line">
            <a:avLst/>
          </a:prstGeom>
          <a:ln w="15875">
            <a:solidFill>
              <a:srgbClr val="C9CDD3"/>
            </a:solidFill>
          </a:ln>
          <a:effectLst/>
        </p:spPr>
      </p:cxnSp>
      <p:cxnSp>
        <p:nvCxnSpPr>
          <p:cNvPr id="12" name="Connector 11"/>
          <p:cNvCxnSpPr/>
          <p:nvPr/>
        </p:nvCxnSpPr>
        <p:spPr>
          <a:xfrm>
            <a:off x="5038344" y="3666743"/>
            <a:ext cx="960120" cy="1106425"/>
          </a:xfrm>
          <a:prstGeom prst="line">
            <a:avLst/>
          </a:prstGeom>
          <a:ln w="15875">
            <a:solidFill>
              <a:srgbClr val="C9CDD3"/>
            </a:solidFill>
          </a:ln>
          <a:effectLst/>
        </p:spPr>
      </p:cxnSp>
      <p:cxnSp>
        <p:nvCxnSpPr>
          <p:cNvPr id="13" name="Connector 12"/>
          <p:cNvCxnSpPr/>
          <p:nvPr/>
        </p:nvCxnSpPr>
        <p:spPr>
          <a:xfrm flipH="1">
            <a:off x="5120639" y="3666743"/>
            <a:ext cx="1014985" cy="1106425"/>
          </a:xfrm>
          <a:prstGeom prst="line">
            <a:avLst/>
          </a:prstGeom>
          <a:ln w="15875">
            <a:solidFill>
              <a:srgbClr val="C9CDD3"/>
            </a:solidFill>
          </a:ln>
          <a:effectLst/>
        </p:spPr>
      </p:cxnSp>
      <p:cxnSp>
        <p:nvCxnSpPr>
          <p:cNvPr id="14" name="Connector 13"/>
          <p:cNvCxnSpPr/>
          <p:nvPr/>
        </p:nvCxnSpPr>
        <p:spPr>
          <a:xfrm>
            <a:off x="6135624" y="3666743"/>
            <a:ext cx="484632" cy="1106425"/>
          </a:xfrm>
          <a:prstGeom prst="line">
            <a:avLst/>
          </a:prstGeom>
          <a:ln w="15875">
            <a:solidFill>
              <a:srgbClr val="C9CDD3"/>
            </a:solidFill>
          </a:ln>
          <a:effectLst/>
        </p:spPr>
      </p:cxnSp>
      <p:cxnSp>
        <p:nvCxnSpPr>
          <p:cNvPr id="15" name="Connector 14"/>
          <p:cNvCxnSpPr/>
          <p:nvPr/>
        </p:nvCxnSpPr>
        <p:spPr>
          <a:xfrm flipH="1">
            <a:off x="8997696" y="3666743"/>
            <a:ext cx="475487" cy="1106425"/>
          </a:xfrm>
          <a:prstGeom prst="line">
            <a:avLst/>
          </a:prstGeom>
          <a:ln w="15875">
            <a:solidFill>
              <a:srgbClr val="C9CDD3"/>
            </a:solidFill>
          </a:ln>
          <a:effectLst/>
        </p:spPr>
      </p:cxnSp>
      <p:cxnSp>
        <p:nvCxnSpPr>
          <p:cNvPr id="16" name="Connector 15"/>
          <p:cNvCxnSpPr/>
          <p:nvPr/>
        </p:nvCxnSpPr>
        <p:spPr>
          <a:xfrm>
            <a:off x="9473183" y="3666743"/>
            <a:ext cx="1024129" cy="1106425"/>
          </a:xfrm>
          <a:prstGeom prst="line">
            <a:avLst/>
          </a:prstGeom>
          <a:ln w="15875">
            <a:solidFill>
              <a:srgbClr val="C9CDD3"/>
            </a:solidFill>
          </a:ln>
          <a:effectLst/>
        </p:spPr>
      </p:cxnSp>
      <p:cxnSp>
        <p:nvCxnSpPr>
          <p:cNvPr id="17" name="Connector 16"/>
          <p:cNvCxnSpPr/>
          <p:nvPr/>
        </p:nvCxnSpPr>
        <p:spPr>
          <a:xfrm flipH="1">
            <a:off x="9619488" y="3666743"/>
            <a:ext cx="950975" cy="1106425"/>
          </a:xfrm>
          <a:prstGeom prst="line">
            <a:avLst/>
          </a:prstGeom>
          <a:ln w="15875">
            <a:solidFill>
              <a:srgbClr val="C9CDD3"/>
            </a:solidFill>
          </a:ln>
          <a:effectLst/>
        </p:spPr>
      </p:cxnSp>
      <p:cxnSp>
        <p:nvCxnSpPr>
          <p:cNvPr id="18" name="Connector 17"/>
          <p:cNvCxnSpPr/>
          <p:nvPr/>
        </p:nvCxnSpPr>
        <p:spPr>
          <a:xfrm>
            <a:off x="10570463" y="3666743"/>
            <a:ext cx="548641" cy="1106425"/>
          </a:xfrm>
          <a:prstGeom prst="line">
            <a:avLst/>
          </a:prstGeom>
          <a:ln w="15875">
            <a:solidFill>
              <a:srgbClr val="C9CDD3"/>
            </a:solidFill>
          </a:ln>
          <a:effectLst/>
        </p:spPr>
      </p:cxnSp>
      <p:cxnSp>
        <p:nvCxnSpPr>
          <p:cNvPr id="19" name="Connector 18"/>
          <p:cNvCxnSpPr/>
          <p:nvPr/>
        </p:nvCxnSpPr>
        <p:spPr>
          <a:xfrm>
            <a:off x="7278624" y="2066544"/>
            <a:ext cx="219455" cy="2706624"/>
          </a:xfrm>
          <a:prstGeom prst="line">
            <a:avLst/>
          </a:prstGeom>
          <a:ln w="15875">
            <a:solidFill>
              <a:srgbClr val="C9CDD3"/>
            </a:solidFill>
          </a:ln>
          <a:effectLst/>
        </p:spPr>
      </p:cxnSp>
      <p:cxnSp>
        <p:nvCxnSpPr>
          <p:cNvPr id="20" name="Connector 19"/>
          <p:cNvCxnSpPr/>
          <p:nvPr/>
        </p:nvCxnSpPr>
        <p:spPr>
          <a:xfrm flipH="1">
            <a:off x="5038344" y="2066544"/>
            <a:ext cx="2240280" cy="749807"/>
          </a:xfrm>
          <a:prstGeom prst="line">
            <a:avLst/>
          </a:prstGeom>
          <a:ln w="15875">
            <a:solidFill>
              <a:srgbClr val="8A8F98"/>
            </a:solidFill>
          </a:ln>
          <a:effectLst/>
        </p:spPr>
      </p:cxnSp>
      <p:cxnSp>
        <p:nvCxnSpPr>
          <p:cNvPr id="21" name="Connector 20"/>
          <p:cNvCxnSpPr/>
          <p:nvPr/>
        </p:nvCxnSpPr>
        <p:spPr>
          <a:xfrm>
            <a:off x="7278624" y="2066544"/>
            <a:ext cx="2194559" cy="749807"/>
          </a:xfrm>
          <a:prstGeom prst="line">
            <a:avLst/>
          </a:prstGeom>
          <a:ln w="15875">
            <a:solidFill>
              <a:srgbClr val="8A8F98"/>
            </a:solidFill>
          </a:ln>
          <a:effectLst/>
        </p:spPr>
      </p:cxnSp>
      <p:cxnSp>
        <p:nvCxnSpPr>
          <p:cNvPr id="22" name="Connector 21"/>
          <p:cNvCxnSpPr/>
          <p:nvPr/>
        </p:nvCxnSpPr>
        <p:spPr>
          <a:xfrm flipH="1">
            <a:off x="8119872" y="2066544"/>
            <a:ext cx="484632" cy="2706624"/>
          </a:xfrm>
          <a:prstGeom prst="line">
            <a:avLst/>
          </a:prstGeom>
          <a:ln w="15875">
            <a:solidFill>
              <a:srgbClr val="C9CDD3"/>
            </a:solidFill>
          </a:ln>
          <a:effectLst/>
        </p:spPr>
      </p:cxnSp>
      <p:cxnSp>
        <p:nvCxnSpPr>
          <p:cNvPr id="23" name="Connector 22"/>
          <p:cNvCxnSpPr/>
          <p:nvPr/>
        </p:nvCxnSpPr>
        <p:spPr>
          <a:xfrm flipH="1">
            <a:off x="6135624" y="2066544"/>
            <a:ext cx="2468880" cy="749807"/>
          </a:xfrm>
          <a:prstGeom prst="line">
            <a:avLst/>
          </a:prstGeom>
          <a:ln w="15875">
            <a:solidFill>
              <a:srgbClr val="8A8F98"/>
            </a:solidFill>
          </a:ln>
          <a:effectLst/>
        </p:spPr>
      </p:cxnSp>
      <p:cxnSp>
        <p:nvCxnSpPr>
          <p:cNvPr id="24" name="Connector 23"/>
          <p:cNvCxnSpPr/>
          <p:nvPr/>
        </p:nvCxnSpPr>
        <p:spPr>
          <a:xfrm>
            <a:off x="8604504" y="2066544"/>
            <a:ext cx="1965959" cy="749807"/>
          </a:xfrm>
          <a:prstGeom prst="line">
            <a:avLst/>
          </a:prstGeom>
          <a:ln w="15875">
            <a:solidFill>
              <a:srgbClr val="8A8F98"/>
            </a:solidFill>
          </a:ln>
          <a:effectLst/>
        </p:spPr>
      </p:cxnSp>
      <p:sp>
        <p:nvSpPr>
          <p:cNvPr id="25" name="Rounded Rectangle 24"/>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4636008" y="309981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5733287" y="309981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9070848" y="309981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10168128" y="309981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3" name="FilterCC dirty tag 53"/>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4" name="FilterCC dirty tag 54"/>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dirty tag 57"/>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1" i="0" dirty="0">
                <a:solidFill>
                  <a:srgbClr val="C00000"/>
                </a:solidFill>
              </a:rPr>
              <a:t>Compute signature of candidates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56</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4517136" y="270662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8951975" y="270662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4498848" y="3666743"/>
            <a:ext cx="539496" cy="1106425"/>
          </a:xfrm>
          <a:prstGeom prst="line">
            <a:avLst/>
          </a:prstGeom>
          <a:ln w="15875">
            <a:solidFill>
              <a:srgbClr val="C9CDD3"/>
            </a:solidFill>
          </a:ln>
          <a:effectLst/>
        </p:spPr>
      </p:cxnSp>
      <p:cxnSp>
        <p:nvCxnSpPr>
          <p:cNvPr id="14" name="Connector 13"/>
          <p:cNvCxnSpPr/>
          <p:nvPr/>
        </p:nvCxnSpPr>
        <p:spPr>
          <a:xfrm>
            <a:off x="5038344" y="3666743"/>
            <a:ext cx="960120" cy="1106425"/>
          </a:xfrm>
          <a:prstGeom prst="line">
            <a:avLst/>
          </a:prstGeom>
          <a:ln w="15875">
            <a:solidFill>
              <a:srgbClr val="C9CDD3"/>
            </a:solidFill>
          </a:ln>
          <a:effectLst/>
        </p:spPr>
      </p:cxnSp>
      <p:cxnSp>
        <p:nvCxnSpPr>
          <p:cNvPr id="15" name="Connector 14"/>
          <p:cNvCxnSpPr/>
          <p:nvPr/>
        </p:nvCxnSpPr>
        <p:spPr>
          <a:xfrm flipH="1">
            <a:off x="5120639" y="3666743"/>
            <a:ext cx="1014985" cy="1106425"/>
          </a:xfrm>
          <a:prstGeom prst="line">
            <a:avLst/>
          </a:prstGeom>
          <a:ln w="15875">
            <a:solidFill>
              <a:srgbClr val="C9CDD3"/>
            </a:solidFill>
          </a:ln>
          <a:effectLst/>
        </p:spPr>
      </p:cxnSp>
      <p:cxnSp>
        <p:nvCxnSpPr>
          <p:cNvPr id="16" name="Connector 15"/>
          <p:cNvCxnSpPr/>
          <p:nvPr/>
        </p:nvCxnSpPr>
        <p:spPr>
          <a:xfrm>
            <a:off x="6135624" y="3666743"/>
            <a:ext cx="484632" cy="1106425"/>
          </a:xfrm>
          <a:prstGeom prst="line">
            <a:avLst/>
          </a:prstGeom>
          <a:ln w="15875">
            <a:solidFill>
              <a:srgbClr val="C9CDD3"/>
            </a:solidFill>
          </a:ln>
          <a:effectLst/>
        </p:spPr>
      </p:cxnSp>
      <p:cxnSp>
        <p:nvCxnSpPr>
          <p:cNvPr id="17" name="Connector 16"/>
          <p:cNvCxnSpPr/>
          <p:nvPr/>
        </p:nvCxnSpPr>
        <p:spPr>
          <a:xfrm flipH="1">
            <a:off x="8997696" y="3666743"/>
            <a:ext cx="475487" cy="1106425"/>
          </a:xfrm>
          <a:prstGeom prst="line">
            <a:avLst/>
          </a:prstGeom>
          <a:ln w="15875">
            <a:solidFill>
              <a:srgbClr val="C9CDD3"/>
            </a:solidFill>
          </a:ln>
          <a:effectLst/>
        </p:spPr>
      </p:cxnSp>
      <p:cxnSp>
        <p:nvCxnSpPr>
          <p:cNvPr id="18" name="Connector 17"/>
          <p:cNvCxnSpPr/>
          <p:nvPr/>
        </p:nvCxnSpPr>
        <p:spPr>
          <a:xfrm>
            <a:off x="9473183" y="3666743"/>
            <a:ext cx="1024129" cy="1106425"/>
          </a:xfrm>
          <a:prstGeom prst="line">
            <a:avLst/>
          </a:prstGeom>
          <a:ln w="15875">
            <a:solidFill>
              <a:srgbClr val="C9CDD3"/>
            </a:solidFill>
          </a:ln>
          <a:effectLst/>
        </p:spPr>
      </p:cxnSp>
      <p:cxnSp>
        <p:nvCxnSpPr>
          <p:cNvPr id="19" name="Connector 18"/>
          <p:cNvCxnSpPr/>
          <p:nvPr/>
        </p:nvCxnSpPr>
        <p:spPr>
          <a:xfrm flipH="1">
            <a:off x="9619488" y="3666743"/>
            <a:ext cx="950975" cy="1106425"/>
          </a:xfrm>
          <a:prstGeom prst="line">
            <a:avLst/>
          </a:prstGeom>
          <a:ln w="15875">
            <a:solidFill>
              <a:srgbClr val="C9CDD3"/>
            </a:solidFill>
          </a:ln>
          <a:effectLst/>
        </p:spPr>
      </p:cxnSp>
      <p:cxnSp>
        <p:nvCxnSpPr>
          <p:cNvPr id="20" name="Connector 19"/>
          <p:cNvCxnSpPr/>
          <p:nvPr/>
        </p:nvCxnSpPr>
        <p:spPr>
          <a:xfrm>
            <a:off x="10570463" y="3666743"/>
            <a:ext cx="548641" cy="1106425"/>
          </a:xfrm>
          <a:prstGeom prst="line">
            <a:avLst/>
          </a:prstGeom>
          <a:ln w="15875">
            <a:solidFill>
              <a:srgbClr val="C9CDD3"/>
            </a:solidFill>
          </a:ln>
          <a:effectLst/>
        </p:spPr>
      </p:cxnSp>
      <p:cxnSp>
        <p:nvCxnSpPr>
          <p:cNvPr id="21" name="Connector 20"/>
          <p:cNvCxnSpPr/>
          <p:nvPr/>
        </p:nvCxnSpPr>
        <p:spPr>
          <a:xfrm>
            <a:off x="7278624" y="2066544"/>
            <a:ext cx="219455" cy="2706624"/>
          </a:xfrm>
          <a:prstGeom prst="line">
            <a:avLst/>
          </a:prstGeom>
          <a:ln w="15875">
            <a:solidFill>
              <a:srgbClr val="C9CDD3"/>
            </a:solidFill>
          </a:ln>
          <a:effectLst/>
        </p:spPr>
      </p:cxnSp>
      <p:cxnSp>
        <p:nvCxnSpPr>
          <p:cNvPr id="22" name="Connector 21"/>
          <p:cNvCxnSpPr/>
          <p:nvPr/>
        </p:nvCxnSpPr>
        <p:spPr>
          <a:xfrm flipH="1">
            <a:off x="5038344" y="2066544"/>
            <a:ext cx="2240280" cy="749807"/>
          </a:xfrm>
          <a:prstGeom prst="line">
            <a:avLst/>
          </a:prstGeom>
          <a:ln w="15875">
            <a:solidFill>
              <a:srgbClr val="8A8F98"/>
            </a:solidFill>
          </a:ln>
          <a:effectLst/>
        </p:spPr>
      </p:cxnSp>
      <p:cxnSp>
        <p:nvCxnSpPr>
          <p:cNvPr id="23" name="Connector 22"/>
          <p:cNvCxnSpPr/>
          <p:nvPr/>
        </p:nvCxnSpPr>
        <p:spPr>
          <a:xfrm>
            <a:off x="7278624" y="2066544"/>
            <a:ext cx="2194559" cy="749807"/>
          </a:xfrm>
          <a:prstGeom prst="line">
            <a:avLst/>
          </a:prstGeom>
          <a:ln w="15875">
            <a:solidFill>
              <a:srgbClr val="8A8F98"/>
            </a:solidFill>
          </a:ln>
          <a:effectLst/>
        </p:spPr>
      </p:cxnSp>
      <p:cxnSp>
        <p:nvCxnSpPr>
          <p:cNvPr id="24" name="Connector 23"/>
          <p:cNvCxnSpPr/>
          <p:nvPr/>
        </p:nvCxnSpPr>
        <p:spPr>
          <a:xfrm flipH="1">
            <a:off x="8119872" y="2066544"/>
            <a:ext cx="484632" cy="2706624"/>
          </a:xfrm>
          <a:prstGeom prst="line">
            <a:avLst/>
          </a:prstGeom>
          <a:ln w="15875">
            <a:solidFill>
              <a:srgbClr val="C9CDD3"/>
            </a:solidFill>
          </a:ln>
          <a:effectLst/>
        </p:spPr>
      </p:cxnSp>
      <p:cxnSp>
        <p:nvCxnSpPr>
          <p:cNvPr id="25" name="Connector 24"/>
          <p:cNvCxnSpPr/>
          <p:nvPr/>
        </p:nvCxnSpPr>
        <p:spPr>
          <a:xfrm flipH="1">
            <a:off x="6135624" y="2066544"/>
            <a:ext cx="2468880" cy="749807"/>
          </a:xfrm>
          <a:prstGeom prst="line">
            <a:avLst/>
          </a:prstGeom>
          <a:ln w="15875">
            <a:solidFill>
              <a:srgbClr val="8A8F98"/>
            </a:solidFill>
          </a:ln>
          <a:effectLst/>
        </p:spPr>
      </p:cxnSp>
      <p:cxnSp>
        <p:nvCxnSpPr>
          <p:cNvPr id="26" name="Connector 25"/>
          <p:cNvCxnSpPr/>
          <p:nvPr/>
        </p:nvCxnSpPr>
        <p:spPr>
          <a:xfrm>
            <a:off x="8604504" y="2066544"/>
            <a:ext cx="1965959" cy="749807"/>
          </a:xfrm>
          <a:prstGeom prst="line">
            <a:avLst/>
          </a:prstGeom>
          <a:ln w="15875">
            <a:solidFill>
              <a:srgbClr val="8A8F98"/>
            </a:solidFill>
          </a:ln>
          <a:effectLst/>
        </p:spPr>
      </p:cxnSp>
      <p:sp>
        <p:nvSpPr>
          <p:cNvPr id="27" name="Rounded Rectangle 26"/>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463600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5733287"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907084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1016812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TextBox 51"/>
          <p:cNvSpPr txBox="1"/>
          <p:nvPr/>
        </p:nvSpPr>
        <p:spPr>
          <a:xfrm>
            <a:off x="522122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p:cNvSpPr txBox="1"/>
          <p:nvPr/>
        </p:nvSpPr>
        <p:spPr>
          <a:xfrm>
            <a:off x="965606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4" name="FilterCC dirty tag 54"/>
          <p:cNvSpPr/>
          <p:nvPr/>
        </p:nvSpPr>
        <p:spPr>
          <a:xfrm>
            <a:off x="6181344"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10616183"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9"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0" i="0" dirty="0">
                <a:solidFill>
                  <a:srgbClr val="2B2F36"/>
                </a:solidFill>
              </a:rPr>
              <a:t>Compute signature of candidates</a:t>
            </a:r>
            <a:endParaRPr lang="en-US" sz="2800" i="0" dirty="0">
              <a:latin typeface="Calibri"/>
            </a:endParaRPr>
          </a:p>
          <a:p>
            <a:pPr marL="274320" indent="-237744">
              <a:spcBef>
                <a:spcPts val="1000"/>
              </a:spcBef>
              <a:buClr>
                <a:srgbClr val="6B717A"/>
              </a:buClr>
              <a:buChar char="•"/>
            </a:pPr>
            <a:r>
              <a:rPr lang="en-US" sz="2800" b="1" i="0" dirty="0">
                <a:solidFill>
                  <a:srgbClr val="C00000"/>
                </a:solidFill>
                <a:latin typeface="Calibri"/>
              </a:rPr>
              <a:t>Then merge congruent terms, mark dirty, and repeat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3C0B0-397C-4586-94C0-D75C99BC4F7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F101E86-C843-1CCB-3BF6-024A98DE2EDE}"/>
              </a:ext>
            </a:extLst>
          </p:cNvPr>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a:extLst>
              <a:ext uri="{FF2B5EF4-FFF2-40B4-BE49-F238E27FC236}">
                <a16:creationId xmlns:a16="http://schemas.microsoft.com/office/drawing/2014/main" id="{7AD9792B-4325-0840-B683-E68D483F6097}"/>
              </a:ext>
            </a:extLst>
          </p:cNvPr>
          <p:cNvCxnSpPr/>
          <p:nvPr/>
        </p:nvCxnSpPr>
        <p:spPr>
          <a:xfrm>
            <a:off x="566928" y="1024128"/>
            <a:ext cx="2176272" cy="0"/>
          </a:xfrm>
          <a:prstGeom prst="line">
            <a:avLst/>
          </a:prstGeom>
          <a:ln w="31750">
            <a:solidFill>
              <a:srgbClr val="C8501E"/>
            </a:solidFill>
          </a:ln>
          <a:effectLst/>
        </p:spPr>
      </p:cxnSp>
      <p:sp>
        <p:nvSpPr>
          <p:cNvPr id="4" name="TextBox 3">
            <a:extLst>
              <a:ext uri="{FF2B5EF4-FFF2-40B4-BE49-F238E27FC236}">
                <a16:creationId xmlns:a16="http://schemas.microsoft.com/office/drawing/2014/main" id="{D6F0A9AE-001C-CE59-1F05-8CD90E91C04E}"/>
              </a:ext>
            </a:extLst>
          </p:cNvPr>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56</a:t>
            </a:r>
          </a:p>
        </p:txBody>
      </p:sp>
      <p:sp>
        <p:nvSpPr>
          <p:cNvPr id="6" name="Rounded Rectangle 5">
            <a:extLst>
              <a:ext uri="{FF2B5EF4-FFF2-40B4-BE49-F238E27FC236}">
                <a16:creationId xmlns:a16="http://schemas.microsoft.com/office/drawing/2014/main" id="{B6675429-5F52-4B8A-019E-3CF790C76468}"/>
              </a:ext>
            </a:extLst>
          </p:cNvPr>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a:extLst>
              <a:ext uri="{FF2B5EF4-FFF2-40B4-BE49-F238E27FC236}">
                <a16:creationId xmlns:a16="http://schemas.microsoft.com/office/drawing/2014/main" id="{ECE802A4-0AE7-2249-DEA0-8B6709B1A153}"/>
              </a:ext>
            </a:extLst>
          </p:cNvPr>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a:extLst>
              <a:ext uri="{FF2B5EF4-FFF2-40B4-BE49-F238E27FC236}">
                <a16:creationId xmlns:a16="http://schemas.microsoft.com/office/drawing/2014/main" id="{9720EEC6-A88A-15C7-55AB-3D9262B12956}"/>
              </a:ext>
            </a:extLst>
          </p:cNvPr>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a:extLst>
              <a:ext uri="{FF2B5EF4-FFF2-40B4-BE49-F238E27FC236}">
                <a16:creationId xmlns:a16="http://schemas.microsoft.com/office/drawing/2014/main" id="{BE1F1872-6802-2D3B-95F3-9833F13DF46D}"/>
              </a:ext>
            </a:extLst>
          </p:cNvPr>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a:extLst>
              <a:ext uri="{FF2B5EF4-FFF2-40B4-BE49-F238E27FC236}">
                <a16:creationId xmlns:a16="http://schemas.microsoft.com/office/drawing/2014/main" id="{34DAA51A-7A11-96A3-A34E-7ED36AD66D3C}"/>
              </a:ext>
            </a:extLst>
          </p:cNvPr>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a:extLst>
              <a:ext uri="{FF2B5EF4-FFF2-40B4-BE49-F238E27FC236}">
                <a16:creationId xmlns:a16="http://schemas.microsoft.com/office/drawing/2014/main" id="{E79CCD62-9B15-1581-FDA0-C132A59323E5}"/>
              </a:ext>
            </a:extLst>
          </p:cNvPr>
          <p:cNvSpPr/>
          <p:nvPr/>
        </p:nvSpPr>
        <p:spPr>
          <a:xfrm>
            <a:off x="4517136" y="270662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a:extLst>
              <a:ext uri="{FF2B5EF4-FFF2-40B4-BE49-F238E27FC236}">
                <a16:creationId xmlns:a16="http://schemas.microsoft.com/office/drawing/2014/main" id="{B2874F99-9F2E-8FD0-CF47-1C158544C323}"/>
              </a:ext>
            </a:extLst>
          </p:cNvPr>
          <p:cNvSpPr/>
          <p:nvPr/>
        </p:nvSpPr>
        <p:spPr>
          <a:xfrm>
            <a:off x="8951975" y="270662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a:extLst>
              <a:ext uri="{FF2B5EF4-FFF2-40B4-BE49-F238E27FC236}">
                <a16:creationId xmlns:a16="http://schemas.microsoft.com/office/drawing/2014/main" id="{228CBDE2-0070-0E20-1A49-EDE6FD4C4F2B}"/>
              </a:ext>
            </a:extLst>
          </p:cNvPr>
          <p:cNvCxnSpPr/>
          <p:nvPr/>
        </p:nvCxnSpPr>
        <p:spPr>
          <a:xfrm flipH="1">
            <a:off x="4498848" y="3666743"/>
            <a:ext cx="539496" cy="1106425"/>
          </a:xfrm>
          <a:prstGeom prst="line">
            <a:avLst/>
          </a:prstGeom>
          <a:ln w="15875">
            <a:solidFill>
              <a:srgbClr val="C9CDD3"/>
            </a:solidFill>
          </a:ln>
          <a:effectLst/>
        </p:spPr>
      </p:cxnSp>
      <p:cxnSp>
        <p:nvCxnSpPr>
          <p:cNvPr id="14" name="Connector 13">
            <a:extLst>
              <a:ext uri="{FF2B5EF4-FFF2-40B4-BE49-F238E27FC236}">
                <a16:creationId xmlns:a16="http://schemas.microsoft.com/office/drawing/2014/main" id="{637D8B9E-FAC8-8658-49D6-6D86BFD046F7}"/>
              </a:ext>
            </a:extLst>
          </p:cNvPr>
          <p:cNvCxnSpPr/>
          <p:nvPr/>
        </p:nvCxnSpPr>
        <p:spPr>
          <a:xfrm>
            <a:off x="5038344" y="3666743"/>
            <a:ext cx="960120" cy="1106425"/>
          </a:xfrm>
          <a:prstGeom prst="line">
            <a:avLst/>
          </a:prstGeom>
          <a:ln w="15875">
            <a:solidFill>
              <a:srgbClr val="C9CDD3"/>
            </a:solidFill>
          </a:ln>
          <a:effectLst/>
        </p:spPr>
      </p:cxnSp>
      <p:cxnSp>
        <p:nvCxnSpPr>
          <p:cNvPr id="15" name="Connector 14">
            <a:extLst>
              <a:ext uri="{FF2B5EF4-FFF2-40B4-BE49-F238E27FC236}">
                <a16:creationId xmlns:a16="http://schemas.microsoft.com/office/drawing/2014/main" id="{F78F6E9A-6508-B146-4DB7-3F783D834489}"/>
              </a:ext>
            </a:extLst>
          </p:cNvPr>
          <p:cNvCxnSpPr/>
          <p:nvPr/>
        </p:nvCxnSpPr>
        <p:spPr>
          <a:xfrm flipH="1">
            <a:off x="5120639" y="3666743"/>
            <a:ext cx="1014985" cy="1106425"/>
          </a:xfrm>
          <a:prstGeom prst="line">
            <a:avLst/>
          </a:prstGeom>
          <a:ln w="15875">
            <a:solidFill>
              <a:srgbClr val="C9CDD3"/>
            </a:solidFill>
          </a:ln>
          <a:effectLst/>
        </p:spPr>
      </p:cxnSp>
      <p:cxnSp>
        <p:nvCxnSpPr>
          <p:cNvPr id="16" name="Connector 15">
            <a:extLst>
              <a:ext uri="{FF2B5EF4-FFF2-40B4-BE49-F238E27FC236}">
                <a16:creationId xmlns:a16="http://schemas.microsoft.com/office/drawing/2014/main" id="{5E6C2A3E-2AD8-94CC-318F-BC3915DA1CF3}"/>
              </a:ext>
            </a:extLst>
          </p:cNvPr>
          <p:cNvCxnSpPr/>
          <p:nvPr/>
        </p:nvCxnSpPr>
        <p:spPr>
          <a:xfrm>
            <a:off x="6135624" y="3666743"/>
            <a:ext cx="484632" cy="1106425"/>
          </a:xfrm>
          <a:prstGeom prst="line">
            <a:avLst/>
          </a:prstGeom>
          <a:ln w="15875">
            <a:solidFill>
              <a:srgbClr val="C9CDD3"/>
            </a:solidFill>
          </a:ln>
          <a:effectLst/>
        </p:spPr>
      </p:cxnSp>
      <p:cxnSp>
        <p:nvCxnSpPr>
          <p:cNvPr id="17" name="Connector 16">
            <a:extLst>
              <a:ext uri="{FF2B5EF4-FFF2-40B4-BE49-F238E27FC236}">
                <a16:creationId xmlns:a16="http://schemas.microsoft.com/office/drawing/2014/main" id="{946ED7E8-9A51-2462-7F26-11EA27730B35}"/>
              </a:ext>
            </a:extLst>
          </p:cNvPr>
          <p:cNvCxnSpPr/>
          <p:nvPr/>
        </p:nvCxnSpPr>
        <p:spPr>
          <a:xfrm flipH="1">
            <a:off x="8997696" y="3666743"/>
            <a:ext cx="475487" cy="1106425"/>
          </a:xfrm>
          <a:prstGeom prst="line">
            <a:avLst/>
          </a:prstGeom>
          <a:ln w="15875">
            <a:solidFill>
              <a:srgbClr val="C9CDD3"/>
            </a:solidFill>
          </a:ln>
          <a:effectLst/>
        </p:spPr>
      </p:cxnSp>
      <p:cxnSp>
        <p:nvCxnSpPr>
          <p:cNvPr id="18" name="Connector 17">
            <a:extLst>
              <a:ext uri="{FF2B5EF4-FFF2-40B4-BE49-F238E27FC236}">
                <a16:creationId xmlns:a16="http://schemas.microsoft.com/office/drawing/2014/main" id="{03F0DDD8-FCD8-C9FF-5A84-BA7CAE95DB5D}"/>
              </a:ext>
            </a:extLst>
          </p:cNvPr>
          <p:cNvCxnSpPr/>
          <p:nvPr/>
        </p:nvCxnSpPr>
        <p:spPr>
          <a:xfrm>
            <a:off x="9473183" y="3666743"/>
            <a:ext cx="1024129" cy="1106425"/>
          </a:xfrm>
          <a:prstGeom prst="line">
            <a:avLst/>
          </a:prstGeom>
          <a:ln w="15875">
            <a:solidFill>
              <a:srgbClr val="C9CDD3"/>
            </a:solidFill>
          </a:ln>
          <a:effectLst/>
        </p:spPr>
      </p:cxnSp>
      <p:cxnSp>
        <p:nvCxnSpPr>
          <p:cNvPr id="19" name="Connector 18">
            <a:extLst>
              <a:ext uri="{FF2B5EF4-FFF2-40B4-BE49-F238E27FC236}">
                <a16:creationId xmlns:a16="http://schemas.microsoft.com/office/drawing/2014/main" id="{BD2231CE-3559-1284-2539-8A0C86965099}"/>
              </a:ext>
            </a:extLst>
          </p:cNvPr>
          <p:cNvCxnSpPr/>
          <p:nvPr/>
        </p:nvCxnSpPr>
        <p:spPr>
          <a:xfrm flipH="1">
            <a:off x="9619488" y="3666743"/>
            <a:ext cx="950975" cy="1106425"/>
          </a:xfrm>
          <a:prstGeom prst="line">
            <a:avLst/>
          </a:prstGeom>
          <a:ln w="15875">
            <a:solidFill>
              <a:srgbClr val="C9CDD3"/>
            </a:solidFill>
          </a:ln>
          <a:effectLst/>
        </p:spPr>
      </p:cxnSp>
      <p:cxnSp>
        <p:nvCxnSpPr>
          <p:cNvPr id="20" name="Connector 19">
            <a:extLst>
              <a:ext uri="{FF2B5EF4-FFF2-40B4-BE49-F238E27FC236}">
                <a16:creationId xmlns:a16="http://schemas.microsoft.com/office/drawing/2014/main" id="{04DB9339-ACA0-DA42-CAF9-31EBC17FD429}"/>
              </a:ext>
            </a:extLst>
          </p:cNvPr>
          <p:cNvCxnSpPr/>
          <p:nvPr/>
        </p:nvCxnSpPr>
        <p:spPr>
          <a:xfrm>
            <a:off x="10570463" y="3666743"/>
            <a:ext cx="548641" cy="1106425"/>
          </a:xfrm>
          <a:prstGeom prst="line">
            <a:avLst/>
          </a:prstGeom>
          <a:ln w="15875">
            <a:solidFill>
              <a:srgbClr val="C9CDD3"/>
            </a:solidFill>
          </a:ln>
          <a:effectLst/>
        </p:spPr>
      </p:cxnSp>
      <p:cxnSp>
        <p:nvCxnSpPr>
          <p:cNvPr id="21" name="Connector 20">
            <a:extLst>
              <a:ext uri="{FF2B5EF4-FFF2-40B4-BE49-F238E27FC236}">
                <a16:creationId xmlns:a16="http://schemas.microsoft.com/office/drawing/2014/main" id="{8ADDE663-7BB3-3F96-66F9-981E674E1743}"/>
              </a:ext>
            </a:extLst>
          </p:cNvPr>
          <p:cNvCxnSpPr/>
          <p:nvPr/>
        </p:nvCxnSpPr>
        <p:spPr>
          <a:xfrm>
            <a:off x="7278624" y="2066544"/>
            <a:ext cx="219455" cy="2706624"/>
          </a:xfrm>
          <a:prstGeom prst="line">
            <a:avLst/>
          </a:prstGeom>
          <a:ln w="15875">
            <a:solidFill>
              <a:srgbClr val="C9CDD3"/>
            </a:solidFill>
          </a:ln>
          <a:effectLst/>
        </p:spPr>
      </p:cxnSp>
      <p:cxnSp>
        <p:nvCxnSpPr>
          <p:cNvPr id="22" name="Connector 21">
            <a:extLst>
              <a:ext uri="{FF2B5EF4-FFF2-40B4-BE49-F238E27FC236}">
                <a16:creationId xmlns:a16="http://schemas.microsoft.com/office/drawing/2014/main" id="{6C157D30-5ED4-522A-2AB9-4E039A7176FD}"/>
              </a:ext>
            </a:extLst>
          </p:cNvPr>
          <p:cNvCxnSpPr/>
          <p:nvPr/>
        </p:nvCxnSpPr>
        <p:spPr>
          <a:xfrm flipH="1">
            <a:off x="5038344" y="2066544"/>
            <a:ext cx="2240280" cy="749807"/>
          </a:xfrm>
          <a:prstGeom prst="line">
            <a:avLst/>
          </a:prstGeom>
          <a:ln w="15875">
            <a:solidFill>
              <a:srgbClr val="8A8F98"/>
            </a:solidFill>
          </a:ln>
          <a:effectLst/>
        </p:spPr>
      </p:cxnSp>
      <p:cxnSp>
        <p:nvCxnSpPr>
          <p:cNvPr id="23" name="Connector 22">
            <a:extLst>
              <a:ext uri="{FF2B5EF4-FFF2-40B4-BE49-F238E27FC236}">
                <a16:creationId xmlns:a16="http://schemas.microsoft.com/office/drawing/2014/main" id="{64631AFE-CDB5-8616-8C68-3C50ED1897EF}"/>
              </a:ext>
            </a:extLst>
          </p:cNvPr>
          <p:cNvCxnSpPr/>
          <p:nvPr/>
        </p:nvCxnSpPr>
        <p:spPr>
          <a:xfrm>
            <a:off x="7278624" y="2066544"/>
            <a:ext cx="2194559" cy="749807"/>
          </a:xfrm>
          <a:prstGeom prst="line">
            <a:avLst/>
          </a:prstGeom>
          <a:ln w="15875">
            <a:solidFill>
              <a:srgbClr val="8A8F98"/>
            </a:solidFill>
          </a:ln>
          <a:effectLst/>
        </p:spPr>
      </p:cxnSp>
      <p:cxnSp>
        <p:nvCxnSpPr>
          <p:cNvPr id="24" name="Connector 23">
            <a:extLst>
              <a:ext uri="{FF2B5EF4-FFF2-40B4-BE49-F238E27FC236}">
                <a16:creationId xmlns:a16="http://schemas.microsoft.com/office/drawing/2014/main" id="{8D43C4EB-E81C-280F-9DBD-F16C77F7818F}"/>
              </a:ext>
            </a:extLst>
          </p:cNvPr>
          <p:cNvCxnSpPr/>
          <p:nvPr/>
        </p:nvCxnSpPr>
        <p:spPr>
          <a:xfrm flipH="1">
            <a:off x="8119872" y="2066544"/>
            <a:ext cx="484632" cy="2706624"/>
          </a:xfrm>
          <a:prstGeom prst="line">
            <a:avLst/>
          </a:prstGeom>
          <a:ln w="15875">
            <a:solidFill>
              <a:srgbClr val="C9CDD3"/>
            </a:solidFill>
          </a:ln>
          <a:effectLst/>
        </p:spPr>
      </p:cxnSp>
      <p:cxnSp>
        <p:nvCxnSpPr>
          <p:cNvPr id="25" name="Connector 24">
            <a:extLst>
              <a:ext uri="{FF2B5EF4-FFF2-40B4-BE49-F238E27FC236}">
                <a16:creationId xmlns:a16="http://schemas.microsoft.com/office/drawing/2014/main" id="{CDDEB357-034C-07EA-AFA6-F8940B217604}"/>
              </a:ext>
            </a:extLst>
          </p:cNvPr>
          <p:cNvCxnSpPr/>
          <p:nvPr/>
        </p:nvCxnSpPr>
        <p:spPr>
          <a:xfrm flipH="1">
            <a:off x="6135624" y="2066544"/>
            <a:ext cx="2468880" cy="749807"/>
          </a:xfrm>
          <a:prstGeom prst="line">
            <a:avLst/>
          </a:prstGeom>
          <a:ln w="15875">
            <a:solidFill>
              <a:srgbClr val="8A8F98"/>
            </a:solidFill>
          </a:ln>
          <a:effectLst/>
        </p:spPr>
      </p:cxnSp>
      <p:cxnSp>
        <p:nvCxnSpPr>
          <p:cNvPr id="26" name="Connector 25">
            <a:extLst>
              <a:ext uri="{FF2B5EF4-FFF2-40B4-BE49-F238E27FC236}">
                <a16:creationId xmlns:a16="http://schemas.microsoft.com/office/drawing/2014/main" id="{F14E8D66-20B9-C852-B4FA-DD83201D154A}"/>
              </a:ext>
            </a:extLst>
          </p:cNvPr>
          <p:cNvCxnSpPr/>
          <p:nvPr/>
        </p:nvCxnSpPr>
        <p:spPr>
          <a:xfrm>
            <a:off x="8604504" y="2066544"/>
            <a:ext cx="1965959" cy="749807"/>
          </a:xfrm>
          <a:prstGeom prst="line">
            <a:avLst/>
          </a:prstGeom>
          <a:ln w="15875">
            <a:solidFill>
              <a:srgbClr val="8A8F98"/>
            </a:solidFill>
          </a:ln>
          <a:effectLst/>
        </p:spPr>
      </p:cxnSp>
      <p:sp>
        <p:nvSpPr>
          <p:cNvPr id="27" name="Rounded Rectangle 26">
            <a:extLst>
              <a:ext uri="{FF2B5EF4-FFF2-40B4-BE49-F238E27FC236}">
                <a16:creationId xmlns:a16="http://schemas.microsoft.com/office/drawing/2014/main" id="{AEEF99E4-CB90-DD92-E503-BF4281465F51}"/>
              </a:ext>
            </a:extLst>
          </p:cNvPr>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a:extLst>
              <a:ext uri="{FF2B5EF4-FFF2-40B4-BE49-F238E27FC236}">
                <a16:creationId xmlns:a16="http://schemas.microsoft.com/office/drawing/2014/main" id="{36451B60-A396-A5AE-0BB3-0DD96455D0CB}"/>
              </a:ext>
            </a:extLst>
          </p:cNvPr>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a:extLst>
              <a:ext uri="{FF2B5EF4-FFF2-40B4-BE49-F238E27FC236}">
                <a16:creationId xmlns:a16="http://schemas.microsoft.com/office/drawing/2014/main" id="{AE21B4DA-7CA5-7BE1-76FD-1A2E1B74DF12}"/>
              </a:ext>
            </a:extLst>
          </p:cNvPr>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a:extLst>
              <a:ext uri="{FF2B5EF4-FFF2-40B4-BE49-F238E27FC236}">
                <a16:creationId xmlns:a16="http://schemas.microsoft.com/office/drawing/2014/main" id="{83966962-3E06-4A84-54D8-5301D2B2A7CC}"/>
              </a:ext>
            </a:extLst>
          </p:cNvPr>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a:extLst>
              <a:ext uri="{FF2B5EF4-FFF2-40B4-BE49-F238E27FC236}">
                <a16:creationId xmlns:a16="http://schemas.microsoft.com/office/drawing/2014/main" id="{924569BF-FC12-AE64-05F7-C2849148AD56}"/>
              </a:ext>
            </a:extLst>
          </p:cNvPr>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a:extLst>
              <a:ext uri="{FF2B5EF4-FFF2-40B4-BE49-F238E27FC236}">
                <a16:creationId xmlns:a16="http://schemas.microsoft.com/office/drawing/2014/main" id="{7294A3B2-0A3E-77D0-9A53-9CC87B0917EA}"/>
              </a:ext>
            </a:extLst>
          </p:cNvPr>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a:extLst>
              <a:ext uri="{FF2B5EF4-FFF2-40B4-BE49-F238E27FC236}">
                <a16:creationId xmlns:a16="http://schemas.microsoft.com/office/drawing/2014/main" id="{00810288-67F2-F5D7-E6AC-FD07185D0F40}"/>
              </a:ext>
            </a:extLst>
          </p:cNvPr>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a:extLst>
              <a:ext uri="{FF2B5EF4-FFF2-40B4-BE49-F238E27FC236}">
                <a16:creationId xmlns:a16="http://schemas.microsoft.com/office/drawing/2014/main" id="{A302088A-930D-F458-98AB-6AD4699722ED}"/>
              </a:ext>
            </a:extLst>
          </p:cNvPr>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a:extLst>
              <a:ext uri="{FF2B5EF4-FFF2-40B4-BE49-F238E27FC236}">
                <a16:creationId xmlns:a16="http://schemas.microsoft.com/office/drawing/2014/main" id="{657BDF7C-59DB-B82B-6A09-A8CE7E67BFBC}"/>
              </a:ext>
            </a:extLst>
          </p:cNvPr>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a:extLst>
              <a:ext uri="{FF2B5EF4-FFF2-40B4-BE49-F238E27FC236}">
                <a16:creationId xmlns:a16="http://schemas.microsoft.com/office/drawing/2014/main" id="{7D8C3491-098F-FCB6-6322-C4702652F269}"/>
              </a:ext>
            </a:extLst>
          </p:cNvPr>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a:extLst>
              <a:ext uri="{FF2B5EF4-FFF2-40B4-BE49-F238E27FC236}">
                <a16:creationId xmlns:a16="http://schemas.microsoft.com/office/drawing/2014/main" id="{3BE0D377-3081-60A3-C8DF-40901F3FDF42}"/>
              </a:ext>
            </a:extLst>
          </p:cNvPr>
          <p:cNvSpPr/>
          <p:nvPr/>
        </p:nvSpPr>
        <p:spPr>
          <a:xfrm>
            <a:off x="463600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a:extLst>
              <a:ext uri="{FF2B5EF4-FFF2-40B4-BE49-F238E27FC236}">
                <a16:creationId xmlns:a16="http://schemas.microsoft.com/office/drawing/2014/main" id="{28F3C036-CDBB-A7C9-4736-48890DD5B2AF}"/>
              </a:ext>
            </a:extLst>
          </p:cNvPr>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a:extLst>
              <a:ext uri="{FF2B5EF4-FFF2-40B4-BE49-F238E27FC236}">
                <a16:creationId xmlns:a16="http://schemas.microsoft.com/office/drawing/2014/main" id="{311EF23F-E89D-8D9E-5060-5E98689DF6F0}"/>
              </a:ext>
            </a:extLst>
          </p:cNvPr>
          <p:cNvSpPr/>
          <p:nvPr/>
        </p:nvSpPr>
        <p:spPr>
          <a:xfrm>
            <a:off x="5733287"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a:extLst>
              <a:ext uri="{FF2B5EF4-FFF2-40B4-BE49-F238E27FC236}">
                <a16:creationId xmlns:a16="http://schemas.microsoft.com/office/drawing/2014/main" id="{065CAAF4-43B0-820D-1E0E-1040A26419FC}"/>
              </a:ext>
            </a:extLst>
          </p:cNvPr>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a:extLst>
              <a:ext uri="{FF2B5EF4-FFF2-40B4-BE49-F238E27FC236}">
                <a16:creationId xmlns:a16="http://schemas.microsoft.com/office/drawing/2014/main" id="{D908F68A-76F5-02B2-9EC2-4FB84BDCDEF6}"/>
              </a:ext>
            </a:extLst>
          </p:cNvPr>
          <p:cNvSpPr/>
          <p:nvPr/>
        </p:nvSpPr>
        <p:spPr>
          <a:xfrm>
            <a:off x="907084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a:extLst>
              <a:ext uri="{FF2B5EF4-FFF2-40B4-BE49-F238E27FC236}">
                <a16:creationId xmlns:a16="http://schemas.microsoft.com/office/drawing/2014/main" id="{A1F59A61-9EA6-DF72-D29C-5916FBDFE35B}"/>
              </a:ext>
            </a:extLst>
          </p:cNvPr>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a:extLst>
              <a:ext uri="{FF2B5EF4-FFF2-40B4-BE49-F238E27FC236}">
                <a16:creationId xmlns:a16="http://schemas.microsoft.com/office/drawing/2014/main" id="{BFE37745-158E-779D-A8B4-30953EF25376}"/>
              </a:ext>
            </a:extLst>
          </p:cNvPr>
          <p:cNvSpPr/>
          <p:nvPr/>
        </p:nvSpPr>
        <p:spPr>
          <a:xfrm>
            <a:off x="1016812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a:extLst>
              <a:ext uri="{FF2B5EF4-FFF2-40B4-BE49-F238E27FC236}">
                <a16:creationId xmlns:a16="http://schemas.microsoft.com/office/drawing/2014/main" id="{6EED88EC-794A-FCAC-60EB-A7120F32417B}"/>
              </a:ext>
            </a:extLst>
          </p:cNvPr>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a:extLst>
              <a:ext uri="{FF2B5EF4-FFF2-40B4-BE49-F238E27FC236}">
                <a16:creationId xmlns:a16="http://schemas.microsoft.com/office/drawing/2014/main" id="{853EC41A-3A4A-8CEB-E961-2BBECA5BB36B}"/>
              </a:ext>
            </a:extLst>
          </p:cNvPr>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a:extLst>
              <a:ext uri="{FF2B5EF4-FFF2-40B4-BE49-F238E27FC236}">
                <a16:creationId xmlns:a16="http://schemas.microsoft.com/office/drawing/2014/main" id="{6B0133F1-B7D4-8D42-76BB-53D097A8621A}"/>
              </a:ext>
            </a:extLst>
          </p:cNvPr>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a:extLst>
              <a:ext uri="{FF2B5EF4-FFF2-40B4-BE49-F238E27FC236}">
                <a16:creationId xmlns:a16="http://schemas.microsoft.com/office/drawing/2014/main" id="{46CDF1CA-7D81-C501-C0EA-A1B9B0107BB0}"/>
              </a:ext>
            </a:extLst>
          </p:cNvPr>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a:extLst>
              <a:ext uri="{FF2B5EF4-FFF2-40B4-BE49-F238E27FC236}">
                <a16:creationId xmlns:a16="http://schemas.microsoft.com/office/drawing/2014/main" id="{CFA2B973-4287-92FB-3C04-3B797B33D388}"/>
              </a:ext>
            </a:extLst>
          </p:cNvPr>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TextBox 51">
            <a:extLst>
              <a:ext uri="{FF2B5EF4-FFF2-40B4-BE49-F238E27FC236}">
                <a16:creationId xmlns:a16="http://schemas.microsoft.com/office/drawing/2014/main" id="{8F7C3E38-1888-7DB5-C9DF-0F3133922478}"/>
              </a:ext>
            </a:extLst>
          </p:cNvPr>
          <p:cNvSpPr txBox="1"/>
          <p:nvPr/>
        </p:nvSpPr>
        <p:spPr>
          <a:xfrm>
            <a:off x="522122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a:extLst>
              <a:ext uri="{FF2B5EF4-FFF2-40B4-BE49-F238E27FC236}">
                <a16:creationId xmlns:a16="http://schemas.microsoft.com/office/drawing/2014/main" id="{611A7A12-253A-5CB0-6C65-8A7E40157407}"/>
              </a:ext>
            </a:extLst>
          </p:cNvPr>
          <p:cNvSpPr txBox="1"/>
          <p:nvPr/>
        </p:nvSpPr>
        <p:spPr>
          <a:xfrm>
            <a:off x="965606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4" name="FilterCC dirty tag 54">
            <a:extLst>
              <a:ext uri="{FF2B5EF4-FFF2-40B4-BE49-F238E27FC236}">
                <a16:creationId xmlns:a16="http://schemas.microsoft.com/office/drawing/2014/main" id="{AAE2C38A-E767-3800-D33A-800C5949A70C}"/>
              </a:ext>
            </a:extLst>
          </p:cNvPr>
          <p:cNvSpPr/>
          <p:nvPr/>
        </p:nvSpPr>
        <p:spPr>
          <a:xfrm>
            <a:off x="6181344"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a:extLst>
              <a:ext uri="{FF2B5EF4-FFF2-40B4-BE49-F238E27FC236}">
                <a16:creationId xmlns:a16="http://schemas.microsoft.com/office/drawing/2014/main" id="{A95A50AE-51C1-04D4-B2A3-C071DFF3BD12}"/>
              </a:ext>
            </a:extLst>
          </p:cNvPr>
          <p:cNvSpPr/>
          <p:nvPr/>
        </p:nvSpPr>
        <p:spPr>
          <a:xfrm>
            <a:off x="10616183"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conclusion">
            <a:extLst>
              <a:ext uri="{FF2B5EF4-FFF2-40B4-BE49-F238E27FC236}">
                <a16:creationId xmlns:a16="http://schemas.microsoft.com/office/drawing/2014/main" id="{76164149-B76F-14EA-5B42-A87865287B80}"/>
              </a:ext>
            </a:extLst>
          </p:cNvPr>
          <p:cNvSpPr/>
          <p:nvPr/>
        </p:nvSpPr>
        <p:spPr>
          <a:xfrm>
            <a:off x="486916" y="5746440"/>
            <a:ext cx="10440000" cy="822960"/>
          </a:xfrm>
          <a:prstGeom prst="roundRect">
            <a:avLst>
              <a:gd name="adj" fmla="val 15000"/>
            </a:avLst>
          </a:prstGeom>
          <a:solidFill>
            <a:srgbClr val="1F2A44"/>
          </a:solidFill>
          <a:ln>
            <a:noFill/>
          </a:ln>
          <a:effectLst/>
        </p:spPr>
        <p:txBody>
          <a:bodyPr wrap="square" lIns="54864" tIns="27432" rIns="54864" bIns="27432" rtlCol="0" anchor="ctr"/>
          <a:lstStyle/>
          <a:p>
            <a:pPr algn="ctr"/>
            <a:r>
              <a:rPr lang="en-US" sz="2200" b="1" i="0" dirty="0">
                <a:solidFill>
                  <a:srgbClr val="FFFFFF"/>
                </a:solidFill>
                <a:latin typeface="Calibri"/>
              </a:rPr>
              <a:t>No</a:t>
            </a:r>
            <a:r>
              <a:rPr sz="2200" b="1" i="0" dirty="0">
                <a:solidFill>
                  <a:srgbClr val="FFFFFF"/>
                </a:solidFill>
                <a:latin typeface="Calibri"/>
              </a:rPr>
              <a:t> allocation, but a scan of every term per round</a:t>
            </a:r>
            <a:r>
              <a:rPr lang="en-US" sz="2200" b="1" dirty="0">
                <a:solidFill>
                  <a:srgbClr val="FFFFFF"/>
                </a:solidFill>
                <a:latin typeface="Calibri"/>
              </a:rPr>
              <a:t>.</a:t>
            </a:r>
          </a:p>
          <a:p>
            <a:pPr algn="ctr"/>
            <a:r>
              <a:rPr lang="en-US" sz="2200" b="1" i="0" dirty="0">
                <a:solidFill>
                  <a:srgbClr val="FFFFFF"/>
                </a:solidFill>
                <a:latin typeface="Calibri"/>
              </a:rPr>
              <a:t>This beats </a:t>
            </a:r>
            <a:r>
              <a:rPr lang="en-US" sz="2200" b="1" i="0" dirty="0" err="1">
                <a:solidFill>
                  <a:srgbClr val="FFFFFF"/>
                </a:solidFill>
                <a:latin typeface="Calibri"/>
              </a:rPr>
              <a:t>Parent</a:t>
            </a:r>
            <a:r>
              <a:rPr lang="en-US" sz="2200" b="1" dirty="0" err="1">
                <a:solidFill>
                  <a:srgbClr val="FFFFFF"/>
                </a:solidFill>
                <a:latin typeface="Calibri"/>
              </a:rPr>
              <a:t>CC</a:t>
            </a:r>
            <a:r>
              <a:rPr lang="en-US" sz="2200" b="1" dirty="0">
                <a:solidFill>
                  <a:srgbClr val="FFFFFF"/>
                </a:solidFill>
                <a:latin typeface="Calibri"/>
              </a:rPr>
              <a:t> </a:t>
            </a:r>
            <a:r>
              <a:rPr sz="2200" b="1" i="0" dirty="0">
                <a:solidFill>
                  <a:srgbClr val="FFFFFF"/>
                </a:solidFill>
                <a:latin typeface="Calibri"/>
              </a:rPr>
              <a:t>when </a:t>
            </a:r>
            <a:r>
              <a:rPr lang="en-US" sz="2200" b="1" i="0" dirty="0">
                <a:solidFill>
                  <a:srgbClr val="FFFFFF"/>
                </a:solidFill>
                <a:latin typeface="Calibri"/>
              </a:rPr>
              <a:t>there </a:t>
            </a:r>
            <a:r>
              <a:rPr lang="en-US" sz="2200" b="1" i="0">
                <a:solidFill>
                  <a:srgbClr val="FFFFFF"/>
                </a:solidFill>
                <a:latin typeface="Calibri"/>
              </a:rPr>
              <a:t>are fewer </a:t>
            </a:r>
            <a:r>
              <a:rPr lang="en-US" sz="2200" b="1" i="0" dirty="0">
                <a:solidFill>
                  <a:srgbClr val="FFFFFF"/>
                </a:solidFill>
                <a:latin typeface="Calibri"/>
              </a:rPr>
              <a:t>total rounds.</a:t>
            </a:r>
            <a:endParaRPr sz="2200" b="1" i="0" dirty="0">
              <a:solidFill>
                <a:srgbClr val="FFFFFF"/>
              </a:solidFill>
              <a:latin typeface="Calibri"/>
            </a:endParaRPr>
          </a:p>
        </p:txBody>
      </p:sp>
      <p:sp>
        <p:nvSpPr>
          <p:cNvPr id="59" name="FilterCC persistent bullets">
            <a:extLst>
              <a:ext uri="{FF2B5EF4-FFF2-40B4-BE49-F238E27FC236}">
                <a16:creationId xmlns:a16="http://schemas.microsoft.com/office/drawing/2014/main" id="{35CD2BA4-6975-196D-EB8F-4D70781C98A3}"/>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0" i="0" dirty="0">
                <a:solidFill>
                  <a:srgbClr val="2B2F36"/>
                </a:solidFill>
              </a:rPr>
              <a:t>Compute signature of candidates</a:t>
            </a:r>
            <a:endParaRPr lang="en-US" sz="2800" i="0" dirty="0">
              <a:latin typeface="Calibri"/>
            </a:endParaRPr>
          </a:p>
          <a:p>
            <a:pPr marL="274320" indent="-237744">
              <a:spcBef>
                <a:spcPts val="1000"/>
              </a:spcBef>
              <a:buClr>
                <a:srgbClr val="6B717A"/>
              </a:buClr>
              <a:buChar char="•"/>
            </a:pPr>
            <a:r>
              <a:rPr lang="en-US" sz="2800" b="1" i="0" dirty="0">
                <a:solidFill>
                  <a:srgbClr val="C00000"/>
                </a:solidFill>
                <a:latin typeface="Calibri"/>
              </a:rPr>
              <a:t>Then merge congruent terms, mark dirty, and repeat</a:t>
            </a:r>
          </a:p>
        </p:txBody>
      </p:sp>
    </p:spTree>
    <p:extLst>
      <p:ext uri="{BB962C8B-B14F-4D97-AF65-F5344CB8AC3E}">
        <p14:creationId xmlns:p14="http://schemas.microsoft.com/office/powerpoint/2010/main" val="890941761"/>
      </p:ext>
    </p:extLst>
  </p:cSld>
  <p:clrMapOvr>
    <a:masterClrMapping/>
  </p:clrMapOvr>
</p:sld>
</file>

<file path=ppt/slides/slide67.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Recurring TOC Marker - Evaluation"/>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0" name="Outline accent Evaluation"/>
          <p:cNvSpPr/>
          <p:nvPr/>
        </p:nvSpPr>
        <p:spPr>
          <a:xfrm>
            <a:off x="621792" y="4864608"/>
            <a:ext cx="50292" cy="493776"/>
          </a:xfrm>
          <a:prstGeom prst="rect">
            <a:avLst/>
          </a:prstGeom>
          <a:solidFill>
            <a:srgbClr val="C8501E"/>
          </a:solidFill>
          <a:ln>
            <a:noFill/>
          </a:ln>
        </p:spPr>
        <p:txBody>
          <a:bodyPr/>
          <a:lstStyle/>
          <a:p>
            <a:endParaRPr lang="en-US"/>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5. Evaluation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75</a:t>
            </a:r>
          </a:p>
        </p:txBody>
      </p:sp>
      <p:sp>
        <p:nvSpPr>
          <p:cNvPr id="5" name="Implementation bullets"/>
          <p:cNvSpPr txBox="1"/>
          <p:nvPr/>
        </p:nvSpPr>
        <p:spPr>
          <a:xfrm>
            <a:off x="822960" y="1417320"/>
            <a:ext cx="10515600" cy="4389120"/>
          </a:xfrm>
          <a:prstGeom prst="rect">
            <a:avLst/>
          </a:prstGeom>
          <a:noFill/>
        </p:spPr>
        <p:txBody>
          <a:bodyPr wrap="square" lIns="45720" tIns="0" rIns="45720" bIns="0"/>
          <a:lstStyle/>
          <a:p>
            <a:pPr marL="365760" indent="-274320">
              <a:spcBef>
                <a:spcPts val="1800"/>
              </a:spcBef>
              <a:spcAft>
                <a:spcPts val="800"/>
              </a:spcAft>
              <a:buClr>
                <a:srgbClr val="C8501E"/>
              </a:buClr>
              <a:buChar char="•"/>
            </a:pPr>
            <a:r>
              <a:rPr lang="en-US" sz="2300" b="1">
                <a:solidFill>
                  <a:srgbClr val="1F2A44"/>
                </a:solidFill>
                <a:latin typeface="Calibri"/>
              </a:rPr>
              <a:t>Parallel implementation</a:t>
            </a:r>
            <a:r>
              <a:rPr lang="en-US" sz="2300" b="0">
                <a:solidFill>
                  <a:srgbClr val="2B2F36"/>
                </a:solidFill>
                <a:latin typeface="Calibri"/>
              </a:rPr>
              <a:t> — built with ParlayLib.</a:t>
            </a:r>
          </a:p>
          <a:p>
            <a:pPr marL="365760" indent="-274320">
              <a:spcBef>
                <a:spcPts val="1800"/>
              </a:spcBef>
              <a:spcAft>
                <a:spcPts val="800"/>
              </a:spcAft>
              <a:buClr>
                <a:srgbClr val="C8501E"/>
              </a:buClr>
              <a:buChar char="•"/>
            </a:pPr>
            <a:r>
              <a:rPr lang="en-US" sz="2300" b="1">
                <a:solidFill>
                  <a:srgbClr val="1F2A44"/>
                </a:solidFill>
                <a:latin typeface="Calibri"/>
              </a:rPr>
              <a:t>Sequential approaches tried</a:t>
            </a:r>
            <a:r>
              <a:rPr lang="en-US" sz="2300" b="0">
                <a:solidFill>
                  <a:srgbClr val="2B2F36"/>
                </a:solidFill>
                <a:latin typeface="Calibri"/>
              </a:rPr>
              <a:t> — Nieuwenhuis–Oliveras worklist, topological-sort fixpoint, and Downey–Sethi–Tarjan.</a:t>
            </a:r>
          </a:p>
          <a:p>
            <a:pPr marL="365760" indent="-274320">
              <a:spcBef>
                <a:spcPts val="1800"/>
              </a:spcBef>
              <a:spcAft>
                <a:spcPts val="800"/>
              </a:spcAft>
              <a:buClr>
                <a:srgbClr val="C8501E"/>
              </a:buClr>
              <a:buChar char="•"/>
            </a:pPr>
            <a:r>
              <a:rPr lang="en-US" sz="2300" b="1">
                <a:solidFill>
                  <a:srgbClr val="1F2A44"/>
                </a:solidFill>
                <a:latin typeface="Calibri"/>
              </a:rPr>
              <a:t>Best sequential baseline</a:t>
            </a:r>
            <a:r>
              <a:rPr lang="en-US" sz="2300" b="0">
                <a:solidFill>
                  <a:srgbClr val="2B2F36"/>
                </a:solidFill>
                <a:latin typeface="Calibri"/>
              </a:rPr>
              <a:t> — tuned Nieuwenhuis–Oliveras worklist, with arity-specialized signature tables and a bump allocator.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pPr algn="l"/>
            <a:r>
              <a:rPr sz="3000" b="1" i="0" dirty="0">
                <a:solidFill>
                  <a:srgbClr val="1F2A44"/>
                </a:solidFill>
                <a:latin typeface="Calibri"/>
              </a:rPr>
              <a:t>RQ1 — </a:t>
            </a:r>
            <a:r>
              <a:rPr lang="en-US" sz="3000" b="1" i="0" dirty="0">
                <a:solidFill>
                  <a:srgbClr val="1F2A44"/>
                </a:solidFill>
                <a:latin typeface="Calibri"/>
              </a:rPr>
              <a:t>How does the performance scale with the benchmark size</a:t>
            </a:r>
            <a:r>
              <a:rPr sz="3000" b="1" i="0" dirty="0">
                <a:solidFill>
                  <a:srgbClr val="1F2A44"/>
                </a:solidFill>
                <a:latin typeface="Calibri"/>
              </a:rPr>
              <a:t>?</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57</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58</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59</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60</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61</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62</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63</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64</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65</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66</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dirty="0">
                <a:solidFill>
                  <a:srgbClr val="2B2F36"/>
                </a:solidFill>
                <a:latin typeface="Calibri"/>
              </a:rPr>
              <a:t>Synthetic benchmarks: k controls width: larger k creates a k³-wide merge frontier. l controls depth: smaller l </a:t>
            </a:r>
            <a:r>
              <a:rPr lang="en-US" sz="1700" dirty="0">
                <a:solidFill>
                  <a:srgbClr val="2B2F36"/>
                </a:solidFill>
                <a:latin typeface="Calibri"/>
              </a:rPr>
              <a:t>is deeper</a:t>
            </a:r>
            <a:endParaRPr lang="en-US" sz="1700" b="0" dirty="0">
              <a:solidFill>
                <a:srgbClr val="2B2F36"/>
              </a:solidFill>
              <a:latin typeface="Calibri"/>
            </a:endParaRP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67</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r>
              <a:rPr lang="en-US" sz="1700" dirty="0">
                <a:solidFill>
                  <a:srgbClr val="2B2F36"/>
                </a:solidFill>
              </a:rPr>
              <a:t>Synthetic benchmarks: k controls width: larger k creates a k³-wide merge frontier. l controls depth: smaller l is deeper</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68</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r>
              <a:rPr lang="en-US" sz="1700" dirty="0">
                <a:solidFill>
                  <a:srgbClr val="2B2F36"/>
                </a:solidFill>
              </a:rPr>
              <a:t>Synthetic benchmarks: k controls width: larger k creates a k³-wide merge frontier. l controls depth: smaller l is deeper</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69</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k controls width: larger k creates a k³-wide merge frontier. l controls depth: smaller l makes the g-trees taller.</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RQ3 — Does this help on real-world benchmarks?</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74</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measure recovered gates from circuit-equivalence miters used by Biere et al.: 10 IWLS’22 and 12 HWMCC’12 instances.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4530"/>
            <a:ext cx="5577840" cy="3851940"/>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Conclusion</a:t>
            </a:r>
          </a:p>
        </p:txBody>
      </p:sp>
      <p:cxnSp>
        <p:nvCxnSpPr>
          <p:cNvPr id="3" name="Connector 2"/>
          <p:cNvCxnSpPr/>
          <p:nvPr/>
        </p:nvCxnSpPr>
        <p:spPr>
          <a:xfrm>
            <a:off x="566928" y="1024128"/>
            <a:ext cx="2176272" cy="0"/>
          </a:xfrm>
          <a:prstGeom prst="line">
            <a:avLst/>
          </a:prstGeom>
          <a:ln w="31750">
            <a:solidFill>
              <a:srgbClr val="C8501E"/>
            </a:solidFill>
          </a:ln>
          <a:effectLst/>
        </p:spPr>
      </p:cxnSp>
      <p:cxnSp>
        <p:nvCxnSpPr>
          <p:cNvPr id="20" name="Conclusion e-graph 20"/>
          <p:cNvCxnSpPr/>
          <p:nvPr/>
        </p:nvCxnSpPr>
        <p:spPr>
          <a:xfrm>
            <a:off x="8194152" y="1937644"/>
            <a:ext cx="0" cy="627644"/>
          </a:xfrm>
          <a:prstGeom prst="line">
            <a:avLst/>
          </a:prstGeom>
          <a:ln w="19050">
            <a:solidFill>
              <a:srgbClr val="8A8F98"/>
            </a:solidFill>
          </a:ln>
          <a:effectLst/>
        </p:spPr>
      </p:cxnSp>
      <p:cxnSp>
        <p:nvCxnSpPr>
          <p:cNvPr id="21" name="Conclusion e-graph 21"/>
          <p:cNvCxnSpPr/>
          <p:nvPr/>
        </p:nvCxnSpPr>
        <p:spPr>
          <a:xfrm>
            <a:off x="11332373" y="1937644"/>
            <a:ext cx="0" cy="627644"/>
          </a:xfrm>
          <a:prstGeom prst="line">
            <a:avLst/>
          </a:prstGeom>
          <a:ln w="19050">
            <a:solidFill>
              <a:srgbClr val="8A8F98"/>
            </a:solidFill>
          </a:ln>
          <a:effectLst/>
        </p:spPr>
      </p:cxnSp>
      <p:sp>
        <p:nvSpPr>
          <p:cNvPr id="22" name="Conclusion e-graph 22"/>
          <p:cNvSpPr/>
          <p:nvPr/>
        </p:nvSpPr>
        <p:spPr>
          <a:xfrm>
            <a:off x="781970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a</a:t>
            </a:r>
          </a:p>
        </p:txBody>
      </p:sp>
      <p:sp>
        <p:nvSpPr>
          <p:cNvPr id="23" name="Conclusion e-graph 23"/>
          <p:cNvSpPr/>
          <p:nvPr/>
        </p:nvSpPr>
        <p:spPr>
          <a:xfrm>
            <a:off x="938881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b</a:t>
            </a:r>
          </a:p>
        </p:txBody>
      </p:sp>
      <p:sp>
        <p:nvSpPr>
          <p:cNvPr id="24" name="Conclusion e-graph 24"/>
          <p:cNvSpPr/>
          <p:nvPr/>
        </p:nvSpPr>
        <p:spPr>
          <a:xfrm>
            <a:off x="10957926"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c</a:t>
            </a:r>
          </a:p>
        </p:txBody>
      </p:sp>
      <p:sp>
        <p:nvSpPr>
          <p:cNvPr id="25" name="Conclusion e-graph 25"/>
          <p:cNvSpPr/>
          <p:nvPr/>
        </p:nvSpPr>
        <p:spPr>
          <a:xfrm>
            <a:off x="7819705"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f(a)</a:t>
            </a:r>
          </a:p>
        </p:txBody>
      </p:sp>
      <p:sp>
        <p:nvSpPr>
          <p:cNvPr id="26" name="Conclusion e-graph 26"/>
          <p:cNvSpPr/>
          <p:nvPr/>
        </p:nvSpPr>
        <p:spPr>
          <a:xfrm>
            <a:off x="10957926"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f(c)</a:t>
            </a:r>
          </a:p>
        </p:txBody>
      </p:sp>
      <p:sp>
        <p:nvSpPr>
          <p:cNvPr id="27" name="Conclusion e-graph 27"/>
          <p:cNvSpPr txBox="1"/>
          <p:nvPr/>
        </p:nvSpPr>
        <p:spPr>
          <a:xfrm>
            <a:off x="872907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8" name="Conclusion e-graph 28"/>
          <p:cNvSpPr txBox="1"/>
          <p:nvPr/>
        </p:nvSpPr>
        <p:spPr>
          <a:xfrm>
            <a:off x="1029818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9" name="Conclusion e-graph 29"/>
          <p:cNvSpPr/>
          <p:nvPr/>
        </p:nvSpPr>
        <p:spPr>
          <a:xfrm>
            <a:off x="7620000" y="2379848"/>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30" name="Conclusion e-graph 30"/>
          <p:cNvSpPr/>
          <p:nvPr/>
        </p:nvSpPr>
        <p:spPr>
          <a:xfrm>
            <a:off x="7620000" y="1310000"/>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43" name="Conclusion algorithms box"/>
          <p:cNvSpPr/>
          <p:nvPr/>
        </p:nvSpPr>
        <p:spPr>
          <a:xfrm>
            <a:off x="585216" y="1207008"/>
            <a:ext cx="6335329" cy="2406701"/>
          </a:xfrm>
          <a:prstGeom prst="roundRect">
            <a:avLst>
              <a:gd name="adj" fmla="val 8000"/>
            </a:avLst>
          </a:prstGeom>
          <a:noFill/>
          <a:ln w="13970">
            <a:solidFill>
              <a:srgbClr val="B7BCC4"/>
            </a:solidFill>
            <a:prstDash val="solid"/>
          </a:ln>
        </p:spPr>
      </p:sp>
      <p:sp>
        <p:nvSpPr>
          <p:cNvPr id="31" name="ParentCC heading"/>
          <p:cNvSpPr txBox="1"/>
          <p:nvPr/>
        </p:nvSpPr>
        <p:spPr>
          <a:xfrm>
            <a:off x="749808" y="1408176"/>
            <a:ext cx="1325880" cy="365760"/>
          </a:xfrm>
          <a:prstGeom prst="rect">
            <a:avLst/>
          </a:prstGeom>
          <a:noFill/>
        </p:spPr>
        <p:txBody>
          <a:bodyPr wrap="square" lIns="0" tIns="0" rIns="0" bIns="0"/>
          <a:lstStyle/>
          <a:p>
            <a:pPr algn="l"/>
            <a:r>
              <a:rPr lang="en-US" sz="2100" b="1" dirty="0">
                <a:solidFill>
                  <a:srgbClr val="1F2A44"/>
                </a:solidFill>
                <a:latin typeface="Calibri"/>
              </a:rPr>
              <a:t>1. </a:t>
            </a:r>
            <a:r>
              <a:rPr lang="en-US" sz="2100" b="1" dirty="0" err="1">
                <a:solidFill>
                  <a:srgbClr val="1F2A44"/>
                </a:solidFill>
                <a:latin typeface="Calibri"/>
              </a:rPr>
              <a:t>ParentCC</a:t>
            </a:r>
            <a:endParaRPr lang="en-US" sz="2100" b="1" dirty="0">
              <a:solidFill>
                <a:srgbClr val="1F2A44"/>
              </a:solidFill>
              <a:latin typeface="Calibri"/>
            </a:endParaRPr>
          </a:p>
        </p:txBody>
      </p:sp>
      <p:sp>
        <p:nvSpPr>
          <p:cNvPr id="32" name="ParentCC description"/>
          <p:cNvSpPr txBox="1"/>
          <p:nvPr/>
        </p:nvSpPr>
        <p:spPr>
          <a:xfrm>
            <a:off x="2240280" y="1371600"/>
            <a:ext cx="4480560" cy="713232"/>
          </a:xfrm>
          <a:prstGeom prst="rect">
            <a:avLst/>
          </a:prstGeom>
          <a:noFill/>
        </p:spPr>
        <p:txBody>
          <a:bodyPr wrap="square" lIns="0" tIns="0" rIns="0" bIns="0"/>
          <a:lstStyle/>
          <a:p>
            <a:pPr algn="l"/>
            <a:r>
              <a:rPr lang="en-US" sz="1700" b="0" dirty="0">
                <a:solidFill>
                  <a:srgbClr val="2B2F36"/>
                </a:solidFill>
                <a:latin typeface="Calibri"/>
              </a:rPr>
              <a:t>Tracks parent lists and revisits only parents of classes merged in the previous round.</a:t>
            </a:r>
          </a:p>
        </p:txBody>
      </p:sp>
      <p:sp>
        <p:nvSpPr>
          <p:cNvPr id="34" name="FilterCC heading"/>
          <p:cNvSpPr txBox="1"/>
          <p:nvPr/>
        </p:nvSpPr>
        <p:spPr>
          <a:xfrm>
            <a:off x="749808" y="2706624"/>
            <a:ext cx="1325880" cy="365760"/>
          </a:xfrm>
          <a:prstGeom prst="rect">
            <a:avLst/>
          </a:prstGeom>
          <a:noFill/>
        </p:spPr>
        <p:txBody>
          <a:bodyPr wrap="square" lIns="0" tIns="0" rIns="0" bIns="0"/>
          <a:lstStyle/>
          <a:p>
            <a:pPr algn="l"/>
            <a:r>
              <a:rPr lang="en-US" sz="2100" b="1" dirty="0">
                <a:solidFill>
                  <a:srgbClr val="1F2A44"/>
                </a:solidFill>
                <a:latin typeface="Calibri"/>
              </a:rPr>
              <a:t>2. </a:t>
            </a:r>
            <a:r>
              <a:rPr lang="en-US" sz="2100" b="1" dirty="0" err="1">
                <a:solidFill>
                  <a:srgbClr val="1F2A44"/>
                </a:solidFill>
                <a:latin typeface="Calibri"/>
              </a:rPr>
              <a:t>FilterCC</a:t>
            </a:r>
            <a:endParaRPr lang="en-US" sz="2100" b="1" dirty="0">
              <a:solidFill>
                <a:srgbClr val="1F2A44"/>
              </a:solidFill>
              <a:latin typeface="Calibri"/>
            </a:endParaRPr>
          </a:p>
        </p:txBody>
      </p:sp>
      <p:sp>
        <p:nvSpPr>
          <p:cNvPr id="35" name="FilterCC description"/>
          <p:cNvSpPr txBox="1"/>
          <p:nvPr/>
        </p:nvSpPr>
        <p:spPr>
          <a:xfrm>
            <a:off x="2275393" y="2735885"/>
            <a:ext cx="4480560" cy="713232"/>
          </a:xfrm>
          <a:prstGeom prst="rect">
            <a:avLst/>
          </a:prstGeom>
          <a:noFill/>
        </p:spPr>
        <p:txBody>
          <a:bodyPr wrap="square" lIns="0" tIns="0" rIns="0" bIns="0"/>
          <a:lstStyle/>
          <a:p>
            <a:pPr algn="l"/>
            <a:r>
              <a:rPr lang="en-US" sz="1700" b="0" dirty="0">
                <a:solidFill>
                  <a:srgbClr val="2B2F36"/>
                </a:solidFill>
                <a:latin typeface="Calibri"/>
              </a:rPr>
              <a:t>Marks merged classes dirty and filters for terms with a dirty child</a:t>
            </a:r>
            <a:r>
              <a:rPr lang="en-US" sz="1700" dirty="0">
                <a:solidFill>
                  <a:srgbClr val="2B2F36"/>
                </a:solidFill>
                <a:latin typeface="Calibri"/>
              </a:rPr>
              <a:t>.</a:t>
            </a:r>
            <a:endParaRPr lang="en-US" sz="1700" b="0" dirty="0">
              <a:solidFill>
                <a:srgbClr val="2B2F36"/>
              </a:solidFill>
              <a:latin typeface="Calibri"/>
            </a:endParaRPr>
          </a:p>
        </p:txBody>
      </p:sp>
      <p:sp>
        <p:nvSpPr>
          <p:cNvPr id="44" name="Conclusion result box"/>
          <p:cNvSpPr/>
          <p:nvPr/>
        </p:nvSpPr>
        <p:spPr>
          <a:xfrm>
            <a:off x="585216" y="4581144"/>
            <a:ext cx="6300216" cy="1133856"/>
          </a:xfrm>
          <a:prstGeom prst="roundRect">
            <a:avLst>
              <a:gd name="adj" fmla="val 8000"/>
            </a:avLst>
          </a:prstGeom>
          <a:noFill/>
          <a:ln w="13970">
            <a:solidFill>
              <a:srgbClr val="B7BCC4"/>
            </a:solidFill>
            <a:prstDash val="solid"/>
          </a:ln>
        </p:spPr>
      </p:sp>
      <p:sp>
        <p:nvSpPr>
          <p:cNvPr id="38" name="Bottom line detail"/>
          <p:cNvSpPr txBox="1"/>
          <p:nvPr/>
        </p:nvSpPr>
        <p:spPr>
          <a:xfrm>
            <a:off x="749808" y="4727448"/>
            <a:ext cx="5971032" cy="841248"/>
          </a:xfrm>
          <a:prstGeom prst="rect">
            <a:avLst/>
          </a:prstGeom>
          <a:noFill/>
        </p:spPr>
        <p:txBody>
          <a:bodyPr wrap="square" lIns="0" tIns="0" rIns="0" bIns="0"/>
          <a:lstStyle/>
          <a:p>
            <a:pPr algn="l"/>
            <a:r>
              <a:rPr lang="en-US" sz="2000" b="0" dirty="0">
                <a:solidFill>
                  <a:srgbClr val="2B2F36"/>
                </a:solidFill>
                <a:latin typeface="Calibri"/>
              </a:rPr>
              <a:t>Both algorithms scale nearly linearly to 32 cores on sufficiently wide workloads!</a:t>
            </a:r>
          </a:p>
        </p:txBody>
      </p:sp>
      <p:sp>
        <p:nvSpPr>
          <p:cNvPr id="39" name="Repository divider"/>
          <p:cNvSpPr/>
          <p:nvPr/>
        </p:nvSpPr>
        <p:spPr>
          <a:xfrm>
            <a:off x="7571232" y="3803904"/>
            <a:ext cx="4096512" cy="10973"/>
          </a:xfrm>
          <a:prstGeom prst="rect">
            <a:avLst/>
          </a:prstGeom>
          <a:solidFill>
            <a:srgbClr val="C9CDD3"/>
          </a:solidFill>
          <a:ln w="0"/>
        </p:spPr>
        <p:txBody>
          <a:bodyPr/>
          <a:lstStyle/>
          <a:p>
            <a:endParaRPr lang="en-US"/>
          </a:p>
        </p:txBody>
      </p:sp>
      <p:sp>
        <p:nvSpPr>
          <p:cNvPr id="40" name="Repository heading"/>
          <p:cNvSpPr txBox="1"/>
          <p:nvPr/>
        </p:nvSpPr>
        <p:spPr>
          <a:xfrm>
            <a:off x="7589520" y="4160520"/>
            <a:ext cx="2011680" cy="310896"/>
          </a:xfrm>
          <a:prstGeom prst="rect">
            <a:avLst/>
          </a:prstGeom>
          <a:noFill/>
        </p:spPr>
        <p:txBody>
          <a:bodyPr wrap="square" lIns="0" tIns="0" rIns="0" bIns="0"/>
          <a:lstStyle/>
          <a:p>
            <a:pPr algn="l"/>
            <a:r>
              <a:rPr lang="en-US" sz="1650" b="1" dirty="0">
                <a:solidFill>
                  <a:srgbClr val="1F2A44"/>
                </a:solidFill>
                <a:latin typeface="Calibri"/>
              </a:rPr>
              <a:t>Code and benchmarks</a:t>
            </a:r>
          </a:p>
        </p:txBody>
      </p:sp>
      <p:sp>
        <p:nvSpPr>
          <p:cNvPr id="41" name="Repository URL"/>
          <p:cNvSpPr txBox="1"/>
          <p:nvPr/>
        </p:nvSpPr>
        <p:spPr>
          <a:xfrm>
            <a:off x="7589520" y="4437124"/>
            <a:ext cx="2157984" cy="658368"/>
          </a:xfrm>
          <a:prstGeom prst="rect">
            <a:avLst/>
          </a:prstGeom>
          <a:noFill/>
        </p:spPr>
        <p:txBody>
          <a:bodyPr wrap="square" lIns="0" tIns="0" rIns="0" bIns="0"/>
          <a:lstStyle/>
          <a:p>
            <a:pPr algn="l"/>
            <a:r>
              <a:rPr lang="en-US" sz="1600" b="0" dirty="0" err="1">
                <a:solidFill>
                  <a:srgbClr val="6B717A"/>
                </a:solidFill>
                <a:latin typeface="Calibri"/>
              </a:rPr>
              <a:t>github.com</a:t>
            </a:r>
            <a:r>
              <a:rPr lang="en-US" sz="1600" b="0" dirty="0">
                <a:solidFill>
                  <a:srgbClr val="6B717A"/>
                </a:solidFill>
                <a:latin typeface="Calibri"/>
              </a:rPr>
              <a:t>/amarshah10/</a:t>
            </a:r>
          </a:p>
        </p:txBody>
      </p:sp>
      <p:pic>
        <p:nvPicPr>
          <p:cNvPr id="42" name="ParallelEgraph repository QR code" descr="QR code linking to the ParallelEgraph GitHub repository"/>
          <p:cNvPicPr>
            <a:picLocks noChangeAspect="1"/>
          </p:cNvPicPr>
          <p:nvPr/>
        </p:nvPicPr>
        <p:blipFill>
          <a:blip r:embed="rId2"/>
          <a:stretch>
            <a:fillRect/>
          </a:stretch>
        </p:blipFill>
        <p:spPr>
          <a:xfrm>
            <a:off x="9747504" y="4032504"/>
            <a:ext cx="2011680" cy="2011680"/>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wrap="square" lIns="54864" tIns="27432" rIns="54864" bIns="27432" rtlCol="0" anchor="ctr"/>
          <a:lstStyle/>
          <a:p>
            <a:pPr algn="ctr"/>
            <a:endParaRP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endParaRPr sz="1400" b="0" i="0">
              <a:solidFill>
                <a:srgbClr val="2B2F36"/>
              </a:solidFill>
              <a:latin typeface="Consolas"/>
            </a:endParaR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TotalTime>
  <Words>6690</Words>
  <Application>Microsoft Macintosh PowerPoint</Application>
  <PresentationFormat>Widescreen</PresentationFormat>
  <Paragraphs>1378</Paragraphs>
  <Slides>84</Slides>
  <Notes>56</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84</vt:i4>
      </vt:variant>
    </vt:vector>
  </HeadingPairs>
  <TitlesOfParts>
    <vt:vector size="89" baseType="lpstr">
      <vt:lpstr>Arial</vt:lpstr>
      <vt:lpstr>Avenir Next</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Shah, Amar</cp:lastModifiedBy>
  <cp:revision>35</cp:revision>
  <dcterms:created xsi:type="dcterms:W3CDTF">2013-01-27T09:14:16Z</dcterms:created>
  <dcterms:modified xsi:type="dcterms:W3CDTF">2026-09-18T09:06:13Z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2026-09-17T12:37:46Z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d65e0326-1fc0-423f-9716-1a5a0990a484</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