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closure sits inside a lot of engines, and hence inside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in these engines it runs a lot: it is called repeatedly over the course of a solver run, so its cost shows up in the total. How much depends on the instance, which is why the evaluation looks at several benchmark families.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things stand. Despite how widely it is used, every implementation we know of is fully sequential, while the machines are wide: our test box has 96 cores. The theory is discouraging too. Congruence closure is P-complete, so we should not expect an algorithm that is fast on every input; in the worst case it really does look inherently sequential. But worst case is not the same as the instances people actually solve, and that is the question we 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setting our running example comes from, and where the circuit benchmarks come from. Two combinational circuits.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do they compute the same function? Equivalent means they agree on every input, all two to the n of them, so we cannot simply simulate.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construction, a miter. Feed both circuits the same inputs.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XOR the corresponding outputs. The XOR is 1 exactly when the two outputs differ.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XOR output is the single bit p, the miter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p is 1 exactly when the circuits disagree on the input we fed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Flip it around and it is a satisfiability question: assert p = 1 and ask whether any input satisfies it. Unsatisfiable means no disagreeing input exists, so the circuits are equivalent. Encoding a miter to CNF destroys the gate structure, so Biere et al. recover the gates and close them under congruence, which often decides the instance outright.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 The point of the miter for us: once the gate structure is recovered from the CNF, congruence closure alone often decides the instance, which is why Biere et al. run it inside a SAT solver.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 Count what we did: eight merges, one at a time. That is exactly the sequential worklist algorithm, and it is the baseline the parallel version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congruence rounds after the input round, here 2. Width is the most merges any one round offers, here 5, in round 0. Depth is what we cannot parallelize; width is what we can. On the circuit benchmarks width reaches millions while depth stays small, and Amar will show that width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First: who might have become congruent? Only a term whose child just changed class, so the parents of whatever merged last round.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those candidates, who actually is congruent? Group them by signature: the symbol together with the classes of the children.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merge every group, and all the groups in parallel.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while a round merged something. The very first round has no previous merges to look at, so it considers every term; that also catches terms that were congruent before any equality was applied. The barrier between phases is what makes the parallelism safe: while we compute signatures nobody is merging, so every thread reads the same classes, and while we merge nobody is reading signatures.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example, same rings as the schedule. Round 0 is the input: union each pair of equated wires, all five at once. No congruence yet, just the equalities we were handed.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Phase one, candidates: the first round considers every gate, in amber.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two, group them by signature: symbol plus the class of each child, written in brackets above each purple group. The ANDs share a key, the XORs share a key, the ITEs do not yet because a1 and a2 are still in different classes. The grouping is a semisort. Say out loud that this is the step that changes: the sequential algorithm looks each signature up in a hash table, one at a time; here all the signatures of the round are sorted together, in one data-parallel step.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three, merge: both two-member groups merge, concurrently. This is where the parallel run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Candidates are the parents of what just merged: the two ITEs. Their keys now agree, so they form one group.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 them. One union.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ITEs have no parents, so round 3 has no candidates and the loop stops. Eight merges in three rounds, and the rings are exactly the bulk-synchronous schedule from before: ParentCC found all of the available parallelism.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Sound: every group has equal symbol and equal child classes, so each merge is an instance of the congruence rule. Complete: when the last of a pair’s children merge, both parents are candidates next round. Terminates: a round that merges anything reduces the number of classes.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the second algorithm. ParentCC finds candidates through parent lists, one per class, and every merge appends to them: allocation on the hot path. FilterCC drops the lists. A merge just sets a dirty bit on its classes, and the next round filters all terms for a child in a dirty class. Threads racing to set the same bit is harmless, setting a bit is idempotent. The price is a scan of every term each round, so FilterCC wins when rounds are few and ParentCC when they are many;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Use in practice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Called repeatedly per solver run: the cost adds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State of the art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822960" y="1737360"/>
            <a:ext cx="10789920" cy="2743200"/>
          </a:xfrm>
          <a:prstGeom prst="rect">
            <a:avLst/>
          </a:prstGeom>
          <a:noFill/>
        </p:spPr>
        <p:txBody>
          <a:bodyPr wrap="square" lIns="45720" rIns="45720">
            <a:spAutoFit/>
          </a:bodyPr>
          <a:lstStyle/>
          <a:p>
            <a:pPr marL="274320" indent="-237744">
              <a:spcBef>
                <a:spcPts val="1800"/>
              </a:spcBef>
              <a:buClr>
                <a:srgbClr val="6B717A"/>
              </a:buClr>
              <a:buChar char="•"/>
            </a:pPr>
            <a:r>
              <a:rPr sz="2600" b="0" i="0">
                <a:solidFill>
                  <a:srgbClr val="2B2F36"/>
                </a:solidFill>
                <a:latin typeface="Calibri"/>
              </a:rPr>
              <a:t>Practice: every implementation </a:t>
            </a:r>
            <a:r>
              <a:rPr sz="2600" b="1" i="0">
                <a:solidFill>
                  <a:srgbClr val="2B2F36"/>
                </a:solidFill>
                <a:latin typeface="Calibri"/>
              </a:rPr>
              <a:t>fully sequential</a:t>
            </a:r>
            <a:r>
              <a:rPr sz="2600" b="0" i="0">
                <a:solidFill>
                  <a:srgbClr val="2B2F36"/>
                </a:solidFill>
                <a:latin typeface="Calibri"/>
              </a:rPr>
              <a:t>, on machines with </a:t>
            </a:r>
            <a:r>
              <a:rPr sz="2600" b="1" i="0">
                <a:solidFill>
                  <a:srgbClr val="2B2F36"/>
                </a:solidFill>
                <a:latin typeface="Calibri"/>
              </a:rPr>
              <a:t>96 cores</a:t>
            </a:r>
          </a:p>
          <a:p>
            <a:pPr marL="274320" indent="-237744">
              <a:spcBef>
                <a:spcPts val="1800"/>
              </a:spcBef>
              <a:buClr>
                <a:srgbClr val="6B717A"/>
              </a:buClr>
              <a:buChar char="•"/>
            </a:pPr>
            <a:r>
              <a:rPr sz="2600" b="0" i="0">
                <a:solidFill>
                  <a:srgbClr val="2B2F36"/>
                </a:solidFill>
                <a:latin typeface="Calibri"/>
              </a:rPr>
              <a:t>Theory: congruence closure is </a:t>
            </a:r>
            <a:r>
              <a:rPr sz="2600" b="1" i="0">
                <a:solidFill>
                  <a:srgbClr val="2B2F36"/>
                </a:solidFill>
                <a:latin typeface="Calibri"/>
              </a:rPr>
              <a:t>P-complete</a:t>
            </a:r>
          </a:p>
          <a:p>
            <a:pPr marL="274320" indent="-237744">
              <a:spcBef>
                <a:spcPts val="1800"/>
              </a:spcBef>
              <a:buClr>
                <a:srgbClr val="6B717A"/>
              </a:buClr>
              <a:buChar char="•"/>
            </a:pPr>
            <a:r>
              <a:rPr sz="2600" b="0" i="0">
                <a:solidFill>
                  <a:srgbClr val="2B2F36"/>
                </a:solidFill>
                <a:latin typeface="Calibri"/>
              </a:rPr>
              <a:t>Worst case: likely </a:t>
            </a:r>
            <a:r>
              <a:rPr sz="2600" b="1" i="0">
                <a:solidFill>
                  <a:srgbClr val="2B2F36"/>
                </a:solidFill>
                <a:latin typeface="Calibri"/>
              </a:rPr>
              <a:t>inherently sequential</a:t>
            </a:r>
          </a:p>
        </p:txBody>
      </p:sp>
      <p:sp>
        <p:nvSpPr>
          <p:cNvPr id="7" name="TextBox 6"/>
          <p:cNvSpPr txBox="1"/>
          <p:nvPr/>
        </p:nvSpPr>
        <p:spPr>
          <a:xfrm>
            <a:off x="822960" y="4023360"/>
            <a:ext cx="10789920" cy="320040"/>
          </a:xfrm>
          <a:prstGeom prst="rect">
            <a:avLst/>
          </a:prstGeom>
          <a:noFill/>
        </p:spPr>
        <p:txBody>
          <a:bodyPr wrap="square" anchor="t" lIns="45720" rIns="45720" tIns="27432" bIns="27432">
            <a:spAutoFit/>
          </a:bodyPr>
          <a:lstStyle/>
          <a:p>
            <a:pPr algn="l"/>
            <a:r>
              <a:rPr sz="1300" b="0" i="0">
                <a:solidFill>
                  <a:srgbClr val="6B717A"/>
                </a:solidFill>
                <a:latin typeface="Calibri"/>
              </a:rPr>
              <a:t>Kanellakis &amp; Revesz 1989</a:t>
            </a:r>
          </a:p>
        </p:txBody>
      </p:sp>
      <p:sp>
        <p:nvSpPr>
          <p:cNvPr id="8" name="Rounded Rectangle 7"/>
          <p:cNvSpPr/>
          <p:nvPr/>
        </p:nvSpPr>
        <p:spPr>
          <a:xfrm>
            <a:off x="566928" y="480060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Question: worst case is sequential.</a:t>
            </a:r>
          </a:p>
          <a:p>
            <a:pPr algn="ctr"/>
            <a:r>
              <a:rPr sz="2400" b="1" i="0">
                <a:solidFill>
                  <a:srgbClr val="FFFFFF"/>
                </a:solidFill>
                <a:latin typeface="Calibri"/>
              </a:rPr>
              <a:t>Are the instances people actually solve?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 ParentCC and FilterCC</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3703320"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C₁</a:t>
            </a:r>
          </a:p>
        </p:txBody>
      </p:sp>
      <p:sp>
        <p:nvSpPr>
          <p:cNvPr id="7" name="Rounded Rectangle 6"/>
          <p:cNvSpPr/>
          <p:nvPr/>
        </p:nvSpPr>
        <p:spPr>
          <a:xfrm>
            <a:off x="6665976" y="3749039"/>
            <a:ext cx="1828800" cy="91440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2200" b="1" i="0">
                <a:solidFill>
                  <a:srgbClr val="1F2A44"/>
                </a:solidFill>
                <a:latin typeface="Calibri"/>
              </a:rPr>
              <a:t>C₂</a:t>
            </a:r>
          </a:p>
        </p:txBody>
      </p:sp>
      <p:sp>
        <p:nvSpPr>
          <p:cNvPr id="8" name="TextBox 7"/>
          <p:cNvSpPr txBox="1"/>
          <p:nvPr/>
        </p:nvSpPr>
        <p:spPr>
          <a:xfrm>
            <a:off x="704088" y="1188720"/>
            <a:ext cx="10789920" cy="548640"/>
          </a:xfrm>
          <a:prstGeom prst="rect">
            <a:avLst/>
          </a:prstGeom>
          <a:noFill/>
        </p:spPr>
        <p:txBody>
          <a:bodyPr wrap="square" anchor="t" lIns="45720" rIns="45720" tIns="27432" bIns="27432">
            <a:spAutoFit/>
          </a:bodyPr>
          <a:lstStyle/>
          <a:p>
            <a:pPr algn="ctr"/>
            <a:r>
              <a:rPr sz="2800" b="1" i="0">
                <a:solidFill>
                  <a:srgbClr val="1F2A44"/>
                </a:solidFill>
                <a:latin typeface="Calibri"/>
              </a:rPr>
              <a:t>Are C₁ and C₂ equivalent?</a:t>
            </a:r>
          </a:p>
        </p:txBody>
      </p:sp>
      <p:sp>
        <p:nvSpPr>
          <p:cNvPr id="9" name="Rounded Rectangle 8"/>
          <p:cNvSpPr/>
          <p:nvPr/>
        </p:nvSpPr>
        <p:spPr>
          <a:xfrm>
            <a:off x="4407408" y="5074920"/>
            <a:ext cx="3383280" cy="45720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500" b="0" i="0">
                <a:solidFill>
                  <a:srgbClr val="2B2F36"/>
                </a:solidFill>
                <a:latin typeface="Calibri"/>
              </a:rPr>
              <a:t>same inputs  r, s, u, v, c</a:t>
            </a:r>
          </a:p>
        </p:txBody>
      </p:sp>
      <p:cxnSp>
        <p:nvCxnSpPr>
          <p:cNvPr id="10" name="Connector 9"/>
          <p:cNvCxnSpPr/>
          <p:nvPr/>
        </p:nvCxnSpPr>
        <p:spPr>
          <a:xfrm flipV="1">
            <a:off x="4617720" y="4663440"/>
            <a:ext cx="0" cy="411480"/>
          </a:xfrm>
          <a:prstGeom prst="line">
            <a:avLst/>
          </a:prstGeom>
          <a:ln w="15875">
            <a:solidFill>
              <a:srgbClr val="8A8F98"/>
            </a:solidFill>
            <a:tailEnd type="triangle" w="med" len="med"/>
          </a:ln>
          <a:effectLst/>
        </p:spPr>
      </p:cxnSp>
      <p:cxnSp>
        <p:nvCxnSpPr>
          <p:cNvPr id="11" name="Connector 10"/>
          <p:cNvCxnSpPr/>
          <p:nvPr/>
        </p:nvCxnSpPr>
        <p:spPr>
          <a:xfrm flipV="1">
            <a:off x="7580375" y="4663440"/>
            <a:ext cx="0" cy="411480"/>
          </a:xfrm>
          <a:prstGeom prst="line">
            <a:avLst/>
          </a:prstGeom>
          <a:ln w="15875">
            <a:solidFill>
              <a:srgbClr val="8A8F98"/>
            </a:solidFill>
            <a:tailEnd type="triangle" w="med" len="med"/>
          </a:ln>
          <a:effectLst/>
        </p:spPr>
      </p:cxnSp>
      <p:sp>
        <p:nvSpPr>
          <p:cNvPr id="12" name="Rounded Rectangle 11"/>
          <p:cNvSpPr/>
          <p:nvPr/>
        </p:nvSpPr>
        <p:spPr>
          <a:xfrm>
            <a:off x="5321808" y="2724912"/>
            <a:ext cx="155448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900" b="1" i="0">
                <a:solidFill>
                  <a:srgbClr val="1F2A44"/>
                </a:solidFill>
                <a:latin typeface="Calibri"/>
              </a:rPr>
              <a:t>XOR</a:t>
            </a:r>
          </a:p>
        </p:txBody>
      </p:sp>
      <p:cxnSp>
        <p:nvCxnSpPr>
          <p:cNvPr id="13" name="Connector 12"/>
          <p:cNvCxnSpPr/>
          <p:nvPr/>
        </p:nvCxnSpPr>
        <p:spPr>
          <a:xfrm flipV="1">
            <a:off x="4617720" y="3383280"/>
            <a:ext cx="1069848" cy="365759"/>
          </a:xfrm>
          <a:prstGeom prst="line">
            <a:avLst/>
          </a:prstGeom>
          <a:ln w="15875">
            <a:solidFill>
              <a:srgbClr val="8A8F98"/>
            </a:solidFill>
            <a:tailEnd type="triangle" w="med" len="med"/>
          </a:ln>
          <a:effectLst/>
        </p:spPr>
      </p:cxnSp>
      <p:cxnSp>
        <p:nvCxnSpPr>
          <p:cNvPr id="14" name="Connector 13"/>
          <p:cNvCxnSpPr/>
          <p:nvPr/>
        </p:nvCxnSpPr>
        <p:spPr>
          <a:xfrm flipH="1" flipV="1">
            <a:off x="6510528" y="3383280"/>
            <a:ext cx="1069847" cy="365759"/>
          </a:xfrm>
          <a:prstGeom prst="line">
            <a:avLst/>
          </a:prstGeom>
          <a:ln w="15875">
            <a:solidFill>
              <a:srgbClr val="8A8F98"/>
            </a:solidFill>
            <a:tailEnd type="triangle" w="med" len="med"/>
          </a:ln>
          <a:effectLst/>
        </p:spPr>
      </p:cxnSp>
      <p:sp>
        <p:nvSpPr>
          <p:cNvPr id="15" name="TextBox 14"/>
          <p:cNvSpPr txBox="1"/>
          <p:nvPr/>
        </p:nvSpPr>
        <p:spPr>
          <a:xfrm>
            <a:off x="4663440" y="3438144"/>
            <a:ext cx="457200" cy="274320"/>
          </a:xfrm>
          <a:prstGeom prst="rect">
            <a:avLst/>
          </a:prstGeom>
          <a:noFill/>
        </p:spPr>
        <p:txBody>
          <a:bodyPr wrap="square" anchor="t" lIns="45720" rIns="45720" tIns="27432" bIns="27432">
            <a:spAutoFit/>
          </a:bodyPr>
          <a:lstStyle/>
          <a:p>
            <a:pPr algn="l"/>
            <a:r>
              <a:rPr sz="1500" b="1" i="0">
                <a:solidFill>
                  <a:srgbClr val="6B717A"/>
                </a:solidFill>
                <a:latin typeface="Calibri"/>
              </a:rPr>
              <a:t>m₁</a:t>
            </a:r>
          </a:p>
        </p:txBody>
      </p:sp>
      <p:sp>
        <p:nvSpPr>
          <p:cNvPr id="16" name="TextBox 15"/>
          <p:cNvSpPr txBox="1"/>
          <p:nvPr/>
        </p:nvSpPr>
        <p:spPr>
          <a:xfrm>
            <a:off x="7168895" y="3438144"/>
            <a:ext cx="457200" cy="274320"/>
          </a:xfrm>
          <a:prstGeom prst="rect">
            <a:avLst/>
          </a:prstGeom>
          <a:noFill/>
        </p:spPr>
        <p:txBody>
          <a:bodyPr wrap="square" anchor="t" lIns="45720" rIns="45720" tIns="27432" bIns="27432">
            <a:spAutoFit/>
          </a:bodyPr>
          <a:lstStyle/>
          <a:p>
            <a:pPr algn="r"/>
            <a:r>
              <a:rPr sz="1500" b="1" i="0">
                <a:solidFill>
                  <a:srgbClr val="6B717A"/>
                </a:solidFill>
                <a:latin typeface="Calibri"/>
              </a:rPr>
              <a:t>m₂</a:t>
            </a:r>
          </a:p>
        </p:txBody>
      </p:sp>
      <p:cxnSp>
        <p:nvCxnSpPr>
          <p:cNvPr id="17" name="Connector 16"/>
          <p:cNvCxnSpPr/>
          <p:nvPr/>
        </p:nvCxnSpPr>
        <p:spPr>
          <a:xfrm flipV="1">
            <a:off x="6099048" y="2286000"/>
            <a:ext cx="0" cy="438912"/>
          </a:xfrm>
          <a:prstGeom prst="line">
            <a:avLst/>
          </a:prstGeom>
          <a:ln w="15875">
            <a:solidFill>
              <a:srgbClr val="8A8F98"/>
            </a:solidFill>
            <a:tailEnd type="triangle" w="med" len="med"/>
          </a:ln>
          <a:effectLst/>
        </p:spPr>
      </p:cxnSp>
      <p:sp>
        <p:nvSpPr>
          <p:cNvPr id="18" name="TextBox 17"/>
          <p:cNvSpPr txBox="1"/>
          <p:nvPr/>
        </p:nvSpPr>
        <p:spPr>
          <a:xfrm>
            <a:off x="6208776" y="2304288"/>
            <a:ext cx="457200" cy="320040"/>
          </a:xfrm>
          <a:prstGeom prst="rect">
            <a:avLst/>
          </a:prstGeom>
          <a:noFill/>
        </p:spPr>
        <p:txBody>
          <a:bodyPr wrap="square" anchor="t" lIns="45720" rIns="45720" tIns="27432" bIns="27432">
            <a:spAutoFit/>
          </a:bodyPr>
          <a:lstStyle/>
          <a:p>
            <a:pPr algn="l"/>
            <a:r>
              <a:rPr sz="1700" b="1" i="0">
                <a:solidFill>
                  <a:srgbClr val="1F2A44"/>
                </a:solidFill>
                <a:latin typeface="Calibri"/>
              </a:rPr>
              <a:t>p</a:t>
            </a:r>
          </a:p>
        </p:txBody>
      </p:sp>
      <p:sp>
        <p:nvSpPr>
          <p:cNvPr id="19" name="TextBox 18"/>
          <p:cNvSpPr txBox="1"/>
          <p:nvPr/>
        </p:nvSpPr>
        <p:spPr>
          <a:xfrm>
            <a:off x="704088" y="1828800"/>
            <a:ext cx="10789920" cy="411480"/>
          </a:xfrm>
          <a:prstGeom prst="rect">
            <a:avLst/>
          </a:prstGeom>
          <a:noFill/>
        </p:spPr>
        <p:txBody>
          <a:bodyPr wrap="square" anchor="t" lIns="45720" rIns="45720" tIns="27432" bIns="27432">
            <a:spAutoFit/>
          </a:bodyPr>
          <a:lstStyle/>
          <a:p>
            <a:pPr algn="ctr"/>
            <a:r>
              <a:rPr sz="2200" b="1" i="0">
                <a:solidFill>
                  <a:srgbClr val="C8501E"/>
                </a:solidFill>
                <a:latin typeface="Calibri"/>
              </a:rPr>
              <a:t>p = 1   ⟺   C₁ and C₂ disagree on this input</a:t>
            </a:r>
          </a:p>
        </p:txBody>
      </p:sp>
      <p:sp>
        <p:nvSpPr>
          <p:cNvPr id="20" name="Rounded Rectangle 19"/>
          <p:cNvSpPr/>
          <p:nvPr/>
        </p:nvSpPr>
        <p:spPr>
          <a:xfrm>
            <a:off x="566928" y="5806440"/>
            <a:ext cx="11064240" cy="50292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equivalent   ⟺   p = 1 is unsatisfiable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586984" y="1207008"/>
            <a:ext cx="1280160" cy="329184"/>
          </a:xfrm>
          <a:prstGeom prst="rect">
            <a:avLst/>
          </a:prstGeom>
          <a:noFill/>
        </p:spPr>
        <p:txBody>
          <a:bodyPr wrap="square" anchor="t" lIns="45720" rIns="45720" tIns="27432" bIns="27432">
            <a:spAutoFit/>
          </a:bodyPr>
          <a:lstStyle/>
          <a:p>
            <a:pPr algn="ctr"/>
            <a:r>
              <a:rPr sz="16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congruence rounds (2)      width: most merges in a round (5)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cxnSp>
        <p:nvCxnSpPr>
          <p:cNvPr id="14" name="Connector 13"/>
          <p:cNvCxnSpPr/>
          <p:nvPr/>
        </p:nvCxnSpPr>
        <p:spPr>
          <a:xfrm>
            <a:off x="3977639" y="2926080"/>
            <a:ext cx="475489" cy="0"/>
          </a:xfrm>
          <a:prstGeom prst="line">
            <a:avLst/>
          </a:prstGeom>
          <a:ln w="25400">
            <a:solidFill>
              <a:srgbClr val="2B2F36"/>
            </a:solidFill>
            <a:tailEnd type="triangle" w="med" len="med"/>
          </a:ln>
          <a:effectLst/>
        </p:spPr>
      </p:cxnSp>
      <p:sp>
        <p:nvSpPr>
          <p:cNvPr id="15" name="Rounded Rectangle 14"/>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6" name="Rounded Rectangle 15"/>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7" name="TextBox 16"/>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8" name="TextBox 17"/>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0</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Rounded Rectangle 46"/>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48" name="TextBox 47"/>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49" name="TextBox 48"/>
          <p:cNvSpPr txBox="1"/>
          <p:nvPr/>
        </p:nvSpPr>
        <p:spPr>
          <a:xfrm>
            <a:off x="2775203"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4274820"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5774436"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2" name="TextBox 51"/>
          <p:cNvSpPr txBox="1"/>
          <p:nvPr/>
        </p:nvSpPr>
        <p:spPr>
          <a:xfrm>
            <a:off x="7274052"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3" name="TextBox 52"/>
          <p:cNvSpPr txBox="1"/>
          <p:nvPr/>
        </p:nvSpPr>
        <p:spPr>
          <a:xfrm>
            <a:off x="8773668" y="5660136"/>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4" name="Rounded Rectangle 53"/>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5" name="TextBox 54"/>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6" name="Rounded Rectangle 55"/>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7" name="TextBox 56"/>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Rounded Rectangle 46"/>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48" name="TextBox 47"/>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49" name="Rounded Rectangle 48"/>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0" name="TextBox 49"/>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1" name="Rounded Rectangle 50"/>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2" name="TextBox 51"/>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53" name="Rounded Rectangle 52"/>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4" name="TextBox 53"/>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Rounded Rectangle 50"/>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2" name="TextBox 51"/>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3" name="Rounded Rectangle 52"/>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4" name="TextBox 53"/>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5" name="TextBox 54"/>
          <p:cNvSpPr txBox="1"/>
          <p:nvPr/>
        </p:nvSpPr>
        <p:spPr>
          <a:xfrm>
            <a:off x="2775203" y="234086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6" name="TextBox 55"/>
          <p:cNvSpPr txBox="1"/>
          <p:nvPr/>
        </p:nvSpPr>
        <p:spPr>
          <a:xfrm>
            <a:off x="7210044" y="234086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7" name="TextBox 56"/>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8" name="TextBox 57"/>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
        <p:nvSpPr>
          <p:cNvPr id="59" name="Rounded Rectangle 58"/>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60" name="TextBox 59"/>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61" name="Rounded Rectangle 60"/>
          <p:cNvSpPr/>
          <p:nvPr/>
        </p:nvSpPr>
        <p:spPr>
          <a:xfrm>
            <a:off x="502920" y="2066543"/>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2" name="TextBox 61"/>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signature group</a:t>
            </a:r>
          </a:p>
        </p:txBody>
      </p:sp>
      <p:sp>
        <p:nvSpPr>
          <p:cNvPr id="63" name="Rounded Rectangle 62"/>
          <p:cNvSpPr/>
          <p:nvPr/>
        </p:nvSpPr>
        <p:spPr>
          <a:xfrm>
            <a:off x="502920" y="2487168"/>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4" name="TextBox 63"/>
          <p:cNvSpPr txBox="1"/>
          <p:nvPr/>
        </p:nvSpPr>
        <p:spPr>
          <a:xfrm>
            <a:off x="905256" y="2441448"/>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1</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Rounded Rectangle 48"/>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0" name="TextBox 49"/>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1" name="Rounded Rectangle 50"/>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2" name="TextBox 51"/>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3" name="TextBox 52"/>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4" name="TextBox 53"/>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5" name="Rounded Rectangle 54"/>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6" name="TextBox 55"/>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7" name="Rounded Rectangle 56"/>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58" name="TextBox 57"/>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TextBox 55"/>
          <p:cNvSpPr txBox="1"/>
          <p:nvPr/>
        </p:nvSpPr>
        <p:spPr>
          <a:xfrm>
            <a:off x="5129784" y="1014983"/>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7" name="Rounded Rectangle 56"/>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8" name="TextBox 5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candidate</a:t>
            </a:r>
          </a:p>
        </p:txBody>
      </p:sp>
      <p:sp>
        <p:nvSpPr>
          <p:cNvPr id="59" name="Rounded Rectangle 58"/>
          <p:cNvSpPr/>
          <p:nvPr/>
        </p:nvSpPr>
        <p:spPr>
          <a:xfrm>
            <a:off x="502920" y="2066543"/>
            <a:ext cx="329184" cy="219456"/>
          </a:xfrm>
          <a:prstGeom prst="roundRect">
            <a:avLst>
              <a:gd name="adj" fmla="val 15000"/>
            </a:avLst>
          </a:prstGeom>
          <a:noFill/>
          <a:ln w="22225">
            <a:solidFill>
              <a:srgbClr val="7B4FB5"/>
            </a:solidFill>
            <a:prstDash val="sysDot"/>
          </a:ln>
          <a:effectLst/>
        </p:spPr>
        <p:txBody>
          <a:bodyPr rtlCol="0" anchor="ctr" lIns="54864" rIns="54864" tIns="27432" bIns="27432" wrap="square"/>
          <a:lstStyle/>
          <a:p>
            <a:pPr algn="ctr"/>
          </a:p>
        </p:txBody>
      </p:sp>
      <p:sp>
        <p:nvSpPr>
          <p:cNvPr id="60" name="TextBox 5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signature group</a:t>
            </a:r>
          </a:p>
        </p:txBody>
      </p:sp>
      <p:sp>
        <p:nvSpPr>
          <p:cNvPr id="61" name="Rounded Rectangle 60"/>
          <p:cNvSpPr/>
          <p:nvPr/>
        </p:nvSpPr>
        <p:spPr>
          <a:xfrm>
            <a:off x="502920" y="2487168"/>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2" name="TextBox 61"/>
          <p:cNvSpPr txBox="1"/>
          <p:nvPr/>
        </p:nvSpPr>
        <p:spPr>
          <a:xfrm>
            <a:off x="905256" y="2441448"/>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round 2</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TextBox 55"/>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7" name="Rounded Rectangle 56"/>
          <p:cNvSpPr/>
          <p:nvPr/>
        </p:nvSpPr>
        <p:spPr>
          <a:xfrm>
            <a:off x="502920" y="1645920"/>
            <a:ext cx="329184" cy="219456"/>
          </a:xfrm>
          <a:prstGeom prst="roundRect">
            <a:avLst>
              <a:gd name="adj" fmla="val 15000"/>
            </a:avLst>
          </a:prstGeom>
          <a:solidFill>
            <a:srgbClr val="FFF3CC"/>
          </a:solidFill>
          <a:ln w="25400">
            <a:solidFill>
              <a:srgbClr val="E0A300"/>
            </a:solidFill>
          </a:ln>
          <a:effectLst/>
        </p:spPr>
        <p:txBody>
          <a:bodyPr rtlCol="0" anchor="ctr" lIns="54864" rIns="54864" tIns="27432" bIns="27432" wrap="square"/>
          <a:lstStyle/>
          <a:p>
            <a:pPr algn="ctr"/>
          </a:p>
        </p:txBody>
      </p:sp>
      <p:sp>
        <p:nvSpPr>
          <p:cNvPr id="58" name="TextBox 57"/>
          <p:cNvSpPr txBox="1"/>
          <p:nvPr/>
        </p:nvSpPr>
        <p:spPr>
          <a:xfrm>
            <a:off x="905256" y="1600200"/>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merged this round</a:t>
            </a:r>
          </a:p>
        </p:txBody>
      </p:sp>
      <p:sp>
        <p:nvSpPr>
          <p:cNvPr id="59" name="Rounded Rectangle 58"/>
          <p:cNvSpPr/>
          <p:nvPr/>
        </p:nvSpPr>
        <p:spPr>
          <a:xfrm>
            <a:off x="502920" y="2066543"/>
            <a:ext cx="329184" cy="219456"/>
          </a:xfrm>
          <a:prstGeom prst="roundRect">
            <a:avLst>
              <a:gd name="adj" fmla="val 15000"/>
            </a:avLst>
          </a:prstGeom>
          <a:noFill/>
          <a:ln w="28575">
            <a:solidFill>
              <a:srgbClr val="1F2A44"/>
            </a:solidFill>
            <a:prstDash val="lgDash"/>
          </a:ln>
          <a:effectLst/>
        </p:spPr>
        <p:txBody>
          <a:bodyPr rtlCol="0" anchor="ctr" lIns="54864" rIns="54864" tIns="27432" bIns="27432" wrap="square"/>
          <a:lstStyle/>
          <a:p>
            <a:pPr algn="ctr"/>
          </a:p>
        </p:txBody>
      </p:sp>
      <p:sp>
        <p:nvSpPr>
          <p:cNvPr id="60" name="TextBox 59"/>
          <p:cNvSpPr txBox="1"/>
          <p:nvPr/>
        </p:nvSpPr>
        <p:spPr>
          <a:xfrm>
            <a:off x="905256" y="2020824"/>
            <a:ext cx="1563624" cy="320040"/>
          </a:xfrm>
          <a:prstGeom prst="rect">
            <a:avLst/>
          </a:prstGeom>
          <a:noFill/>
        </p:spPr>
        <p:txBody>
          <a:bodyPr wrap="square" anchor="ctr" lIns="45720" rIns="45720" tIns="27432" bIns="27432">
            <a:spAutoFit/>
          </a:bodyPr>
          <a:lstStyle/>
          <a:p>
            <a:pPr algn="l"/>
            <a:r>
              <a:rPr sz="1200" b="0" i="0">
                <a:solidFill>
                  <a:srgbClr val="6B717A"/>
                </a:solidFill>
                <a:latin typeface="Calibri"/>
              </a:rPr>
              <a:t>round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 done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Round 3: no candidates.  Done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Correctness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49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214884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Soundness</a:t>
            </a:r>
          </a:p>
        </p:txBody>
      </p:sp>
      <p:sp>
        <p:nvSpPr>
          <p:cNvPr id="7" name="Rectangle 6"/>
          <p:cNvSpPr/>
          <p:nvPr/>
        </p:nvSpPr>
        <p:spPr>
          <a:xfrm>
            <a:off x="3840480" y="214884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8" name="Rounded Rectangle 7"/>
          <p:cNvSpPr/>
          <p:nvPr/>
        </p:nvSpPr>
        <p:spPr>
          <a:xfrm>
            <a:off x="731520" y="333756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Completeness</a:t>
            </a:r>
          </a:p>
        </p:txBody>
      </p:sp>
      <p:sp>
        <p:nvSpPr>
          <p:cNvPr id="9" name="Rectangle 8"/>
          <p:cNvSpPr/>
          <p:nvPr/>
        </p:nvSpPr>
        <p:spPr>
          <a:xfrm>
            <a:off x="3840480" y="333756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
        <p:nvSpPr>
          <p:cNvPr id="10" name="Rounded Rectangle 9"/>
          <p:cNvSpPr/>
          <p:nvPr/>
        </p:nvSpPr>
        <p:spPr>
          <a:xfrm>
            <a:off x="731520" y="4526280"/>
            <a:ext cx="3108960" cy="914400"/>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Termination</a:t>
            </a:r>
          </a:p>
        </p:txBody>
      </p:sp>
      <p:sp>
        <p:nvSpPr>
          <p:cNvPr id="11" name="Rectangle 10"/>
          <p:cNvSpPr/>
          <p:nvPr/>
        </p:nvSpPr>
        <p:spPr>
          <a:xfrm>
            <a:off x="3840480" y="4526280"/>
            <a:ext cx="7589520" cy="91440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same rounds, no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ParentCC</a:t>
            </a:r>
          </a:p>
        </p:txBody>
      </p:sp>
      <p:sp>
        <p:nvSpPr>
          <p:cNvPr id="8" name="TextBox 7"/>
          <p:cNvSpPr txBox="1"/>
          <p:nvPr/>
        </p:nvSpPr>
        <p:spPr>
          <a:xfrm>
            <a:off x="640080" y="2057400"/>
            <a:ext cx="530352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parent list per class</a:t>
            </a:r>
          </a:p>
          <a:p>
            <a:pPr marL="274320" indent="-237744">
              <a:spcBef>
                <a:spcPts val="1000"/>
              </a:spcBef>
              <a:buClr>
                <a:srgbClr val="6B717A"/>
              </a:buClr>
              <a:buChar char="•"/>
            </a:pPr>
            <a:r>
              <a:rPr sz="1800" b="0" i="0">
                <a:solidFill>
                  <a:srgbClr val="2B2F36"/>
                </a:solidFill>
                <a:latin typeface="Calibri"/>
              </a:rPr>
              <a:t>every merge appends: allocation</a:t>
            </a:r>
          </a:p>
          <a:p>
            <a:pPr marL="274320" indent="-237744">
              <a:spcBef>
                <a:spcPts val="1000"/>
              </a:spcBef>
              <a:buClr>
                <a:srgbClr val="6B717A"/>
              </a:buClr>
              <a:buChar char="•"/>
            </a:pPr>
            <a:r>
              <a:rPr sz="1800" b="0" i="0">
                <a:solidFill>
                  <a:srgbClr val="2B2F36"/>
                </a:solidFill>
                <a:latin typeface="Calibri"/>
              </a:rPr>
              <a:t>candidates: parents of merged classes</a:t>
            </a:r>
          </a:p>
        </p:txBody>
      </p:sp>
      <p:sp>
        <p:nvSpPr>
          <p:cNvPr id="9" name="Rounded Rectangle 8"/>
          <p:cNvSpPr/>
          <p:nvPr/>
        </p:nvSpPr>
        <p:spPr>
          <a:xfrm>
            <a:off x="6263640" y="1371600"/>
            <a:ext cx="5394960" cy="251460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FilterCC</a:t>
            </a:r>
          </a:p>
        </p:txBody>
      </p:sp>
      <p:sp>
        <p:nvSpPr>
          <p:cNvPr id="11" name="TextBox 10"/>
          <p:cNvSpPr txBox="1"/>
          <p:nvPr/>
        </p:nvSpPr>
        <p:spPr>
          <a:xfrm>
            <a:off x="6355080" y="2057400"/>
            <a:ext cx="5212080" cy="21945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one dirty bit per class</a:t>
            </a:r>
          </a:p>
          <a:p>
            <a:pPr marL="274320" indent="-237744">
              <a:spcBef>
                <a:spcPts val="1000"/>
              </a:spcBef>
              <a:buClr>
                <a:srgbClr val="6B717A"/>
              </a:buClr>
              <a:buChar char="•"/>
            </a:pPr>
            <a:r>
              <a:rPr sz="1800" b="0" i="0">
                <a:solidFill>
                  <a:srgbClr val="2B2F36"/>
                </a:solidFill>
                <a:latin typeface="Calibri"/>
              </a:rPr>
              <a:t>a merge marks its classes dirty</a:t>
            </a:r>
          </a:p>
          <a:p>
            <a:pPr marL="274320" indent="-237744">
              <a:spcBef>
                <a:spcPts val="1000"/>
              </a:spcBef>
              <a:buClr>
                <a:srgbClr val="6B717A"/>
              </a:buClr>
              <a:buChar char="•"/>
            </a:pPr>
            <a:r>
              <a:rPr sz="1800" b="0" i="0">
                <a:solidFill>
                  <a:srgbClr val="2B2F36"/>
                </a:solidFill>
                <a:latin typeface="Calibri"/>
              </a:rPr>
              <a:t>candidates: filter all terms for a dirty child</a:t>
            </a:r>
          </a:p>
          <a:p>
            <a:pPr marL="274320" indent="-237744">
              <a:spcBef>
                <a:spcPts val="1000"/>
              </a:spcBef>
              <a:buClr>
                <a:srgbClr val="6B717A"/>
              </a:buClr>
              <a:buChar char="•"/>
            </a:pPr>
            <a:r>
              <a:rPr sz="1800" b="0" i="0">
                <a:solidFill>
                  <a:srgbClr val="2B2F36"/>
                </a:solidFill>
                <a:latin typeface="Calibri"/>
              </a:rPr>
              <a:t>racing marks are fine: setting a bit is idempotent</a:t>
            </a:r>
          </a:p>
        </p:txBody>
      </p:sp>
      <p:sp>
        <p:nvSpPr>
          <p:cNvPr id="12" name="TextBox 11"/>
          <p:cNvSpPr txBox="1"/>
          <p:nvPr/>
        </p:nvSpPr>
        <p:spPr>
          <a:xfrm>
            <a:off x="548640" y="4114800"/>
            <a:ext cx="11155680" cy="411480"/>
          </a:xfrm>
          <a:prstGeom prst="rect">
            <a:avLst/>
          </a:prstGeom>
          <a:noFill/>
        </p:spPr>
        <p:txBody>
          <a:bodyPr wrap="square" anchor="t" lIns="45720" rIns="45720" tIns="27432" bIns="27432">
            <a:spAutoFit/>
          </a:bodyPr>
          <a:lstStyle/>
          <a:p>
            <a:pPr algn="l"/>
            <a:r>
              <a:rPr sz="1800" b="0" i="0">
                <a:solidFill>
                  <a:srgbClr val="6B717A"/>
                </a:solidFill>
                <a:latin typeface="Calibri"/>
              </a:rPr>
              <a:t>Same candidates every round, same merges, same proofs</a:t>
            </a:r>
          </a:p>
        </p:txBody>
      </p:sp>
      <p:sp>
        <p:nvSpPr>
          <p:cNvPr id="13" name="Rounded Rectangle 12"/>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no allocation, but a scan of every term per round: wins when rounds are few</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064240" y="6345936"/>
            <a:ext cx="914400" cy="365760"/>
          </a:xfrm>
          <a:prstGeom prst="rect">
            <a:avLst/>
          </a:prstGeom>
          <a:noFill/>
        </p:spPr>
        <p:txBody>
          <a:bodyPr wrap="square" anchor="t" lIns="45720" rIns="45720" tIns="27432" bIns="27432">
            <a:spAutoFit/>
          </a:bodyPr>
          <a:lstStyle/>
          <a:p>
            <a:pPr algn="r"/>
            <a:r>
              <a:rPr sz="1500" b="0" i="0">
                <a:solidFill>
                  <a:srgbClr val="2B2F36"/>
                </a:solidFill>
                <a:latin typeface="Calibri"/>
              </a:rPr>
              <a:t>51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600" b="1" i="0">
                <a:solidFill>
                  <a:srgbClr val="FFFFFF"/>
                </a:solidFill>
                <a:latin typeface="Calibri"/>
              </a:rPr>
              <a:t>Do real instances have width?</a:t>
            </a:r>
          </a:p>
        </p:txBody>
      </p:sp>
      <p:sp>
        <p:nvSpPr>
          <p:cNvPr id="6" name="TextBox 5"/>
          <p:cNvSpPr txBox="1"/>
          <p:nvPr/>
        </p:nvSpPr>
        <p:spPr>
          <a:xfrm>
            <a:off x="777240" y="402336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