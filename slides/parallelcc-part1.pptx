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in words: given equalities between terms over uninterpreted functions, compute the smallest equivalence relation containing them that is closed under this one rule. Equal arguments give equal applications. The example: transitivity gives a and c equal, congruence gives f(a) and f(c) equal, which refutes the disequality. The standard engine is a union-find plus a signature table, an e-graph, and every implementation we know of is sequential.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and machines are wide: our test box has 96 cores. Theory is discouraging. Congruence closure is P-complete, so a polylog-span algorithm is not expected; worst-case instances force a long chain of dependent merges. The question we ask is whether the instances people actually solve behave like the worst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equalities tie the two copies together: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in the current round, all at once; a barrier; then everything the round just enabled. Round 0 is the input equalities, round 1 the two gate merges, round 2 the output merge.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rounds, width the merges available in one round. Here both are 2. On the circuit benchmarks width reaches millions while depth stays small, and Amar will show that width is what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tells us when. Two questions remain about how. First, how do we find every merge a round allows, all at once, rather than one at a time? Semisort: compute each term’s signature, the symbol plus the classes of its children, and group equal signatures together; every group is a set of congruent terms. Second, how do we perform thousands of unions from many threads and still end up with the right classes? A concurrent union-find: lock-free, linearizable, so the result is the same as if the unions had happened one after another. Both come from the parallel algorithms literature and both are in ParlayLib.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Who might have become congruent? Only a term whose child just changed class, so: the parents of whatever merged last round. Of those, who actually is congruent? Group them by signature. Then merge every group, in parallel. 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first round considers every gate. Each gets a key: its symbol and the class of each child, written here in brackets. Equal keys group together: the ANDs match, the XORs match, the ITEs do not yet because a1 and a2 are still in different classes. The grouping is the semisort.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two-member groups merge, concurrently. This is the slide that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Candidates are the parents of what just merged: the two ITEs. Their keys now agree, so they merge. They have no parents, so round 3 has no candidates and the loop stops. Three rounds instead of eight sequential merges.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Deterministic: the union-find is linearizable and a set of unions yields the same partition in any order. Terminates: a round that merges anything reduces the number of classes. Sound: every group has equal symbol and equal child classes, so each merge is an instance of the congruence rule. Complete: when the last of a pair’s children merge, both parents are candidates next round.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 every round appends lists. FilterCC keeps one dirty bit per class instead and recomputes the candidates by filtering all terms for a child in a dirty class. It touches every term each round, but the filter is a cheap parallel scan with no allocation. Which wins depends on how many rounds the input needs;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every gate is a candidate, exactly as in ParentCC. Groups and merges are the same; afterwards the two merged classes are marked dirty.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gate classes are dirty. Filter every term for a child in a dirty class: the two ITEs. Merge them. The next filter finds nothing, so stop.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5120640" cy="301752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914400" y="1627632"/>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8" name="TextBox 7"/>
          <p:cNvSpPr txBox="1"/>
          <p:nvPr/>
        </p:nvSpPr>
        <p:spPr>
          <a:xfrm>
            <a:off x="914400" y="2377440"/>
            <a:ext cx="4754880" cy="548640"/>
          </a:xfrm>
          <a:prstGeom prst="rect">
            <a:avLst/>
          </a:prstGeom>
          <a:noFill/>
        </p:spPr>
        <p:txBody>
          <a:bodyPr wrap="square" anchor="t" lIns="45720" rIns="45720" tIns="27432" bIns="27432">
            <a:spAutoFit/>
          </a:bodyPr>
          <a:lstStyle/>
          <a:p>
            <a:pPr algn="ctr"/>
            <a:r>
              <a:rPr sz="2800" b="0" i="0">
                <a:solidFill>
                  <a:srgbClr val="2B2F36"/>
                </a:solidFill>
                <a:latin typeface="Calibri"/>
              </a:rPr>
              <a:t>s₁ ≡ t₁    …    sₖ ≡ tₖ</a:t>
            </a:r>
          </a:p>
        </p:txBody>
      </p:sp>
      <p:cxnSp>
        <p:nvCxnSpPr>
          <p:cNvPr id="9" name="Connector 8"/>
          <p:cNvCxnSpPr/>
          <p:nvPr/>
        </p:nvCxnSpPr>
        <p:spPr>
          <a:xfrm>
            <a:off x="1371600" y="3063240"/>
            <a:ext cx="3840480" cy="0"/>
          </a:xfrm>
          <a:prstGeom prst="line">
            <a:avLst/>
          </a:prstGeom>
          <a:ln w="22225">
            <a:solidFill>
              <a:srgbClr val="2B2F36"/>
            </a:solidFill>
          </a:ln>
          <a:effectLst/>
        </p:spPr>
      </p:cxnSp>
      <p:sp>
        <p:nvSpPr>
          <p:cNvPr id="10" name="TextBox 9"/>
          <p:cNvSpPr txBox="1"/>
          <p:nvPr/>
        </p:nvSpPr>
        <p:spPr>
          <a:xfrm>
            <a:off x="914400" y="3200400"/>
            <a:ext cx="4754880" cy="548640"/>
          </a:xfrm>
          <a:prstGeom prst="rect">
            <a:avLst/>
          </a:prstGeom>
          <a:noFill/>
        </p:spPr>
        <p:txBody>
          <a:bodyPr wrap="square" anchor="t" lIns="45720" rIns="45720" tIns="27432" bIns="27432">
            <a:spAutoFit/>
          </a:bodyPr>
          <a:lstStyle/>
          <a:p>
            <a:pPr algn="ctr"/>
            <a:r>
              <a:rPr sz="2800" b="0" i="0">
                <a:solidFill>
                  <a:srgbClr val="2B2F36"/>
                </a:solidFill>
                <a:latin typeface="Calibri"/>
              </a:rPr>
              <a:t>f(s₁, …, sₖ) ≡ f(t₁, …, tₖ)</a:t>
            </a:r>
          </a:p>
        </p:txBody>
      </p:sp>
      <p:sp>
        <p:nvSpPr>
          <p:cNvPr id="11" name="Rounded Rectangle 10"/>
          <p:cNvSpPr/>
          <p:nvPr/>
        </p:nvSpPr>
        <p:spPr>
          <a:xfrm>
            <a:off x="6400800" y="1554480"/>
            <a:ext cx="5029200" cy="301752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2" name="TextBox 11"/>
          <p:cNvSpPr txBox="1"/>
          <p:nvPr/>
        </p:nvSpPr>
        <p:spPr>
          <a:xfrm>
            <a:off x="6583680" y="1627632"/>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Example</a:t>
            </a:r>
          </a:p>
        </p:txBody>
      </p:sp>
      <p:sp>
        <p:nvSpPr>
          <p:cNvPr id="13" name="TextBox 12"/>
          <p:cNvSpPr txBox="1"/>
          <p:nvPr/>
        </p:nvSpPr>
        <p:spPr>
          <a:xfrm>
            <a:off x="6583680" y="2377440"/>
            <a:ext cx="4663440" cy="548640"/>
          </a:xfrm>
          <a:prstGeom prst="rect">
            <a:avLst/>
          </a:prstGeom>
          <a:noFill/>
        </p:spPr>
        <p:txBody>
          <a:bodyPr wrap="square" anchor="t" lIns="45720" rIns="45720" tIns="27432" bIns="27432">
            <a:spAutoFit/>
          </a:bodyPr>
          <a:lstStyle/>
          <a:p>
            <a:pPr algn="ctr"/>
            <a:r>
              <a:rPr sz="2600" b="1" i="0">
                <a:solidFill>
                  <a:srgbClr val="2B2F36"/>
                </a:solidFill>
                <a:latin typeface="Calibri"/>
              </a:rPr>
              <a:t>a = b      b = c      f(a) ≠ f(c)</a:t>
            </a:r>
          </a:p>
        </p:txBody>
      </p:sp>
      <p:sp>
        <p:nvSpPr>
          <p:cNvPr id="14" name="TextBox 13"/>
          <p:cNvSpPr txBox="1"/>
          <p:nvPr/>
        </p:nvSpPr>
        <p:spPr>
          <a:xfrm>
            <a:off x="6583680" y="3200400"/>
            <a:ext cx="4663440" cy="548640"/>
          </a:xfrm>
          <a:prstGeom prst="rect">
            <a:avLst/>
          </a:prstGeom>
          <a:noFill/>
        </p:spPr>
        <p:txBody>
          <a:bodyPr wrap="square" anchor="t" lIns="45720" rIns="45720" tIns="27432" bIns="27432">
            <a:spAutoFit/>
          </a:bodyPr>
          <a:lstStyle/>
          <a:p>
            <a:pPr algn="ctr"/>
            <a:r>
              <a:rPr sz="2600" b="0" i="0">
                <a:solidFill>
                  <a:srgbClr val="2B2F36"/>
                </a:solidFill>
                <a:latin typeface="Calibri"/>
              </a:rPr>
              <a:t>a ≡ c   ⇒   f(a) ≡ f(c)</a:t>
            </a:r>
          </a:p>
        </p:txBody>
      </p:sp>
      <p:sp>
        <p:nvSpPr>
          <p:cNvPr id="15" name="Rounded Rectangle 14"/>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Smallest equivalence relation containing E, closed under congruence</a:t>
            </a:r>
          </a:p>
        </p:txBody>
      </p:sp>
      <p:sp>
        <p:nvSpPr>
          <p:cNvPr id="16" name="TextBox 15"/>
          <p:cNvSpPr txBox="1"/>
          <p:nvPr/>
        </p:nvSpPr>
        <p:spPr>
          <a:xfrm>
            <a:off x="731520" y="4892040"/>
            <a:ext cx="109728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Nelson &amp; Oppen 1980   ·   Downey, Sethi &amp; Tarjan 1980   ·   Nieuwenhuis &amp; Oliveras 2007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73736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every implementation: sequential</a:t>
            </a:r>
          </a:p>
        </p:txBody>
      </p:sp>
      <p:sp>
        <p:nvSpPr>
          <p:cNvPr id="7" name="TextBox 6"/>
          <p:cNvSpPr txBox="1"/>
          <p:nvPr/>
        </p:nvSpPr>
        <p:spPr>
          <a:xfrm>
            <a:off x="731520" y="274320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P-complete</a:t>
            </a:r>
          </a:p>
        </p:txBody>
      </p:sp>
      <p:sp>
        <p:nvSpPr>
          <p:cNvPr id="8" name="TextBox 7"/>
          <p:cNvSpPr txBox="1"/>
          <p:nvPr/>
        </p:nvSpPr>
        <p:spPr>
          <a:xfrm>
            <a:off x="731520" y="3337560"/>
            <a:ext cx="10972800" cy="320040"/>
          </a:xfrm>
          <a:prstGeom prst="rect">
            <a:avLst/>
          </a:prstGeom>
          <a:noFill/>
        </p:spPr>
        <p:txBody>
          <a:bodyPr wrap="square" anchor="t" lIns="45720" rIns="45720" tIns="27432" bIns="27432">
            <a:spAutoFit/>
          </a:bodyPr>
          <a:lstStyle/>
          <a:p>
            <a:pPr algn="ctr"/>
            <a:r>
              <a:rPr sz="1300" b="0" i="0">
                <a:solidFill>
                  <a:srgbClr val="6B717A"/>
                </a:solidFill>
                <a:latin typeface="Calibri"/>
              </a:rPr>
              <a:t>Kanellakis &amp; Revesz 1989</a:t>
            </a:r>
          </a:p>
        </p:txBody>
      </p:sp>
      <p:sp>
        <p:nvSpPr>
          <p:cNvPr id="9" name="Rounded Rectangle 8"/>
          <p:cNvSpPr/>
          <p:nvPr/>
        </p:nvSpPr>
        <p:spPr>
          <a:xfrm>
            <a:off x="548640" y="448056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Do practical instances expose enough independent merges?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number of rounds        width: merges per round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questions per round, two primitives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789920" cy="502920"/>
          </a:xfrm>
          <a:prstGeom prst="rect">
            <a:avLst/>
          </a:prstGeom>
          <a:noFill/>
        </p:spPr>
        <p:txBody>
          <a:bodyPr wrap="square" anchor="t" lIns="45720" rIns="45720" tIns="27432" bIns="27432">
            <a:spAutoFit/>
          </a:bodyPr>
          <a:lstStyle/>
          <a:p>
            <a:pPr algn="l"/>
            <a:r>
              <a:rPr sz="2400" b="1" i="0">
                <a:solidFill>
                  <a:srgbClr val="1F2A44"/>
                </a:solidFill>
                <a:latin typeface="Calibri"/>
              </a:rPr>
              <a:t>How do we find all the merges of a round?</a:t>
            </a:r>
          </a:p>
        </p:txBody>
      </p:sp>
      <p:sp>
        <p:nvSpPr>
          <p:cNvPr id="7" name="TextBox 6"/>
          <p:cNvSpPr txBox="1"/>
          <p:nvPr/>
        </p:nvSpPr>
        <p:spPr>
          <a:xfrm>
            <a:off x="1280160" y="2057400"/>
            <a:ext cx="1188720" cy="365760"/>
          </a:xfrm>
          <a:prstGeom prst="rect">
            <a:avLst/>
          </a:prstGeom>
          <a:noFill/>
        </p:spPr>
        <p:txBody>
          <a:bodyPr wrap="square" anchor="ctr" lIns="45720" rIns="45720" tIns="27432" bIns="27432">
            <a:spAutoFit/>
          </a:bodyPr>
          <a:lstStyle/>
          <a:p>
            <a:pPr algn="l"/>
            <a:r>
              <a:rPr sz="1300" b="1" i="0">
                <a:solidFill>
                  <a:srgbClr val="6B717A"/>
                </a:solidFill>
                <a:latin typeface="Calibri"/>
              </a:rPr>
              <a:t>insight</a:t>
            </a:r>
          </a:p>
        </p:txBody>
      </p:sp>
      <p:sp>
        <p:nvSpPr>
          <p:cNvPr id="8" name="TextBox 7"/>
          <p:cNvSpPr txBox="1"/>
          <p:nvPr/>
        </p:nvSpPr>
        <p:spPr>
          <a:xfrm>
            <a:off x="2468880" y="2020824"/>
            <a:ext cx="8595360" cy="457200"/>
          </a:xfrm>
          <a:prstGeom prst="rect">
            <a:avLst/>
          </a:prstGeom>
          <a:noFill/>
        </p:spPr>
        <p:txBody>
          <a:bodyPr wrap="square" anchor="ctr" lIns="45720" rIns="45720" tIns="27432" bIns="27432">
            <a:spAutoFit/>
          </a:bodyPr>
          <a:lstStyle/>
          <a:p>
            <a:pPr algn="l"/>
            <a:r>
              <a:rPr sz="1900" b="0" i="0">
                <a:solidFill>
                  <a:srgbClr val="2B2F36"/>
                </a:solidFill>
                <a:latin typeface="Calibri"/>
              </a:rPr>
              <a:t>after one Find per child, congruence is equality of a key</a:t>
            </a:r>
          </a:p>
        </p:txBody>
      </p:sp>
      <p:sp>
        <p:nvSpPr>
          <p:cNvPr id="9" name="TextBox 8"/>
          <p:cNvSpPr txBox="1"/>
          <p:nvPr/>
        </p:nvSpPr>
        <p:spPr>
          <a:xfrm>
            <a:off x="1280160" y="2560320"/>
            <a:ext cx="1188720" cy="502920"/>
          </a:xfrm>
          <a:prstGeom prst="rect">
            <a:avLst/>
          </a:prstGeom>
          <a:noFill/>
        </p:spPr>
        <p:txBody>
          <a:bodyPr wrap="square" anchor="ctr" lIns="45720" rIns="45720" tIns="27432" bIns="27432">
            <a:spAutoFit/>
          </a:bodyPr>
          <a:lstStyle/>
          <a:p>
            <a:pPr algn="l"/>
            <a:r>
              <a:rPr sz="1300" b="1" i="0">
                <a:solidFill>
                  <a:srgbClr val="6B717A"/>
                </a:solidFill>
                <a:latin typeface="Calibri"/>
              </a:rPr>
              <a:t>so apply</a:t>
            </a:r>
          </a:p>
        </p:txBody>
      </p:sp>
      <p:sp>
        <p:nvSpPr>
          <p:cNvPr id="10" name="Rounded Rectangle 9"/>
          <p:cNvSpPr/>
          <p:nvPr/>
        </p:nvSpPr>
        <p:spPr>
          <a:xfrm>
            <a:off x="2468880" y="2532888"/>
            <a:ext cx="8595360" cy="56692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2000" b="1" i="0">
                <a:solidFill>
                  <a:srgbClr val="2B2F36"/>
                </a:solidFill>
                <a:latin typeface="Calibri"/>
              </a:rPr>
              <a:t>semisort by that key</a:t>
            </a:r>
          </a:p>
        </p:txBody>
      </p:sp>
      <p:sp>
        <p:nvSpPr>
          <p:cNvPr id="11" name="TextBox 10"/>
          <p:cNvSpPr txBox="1"/>
          <p:nvPr/>
        </p:nvSpPr>
        <p:spPr>
          <a:xfrm>
            <a:off x="2468880" y="3118104"/>
            <a:ext cx="8595360" cy="274320"/>
          </a:xfrm>
          <a:prstGeom prst="rect">
            <a:avLst/>
          </a:prstGeom>
          <a:noFill/>
        </p:spPr>
        <p:txBody>
          <a:bodyPr wrap="square" anchor="t" lIns="45720" rIns="45720" tIns="27432" bIns="27432">
            <a:spAutoFit/>
          </a:bodyPr>
          <a:lstStyle/>
          <a:p>
            <a:pPr algn="r"/>
            <a:r>
              <a:rPr sz="1100" b="0" i="0">
                <a:solidFill>
                  <a:srgbClr val="6B717A"/>
                </a:solidFill>
                <a:latin typeface="Calibri"/>
              </a:rPr>
              <a:t>Gu, Shun, Sun &amp; Blelloch, SPAA 2015</a:t>
            </a:r>
          </a:p>
        </p:txBody>
      </p:sp>
      <p:sp>
        <p:nvSpPr>
          <p:cNvPr id="12" name="TextBox 11"/>
          <p:cNvSpPr txBox="1"/>
          <p:nvPr/>
        </p:nvSpPr>
        <p:spPr>
          <a:xfrm>
            <a:off x="731520" y="3840480"/>
            <a:ext cx="10789920" cy="502920"/>
          </a:xfrm>
          <a:prstGeom prst="rect">
            <a:avLst/>
          </a:prstGeom>
          <a:noFill/>
        </p:spPr>
        <p:txBody>
          <a:bodyPr wrap="square" anchor="t" lIns="45720" rIns="45720" tIns="27432" bIns="27432">
            <a:spAutoFit/>
          </a:bodyPr>
          <a:lstStyle/>
          <a:p>
            <a:pPr algn="l"/>
            <a:r>
              <a:rPr sz="2400" b="1" i="0">
                <a:solidFill>
                  <a:srgbClr val="1F2A44"/>
                </a:solidFill>
                <a:latin typeface="Calibri"/>
              </a:rPr>
              <a:t>How do we run thousands of unions at once, correctly?</a:t>
            </a:r>
          </a:p>
        </p:txBody>
      </p:sp>
      <p:sp>
        <p:nvSpPr>
          <p:cNvPr id="13" name="TextBox 12"/>
          <p:cNvSpPr txBox="1"/>
          <p:nvPr/>
        </p:nvSpPr>
        <p:spPr>
          <a:xfrm>
            <a:off x="1280160" y="4480560"/>
            <a:ext cx="1188720" cy="365760"/>
          </a:xfrm>
          <a:prstGeom prst="rect">
            <a:avLst/>
          </a:prstGeom>
          <a:noFill/>
        </p:spPr>
        <p:txBody>
          <a:bodyPr wrap="square" anchor="ctr" lIns="45720" rIns="45720" tIns="27432" bIns="27432">
            <a:spAutoFit/>
          </a:bodyPr>
          <a:lstStyle/>
          <a:p>
            <a:pPr algn="l"/>
            <a:r>
              <a:rPr sz="1300" b="1" i="0">
                <a:solidFill>
                  <a:srgbClr val="6B717A"/>
                </a:solidFill>
                <a:latin typeface="Calibri"/>
              </a:rPr>
              <a:t>insight</a:t>
            </a:r>
          </a:p>
        </p:txBody>
      </p:sp>
      <p:sp>
        <p:nvSpPr>
          <p:cNvPr id="14" name="TextBox 13"/>
          <p:cNvSpPr txBox="1"/>
          <p:nvPr/>
        </p:nvSpPr>
        <p:spPr>
          <a:xfrm>
            <a:off x="2468880" y="4443984"/>
            <a:ext cx="8595360" cy="457200"/>
          </a:xfrm>
          <a:prstGeom prst="rect">
            <a:avLst/>
          </a:prstGeom>
          <a:noFill/>
        </p:spPr>
        <p:txBody>
          <a:bodyPr wrap="square" anchor="ctr" lIns="45720" rIns="45720" tIns="27432" bIns="27432">
            <a:spAutoFit/>
          </a:bodyPr>
          <a:lstStyle/>
          <a:p>
            <a:pPr algn="l"/>
            <a:r>
              <a:rPr sz="1900" b="0" i="0">
                <a:solidFill>
                  <a:srgbClr val="2B2F36"/>
                </a:solidFill>
                <a:latin typeface="Calibri"/>
              </a:rPr>
              <a:t>the partition a set of unions produces does not depend on their order</a:t>
            </a:r>
          </a:p>
        </p:txBody>
      </p:sp>
      <p:sp>
        <p:nvSpPr>
          <p:cNvPr id="15" name="TextBox 14"/>
          <p:cNvSpPr txBox="1"/>
          <p:nvPr/>
        </p:nvSpPr>
        <p:spPr>
          <a:xfrm>
            <a:off x="1280160" y="4983480"/>
            <a:ext cx="1188720" cy="502920"/>
          </a:xfrm>
          <a:prstGeom prst="rect">
            <a:avLst/>
          </a:prstGeom>
          <a:noFill/>
        </p:spPr>
        <p:txBody>
          <a:bodyPr wrap="square" anchor="ctr" lIns="45720" rIns="45720" tIns="27432" bIns="27432">
            <a:spAutoFit/>
          </a:bodyPr>
          <a:lstStyle/>
          <a:p>
            <a:pPr algn="l"/>
            <a:r>
              <a:rPr sz="1300" b="1" i="0">
                <a:solidFill>
                  <a:srgbClr val="6B717A"/>
                </a:solidFill>
                <a:latin typeface="Calibri"/>
              </a:rPr>
              <a:t>so apply</a:t>
            </a:r>
          </a:p>
        </p:txBody>
      </p:sp>
      <p:sp>
        <p:nvSpPr>
          <p:cNvPr id="16" name="Rounded Rectangle 15"/>
          <p:cNvSpPr/>
          <p:nvPr/>
        </p:nvSpPr>
        <p:spPr>
          <a:xfrm>
            <a:off x="2468880" y="4956048"/>
            <a:ext cx="8595360" cy="56692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2000" b="1" i="0">
                <a:solidFill>
                  <a:srgbClr val="2B2F36"/>
                </a:solidFill>
                <a:latin typeface="Calibri"/>
              </a:rPr>
              <a:t>lock-free concurrent union-find, no coordination</a:t>
            </a:r>
          </a:p>
        </p:txBody>
      </p:sp>
      <p:sp>
        <p:nvSpPr>
          <p:cNvPr id="17" name="TextBox 16"/>
          <p:cNvSpPr txBox="1"/>
          <p:nvPr/>
        </p:nvSpPr>
        <p:spPr>
          <a:xfrm>
            <a:off x="2468880" y="5541264"/>
            <a:ext cx="8595360" cy="274320"/>
          </a:xfrm>
          <a:prstGeom prst="rect">
            <a:avLst/>
          </a:prstGeom>
          <a:noFill/>
        </p:spPr>
        <p:txBody>
          <a:bodyPr wrap="square" anchor="t" lIns="45720" rIns="45720" tIns="27432" bIns="27432">
            <a:spAutoFit/>
          </a:bodyPr>
          <a:lstStyle/>
          <a:p>
            <a:pPr algn="r"/>
            <a:r>
              <a:rPr sz="1100" b="0" i="0">
                <a:solidFill>
                  <a:srgbClr val="6B717A"/>
                </a:solidFill>
                <a:latin typeface="Calibri"/>
              </a:rPr>
              <a:t>Alistarh, Fedorov &amp; Koval, OPODIS 2019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sp>
        <p:nvSpPr>
          <p:cNvPr id="14" name="Rounded Rectangle 13"/>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5" name="Rounded Rectangle 14"/>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6" name="TextBox 15"/>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7" name="TextBox 16"/>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8" name="Connector 17"/>
          <p:cNvCxnSpPr/>
          <p:nvPr/>
        </p:nvCxnSpPr>
        <p:spPr>
          <a:xfrm>
            <a:off x="3977639" y="2926080"/>
            <a:ext cx="475489" cy="0"/>
          </a:xfrm>
          <a:prstGeom prst="line">
            <a:avLst/>
          </a:prstGeom>
          <a:ln w="25400">
            <a:solidFill>
              <a:srgbClr val="2B2F36"/>
            </a:solidFill>
            <a:tailEnd type="triangle" w="med" len="med"/>
          </a:ln>
          <a:effectLst/>
        </p:spPr>
      </p:cxn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2775203"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2" name="TextBox 51"/>
          <p:cNvSpPr txBox="1"/>
          <p:nvPr/>
        </p:nvSpPr>
        <p:spPr>
          <a:xfrm>
            <a:off x="7210044"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3" name="TextBox 52"/>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4" name="TextBox 53"/>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0" name="TextBox 49"/>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4" name="Rounded Rectangle 13"/>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5129784" y="112471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2" name="TextBox 51"/>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Deterministic</a:t>
            </a:r>
          </a:p>
        </p:txBody>
      </p:sp>
      <p:sp>
        <p:nvSpPr>
          <p:cNvPr id="7" name="Rectangle 6"/>
          <p:cNvSpPr/>
          <p:nvPr/>
        </p:nvSpPr>
        <p:spPr>
          <a:xfrm>
            <a:off x="3657600" y="1554480"/>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same classes whatever the thread order</a:t>
            </a:r>
          </a:p>
        </p:txBody>
      </p:sp>
      <p:sp>
        <p:nvSpPr>
          <p:cNvPr id="8" name="Rounded Rectangle 7"/>
          <p:cNvSpPr/>
          <p:nvPr/>
        </p:nvSpPr>
        <p:spPr>
          <a:xfrm>
            <a:off x="731520" y="260603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Terminates</a:t>
            </a:r>
          </a:p>
        </p:txBody>
      </p:sp>
      <p:sp>
        <p:nvSpPr>
          <p:cNvPr id="9" name="Rectangle 8"/>
          <p:cNvSpPr/>
          <p:nvPr/>
        </p:nvSpPr>
        <p:spPr>
          <a:xfrm>
            <a:off x="3657600" y="260603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
        <p:nvSpPr>
          <p:cNvPr id="10" name="Rounded Rectangle 9"/>
          <p:cNvSpPr/>
          <p:nvPr/>
        </p:nvSpPr>
        <p:spPr>
          <a:xfrm>
            <a:off x="731520" y="365759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Sound</a:t>
            </a:r>
          </a:p>
        </p:txBody>
      </p:sp>
      <p:sp>
        <p:nvSpPr>
          <p:cNvPr id="11" name="Rectangle 10"/>
          <p:cNvSpPr/>
          <p:nvPr/>
        </p:nvSpPr>
        <p:spPr>
          <a:xfrm>
            <a:off x="3657600" y="365759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12" name="Rounded Rectangle 11"/>
          <p:cNvSpPr/>
          <p:nvPr/>
        </p:nvSpPr>
        <p:spPr>
          <a:xfrm>
            <a:off x="731520" y="470915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Complete</a:t>
            </a:r>
          </a:p>
        </p:txBody>
      </p:sp>
      <p:sp>
        <p:nvSpPr>
          <p:cNvPr id="13" name="Rectangle 12"/>
          <p:cNvSpPr/>
          <p:nvPr/>
        </p:nvSpPr>
        <p:spPr>
          <a:xfrm>
            <a:off x="3657600" y="470915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972800" cy="457200"/>
          </a:xfrm>
          <a:prstGeom prst="rect">
            <a:avLst/>
          </a:prstGeom>
          <a:noFill/>
        </p:spPr>
        <p:txBody>
          <a:bodyPr wrap="square" anchor="t" lIns="45720" rIns="45720" tIns="27432" bIns="27432">
            <a:spAutoFit/>
          </a:bodyPr>
          <a:lstStyle/>
          <a:p>
            <a:pPr algn="l"/>
            <a:r>
              <a:rPr sz="2200" b="1" i="0">
                <a:solidFill>
                  <a:srgbClr val="1F2A44"/>
                </a:solidFill>
                <a:latin typeface="Calibri"/>
              </a:rPr>
              <a:t>Same rounds, different way to find the candidates</a:t>
            </a:r>
          </a:p>
        </p:txBody>
      </p:sp>
      <p:sp>
        <p:nvSpPr>
          <p:cNvPr id="7" name="Rectangle 6"/>
          <p:cNvSpPr/>
          <p:nvPr/>
        </p:nvSpPr>
        <p:spPr>
          <a:xfrm>
            <a:off x="731520" y="2194560"/>
            <a:ext cx="2322576" cy="54864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310896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ParentCC</a:t>
            </a:r>
          </a:p>
        </p:txBody>
      </p:sp>
      <p:sp>
        <p:nvSpPr>
          <p:cNvPr id="9" name="Rectangle 8"/>
          <p:cNvSpPr/>
          <p:nvPr/>
        </p:nvSpPr>
        <p:spPr>
          <a:xfrm>
            <a:off x="731520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FilterCC</a:t>
            </a:r>
          </a:p>
        </p:txBody>
      </p:sp>
      <p:sp>
        <p:nvSpPr>
          <p:cNvPr id="10" name="Rectangle 9"/>
          <p:cNvSpPr/>
          <p:nvPr/>
        </p:nvSpPr>
        <p:spPr>
          <a:xfrm>
            <a:off x="731520" y="2798064"/>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remember</a:t>
            </a:r>
          </a:p>
        </p:txBody>
      </p:sp>
      <p:sp>
        <p:nvSpPr>
          <p:cNvPr id="11" name="Rectangle 10"/>
          <p:cNvSpPr/>
          <p:nvPr/>
        </p:nvSpPr>
        <p:spPr>
          <a:xfrm>
            <a:off x="310896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 list per class</a:t>
            </a:r>
          </a:p>
        </p:txBody>
      </p:sp>
      <p:sp>
        <p:nvSpPr>
          <p:cNvPr id="12" name="Rectangle 11"/>
          <p:cNvSpPr/>
          <p:nvPr/>
        </p:nvSpPr>
        <p:spPr>
          <a:xfrm>
            <a:off x="731520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one dirty bit per class</a:t>
            </a:r>
          </a:p>
        </p:txBody>
      </p:sp>
      <p:sp>
        <p:nvSpPr>
          <p:cNvPr id="13" name="Rectangle 12"/>
          <p:cNvSpPr/>
          <p:nvPr/>
        </p:nvSpPr>
        <p:spPr>
          <a:xfrm>
            <a:off x="731520" y="3511296"/>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candidates</a:t>
            </a:r>
          </a:p>
        </p:txBody>
      </p:sp>
      <p:sp>
        <p:nvSpPr>
          <p:cNvPr id="14" name="Rectangle 13"/>
          <p:cNvSpPr/>
          <p:nvPr/>
        </p:nvSpPr>
        <p:spPr>
          <a:xfrm>
            <a:off x="310896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parents of last round’s merges</a:t>
            </a:r>
          </a:p>
        </p:txBody>
      </p:sp>
      <p:sp>
        <p:nvSpPr>
          <p:cNvPr id="15" name="Rectangle 14"/>
          <p:cNvSpPr/>
          <p:nvPr/>
        </p:nvSpPr>
        <p:spPr>
          <a:xfrm>
            <a:off x="731520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filter all terms for a dirty child</a:t>
            </a:r>
          </a:p>
        </p:txBody>
      </p:sp>
      <p:sp>
        <p:nvSpPr>
          <p:cNvPr id="16" name="Rectangle 15"/>
          <p:cNvSpPr/>
          <p:nvPr/>
        </p:nvSpPr>
        <p:spPr>
          <a:xfrm>
            <a:off x="731520" y="4224528"/>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cost per round</a:t>
            </a:r>
          </a:p>
        </p:txBody>
      </p:sp>
      <p:sp>
        <p:nvSpPr>
          <p:cNvPr id="17" name="Rectangle 16"/>
          <p:cNvSpPr/>
          <p:nvPr/>
        </p:nvSpPr>
        <p:spPr>
          <a:xfrm>
            <a:off x="310896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candidates, plus allocation</a:t>
            </a:r>
          </a:p>
        </p:txBody>
      </p:sp>
      <p:sp>
        <p:nvSpPr>
          <p:cNvPr id="18" name="Rectangle 17"/>
          <p:cNvSpPr/>
          <p:nvPr/>
        </p:nvSpPr>
        <p:spPr>
          <a:xfrm>
            <a:off x="731520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all terms, no allocation</a:t>
            </a:r>
          </a:p>
        </p:txBody>
      </p:sp>
      <p:sp>
        <p:nvSpPr>
          <p:cNvPr id="19" name="Rectangle 18"/>
          <p:cNvSpPr/>
          <p:nvPr/>
        </p:nvSpPr>
        <p:spPr>
          <a:xfrm>
            <a:off x="731520" y="4937760"/>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wins when</a:t>
            </a:r>
          </a:p>
        </p:txBody>
      </p:sp>
      <p:sp>
        <p:nvSpPr>
          <p:cNvPr id="20" name="Rectangle 19"/>
          <p:cNvSpPr/>
          <p:nvPr/>
        </p:nvSpPr>
        <p:spPr>
          <a:xfrm>
            <a:off x="310896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many rounds</a:t>
            </a:r>
          </a:p>
        </p:txBody>
      </p:sp>
      <p:sp>
        <p:nvSpPr>
          <p:cNvPr id="21" name="Rectangle 20"/>
          <p:cNvSpPr/>
          <p:nvPr/>
        </p:nvSpPr>
        <p:spPr>
          <a:xfrm>
            <a:off x="731520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few rounds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323843"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4823459"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6323075"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782269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9322308"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2784348" y="3803903"/>
            <a:ext cx="539496" cy="1106425"/>
          </a:xfrm>
          <a:prstGeom prst="line">
            <a:avLst/>
          </a:prstGeom>
          <a:ln w="15875">
            <a:solidFill>
              <a:srgbClr val="8A8F98"/>
            </a:solidFill>
          </a:ln>
          <a:effectLst/>
        </p:spPr>
      </p:cxnSp>
      <p:cxnSp>
        <p:nvCxnSpPr>
          <p:cNvPr id="21" name="Connector 20"/>
          <p:cNvCxnSpPr/>
          <p:nvPr/>
        </p:nvCxnSpPr>
        <p:spPr>
          <a:xfrm>
            <a:off x="3323844" y="3803903"/>
            <a:ext cx="960120" cy="1106425"/>
          </a:xfrm>
          <a:prstGeom prst="line">
            <a:avLst/>
          </a:prstGeom>
          <a:ln w="15875">
            <a:solidFill>
              <a:srgbClr val="8A8F98"/>
            </a:solidFill>
          </a:ln>
          <a:effectLst/>
        </p:spPr>
      </p:cxnSp>
      <p:cxnSp>
        <p:nvCxnSpPr>
          <p:cNvPr id="22" name="Connector 21"/>
          <p:cNvCxnSpPr/>
          <p:nvPr/>
        </p:nvCxnSpPr>
        <p:spPr>
          <a:xfrm flipH="1">
            <a:off x="3406139" y="3803903"/>
            <a:ext cx="1014985" cy="1106425"/>
          </a:xfrm>
          <a:prstGeom prst="line">
            <a:avLst/>
          </a:prstGeom>
          <a:ln w="15875">
            <a:solidFill>
              <a:srgbClr val="8A8F98"/>
            </a:solidFill>
          </a:ln>
          <a:effectLst/>
        </p:spPr>
      </p:cxnSp>
      <p:cxnSp>
        <p:nvCxnSpPr>
          <p:cNvPr id="23" name="Connector 22"/>
          <p:cNvCxnSpPr/>
          <p:nvPr/>
        </p:nvCxnSpPr>
        <p:spPr>
          <a:xfrm>
            <a:off x="4421124" y="3803903"/>
            <a:ext cx="484632" cy="1106425"/>
          </a:xfrm>
          <a:prstGeom prst="line">
            <a:avLst/>
          </a:prstGeom>
          <a:ln w="15875">
            <a:solidFill>
              <a:srgbClr val="8A8F98"/>
            </a:solidFill>
          </a:ln>
          <a:effectLst/>
        </p:spPr>
      </p:cxnSp>
      <p:cxnSp>
        <p:nvCxnSpPr>
          <p:cNvPr id="24" name="Connector 23"/>
          <p:cNvCxnSpPr/>
          <p:nvPr/>
        </p:nvCxnSpPr>
        <p:spPr>
          <a:xfrm flipH="1">
            <a:off x="7283196" y="3803903"/>
            <a:ext cx="475487" cy="1106425"/>
          </a:xfrm>
          <a:prstGeom prst="line">
            <a:avLst/>
          </a:prstGeom>
          <a:ln w="15875">
            <a:solidFill>
              <a:srgbClr val="8A8F98"/>
            </a:solidFill>
          </a:ln>
          <a:effectLst/>
        </p:spPr>
      </p:cxnSp>
      <p:cxnSp>
        <p:nvCxnSpPr>
          <p:cNvPr id="25" name="Connector 24"/>
          <p:cNvCxnSpPr/>
          <p:nvPr/>
        </p:nvCxnSpPr>
        <p:spPr>
          <a:xfrm>
            <a:off x="7758683" y="3803903"/>
            <a:ext cx="1024129" cy="1106425"/>
          </a:xfrm>
          <a:prstGeom prst="line">
            <a:avLst/>
          </a:prstGeom>
          <a:ln w="15875">
            <a:solidFill>
              <a:srgbClr val="8A8F98"/>
            </a:solidFill>
          </a:ln>
          <a:effectLst/>
        </p:spPr>
      </p:cxnSp>
      <p:cxnSp>
        <p:nvCxnSpPr>
          <p:cNvPr id="26" name="Connector 25"/>
          <p:cNvCxnSpPr/>
          <p:nvPr/>
        </p:nvCxnSpPr>
        <p:spPr>
          <a:xfrm flipH="1">
            <a:off x="7904988" y="3803903"/>
            <a:ext cx="950975" cy="1106425"/>
          </a:xfrm>
          <a:prstGeom prst="line">
            <a:avLst/>
          </a:prstGeom>
          <a:ln w="15875">
            <a:solidFill>
              <a:srgbClr val="8A8F98"/>
            </a:solidFill>
          </a:ln>
          <a:effectLst/>
        </p:spPr>
      </p:cxnSp>
      <p:cxnSp>
        <p:nvCxnSpPr>
          <p:cNvPr id="27" name="Connector 26"/>
          <p:cNvCxnSpPr/>
          <p:nvPr/>
        </p:nvCxnSpPr>
        <p:spPr>
          <a:xfrm>
            <a:off x="8855963" y="3803903"/>
            <a:ext cx="548641" cy="1106425"/>
          </a:xfrm>
          <a:prstGeom prst="line">
            <a:avLst/>
          </a:prstGeom>
          <a:ln w="15875">
            <a:solidFill>
              <a:srgbClr val="8A8F98"/>
            </a:solidFill>
          </a:ln>
          <a:effectLst/>
        </p:spPr>
      </p:cxnSp>
      <p:cxnSp>
        <p:nvCxnSpPr>
          <p:cNvPr id="28" name="Connector 27"/>
          <p:cNvCxnSpPr/>
          <p:nvPr/>
        </p:nvCxnSpPr>
        <p:spPr>
          <a:xfrm>
            <a:off x="5564124" y="2203704"/>
            <a:ext cx="219455" cy="2706624"/>
          </a:xfrm>
          <a:prstGeom prst="line">
            <a:avLst/>
          </a:prstGeom>
          <a:ln w="15875">
            <a:solidFill>
              <a:srgbClr val="8A8F98"/>
            </a:solidFill>
          </a:ln>
          <a:effectLst/>
        </p:spPr>
      </p:cxnSp>
      <p:cxnSp>
        <p:nvCxnSpPr>
          <p:cNvPr id="29" name="Connector 28"/>
          <p:cNvCxnSpPr/>
          <p:nvPr/>
        </p:nvCxnSpPr>
        <p:spPr>
          <a:xfrm flipH="1">
            <a:off x="3323844" y="2203704"/>
            <a:ext cx="2240280" cy="749807"/>
          </a:xfrm>
          <a:prstGeom prst="line">
            <a:avLst/>
          </a:prstGeom>
          <a:ln w="15875">
            <a:solidFill>
              <a:srgbClr val="8A8F98"/>
            </a:solidFill>
          </a:ln>
          <a:effectLst/>
        </p:spPr>
      </p:cxnSp>
      <p:cxnSp>
        <p:nvCxnSpPr>
          <p:cNvPr id="30" name="Connector 29"/>
          <p:cNvCxnSpPr/>
          <p:nvPr/>
        </p:nvCxnSpPr>
        <p:spPr>
          <a:xfrm>
            <a:off x="5564124" y="2203704"/>
            <a:ext cx="2194559" cy="749807"/>
          </a:xfrm>
          <a:prstGeom prst="line">
            <a:avLst/>
          </a:prstGeom>
          <a:ln w="15875">
            <a:solidFill>
              <a:srgbClr val="8A8F98"/>
            </a:solidFill>
          </a:ln>
          <a:effectLst/>
        </p:spPr>
      </p:cxnSp>
      <p:cxnSp>
        <p:nvCxnSpPr>
          <p:cNvPr id="31" name="Connector 30"/>
          <p:cNvCxnSpPr/>
          <p:nvPr/>
        </p:nvCxnSpPr>
        <p:spPr>
          <a:xfrm flipH="1">
            <a:off x="6405372" y="2203704"/>
            <a:ext cx="484632" cy="2706624"/>
          </a:xfrm>
          <a:prstGeom prst="line">
            <a:avLst/>
          </a:prstGeom>
          <a:ln w="15875">
            <a:solidFill>
              <a:srgbClr val="8A8F98"/>
            </a:solidFill>
          </a:ln>
          <a:effectLst/>
        </p:spPr>
      </p:cxnSp>
      <p:cxnSp>
        <p:nvCxnSpPr>
          <p:cNvPr id="32" name="Connector 31"/>
          <p:cNvCxnSpPr/>
          <p:nvPr/>
        </p:nvCxnSpPr>
        <p:spPr>
          <a:xfrm flipH="1">
            <a:off x="4421124" y="2203704"/>
            <a:ext cx="2468880" cy="749807"/>
          </a:xfrm>
          <a:prstGeom prst="line">
            <a:avLst/>
          </a:prstGeom>
          <a:ln w="15875">
            <a:solidFill>
              <a:srgbClr val="8A8F98"/>
            </a:solidFill>
          </a:ln>
          <a:effectLst/>
        </p:spPr>
      </p:cxnSp>
      <p:cxnSp>
        <p:nvCxnSpPr>
          <p:cNvPr id="33" name="Connector 32"/>
          <p:cNvCxnSpPr/>
          <p:nvPr/>
        </p:nvCxnSpPr>
        <p:spPr>
          <a:xfrm>
            <a:off x="6890004" y="2203704"/>
            <a:ext cx="1965959" cy="749807"/>
          </a:xfrm>
          <a:prstGeom prst="line">
            <a:avLst/>
          </a:prstGeom>
          <a:ln w="15875">
            <a:solidFill>
              <a:srgbClr val="8A8F98"/>
            </a:solidFill>
          </a:ln>
          <a:effectLst/>
        </p:spPr>
      </p:cxnSp>
      <p:sp>
        <p:nvSpPr>
          <p:cNvPr id="34" name="Rounded Rectangle 33"/>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4" name="Rounded Rectangle 53"/>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446684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890168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2784348" y="3803903"/>
            <a:ext cx="539496" cy="1106425"/>
          </a:xfrm>
          <a:prstGeom prst="line">
            <a:avLst/>
          </a:prstGeom>
          <a:ln w="15875">
            <a:solidFill>
              <a:srgbClr val="8A8F98"/>
            </a:solidFill>
          </a:ln>
          <a:effectLst/>
        </p:spPr>
      </p:cxnSp>
      <p:cxnSp>
        <p:nvCxnSpPr>
          <p:cNvPr id="17" name="Connector 16"/>
          <p:cNvCxnSpPr/>
          <p:nvPr/>
        </p:nvCxnSpPr>
        <p:spPr>
          <a:xfrm>
            <a:off x="3323844" y="3803903"/>
            <a:ext cx="960120" cy="1106425"/>
          </a:xfrm>
          <a:prstGeom prst="line">
            <a:avLst/>
          </a:prstGeom>
          <a:ln w="15875">
            <a:solidFill>
              <a:srgbClr val="8A8F98"/>
            </a:solidFill>
          </a:ln>
          <a:effectLst/>
        </p:spPr>
      </p:cxnSp>
      <p:cxnSp>
        <p:nvCxnSpPr>
          <p:cNvPr id="18" name="Connector 17"/>
          <p:cNvCxnSpPr/>
          <p:nvPr/>
        </p:nvCxnSpPr>
        <p:spPr>
          <a:xfrm flipH="1">
            <a:off x="3406139" y="3803903"/>
            <a:ext cx="1014985" cy="1106425"/>
          </a:xfrm>
          <a:prstGeom prst="line">
            <a:avLst/>
          </a:prstGeom>
          <a:ln w="15875">
            <a:solidFill>
              <a:srgbClr val="8A8F98"/>
            </a:solidFill>
          </a:ln>
          <a:effectLst/>
        </p:spPr>
      </p:cxnSp>
      <p:cxnSp>
        <p:nvCxnSpPr>
          <p:cNvPr id="19" name="Connector 18"/>
          <p:cNvCxnSpPr/>
          <p:nvPr/>
        </p:nvCxnSpPr>
        <p:spPr>
          <a:xfrm>
            <a:off x="4421124" y="3803903"/>
            <a:ext cx="484632" cy="1106425"/>
          </a:xfrm>
          <a:prstGeom prst="line">
            <a:avLst/>
          </a:prstGeom>
          <a:ln w="15875">
            <a:solidFill>
              <a:srgbClr val="8A8F98"/>
            </a:solidFill>
          </a:ln>
          <a:effectLst/>
        </p:spPr>
      </p:cxnSp>
      <p:cxnSp>
        <p:nvCxnSpPr>
          <p:cNvPr id="20" name="Connector 19"/>
          <p:cNvCxnSpPr/>
          <p:nvPr/>
        </p:nvCxnSpPr>
        <p:spPr>
          <a:xfrm flipH="1">
            <a:off x="7283196" y="3803903"/>
            <a:ext cx="475487" cy="1106425"/>
          </a:xfrm>
          <a:prstGeom prst="line">
            <a:avLst/>
          </a:prstGeom>
          <a:ln w="15875">
            <a:solidFill>
              <a:srgbClr val="8A8F98"/>
            </a:solidFill>
          </a:ln>
          <a:effectLst/>
        </p:spPr>
      </p:cxnSp>
      <p:cxnSp>
        <p:nvCxnSpPr>
          <p:cNvPr id="21" name="Connector 20"/>
          <p:cNvCxnSpPr/>
          <p:nvPr/>
        </p:nvCxnSpPr>
        <p:spPr>
          <a:xfrm>
            <a:off x="7758683" y="3803903"/>
            <a:ext cx="1024129" cy="1106425"/>
          </a:xfrm>
          <a:prstGeom prst="line">
            <a:avLst/>
          </a:prstGeom>
          <a:ln w="15875">
            <a:solidFill>
              <a:srgbClr val="8A8F98"/>
            </a:solidFill>
          </a:ln>
          <a:effectLst/>
        </p:spPr>
      </p:cxnSp>
      <p:cxnSp>
        <p:nvCxnSpPr>
          <p:cNvPr id="22" name="Connector 21"/>
          <p:cNvCxnSpPr/>
          <p:nvPr/>
        </p:nvCxnSpPr>
        <p:spPr>
          <a:xfrm flipH="1">
            <a:off x="7904988" y="3803903"/>
            <a:ext cx="950975" cy="1106425"/>
          </a:xfrm>
          <a:prstGeom prst="line">
            <a:avLst/>
          </a:prstGeom>
          <a:ln w="15875">
            <a:solidFill>
              <a:srgbClr val="8A8F98"/>
            </a:solidFill>
          </a:ln>
          <a:effectLst/>
        </p:spPr>
      </p:cxnSp>
      <p:cxnSp>
        <p:nvCxnSpPr>
          <p:cNvPr id="23" name="Connector 22"/>
          <p:cNvCxnSpPr/>
          <p:nvPr/>
        </p:nvCxnSpPr>
        <p:spPr>
          <a:xfrm>
            <a:off x="8855963" y="3803903"/>
            <a:ext cx="548641" cy="1106425"/>
          </a:xfrm>
          <a:prstGeom prst="line">
            <a:avLst/>
          </a:prstGeom>
          <a:ln w="15875">
            <a:solidFill>
              <a:srgbClr val="8A8F98"/>
            </a:solidFill>
          </a:ln>
          <a:effectLst/>
        </p:spPr>
      </p:cxnSp>
      <p:cxnSp>
        <p:nvCxnSpPr>
          <p:cNvPr id="24" name="Connector 23"/>
          <p:cNvCxnSpPr/>
          <p:nvPr/>
        </p:nvCxnSpPr>
        <p:spPr>
          <a:xfrm>
            <a:off x="5564124" y="2203704"/>
            <a:ext cx="219455" cy="2706624"/>
          </a:xfrm>
          <a:prstGeom prst="line">
            <a:avLst/>
          </a:prstGeom>
          <a:ln w="15875">
            <a:solidFill>
              <a:srgbClr val="8A8F98"/>
            </a:solidFill>
          </a:ln>
          <a:effectLst/>
        </p:spPr>
      </p:cxnSp>
      <p:cxnSp>
        <p:nvCxnSpPr>
          <p:cNvPr id="25" name="Connector 24"/>
          <p:cNvCxnSpPr/>
          <p:nvPr/>
        </p:nvCxnSpPr>
        <p:spPr>
          <a:xfrm flipH="1">
            <a:off x="3323844" y="2203704"/>
            <a:ext cx="2240280" cy="749807"/>
          </a:xfrm>
          <a:prstGeom prst="line">
            <a:avLst/>
          </a:prstGeom>
          <a:ln w="15875">
            <a:solidFill>
              <a:srgbClr val="8A8F98"/>
            </a:solidFill>
          </a:ln>
          <a:effectLst/>
        </p:spPr>
      </p:cxnSp>
      <p:cxnSp>
        <p:nvCxnSpPr>
          <p:cNvPr id="26" name="Connector 25"/>
          <p:cNvCxnSpPr/>
          <p:nvPr/>
        </p:nvCxnSpPr>
        <p:spPr>
          <a:xfrm>
            <a:off x="5564124" y="2203704"/>
            <a:ext cx="2194559" cy="749807"/>
          </a:xfrm>
          <a:prstGeom prst="line">
            <a:avLst/>
          </a:prstGeom>
          <a:ln w="15875">
            <a:solidFill>
              <a:srgbClr val="8A8F98"/>
            </a:solidFill>
          </a:ln>
          <a:effectLst/>
        </p:spPr>
      </p:cxnSp>
      <p:cxnSp>
        <p:nvCxnSpPr>
          <p:cNvPr id="27" name="Connector 26"/>
          <p:cNvCxnSpPr/>
          <p:nvPr/>
        </p:nvCxnSpPr>
        <p:spPr>
          <a:xfrm flipH="1">
            <a:off x="6405372" y="2203704"/>
            <a:ext cx="484632" cy="2706624"/>
          </a:xfrm>
          <a:prstGeom prst="line">
            <a:avLst/>
          </a:prstGeom>
          <a:ln w="15875">
            <a:solidFill>
              <a:srgbClr val="8A8F98"/>
            </a:solidFill>
          </a:ln>
          <a:effectLst/>
        </p:spPr>
      </p:cxnSp>
      <p:cxnSp>
        <p:nvCxnSpPr>
          <p:cNvPr id="28" name="Connector 27"/>
          <p:cNvCxnSpPr/>
          <p:nvPr/>
        </p:nvCxnSpPr>
        <p:spPr>
          <a:xfrm flipH="1">
            <a:off x="4421124" y="2203704"/>
            <a:ext cx="2468880" cy="749807"/>
          </a:xfrm>
          <a:prstGeom prst="line">
            <a:avLst/>
          </a:prstGeom>
          <a:ln w="15875">
            <a:solidFill>
              <a:srgbClr val="8A8F98"/>
            </a:solidFill>
          </a:ln>
          <a:effectLst/>
        </p:spPr>
      </p:cxnSp>
      <p:cxnSp>
        <p:nvCxnSpPr>
          <p:cNvPr id="29" name="Connector 28"/>
          <p:cNvCxnSpPr/>
          <p:nvPr/>
        </p:nvCxnSpPr>
        <p:spPr>
          <a:xfrm>
            <a:off x="6890004" y="2203704"/>
            <a:ext cx="1965959" cy="749807"/>
          </a:xfrm>
          <a:prstGeom prst="line">
            <a:avLst/>
          </a:prstGeom>
          <a:ln w="15875">
            <a:solidFill>
              <a:srgbClr val="8A8F98"/>
            </a:solidFill>
          </a:ln>
          <a:effectLst/>
        </p:spPr>
      </p:cxnSp>
      <p:sp>
        <p:nvSpPr>
          <p:cNvPr id="30" name="Rounded Rectangle 2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0" name="Rounded Rectangle 4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notes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41148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