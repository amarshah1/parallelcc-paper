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XOR output is the single bit p, the miter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merge every group, and all the groups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while a round merged something. The very first round has no previous merges to look at, so it considers every term; that also catches terms that were congruent before any equality was applied. The barrier between phases is what makes the parallelism safe: while we compute signatures nobody is merging, so every thread reads the same classes, and while we merge nobody is reading signatures.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example. Round 0 is the input: union each pair of equated wires, all five at once. No congruence yet, just the equalities we were handed. The gates are greyed out because nothing happens to them this round.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phase one: who might have become congruent? The first round considers every gate, so all six are candidates, in yellow.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group by signature, the symbol plus the class of each child. Same colour, same signature. The two ANDs match: both are AND of the r class and the s class. The two XORs match. The two ITEs do not, because a1 and a2 are still in different classes, so they stay uncoloured. This grouping is the semisort. Say out loud that this is the step that changes from the sequential algorithm: no hash table lookups one at a time, all the signatures of the round sorted together.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merge every group, concurrently. Two unions in one round; this is where the parallel run differs from the hand trace.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Candidates are the parents of what just merged: the two ITEs. Their signatures now agree, one group.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them. One union.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ITEs have no parents, so round 3 has no candidates and the loop stops. Eight merges in three rounds, and the rounds are exactly the schedule from before: ParentCC found all of the available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the second algorithm. ParentCC finds candidates through parent lists, one per class, and every merge appends to them: allocation on the hot path. FilterCC drops the lists. A merge just sets a dirty bit on its classes, and the next round filters all terms for a child in a dirty class. Threads racing to set the same bit is harmless, setting a bit is idempotent. The price is a scan of every term each round, so FilterCC wins when rounds are few and ParentCC when they are many;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per solver run: the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C9CDD3"/>
            </a:solidFill>
          </a:ln>
          <a:effectLst/>
        </p:spPr>
      </p:cxnSp>
      <p:cxnSp>
        <p:nvCxnSpPr>
          <p:cNvPr id="21" name="Connector 20"/>
          <p:cNvCxnSpPr/>
          <p:nvPr/>
        </p:nvCxnSpPr>
        <p:spPr>
          <a:xfrm>
            <a:off x="5564124" y="2203704"/>
            <a:ext cx="2194559" cy="749807"/>
          </a:xfrm>
          <a:prstGeom prst="line">
            <a:avLst/>
          </a:prstGeom>
          <a:ln w="15875">
            <a:solidFill>
              <a:srgbClr val="C9CDD3"/>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C9CDD3"/>
            </a:solidFill>
          </a:ln>
          <a:effectLst/>
        </p:spPr>
      </p:cxnSp>
      <p:cxnSp>
        <p:nvCxnSpPr>
          <p:cNvPr id="24" name="Connector 23"/>
          <p:cNvCxnSpPr/>
          <p:nvPr/>
        </p:nvCxnSpPr>
        <p:spPr>
          <a:xfrm>
            <a:off x="6890004" y="2203704"/>
            <a:ext cx="1965959" cy="749807"/>
          </a:xfrm>
          <a:prstGeom prst="line">
            <a:avLst/>
          </a:prstGeom>
          <a:ln w="15875">
            <a:solidFill>
              <a:srgbClr val="C9CDD3"/>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C9CDD3"/>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2" name="Rounded Rectangle 51"/>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53" name="TextBox 52"/>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54" name="TextBox 53"/>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union input equalities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48" name="TextBox 4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0" name="TextBox 4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51" name="TextBox 50"/>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candidates: all terms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C9CDD3"/>
            </a:solidFill>
          </a:ln>
          <a:effectLst/>
        </p:spPr>
      </p:cxnSp>
      <p:cxnSp>
        <p:nvCxnSpPr>
          <p:cNvPr id="12" name="Connector 11"/>
          <p:cNvCxnSpPr/>
          <p:nvPr/>
        </p:nvCxnSpPr>
        <p:spPr>
          <a:xfrm>
            <a:off x="3323844" y="3803903"/>
            <a:ext cx="960120" cy="1106425"/>
          </a:xfrm>
          <a:prstGeom prst="line">
            <a:avLst/>
          </a:prstGeom>
          <a:ln w="15875">
            <a:solidFill>
              <a:srgbClr val="C9CDD3"/>
            </a:solidFill>
          </a:ln>
          <a:effectLst/>
        </p:spPr>
      </p:cxnSp>
      <p:cxnSp>
        <p:nvCxnSpPr>
          <p:cNvPr id="13" name="Connector 12"/>
          <p:cNvCxnSpPr/>
          <p:nvPr/>
        </p:nvCxnSpPr>
        <p:spPr>
          <a:xfrm flipH="1">
            <a:off x="3406139" y="3803903"/>
            <a:ext cx="1014985" cy="1106425"/>
          </a:xfrm>
          <a:prstGeom prst="line">
            <a:avLst/>
          </a:prstGeom>
          <a:ln w="15875">
            <a:solidFill>
              <a:srgbClr val="C9CDD3"/>
            </a:solidFill>
          </a:ln>
          <a:effectLst/>
        </p:spPr>
      </p:cxnSp>
      <p:cxnSp>
        <p:nvCxnSpPr>
          <p:cNvPr id="14" name="Connector 13"/>
          <p:cNvCxnSpPr/>
          <p:nvPr/>
        </p:nvCxnSpPr>
        <p:spPr>
          <a:xfrm>
            <a:off x="4421124" y="3803903"/>
            <a:ext cx="484632" cy="1106425"/>
          </a:xfrm>
          <a:prstGeom prst="line">
            <a:avLst/>
          </a:prstGeom>
          <a:ln w="15875">
            <a:solidFill>
              <a:srgbClr val="C9CDD3"/>
            </a:solidFill>
          </a:ln>
          <a:effectLst/>
        </p:spPr>
      </p:cxnSp>
      <p:cxnSp>
        <p:nvCxnSpPr>
          <p:cNvPr id="15" name="Connector 14"/>
          <p:cNvCxnSpPr/>
          <p:nvPr/>
        </p:nvCxnSpPr>
        <p:spPr>
          <a:xfrm flipH="1">
            <a:off x="7283196" y="3803903"/>
            <a:ext cx="475487" cy="1106425"/>
          </a:xfrm>
          <a:prstGeom prst="line">
            <a:avLst/>
          </a:prstGeom>
          <a:ln w="15875">
            <a:solidFill>
              <a:srgbClr val="C9CDD3"/>
            </a:solidFill>
          </a:ln>
          <a:effectLst/>
        </p:spPr>
      </p:cxnSp>
      <p:cxnSp>
        <p:nvCxnSpPr>
          <p:cNvPr id="16" name="Connector 15"/>
          <p:cNvCxnSpPr/>
          <p:nvPr/>
        </p:nvCxnSpPr>
        <p:spPr>
          <a:xfrm>
            <a:off x="7758683" y="3803903"/>
            <a:ext cx="1024129" cy="1106425"/>
          </a:xfrm>
          <a:prstGeom prst="line">
            <a:avLst/>
          </a:prstGeom>
          <a:ln w="15875">
            <a:solidFill>
              <a:srgbClr val="C9CDD3"/>
            </a:solidFill>
          </a:ln>
          <a:effectLst/>
        </p:spPr>
      </p:cxnSp>
      <p:cxnSp>
        <p:nvCxnSpPr>
          <p:cNvPr id="17" name="Connector 16"/>
          <p:cNvCxnSpPr/>
          <p:nvPr/>
        </p:nvCxnSpPr>
        <p:spPr>
          <a:xfrm flipH="1">
            <a:off x="7904988" y="3803903"/>
            <a:ext cx="950975" cy="1106425"/>
          </a:xfrm>
          <a:prstGeom prst="line">
            <a:avLst/>
          </a:prstGeom>
          <a:ln w="15875">
            <a:solidFill>
              <a:srgbClr val="C9CDD3"/>
            </a:solidFill>
          </a:ln>
          <a:effectLst/>
        </p:spPr>
      </p:cxnSp>
      <p:cxnSp>
        <p:nvCxnSpPr>
          <p:cNvPr id="18" name="Connector 17"/>
          <p:cNvCxnSpPr/>
          <p:nvPr/>
        </p:nvCxnSpPr>
        <p:spPr>
          <a:xfrm>
            <a:off x="8855963" y="3803903"/>
            <a:ext cx="548641" cy="1106425"/>
          </a:xfrm>
          <a:prstGeom prst="line">
            <a:avLst/>
          </a:prstGeom>
          <a:ln w="15875">
            <a:solidFill>
              <a:srgbClr val="C9CDD3"/>
            </a:solidFill>
          </a:ln>
          <a:effectLst/>
        </p:spPr>
      </p:cxnSp>
      <p:cxnSp>
        <p:nvCxnSpPr>
          <p:cNvPr id="19" name="Connector 18"/>
          <p:cNvCxnSpPr/>
          <p:nvPr/>
        </p:nvCxnSpPr>
        <p:spPr>
          <a:xfrm>
            <a:off x="5564124" y="2203704"/>
            <a:ext cx="219455" cy="2706624"/>
          </a:xfrm>
          <a:prstGeom prst="line">
            <a:avLst/>
          </a:prstGeom>
          <a:ln w="15875">
            <a:solidFill>
              <a:srgbClr val="C9CDD3"/>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C9CDD3"/>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DCEAF8"/>
          </a:solidFill>
          <a:ln w="34925">
            <a:solidFill>
              <a:srgbClr val="2E6FB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DCEAF8"/>
          </a:solidFill>
          <a:ln w="34925">
            <a:solidFill>
              <a:srgbClr val="2E6FB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DDF1E2"/>
          </a:solidFill>
          <a:ln w="34925">
            <a:solidFill>
              <a:srgbClr val="3A9A5B"/>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DDF1E2"/>
          </a:solidFill>
          <a:ln w="34925">
            <a:solidFill>
              <a:srgbClr val="3A9A5B"/>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Rounded Rectangle 46"/>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48" name="TextBox 4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49" name="Rounded Rectangle 48"/>
          <p:cNvSpPr/>
          <p:nvPr/>
        </p:nvSpPr>
        <p:spPr>
          <a:xfrm>
            <a:off x="502920" y="2066543"/>
            <a:ext cx="146304" cy="219456"/>
          </a:xfrm>
          <a:prstGeom prst="roundRect">
            <a:avLst>
              <a:gd name="adj" fmla="val 30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50" name="Rounded Rectangle 49"/>
          <p:cNvSpPr/>
          <p:nvPr/>
        </p:nvSpPr>
        <p:spPr>
          <a:xfrm>
            <a:off x="685800" y="2066543"/>
            <a:ext cx="146304" cy="219456"/>
          </a:xfrm>
          <a:prstGeom prst="roundRect">
            <a:avLst>
              <a:gd name="adj" fmla="val 30000"/>
            </a:avLst>
          </a:prstGeom>
          <a:solidFill>
            <a:srgbClr val="DDF1E2"/>
          </a:solidFill>
          <a:ln w="19050">
            <a:solidFill>
              <a:srgbClr val="3A9A5B"/>
            </a:solidFill>
          </a:ln>
          <a:effectLst/>
        </p:spPr>
        <p:txBody>
          <a:bodyPr rtlCol="0" anchor="ctr" lIns="54864" rIns="54864" tIns="27432" bIns="27432" wrap="square"/>
          <a:lstStyle/>
          <a:p>
            <a:pPr algn="ctr"/>
          </a:p>
        </p:txBody>
      </p:sp>
      <p:sp>
        <p:nvSpPr>
          <p:cNvPr id="51" name="TextBox 50"/>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same signature</a:t>
            </a:r>
          </a:p>
        </p:txBody>
      </p:sp>
      <p:sp>
        <p:nvSpPr>
          <p:cNvPr id="52" name="TextBox 51"/>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group by signature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50" name="TextBox 49"/>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51" name="TextBox 50"/>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merge groups</a:t>
            </a:r>
          </a:p>
        </p:txBody>
      </p:sp>
      <p:sp>
        <p:nvSpPr>
          <p:cNvPr id="52" name="TextBox 51"/>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3" name="TextBox 52"/>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C9CDD3"/>
            </a:solidFill>
          </a:ln>
          <a:effectLst/>
        </p:spPr>
      </p:cxnSp>
      <p:cxnSp>
        <p:nvCxnSpPr>
          <p:cNvPr id="14" name="Connector 13"/>
          <p:cNvCxnSpPr/>
          <p:nvPr/>
        </p:nvCxnSpPr>
        <p:spPr>
          <a:xfrm>
            <a:off x="3323844" y="3803903"/>
            <a:ext cx="960120" cy="1106425"/>
          </a:xfrm>
          <a:prstGeom prst="line">
            <a:avLst/>
          </a:prstGeom>
          <a:ln w="15875">
            <a:solidFill>
              <a:srgbClr val="C9CDD3"/>
            </a:solidFill>
          </a:ln>
          <a:effectLst/>
        </p:spPr>
      </p:cxnSp>
      <p:cxnSp>
        <p:nvCxnSpPr>
          <p:cNvPr id="15" name="Connector 14"/>
          <p:cNvCxnSpPr/>
          <p:nvPr/>
        </p:nvCxnSpPr>
        <p:spPr>
          <a:xfrm flipH="1">
            <a:off x="3406139" y="3803903"/>
            <a:ext cx="1014985" cy="1106425"/>
          </a:xfrm>
          <a:prstGeom prst="line">
            <a:avLst/>
          </a:prstGeom>
          <a:ln w="15875">
            <a:solidFill>
              <a:srgbClr val="C9CDD3"/>
            </a:solidFill>
          </a:ln>
          <a:effectLst/>
        </p:spPr>
      </p:cxnSp>
      <p:cxnSp>
        <p:nvCxnSpPr>
          <p:cNvPr id="16" name="Connector 15"/>
          <p:cNvCxnSpPr/>
          <p:nvPr/>
        </p:nvCxnSpPr>
        <p:spPr>
          <a:xfrm>
            <a:off x="4421124" y="3803903"/>
            <a:ext cx="484632" cy="1106425"/>
          </a:xfrm>
          <a:prstGeom prst="line">
            <a:avLst/>
          </a:prstGeom>
          <a:ln w="15875">
            <a:solidFill>
              <a:srgbClr val="C9CDD3"/>
            </a:solidFill>
          </a:ln>
          <a:effectLst/>
        </p:spPr>
      </p:cxnSp>
      <p:cxnSp>
        <p:nvCxnSpPr>
          <p:cNvPr id="17" name="Connector 16"/>
          <p:cNvCxnSpPr/>
          <p:nvPr/>
        </p:nvCxnSpPr>
        <p:spPr>
          <a:xfrm flipH="1">
            <a:off x="7283196" y="3803903"/>
            <a:ext cx="475487" cy="1106425"/>
          </a:xfrm>
          <a:prstGeom prst="line">
            <a:avLst/>
          </a:prstGeom>
          <a:ln w="15875">
            <a:solidFill>
              <a:srgbClr val="C9CDD3"/>
            </a:solidFill>
          </a:ln>
          <a:effectLst/>
        </p:spPr>
      </p:cxnSp>
      <p:cxnSp>
        <p:nvCxnSpPr>
          <p:cNvPr id="18" name="Connector 17"/>
          <p:cNvCxnSpPr/>
          <p:nvPr/>
        </p:nvCxnSpPr>
        <p:spPr>
          <a:xfrm>
            <a:off x="7758683" y="3803903"/>
            <a:ext cx="1024129" cy="1106425"/>
          </a:xfrm>
          <a:prstGeom prst="line">
            <a:avLst/>
          </a:prstGeom>
          <a:ln w="15875">
            <a:solidFill>
              <a:srgbClr val="C9CDD3"/>
            </a:solidFill>
          </a:ln>
          <a:effectLst/>
        </p:spPr>
      </p:cxnSp>
      <p:cxnSp>
        <p:nvCxnSpPr>
          <p:cNvPr id="19" name="Connector 18"/>
          <p:cNvCxnSpPr/>
          <p:nvPr/>
        </p:nvCxnSpPr>
        <p:spPr>
          <a:xfrm flipH="1">
            <a:off x="7904988" y="3803903"/>
            <a:ext cx="950975" cy="1106425"/>
          </a:xfrm>
          <a:prstGeom prst="line">
            <a:avLst/>
          </a:prstGeom>
          <a:ln w="15875">
            <a:solidFill>
              <a:srgbClr val="C9CDD3"/>
            </a:solidFill>
          </a:ln>
          <a:effectLst/>
        </p:spPr>
      </p:cxnSp>
      <p:cxnSp>
        <p:nvCxnSpPr>
          <p:cNvPr id="20" name="Connector 19"/>
          <p:cNvCxnSpPr/>
          <p:nvPr/>
        </p:nvCxnSpPr>
        <p:spPr>
          <a:xfrm>
            <a:off x="8855963" y="3803903"/>
            <a:ext cx="548641" cy="1106425"/>
          </a:xfrm>
          <a:prstGeom prst="line">
            <a:avLst/>
          </a:prstGeom>
          <a:ln w="15875">
            <a:solidFill>
              <a:srgbClr val="C9CDD3"/>
            </a:solidFill>
          </a:ln>
          <a:effectLst/>
        </p:spPr>
      </p:cxnSp>
      <p:cxnSp>
        <p:nvCxnSpPr>
          <p:cNvPr id="21" name="Connector 20"/>
          <p:cNvCxnSpPr/>
          <p:nvPr/>
        </p:nvCxnSpPr>
        <p:spPr>
          <a:xfrm>
            <a:off x="5564124" y="2203704"/>
            <a:ext cx="219455" cy="2706624"/>
          </a:xfrm>
          <a:prstGeom prst="line">
            <a:avLst/>
          </a:prstGeom>
          <a:ln w="15875">
            <a:solidFill>
              <a:srgbClr val="C9CDD3"/>
            </a:solidFill>
          </a:ln>
          <a:effectLst/>
        </p:spPr>
      </p:cxnSp>
      <p:cxnSp>
        <p:nvCxnSpPr>
          <p:cNvPr id="22" name="Connector 21"/>
          <p:cNvCxnSpPr/>
          <p:nvPr/>
        </p:nvCxnSpPr>
        <p:spPr>
          <a:xfrm flipH="1">
            <a:off x="3323844" y="2203704"/>
            <a:ext cx="2240280" cy="749807"/>
          </a:xfrm>
          <a:prstGeom prst="line">
            <a:avLst/>
          </a:prstGeom>
          <a:ln w="15875">
            <a:solidFill>
              <a:srgbClr val="C9CDD3"/>
            </a:solidFill>
          </a:ln>
          <a:effectLst/>
        </p:spPr>
      </p:cxnSp>
      <p:cxnSp>
        <p:nvCxnSpPr>
          <p:cNvPr id="23" name="Connector 22"/>
          <p:cNvCxnSpPr/>
          <p:nvPr/>
        </p:nvCxnSpPr>
        <p:spPr>
          <a:xfrm>
            <a:off x="5564124" y="2203704"/>
            <a:ext cx="2194559" cy="749807"/>
          </a:xfrm>
          <a:prstGeom prst="line">
            <a:avLst/>
          </a:prstGeom>
          <a:ln w="15875">
            <a:solidFill>
              <a:srgbClr val="C9CDD3"/>
            </a:solidFill>
          </a:ln>
          <a:effectLst/>
        </p:spPr>
      </p:cxnSp>
      <p:cxnSp>
        <p:nvCxnSpPr>
          <p:cNvPr id="24" name="Connector 23"/>
          <p:cNvCxnSpPr/>
          <p:nvPr/>
        </p:nvCxnSpPr>
        <p:spPr>
          <a:xfrm flipH="1">
            <a:off x="6405372" y="2203704"/>
            <a:ext cx="484632" cy="2706624"/>
          </a:xfrm>
          <a:prstGeom prst="line">
            <a:avLst/>
          </a:prstGeom>
          <a:ln w="15875">
            <a:solidFill>
              <a:srgbClr val="C9CDD3"/>
            </a:solidFill>
          </a:ln>
          <a:effectLst/>
        </p:spPr>
      </p:cxnSp>
      <p:cxnSp>
        <p:nvCxnSpPr>
          <p:cNvPr id="25" name="Connector 24"/>
          <p:cNvCxnSpPr/>
          <p:nvPr/>
        </p:nvCxnSpPr>
        <p:spPr>
          <a:xfrm flipH="1">
            <a:off x="4421124" y="2203704"/>
            <a:ext cx="2468880" cy="749807"/>
          </a:xfrm>
          <a:prstGeom prst="line">
            <a:avLst/>
          </a:prstGeom>
          <a:ln w="15875">
            <a:solidFill>
              <a:srgbClr val="C9CDD3"/>
            </a:solidFill>
          </a:ln>
          <a:effectLst/>
        </p:spPr>
      </p:cxnSp>
      <p:cxnSp>
        <p:nvCxnSpPr>
          <p:cNvPr id="26" name="Connector 25"/>
          <p:cNvCxnSpPr/>
          <p:nvPr/>
        </p:nvCxnSpPr>
        <p:spPr>
          <a:xfrm>
            <a:off x="6890004" y="2203704"/>
            <a:ext cx="1965959" cy="749807"/>
          </a:xfrm>
          <a:prstGeom prst="line">
            <a:avLst/>
          </a:prstGeom>
          <a:ln w="15875">
            <a:solidFill>
              <a:srgbClr val="C9CDD3"/>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Rounded Rectangle 48"/>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50" name="TextBox 49"/>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51" name="Rounded Rectangle 50"/>
          <p:cNvSpPr/>
          <p:nvPr/>
        </p:nvSpPr>
        <p:spPr>
          <a:xfrm>
            <a:off x="502920" y="2066543"/>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53" name="TextBox 52"/>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candidates: parents of merged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C9CDD3"/>
            </a:solidFill>
          </a:ln>
          <a:effectLst/>
        </p:spPr>
      </p:cxnSp>
      <p:cxnSp>
        <p:nvCxnSpPr>
          <p:cNvPr id="15" name="Connector 14"/>
          <p:cNvCxnSpPr/>
          <p:nvPr/>
        </p:nvCxnSpPr>
        <p:spPr>
          <a:xfrm>
            <a:off x="3323844" y="3803903"/>
            <a:ext cx="960120" cy="1106425"/>
          </a:xfrm>
          <a:prstGeom prst="line">
            <a:avLst/>
          </a:prstGeom>
          <a:ln w="15875">
            <a:solidFill>
              <a:srgbClr val="C9CDD3"/>
            </a:solidFill>
          </a:ln>
          <a:effectLst/>
        </p:spPr>
      </p:cxnSp>
      <p:cxnSp>
        <p:nvCxnSpPr>
          <p:cNvPr id="16" name="Connector 15"/>
          <p:cNvCxnSpPr/>
          <p:nvPr/>
        </p:nvCxnSpPr>
        <p:spPr>
          <a:xfrm flipH="1">
            <a:off x="3406139" y="3803903"/>
            <a:ext cx="1014985" cy="1106425"/>
          </a:xfrm>
          <a:prstGeom prst="line">
            <a:avLst/>
          </a:prstGeom>
          <a:ln w="15875">
            <a:solidFill>
              <a:srgbClr val="C9CDD3"/>
            </a:solidFill>
          </a:ln>
          <a:effectLst/>
        </p:spPr>
      </p:cxnSp>
      <p:cxnSp>
        <p:nvCxnSpPr>
          <p:cNvPr id="17" name="Connector 16"/>
          <p:cNvCxnSpPr/>
          <p:nvPr/>
        </p:nvCxnSpPr>
        <p:spPr>
          <a:xfrm>
            <a:off x="4421124" y="3803903"/>
            <a:ext cx="484632" cy="1106425"/>
          </a:xfrm>
          <a:prstGeom prst="line">
            <a:avLst/>
          </a:prstGeom>
          <a:ln w="15875">
            <a:solidFill>
              <a:srgbClr val="C9CDD3"/>
            </a:solidFill>
          </a:ln>
          <a:effectLst/>
        </p:spPr>
      </p:cxnSp>
      <p:cxnSp>
        <p:nvCxnSpPr>
          <p:cNvPr id="18" name="Connector 17"/>
          <p:cNvCxnSpPr/>
          <p:nvPr/>
        </p:nvCxnSpPr>
        <p:spPr>
          <a:xfrm flipH="1">
            <a:off x="7283196" y="3803903"/>
            <a:ext cx="475487" cy="1106425"/>
          </a:xfrm>
          <a:prstGeom prst="line">
            <a:avLst/>
          </a:prstGeom>
          <a:ln w="15875">
            <a:solidFill>
              <a:srgbClr val="C9CDD3"/>
            </a:solidFill>
          </a:ln>
          <a:effectLst/>
        </p:spPr>
      </p:cxnSp>
      <p:cxnSp>
        <p:nvCxnSpPr>
          <p:cNvPr id="19" name="Connector 18"/>
          <p:cNvCxnSpPr/>
          <p:nvPr/>
        </p:nvCxnSpPr>
        <p:spPr>
          <a:xfrm>
            <a:off x="7758683" y="3803903"/>
            <a:ext cx="1024129" cy="1106425"/>
          </a:xfrm>
          <a:prstGeom prst="line">
            <a:avLst/>
          </a:prstGeom>
          <a:ln w="15875">
            <a:solidFill>
              <a:srgbClr val="C9CDD3"/>
            </a:solidFill>
          </a:ln>
          <a:effectLst/>
        </p:spPr>
      </p:cxnSp>
      <p:cxnSp>
        <p:nvCxnSpPr>
          <p:cNvPr id="20" name="Connector 19"/>
          <p:cNvCxnSpPr/>
          <p:nvPr/>
        </p:nvCxnSpPr>
        <p:spPr>
          <a:xfrm flipH="1">
            <a:off x="7904988" y="3803903"/>
            <a:ext cx="950975" cy="1106425"/>
          </a:xfrm>
          <a:prstGeom prst="line">
            <a:avLst/>
          </a:prstGeom>
          <a:ln w="15875">
            <a:solidFill>
              <a:srgbClr val="C9CDD3"/>
            </a:solidFill>
          </a:ln>
          <a:effectLst/>
        </p:spPr>
      </p:cxnSp>
      <p:cxnSp>
        <p:nvCxnSpPr>
          <p:cNvPr id="21" name="Connector 20"/>
          <p:cNvCxnSpPr/>
          <p:nvPr/>
        </p:nvCxnSpPr>
        <p:spPr>
          <a:xfrm>
            <a:off x="8855963" y="3803903"/>
            <a:ext cx="548641" cy="1106425"/>
          </a:xfrm>
          <a:prstGeom prst="line">
            <a:avLst/>
          </a:prstGeom>
          <a:ln w="15875">
            <a:solidFill>
              <a:srgbClr val="C9CDD3"/>
            </a:solidFill>
          </a:ln>
          <a:effectLst/>
        </p:spPr>
      </p:cxnSp>
      <p:cxnSp>
        <p:nvCxnSpPr>
          <p:cNvPr id="22" name="Connector 21"/>
          <p:cNvCxnSpPr/>
          <p:nvPr/>
        </p:nvCxnSpPr>
        <p:spPr>
          <a:xfrm>
            <a:off x="5564124" y="2203704"/>
            <a:ext cx="219455" cy="2706624"/>
          </a:xfrm>
          <a:prstGeom prst="line">
            <a:avLst/>
          </a:prstGeom>
          <a:ln w="15875">
            <a:solidFill>
              <a:srgbClr val="C9CDD3"/>
            </a:solidFill>
          </a:ln>
          <a:effectLst/>
        </p:spPr>
      </p:cxnSp>
      <p:cxnSp>
        <p:nvCxnSpPr>
          <p:cNvPr id="23" name="Connector 22"/>
          <p:cNvCxnSpPr/>
          <p:nvPr/>
        </p:nvCxnSpPr>
        <p:spPr>
          <a:xfrm flipH="1">
            <a:off x="3323844" y="2203704"/>
            <a:ext cx="2240280" cy="749807"/>
          </a:xfrm>
          <a:prstGeom prst="line">
            <a:avLst/>
          </a:prstGeom>
          <a:ln w="15875">
            <a:solidFill>
              <a:srgbClr val="C9CDD3"/>
            </a:solidFill>
          </a:ln>
          <a:effectLst/>
        </p:spPr>
      </p:cxnSp>
      <p:cxnSp>
        <p:nvCxnSpPr>
          <p:cNvPr id="24" name="Connector 23"/>
          <p:cNvCxnSpPr/>
          <p:nvPr/>
        </p:nvCxnSpPr>
        <p:spPr>
          <a:xfrm>
            <a:off x="5564124" y="2203704"/>
            <a:ext cx="2194559" cy="749807"/>
          </a:xfrm>
          <a:prstGeom prst="line">
            <a:avLst/>
          </a:prstGeom>
          <a:ln w="15875">
            <a:solidFill>
              <a:srgbClr val="C9CDD3"/>
            </a:solidFill>
          </a:ln>
          <a:effectLst/>
        </p:spPr>
      </p:cxnSp>
      <p:cxnSp>
        <p:nvCxnSpPr>
          <p:cNvPr id="25" name="Connector 24"/>
          <p:cNvCxnSpPr/>
          <p:nvPr/>
        </p:nvCxnSpPr>
        <p:spPr>
          <a:xfrm flipH="1">
            <a:off x="6405372" y="2203704"/>
            <a:ext cx="484632" cy="2706624"/>
          </a:xfrm>
          <a:prstGeom prst="line">
            <a:avLst/>
          </a:prstGeom>
          <a:ln w="15875">
            <a:solidFill>
              <a:srgbClr val="C9CDD3"/>
            </a:solidFill>
          </a:ln>
          <a:effectLst/>
        </p:spPr>
      </p:cxnSp>
      <p:cxnSp>
        <p:nvCxnSpPr>
          <p:cNvPr id="26" name="Connector 25"/>
          <p:cNvCxnSpPr/>
          <p:nvPr/>
        </p:nvCxnSpPr>
        <p:spPr>
          <a:xfrm flipH="1">
            <a:off x="4421124" y="2203704"/>
            <a:ext cx="2468880" cy="749807"/>
          </a:xfrm>
          <a:prstGeom prst="line">
            <a:avLst/>
          </a:prstGeom>
          <a:ln w="15875">
            <a:solidFill>
              <a:srgbClr val="C9CDD3"/>
            </a:solidFill>
          </a:ln>
          <a:effectLst/>
        </p:spPr>
      </p:cxnSp>
      <p:cxnSp>
        <p:nvCxnSpPr>
          <p:cNvPr id="27" name="Connector 26"/>
          <p:cNvCxnSpPr/>
          <p:nvPr/>
        </p:nvCxnSpPr>
        <p:spPr>
          <a:xfrm>
            <a:off x="6890004" y="2203704"/>
            <a:ext cx="1965959" cy="749807"/>
          </a:xfrm>
          <a:prstGeom prst="line">
            <a:avLst/>
          </a:prstGeom>
          <a:ln w="15875">
            <a:solidFill>
              <a:srgbClr val="C9CDD3"/>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400" b="1" i="0">
                <a:solidFill>
                  <a:srgbClr val="C9CDD3"/>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C9CDD3"/>
            </a:solidFill>
          </a:ln>
          <a:effectLst/>
        </p:spPr>
        <p:txBody>
          <a:bodyPr rtlCol="0" anchor="ctr" lIns="54864" rIns="54864" tIns="0" bIns="0" wrap="square"/>
          <a:lstStyle/>
          <a:p>
            <a:pPr algn="ctr"/>
            <a:r>
              <a:rPr sz="1600" b="1" i="0">
                <a:solidFill>
                  <a:srgbClr val="C9CDD3"/>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51" name="TextBox 50"/>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52" name="TextBox 51"/>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group, merge</a:t>
            </a:r>
          </a:p>
        </p:txBody>
      </p:sp>
      <p:sp>
        <p:nvSpPr>
          <p:cNvPr id="53" name="TextBox 52"/>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02920" y="1645920"/>
            <a:ext cx="329184" cy="219456"/>
          </a:xfrm>
          <a:prstGeom prst="roundRect">
            <a:avLst>
              <a:gd name="adj" fmla="val 1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57" name="TextBox 56"/>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equivalence class</a:t>
            </a:r>
          </a:p>
        </p:txBody>
      </p:sp>
      <p:sp>
        <p:nvSpPr>
          <p:cNvPr id="58" name="Rounded Rectangle 57"/>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9" name="TextBox 58"/>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
        <p:nvSpPr>
          <p:cNvPr id="60" name="TextBox 59"/>
          <p:cNvSpPr txBox="1"/>
          <p:nvPr/>
        </p:nvSpPr>
        <p:spPr>
          <a:xfrm>
            <a:off x="502920" y="2788920"/>
            <a:ext cx="2103120" cy="731520"/>
          </a:xfrm>
          <a:prstGeom prst="rect">
            <a:avLst/>
          </a:prstGeom>
          <a:noFill/>
        </p:spPr>
        <p:txBody>
          <a:bodyPr wrap="square" anchor="t" lIns="45720" rIns="45720" tIns="27432" bIns="27432">
            <a:spAutoFit/>
          </a:bodyPr>
          <a:lstStyle/>
          <a:p>
            <a:pPr algn="l"/>
            <a:r>
              <a:rPr sz="1500" b="0" i="0">
                <a:solidFill>
                  <a:srgbClr val="6B717A"/>
                </a:solidFill>
                <a:latin typeface="Calibri"/>
              </a:rPr>
              <a:t>no candidates: stop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214884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Soundness</a:t>
            </a:r>
          </a:p>
        </p:txBody>
      </p:sp>
      <p:sp>
        <p:nvSpPr>
          <p:cNvPr id="7" name="Rectangle 6"/>
          <p:cNvSpPr/>
          <p:nvPr/>
        </p:nvSpPr>
        <p:spPr>
          <a:xfrm>
            <a:off x="3840480" y="214884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8" name="Rounded Rectangle 7"/>
          <p:cNvSpPr/>
          <p:nvPr/>
        </p:nvSpPr>
        <p:spPr>
          <a:xfrm>
            <a:off x="731520" y="333756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Completeness</a:t>
            </a:r>
          </a:p>
        </p:txBody>
      </p:sp>
      <p:sp>
        <p:nvSpPr>
          <p:cNvPr id="9" name="Rectangle 8"/>
          <p:cNvSpPr/>
          <p:nvPr/>
        </p:nvSpPr>
        <p:spPr>
          <a:xfrm>
            <a:off x="3840480" y="333756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
        <p:nvSpPr>
          <p:cNvPr id="10" name="Rounded Rectangle 9"/>
          <p:cNvSpPr/>
          <p:nvPr/>
        </p:nvSpPr>
        <p:spPr>
          <a:xfrm>
            <a:off x="731520" y="452628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Termination</a:t>
            </a:r>
          </a:p>
        </p:txBody>
      </p:sp>
      <p:sp>
        <p:nvSpPr>
          <p:cNvPr id="11" name="Rectangle 10"/>
          <p:cNvSpPr/>
          <p:nvPr/>
        </p:nvSpPr>
        <p:spPr>
          <a:xfrm>
            <a:off x="3840480" y="452628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same rounds, no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ParentCC</a:t>
            </a:r>
          </a:p>
        </p:txBody>
      </p:sp>
      <p:sp>
        <p:nvSpPr>
          <p:cNvPr id="8" name="TextBox 7"/>
          <p:cNvSpPr txBox="1"/>
          <p:nvPr/>
        </p:nvSpPr>
        <p:spPr>
          <a:xfrm>
            <a:off x="640080" y="2057400"/>
            <a:ext cx="530352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parent list per class</a:t>
            </a:r>
          </a:p>
          <a:p>
            <a:pPr marL="274320" indent="-237744">
              <a:spcBef>
                <a:spcPts val="1000"/>
              </a:spcBef>
              <a:buClr>
                <a:srgbClr val="6B717A"/>
              </a:buClr>
              <a:buChar char="•"/>
            </a:pPr>
            <a:r>
              <a:rPr sz="1800" b="0" i="0">
                <a:solidFill>
                  <a:srgbClr val="2B2F36"/>
                </a:solidFill>
                <a:latin typeface="Calibri"/>
              </a:rPr>
              <a:t>every merge appends: allocation</a:t>
            </a:r>
          </a:p>
          <a:p>
            <a:pPr marL="274320" indent="-237744">
              <a:spcBef>
                <a:spcPts val="1000"/>
              </a:spcBef>
              <a:buClr>
                <a:srgbClr val="6B717A"/>
              </a:buClr>
              <a:buChar char="•"/>
            </a:pPr>
            <a:r>
              <a:rPr sz="1800" b="0" i="0">
                <a:solidFill>
                  <a:srgbClr val="2B2F36"/>
                </a:solidFill>
                <a:latin typeface="Calibri"/>
              </a:rPr>
              <a:t>candidates: parents of merged classes</a:t>
            </a:r>
          </a:p>
        </p:txBody>
      </p:sp>
      <p:sp>
        <p:nvSpPr>
          <p:cNvPr id="9" name="Rounded Rectangle 8"/>
          <p:cNvSpPr/>
          <p:nvPr/>
        </p:nvSpPr>
        <p:spPr>
          <a:xfrm>
            <a:off x="6263640" y="1371600"/>
            <a:ext cx="539496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FilterCC</a:t>
            </a:r>
          </a:p>
        </p:txBody>
      </p:sp>
      <p:sp>
        <p:nvSpPr>
          <p:cNvPr id="11" name="TextBox 10"/>
          <p:cNvSpPr txBox="1"/>
          <p:nvPr/>
        </p:nvSpPr>
        <p:spPr>
          <a:xfrm>
            <a:off x="6355080" y="2057400"/>
            <a:ext cx="521208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one dirty bit per class</a:t>
            </a:r>
          </a:p>
          <a:p>
            <a:pPr marL="274320" indent="-237744">
              <a:spcBef>
                <a:spcPts val="1000"/>
              </a:spcBef>
              <a:buClr>
                <a:srgbClr val="6B717A"/>
              </a:buClr>
              <a:buChar char="•"/>
            </a:pPr>
            <a:r>
              <a:rPr sz="1800" b="0" i="0">
                <a:solidFill>
                  <a:srgbClr val="2B2F36"/>
                </a:solidFill>
                <a:latin typeface="Calibri"/>
              </a:rPr>
              <a:t>a merge marks its classes dirty</a:t>
            </a:r>
          </a:p>
          <a:p>
            <a:pPr marL="274320" indent="-237744">
              <a:spcBef>
                <a:spcPts val="1000"/>
              </a:spcBef>
              <a:buClr>
                <a:srgbClr val="6B717A"/>
              </a:buClr>
              <a:buChar char="•"/>
            </a:pPr>
            <a:r>
              <a:rPr sz="1800" b="0" i="0">
                <a:solidFill>
                  <a:srgbClr val="2B2F36"/>
                </a:solidFill>
                <a:latin typeface="Calibri"/>
              </a:rPr>
              <a:t>candidates: filter all terms for a dirty child</a:t>
            </a:r>
          </a:p>
          <a:p>
            <a:pPr marL="274320" indent="-237744">
              <a:spcBef>
                <a:spcPts val="1000"/>
              </a:spcBef>
              <a:buClr>
                <a:srgbClr val="6B717A"/>
              </a:buClr>
              <a:buChar char="•"/>
            </a:pPr>
            <a:r>
              <a:rPr sz="1800" b="0" i="0">
                <a:solidFill>
                  <a:srgbClr val="2B2F36"/>
                </a:solidFill>
                <a:latin typeface="Calibri"/>
              </a:rPr>
              <a:t>racing marks are fine: setting a bit is idempotent</a:t>
            </a:r>
          </a:p>
        </p:txBody>
      </p:sp>
      <p:sp>
        <p:nvSpPr>
          <p:cNvPr id="12" name="TextBox 11"/>
          <p:cNvSpPr txBox="1"/>
          <p:nvPr/>
        </p:nvSpPr>
        <p:spPr>
          <a:xfrm>
            <a:off x="548640" y="4114800"/>
            <a:ext cx="11155680" cy="411480"/>
          </a:xfrm>
          <a:prstGeom prst="rect">
            <a:avLst/>
          </a:prstGeom>
          <a:noFill/>
        </p:spPr>
        <p:txBody>
          <a:bodyPr wrap="square" anchor="t" lIns="45720" rIns="45720" tIns="27432" bIns="27432">
            <a:spAutoFit/>
          </a:bodyPr>
          <a:lstStyle/>
          <a:p>
            <a:pPr algn="l"/>
            <a:r>
              <a:rPr sz="1800" b="0" i="0">
                <a:solidFill>
                  <a:srgbClr val="6B717A"/>
                </a:solidFill>
                <a:latin typeface="Calibri"/>
              </a:rPr>
              <a:t>Same candidates every round, same merges, same proofs</a:t>
            </a:r>
          </a:p>
        </p:txBody>
      </p:sp>
      <p:sp>
        <p:nvSpPr>
          <p:cNvPr id="13" name="Rounded Rectangle 12"/>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no allocation, but a scan of every term per round: wins when rounds are few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600" b="1" i="0">
                <a:solidFill>
                  <a:srgbClr val="FFFFFF"/>
                </a:solidFill>
                <a:latin typeface="Calibri"/>
              </a:rPr>
              <a:t>Do real instances have width?</a:t>
            </a:r>
          </a:p>
        </p:txBody>
      </p:sp>
      <p:sp>
        <p:nvSpPr>
          <p:cNvPr id="6" name="TextBox 5"/>
          <p:cNvSpPr txBox="1"/>
          <p:nvPr/>
        </p:nvSpPr>
        <p:spPr>
          <a:xfrm>
            <a:off x="777240" y="402336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