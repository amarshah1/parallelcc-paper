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Joint work with Amar Shah, equal contribution. I will cover the problem, the two algorithms, and implementation; Amar covers the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problem in words: given equalities between terms over uninterpreted functions, compute the smallest equivalence relation containing them that is closed under this one rule. Equal arguments give equal applications. The example: transitivity gives a and c equal, congruence gives f(a) and f(c) equal, which refutes the disequality. The standard engine is a union-find plus a signature table, an e-graph, and every implementation we know of is sequential.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a core, performance-critical component in many engines and hence in the applications built on them. Decades of engineering have gone into sequential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implementation we know of is sequential, and machines are wide: our test box has 96 cores. Theory is discouraging. Congruence closure is P-complete, so a polylog-span algorithm is not expected; worst-case instances force a long chain of dependent merges. The question we ask is whether the instances people actually solve behave like the worst case.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plus open-source code. Emphasize that the algorithms replace the sequential worklist with bulk-synchronous rounds.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running example comes from. A miter feeds the same inputs to two circuits, XORs the corresponding outputs, and asserts the result is 1. The circuits agree on every input exactly when that assertion is unsatisfiable. Encoding a miter to CNF destroys the gate structure, so Biere et al. recover the gates and close them under congruence, which often decides the instance outright. Gates become terms under this grammar: input wires are leaves, every gate is a function symbol applied to its inputs.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Miter adapted from Biere et al., Clausal Congruence Closure, SAT 2024. Two copies of the same three-gate circuit, side by side. Each copy has its own input wires. Nodes are terms, one per gate; edges point to children. Say out loud that the left half is copy one and the right half is copy two, and that the two ITE gates at the top are the two outputs.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Assert that the two outputs differ. If that is unsatisfiable the circuits are equivalent. The query is the only thing on the slide, sitting between the two output gates.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equalities tie the two copies together: each input wire of copy one equals the corresponding wire of copy two. These are the only given equalities, and they are what we union first.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a single node before the trace starts. The box carries the operator, the name sits alongside, and the three outgoing edges are its children in argument order. Everything else is greyed out so only this term and its children are in 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relationship the algorithms are built around. An edge goes from a term to the arguments it is applied to. m2 is the parent, its three arguments are the children. Every term is the parent of its arguments and a child of every term that mentions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the given equalities.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Union each pair. The dashed boxes are the equivalence classes.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 the two AND gates. Same symbol, and their children are pairwise in the same class, so the congruence rule applies. Yellow means we are looking at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Congruence fires, so union the two classes.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 the two XOR gates: same symbol, children pairwise equivalent.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Union them.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 the two ITE gates. Only now are their children pairwise equivalent, because steps 1 and 2 merged the AND and XOR classes.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Union them. Note that step 3 depended on steps 1 and 2, but 1 and 2 did not depend on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outputs are in one class, so the query m1 differs from m2 is unsatisfiable: the circuits are equivalent.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pivot of the talk. Go back over the trace we just did and ask what forced its order. The ITE merge waited for the AND merge and the XOR merge, and for nothing else. Why: congruence tests the classes of the children, so a term can only become mergeable when one of its children changes class. That is exactly an edge of the diagram, traversed upward. Dependences in congruence closure are not hidden in a data structure, they are the term structure itself, which is what makes the problem tractable to parallelize. Say the caveat out loud rather than putting it on the slide: a child can also change class through a chain of earlier merges, so the dependence is the transitive closure of the parent-child relation.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half. Nothing connects the AND merge to the XOR merge: neither is an ancestor of the other, so neither can change the other’s signature. They can run at the same time, on different cores, in either order, with the same result. That is the parallelism we are after, and the algorithms are built to find all of it at once instead of one merge at a time.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dependences as a schedule. Everything with no unmet dependence goes first, all at once. That is round 0: the input equalities we were handed. Nothing had to happen before them.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Barrier, then everything round 0 just enabled. The inputs changed class, so their parents get retested: the AND merge and the XOR merge. Neither depends on the other, so both go in the same round.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Barrier again, and the gate merges enable the output merge. Round 2, and nothing is left to enable, so we stop. This is Valiant’s bulk-synchronous model, and it falls straight out of the term structure.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names for the evaluation. Depth is the number of rounds, width the merges available in one round. Here both are 2. On the circuit benchmarks width reaches millions while depth stays small, and Amar will show that width is what predicts speedup.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schedule tells us when. Two questions remain about how. First, how do we find every merge a round allows, all at once, rather than one at a time? Semisort: compute each term’s signature, the symbol plus the classes of its children, and group equal signatures together; every group is a set of congruent terms. Second, how do we perform thousands of unions from many threads and still end up with the right classes? A concurrent union-find: lock-free, linearizable, so the result is the same as if the unions had happened one after another. Both come from the parallel algorithms literature and both are in ParlayLib.</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algorithm, at the level of a round. Three phases. Who might have become congruent? Only a term whose child just changed class, so: the parents of whatever merged last round. Of those, who actually is congruent? Group them by signature. Then merge every group, in parallel. Repeat while a round merged something. The very first round has no previous merges to look at, so it considers every term; that also catches terms that were congruent before any equality was applied.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input unions, the first round considers every gate. Each gets a key: its symbol and the class of each child, written here in brackets. Equal keys group together: the ANDs match, the XORs match, the ITEs do not yet because a1 and a2 are still in different classes. The grouping is the semisort.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two-member groups merge, concurrently. This is the slide that differs from the hand trace: two unions in one round.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Candidates are the parents of what just merged: the two ITEs. Their keys now agree, so they merge. They have no parents, so round 3 has no candidates and the loop stops. Three rounds instead of eight sequential merges.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three phases, precisely. Work is the set of classes that changed last round; the frontier is their parents; groups come from a semisort on signatures; each group merges by divide and conquer. Barriers separate the phases, so signatures are always computed against a union-find no thread is modifying. This slide is for the record; do not read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each; the paper has the proofs. Deterministic: the union-find is linearizable and a set of unions yields the same partition in any order. Terminates: a round that merges anything reduces the number of classes. Sound: every group has equal symbol and equal child classes, so each merge is an instance of the congruence rule. Complete: when the last of a pair’s children merge, both parents are candidates next round.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Parent lists cost allocation: every round appends lists. FilterCC keeps one dirty bit per class instead and recomputes the candidates by filtering all terms for a child in a dirty class. It touches every term each round, but the filter is a cheap parallel scan with no allocation. Which wins depends on how many rounds the input needs; Amar has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round: every gate is a candidate, exactly as in ParentCC. Groups and merges are the same; afterwards the two merged classes are marked dirty.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two gate classes are dirty. Filter every term for a child in a dirty class: the two ITEs. Merge them. The next filter finds nothing, so stop.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Grouping: ParlayLib integer sort on the signature hashes followed by a bucket pass per hash, which beat the library semisort on the small buckets we see. Merging a group: divide and conquer unions. The baseline is the classical worklist algorithm in the Nieuwenhuis and Oliveras variant, which is what the hand trace did: one merge at a time, each merge re-examining the parents of the losing class. We tried a topological-sort fixpoint and Downey-Sethi-Tarjan as well; the worklist was fastest. It got the same tuning care as the parallel code, so speedups are against a strong baseline.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off to Amar for the evaluation.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txBody>
          <a:bodyPr rtlCol="0" anchor="ctr" lIns="54864" rIns="54864" tIns="27432" bIns="27432" wrap="square"/>
          <a:lstStyle/>
          <a:p>
            <a:pPr algn="ctr"/>
          </a:p>
        </p:txBody>
      </p:sp>
      <p:cxnSp>
        <p:nvCxnSpPr>
          <p:cNvPr id="3" name="Connector 2"/>
          <p:cNvCxnSpPr/>
          <p:nvPr/>
        </p:nvCxnSpPr>
        <p:spPr>
          <a:xfrm>
            <a:off x="822960" y="3246120"/>
            <a:ext cx="3017520" cy="0"/>
          </a:xfrm>
          <a:prstGeom prst="line">
            <a:avLst/>
          </a:prstGeom>
          <a:ln w="38100">
            <a:solidFill>
              <a:srgbClr val="C8501E"/>
            </a:solidFill>
          </a:ln>
          <a:effectLst/>
        </p:spPr>
      </p:cxnSp>
      <p:sp>
        <p:nvSpPr>
          <p:cNvPr id="4" name="TextBox 3"/>
          <p:cNvSpPr txBox="1"/>
          <p:nvPr/>
        </p:nvSpPr>
        <p:spPr>
          <a:xfrm>
            <a:off x="777240" y="2011680"/>
            <a:ext cx="10515600" cy="1188720"/>
          </a:xfrm>
          <a:prstGeom prst="rect">
            <a:avLst/>
          </a:prstGeom>
          <a:noFill/>
        </p:spPr>
        <p:txBody>
          <a:bodyPr wrap="square" anchor="b" lIns="45720" rIns="45720" tIns="27432" bIns="27432">
            <a:spAutoFit/>
          </a:bodyPr>
          <a:lstStyle/>
          <a:p>
            <a:pPr algn="l"/>
            <a:r>
              <a:rPr sz="4400" b="1" i="0">
                <a:solidFill>
                  <a:srgbClr val="FFFFFF"/>
                </a:solidFill>
                <a:latin typeface="Calibri"/>
              </a:rPr>
              <a:t>Parallelizing Congruence Closure</a:t>
            </a:r>
          </a:p>
        </p:txBody>
      </p:sp>
      <p:sp>
        <p:nvSpPr>
          <p:cNvPr id="5" name="TextBox 4"/>
          <p:cNvSpPr txBox="1"/>
          <p:nvPr/>
        </p:nvSpPr>
        <p:spPr>
          <a:xfrm>
            <a:off x="777240" y="3429000"/>
            <a:ext cx="10058400" cy="548640"/>
          </a:xfrm>
          <a:prstGeom prst="rect">
            <a:avLst/>
          </a:prstGeom>
          <a:noFill/>
        </p:spPr>
        <p:txBody>
          <a:bodyPr wrap="square" anchor="t" lIns="45720" rIns="45720" tIns="27432" bIns="27432">
            <a:spAutoFit/>
          </a:bodyPr>
          <a:lstStyle/>
          <a:p>
            <a:pPr algn="l"/>
            <a:r>
              <a:rPr sz="2400" b="0" i="0">
                <a:solidFill>
                  <a:srgbClr val="FFFFFF"/>
                </a:solidFill>
                <a:latin typeface="Calibri"/>
              </a:rPr>
              <a:t>Zachary Kent*   ·   Amar Shah*</a:t>
            </a:r>
          </a:p>
        </p:txBody>
      </p:sp>
      <p:sp>
        <p:nvSpPr>
          <p:cNvPr id="6" name="TextBox 5"/>
          <p:cNvSpPr txBox="1"/>
          <p:nvPr/>
        </p:nvSpPr>
        <p:spPr>
          <a:xfrm>
            <a:off x="777240" y="3977639"/>
            <a:ext cx="10058400" cy="457200"/>
          </a:xfrm>
          <a:prstGeom prst="rect">
            <a:avLst/>
          </a:prstGeom>
          <a:noFill/>
        </p:spPr>
        <p:txBody>
          <a:bodyPr wrap="square" anchor="t" lIns="45720" rIns="45720" tIns="27432" bIns="27432">
            <a:spAutoFit/>
          </a:bodyPr>
          <a:lstStyle/>
          <a:p>
            <a:pPr algn="l"/>
            <a:r>
              <a:rPr sz="2000" b="0" i="0">
                <a:solidFill>
                  <a:srgbClr val="C9D3E6"/>
                </a:solidFill>
                <a:latin typeface="Calibri"/>
              </a:rPr>
              <a:t>Carnegie Mellon University</a:t>
            </a:r>
          </a:p>
        </p:txBody>
      </p:sp>
      <p:sp>
        <p:nvSpPr>
          <p:cNvPr id="7" name="TextBox 6"/>
          <p:cNvSpPr txBox="1"/>
          <p:nvPr/>
        </p:nvSpPr>
        <p:spPr>
          <a:xfrm>
            <a:off x="777240" y="4572000"/>
            <a:ext cx="10058400" cy="457200"/>
          </a:xfrm>
          <a:prstGeom prst="rect">
            <a:avLst/>
          </a:prstGeom>
          <a:noFill/>
        </p:spPr>
        <p:txBody>
          <a:bodyPr wrap="square" anchor="t" lIns="45720" rIns="45720" tIns="27432" bIns="27432">
            <a:spAutoFit/>
          </a:bodyPr>
          <a:lstStyle/>
          <a:p>
            <a:pPr algn="l"/>
            <a:r>
              <a:rPr sz="2000" b="0" i="0">
                <a:solidFill>
                  <a:srgbClr val="C9D3E6"/>
                </a:solidFill>
                <a:latin typeface="Calibri"/>
              </a:rPr>
              <a:t>FMCAD 2026</a:t>
            </a:r>
          </a:p>
        </p:txBody>
      </p:sp>
      <p:sp>
        <p:nvSpPr>
          <p:cNvPr id="8" name="TextBox 7"/>
          <p:cNvSpPr txBox="1"/>
          <p:nvPr/>
        </p:nvSpPr>
        <p:spPr>
          <a:xfrm>
            <a:off x="777240" y="6035040"/>
            <a:ext cx="5486400" cy="365760"/>
          </a:xfrm>
          <a:prstGeom prst="rect">
            <a:avLst/>
          </a:prstGeom>
          <a:noFill/>
        </p:spPr>
        <p:txBody>
          <a:bodyPr wrap="square" anchor="t" lIns="45720" rIns="45720" tIns="27432" bIns="27432">
            <a:spAutoFit/>
          </a:bodyPr>
          <a:lstStyle/>
          <a:p>
            <a:pPr algn="l"/>
            <a:r>
              <a:rPr sz="1300" b="0" i="0">
                <a:solidFill>
                  <a:srgbClr val="9AA8C4"/>
                </a:solidFill>
                <a:latin typeface="Calibri"/>
              </a:rPr>
              <a:t>* equal contribution</a:t>
            </a:r>
          </a:p>
        </p:txBody>
      </p:sp>
      <p:sp>
        <p:nvSpPr>
          <p:cNvPr id="9" name="TextBox 8"/>
          <p:cNvSpPr txBox="1"/>
          <p:nvPr/>
        </p:nvSpPr>
        <p:spPr>
          <a:xfrm>
            <a:off x="6675120" y="6035040"/>
            <a:ext cx="5120640" cy="365760"/>
          </a:xfrm>
          <a:prstGeom prst="rect">
            <a:avLst/>
          </a:prstGeom>
          <a:noFill/>
        </p:spPr>
        <p:txBody>
          <a:bodyPr wrap="square" anchor="t" lIns="45720" rIns="45720" tIns="27432" bIns="27432">
            <a:spAutoFit/>
          </a:bodyPr>
          <a:lstStyle/>
          <a:p>
            <a:pPr algn="r"/>
            <a:r>
              <a:rPr sz="1300" b="0" i="0">
                <a:solidFill>
                  <a:srgbClr val="9AA8C4"/>
                </a:solidFill>
                <a:latin typeface="Calibri"/>
              </a:rPr>
              <a:t>github.com/amarshah10/ParallelEgraph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Congruence closure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2</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731520" y="1554480"/>
            <a:ext cx="5120640" cy="3017520"/>
          </a:xfrm>
          <a:prstGeom prst="roundRect">
            <a:avLst>
              <a:gd name="adj" fmla="val 15000"/>
            </a:avLst>
          </a:prstGeom>
          <a:solidFill>
            <a:srgbClr val="F4F5F7"/>
          </a:solidFill>
          <a:ln>
            <a:noFill/>
          </a:ln>
          <a:effectLst/>
        </p:spPr>
        <p:txBody>
          <a:bodyPr rtlCol="0" anchor="ctr" lIns="54864" rIns="54864" tIns="27432" bIns="27432" wrap="square"/>
          <a:lstStyle/>
          <a:p>
            <a:pPr algn="ctr"/>
          </a:p>
        </p:txBody>
      </p:sp>
      <p:sp>
        <p:nvSpPr>
          <p:cNvPr id="7" name="TextBox 6"/>
          <p:cNvSpPr txBox="1"/>
          <p:nvPr/>
        </p:nvSpPr>
        <p:spPr>
          <a:xfrm>
            <a:off x="914400" y="1627632"/>
            <a:ext cx="2743200" cy="320040"/>
          </a:xfrm>
          <a:prstGeom prst="rect">
            <a:avLst/>
          </a:prstGeom>
          <a:noFill/>
        </p:spPr>
        <p:txBody>
          <a:bodyPr wrap="square" anchor="t" lIns="45720" rIns="45720" tIns="27432" bIns="27432">
            <a:spAutoFit/>
          </a:bodyPr>
          <a:lstStyle/>
          <a:p>
            <a:pPr algn="l"/>
            <a:r>
              <a:rPr sz="1300" b="1" i="0">
                <a:solidFill>
                  <a:srgbClr val="6B717A"/>
                </a:solidFill>
                <a:latin typeface="Calibri"/>
              </a:rPr>
              <a:t>Congruence rule</a:t>
            </a:r>
          </a:p>
        </p:txBody>
      </p:sp>
      <p:sp>
        <p:nvSpPr>
          <p:cNvPr id="8" name="TextBox 7"/>
          <p:cNvSpPr txBox="1"/>
          <p:nvPr/>
        </p:nvSpPr>
        <p:spPr>
          <a:xfrm>
            <a:off x="914400" y="2377440"/>
            <a:ext cx="4754880" cy="548640"/>
          </a:xfrm>
          <a:prstGeom prst="rect">
            <a:avLst/>
          </a:prstGeom>
          <a:noFill/>
        </p:spPr>
        <p:txBody>
          <a:bodyPr wrap="square" anchor="t" lIns="45720" rIns="45720" tIns="27432" bIns="27432">
            <a:spAutoFit/>
          </a:bodyPr>
          <a:lstStyle/>
          <a:p>
            <a:pPr algn="ctr"/>
            <a:r>
              <a:rPr sz="2800" b="0" i="0">
                <a:solidFill>
                  <a:srgbClr val="2B2F36"/>
                </a:solidFill>
                <a:latin typeface="Calibri"/>
              </a:rPr>
              <a:t>s₁ ≡ t₁    …    sₖ ≡ tₖ</a:t>
            </a:r>
          </a:p>
        </p:txBody>
      </p:sp>
      <p:cxnSp>
        <p:nvCxnSpPr>
          <p:cNvPr id="9" name="Connector 8"/>
          <p:cNvCxnSpPr/>
          <p:nvPr/>
        </p:nvCxnSpPr>
        <p:spPr>
          <a:xfrm>
            <a:off x="1371600" y="3063240"/>
            <a:ext cx="3840480" cy="0"/>
          </a:xfrm>
          <a:prstGeom prst="line">
            <a:avLst/>
          </a:prstGeom>
          <a:ln w="22225">
            <a:solidFill>
              <a:srgbClr val="2B2F36"/>
            </a:solidFill>
          </a:ln>
          <a:effectLst/>
        </p:spPr>
      </p:cxnSp>
      <p:sp>
        <p:nvSpPr>
          <p:cNvPr id="10" name="TextBox 9"/>
          <p:cNvSpPr txBox="1"/>
          <p:nvPr/>
        </p:nvSpPr>
        <p:spPr>
          <a:xfrm>
            <a:off x="914400" y="3200400"/>
            <a:ext cx="4754880" cy="548640"/>
          </a:xfrm>
          <a:prstGeom prst="rect">
            <a:avLst/>
          </a:prstGeom>
          <a:noFill/>
        </p:spPr>
        <p:txBody>
          <a:bodyPr wrap="square" anchor="t" lIns="45720" rIns="45720" tIns="27432" bIns="27432">
            <a:spAutoFit/>
          </a:bodyPr>
          <a:lstStyle/>
          <a:p>
            <a:pPr algn="ctr"/>
            <a:r>
              <a:rPr sz="2800" b="0" i="0">
                <a:solidFill>
                  <a:srgbClr val="2B2F36"/>
                </a:solidFill>
                <a:latin typeface="Calibri"/>
              </a:rPr>
              <a:t>f(s₁, …, sₖ) ≡ f(t₁, …, tₖ)</a:t>
            </a:r>
          </a:p>
        </p:txBody>
      </p:sp>
      <p:sp>
        <p:nvSpPr>
          <p:cNvPr id="11" name="Rounded Rectangle 10"/>
          <p:cNvSpPr/>
          <p:nvPr/>
        </p:nvSpPr>
        <p:spPr>
          <a:xfrm>
            <a:off x="6400800" y="1554480"/>
            <a:ext cx="5029200" cy="3017520"/>
          </a:xfrm>
          <a:prstGeom prst="roundRect">
            <a:avLst>
              <a:gd name="adj" fmla="val 15000"/>
            </a:avLst>
          </a:prstGeom>
          <a:solidFill>
            <a:srgbClr val="F4F5F7"/>
          </a:solidFill>
          <a:ln>
            <a:noFill/>
          </a:ln>
          <a:effectLst/>
        </p:spPr>
        <p:txBody>
          <a:bodyPr rtlCol="0" anchor="ctr" lIns="54864" rIns="54864" tIns="27432" bIns="27432" wrap="square"/>
          <a:lstStyle/>
          <a:p>
            <a:pPr algn="ctr"/>
          </a:p>
        </p:txBody>
      </p:sp>
      <p:sp>
        <p:nvSpPr>
          <p:cNvPr id="12" name="TextBox 11"/>
          <p:cNvSpPr txBox="1"/>
          <p:nvPr/>
        </p:nvSpPr>
        <p:spPr>
          <a:xfrm>
            <a:off x="6583680" y="1627632"/>
            <a:ext cx="2743200" cy="320040"/>
          </a:xfrm>
          <a:prstGeom prst="rect">
            <a:avLst/>
          </a:prstGeom>
          <a:noFill/>
        </p:spPr>
        <p:txBody>
          <a:bodyPr wrap="square" anchor="t" lIns="45720" rIns="45720" tIns="27432" bIns="27432">
            <a:spAutoFit/>
          </a:bodyPr>
          <a:lstStyle/>
          <a:p>
            <a:pPr algn="l"/>
            <a:r>
              <a:rPr sz="1300" b="1" i="0">
                <a:solidFill>
                  <a:srgbClr val="6B717A"/>
                </a:solidFill>
                <a:latin typeface="Calibri"/>
              </a:rPr>
              <a:t>Example</a:t>
            </a:r>
          </a:p>
        </p:txBody>
      </p:sp>
      <p:sp>
        <p:nvSpPr>
          <p:cNvPr id="13" name="TextBox 12"/>
          <p:cNvSpPr txBox="1"/>
          <p:nvPr/>
        </p:nvSpPr>
        <p:spPr>
          <a:xfrm>
            <a:off x="6583680" y="2377440"/>
            <a:ext cx="4663440" cy="548640"/>
          </a:xfrm>
          <a:prstGeom prst="rect">
            <a:avLst/>
          </a:prstGeom>
          <a:noFill/>
        </p:spPr>
        <p:txBody>
          <a:bodyPr wrap="square" anchor="t" lIns="45720" rIns="45720" tIns="27432" bIns="27432">
            <a:spAutoFit/>
          </a:bodyPr>
          <a:lstStyle/>
          <a:p>
            <a:pPr algn="ctr"/>
            <a:r>
              <a:rPr sz="2600" b="1" i="0">
                <a:solidFill>
                  <a:srgbClr val="2B2F36"/>
                </a:solidFill>
                <a:latin typeface="Calibri"/>
              </a:rPr>
              <a:t>a = b      b = c      f(a) ≠ f(c)</a:t>
            </a:r>
          </a:p>
        </p:txBody>
      </p:sp>
      <p:sp>
        <p:nvSpPr>
          <p:cNvPr id="14" name="TextBox 13"/>
          <p:cNvSpPr txBox="1"/>
          <p:nvPr/>
        </p:nvSpPr>
        <p:spPr>
          <a:xfrm>
            <a:off x="6583680" y="3200400"/>
            <a:ext cx="4663440" cy="548640"/>
          </a:xfrm>
          <a:prstGeom prst="rect">
            <a:avLst/>
          </a:prstGeom>
          <a:noFill/>
        </p:spPr>
        <p:txBody>
          <a:bodyPr wrap="square" anchor="t" lIns="45720" rIns="45720" tIns="27432" bIns="27432">
            <a:spAutoFit/>
          </a:bodyPr>
          <a:lstStyle/>
          <a:p>
            <a:pPr algn="ctr"/>
            <a:r>
              <a:rPr sz="2600" b="0" i="0">
                <a:solidFill>
                  <a:srgbClr val="2B2F36"/>
                </a:solidFill>
                <a:latin typeface="Calibri"/>
              </a:rPr>
              <a:t>a ≡ c   ⇒   f(a) ≡ f(c)</a:t>
            </a:r>
          </a:p>
        </p:txBody>
      </p:sp>
      <p:sp>
        <p:nvSpPr>
          <p:cNvPr id="15" name="Rounded Rectangle 14"/>
          <p:cNvSpPr/>
          <p:nvPr/>
        </p:nvSpPr>
        <p:spPr>
          <a:xfrm>
            <a:off x="548640" y="5596128"/>
            <a:ext cx="11064240" cy="694944"/>
          </a:xfrm>
          <a:prstGeom prst="roundRect">
            <a:avLst>
              <a:gd name="adj" fmla="val 15000"/>
            </a:avLst>
          </a:prstGeom>
          <a:solidFill>
            <a:srgbClr val="1F2A44"/>
          </a:solidFill>
          <a:ln>
            <a:noFill/>
          </a:ln>
          <a:effectLst/>
        </p:spPr>
        <p:txBody>
          <a:bodyPr rtlCol="0" anchor="ctr" lIns="54864" rIns="54864" tIns="27432" bIns="27432" wrap="square"/>
          <a:lstStyle/>
          <a:p>
            <a:pPr algn="ctr"/>
            <a:r>
              <a:rPr sz="2200" b="1" i="0">
                <a:solidFill>
                  <a:srgbClr val="FFFFFF"/>
                </a:solidFill>
                <a:latin typeface="Calibri"/>
              </a:rPr>
              <a:t>Smallest equivalence relation containing E, closed under congruence</a:t>
            </a:r>
          </a:p>
        </p:txBody>
      </p:sp>
      <p:sp>
        <p:nvSpPr>
          <p:cNvPr id="16" name="TextBox 15"/>
          <p:cNvSpPr txBox="1"/>
          <p:nvPr/>
        </p:nvSpPr>
        <p:spPr>
          <a:xfrm>
            <a:off x="731520" y="4892040"/>
            <a:ext cx="10972800" cy="320040"/>
          </a:xfrm>
          <a:prstGeom prst="rect">
            <a:avLst/>
          </a:prstGeom>
          <a:noFill/>
        </p:spPr>
        <p:txBody>
          <a:bodyPr wrap="square" anchor="t" lIns="45720" rIns="45720" tIns="27432" bIns="27432">
            <a:spAutoFit/>
          </a:bodyPr>
          <a:lstStyle/>
          <a:p>
            <a:pPr algn="ctr"/>
            <a:r>
              <a:rPr sz="1200" b="0" i="0">
                <a:solidFill>
                  <a:srgbClr val="6B717A"/>
                </a:solidFill>
                <a:latin typeface="Calibri"/>
              </a:rPr>
              <a:t>Nelson &amp; Oppen 1980   ·   Downey, Sethi &amp; Tarjan 1980   ·   Nieuwenhuis &amp; Oliveras 2007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Where congruence closure runs</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3</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TextBox 5"/>
          <p:cNvSpPr txBox="1"/>
          <p:nvPr/>
        </p:nvSpPr>
        <p:spPr>
          <a:xfrm>
            <a:off x="640080" y="1371600"/>
            <a:ext cx="4572000" cy="411480"/>
          </a:xfrm>
          <a:prstGeom prst="rect">
            <a:avLst/>
          </a:prstGeom>
          <a:noFill/>
        </p:spPr>
        <p:txBody>
          <a:bodyPr wrap="square" anchor="t" lIns="45720" rIns="45720" tIns="27432" bIns="27432">
            <a:spAutoFit/>
          </a:bodyPr>
          <a:lstStyle/>
          <a:p>
            <a:pPr algn="l"/>
            <a:r>
              <a:rPr sz="2200" b="1" i="0">
                <a:solidFill>
                  <a:srgbClr val="1F2A44"/>
                </a:solidFill>
                <a:latin typeface="Calibri"/>
              </a:rPr>
              <a:t>Engines</a:t>
            </a:r>
          </a:p>
        </p:txBody>
      </p:sp>
      <p:sp>
        <p:nvSpPr>
          <p:cNvPr id="7" name="TextBox 6"/>
          <p:cNvSpPr txBox="1"/>
          <p:nvPr/>
        </p:nvSpPr>
        <p:spPr>
          <a:xfrm>
            <a:off x="548640" y="1828800"/>
            <a:ext cx="5394960" cy="3657600"/>
          </a:xfrm>
          <a:prstGeom prst="rect">
            <a:avLst/>
          </a:prstGeom>
          <a:noFill/>
        </p:spPr>
        <p:txBody>
          <a:bodyPr wrap="square" lIns="45720" rIns="45720">
            <a:spAutoFit/>
          </a:bodyPr>
          <a:lstStyle/>
          <a:p>
            <a:pPr marL="274320" indent="-237744">
              <a:spcBef>
                <a:spcPts val="600"/>
              </a:spcBef>
              <a:buClr>
                <a:srgbClr val="6B717A"/>
              </a:buClr>
              <a:buChar char="•"/>
            </a:pPr>
            <a:r>
              <a:rPr sz="1900" b="1" i="0">
                <a:solidFill>
                  <a:srgbClr val="2B2F36"/>
                </a:solidFill>
                <a:latin typeface="Calibri"/>
              </a:rPr>
              <a:t>SMT solvers</a:t>
            </a:r>
            <a:r>
              <a:rPr sz="1900" b="0" i="0">
                <a:solidFill>
                  <a:srgbClr val="2B2F36"/>
                </a:solidFill>
                <a:latin typeface="Calibri"/>
              </a:rPr>
              <a:t>: Z3, cvc5 (theory of uninterpreted functions)</a:t>
            </a:r>
          </a:p>
          <a:p>
            <a:pPr marL="274320" indent="-237744">
              <a:spcBef>
                <a:spcPts val="600"/>
              </a:spcBef>
              <a:buClr>
                <a:srgbClr val="6B717A"/>
              </a:buClr>
              <a:buChar char="•"/>
            </a:pPr>
            <a:r>
              <a:rPr sz="1900" b="1" i="0">
                <a:solidFill>
                  <a:srgbClr val="2B2F36"/>
                </a:solidFill>
                <a:latin typeface="Calibri"/>
              </a:rPr>
              <a:t>SAT solvers</a:t>
            </a:r>
            <a:r>
              <a:rPr sz="1900" b="0" i="0">
                <a:solidFill>
                  <a:srgbClr val="2B2F36"/>
                </a:solidFill>
                <a:latin typeface="Calibri"/>
              </a:rPr>
              <a:t>: Kissat (clausal congruence closure)</a:t>
            </a:r>
          </a:p>
          <a:p>
            <a:pPr marL="274320" indent="-237744">
              <a:spcBef>
                <a:spcPts val="600"/>
              </a:spcBef>
              <a:buClr>
                <a:srgbClr val="6B717A"/>
              </a:buClr>
              <a:buChar char="•"/>
            </a:pPr>
            <a:r>
              <a:rPr sz="1900" b="1" i="0">
                <a:solidFill>
                  <a:srgbClr val="2B2F36"/>
                </a:solidFill>
                <a:latin typeface="Calibri"/>
              </a:rPr>
              <a:t>Equality saturation</a:t>
            </a:r>
            <a:r>
              <a:rPr sz="1900" b="0" i="0">
                <a:solidFill>
                  <a:srgbClr val="2B2F36"/>
                </a:solidFill>
                <a:latin typeface="Calibri"/>
              </a:rPr>
              <a:t>: egg, egglog</a:t>
            </a:r>
          </a:p>
          <a:p>
            <a:pPr marL="274320" indent="-237744">
              <a:spcBef>
                <a:spcPts val="600"/>
              </a:spcBef>
              <a:buClr>
                <a:srgbClr val="6B717A"/>
              </a:buClr>
              <a:buChar char="•"/>
            </a:pPr>
            <a:r>
              <a:rPr sz="1900" b="1" i="0">
                <a:solidFill>
                  <a:srgbClr val="2B2F36"/>
                </a:solidFill>
                <a:latin typeface="Calibri"/>
              </a:rPr>
              <a:t>Type unification</a:t>
            </a:r>
          </a:p>
        </p:txBody>
      </p:sp>
      <p:sp>
        <p:nvSpPr>
          <p:cNvPr id="8" name="TextBox 7"/>
          <p:cNvSpPr txBox="1"/>
          <p:nvPr/>
        </p:nvSpPr>
        <p:spPr>
          <a:xfrm>
            <a:off x="6355080" y="1371600"/>
            <a:ext cx="4572000" cy="411480"/>
          </a:xfrm>
          <a:prstGeom prst="rect">
            <a:avLst/>
          </a:prstGeom>
          <a:noFill/>
        </p:spPr>
        <p:txBody>
          <a:bodyPr wrap="square" anchor="t" lIns="45720" rIns="45720" tIns="27432" bIns="27432">
            <a:spAutoFit/>
          </a:bodyPr>
          <a:lstStyle/>
          <a:p>
            <a:pPr algn="l"/>
            <a:r>
              <a:rPr sz="2200" b="1" i="0">
                <a:solidFill>
                  <a:srgbClr val="1F2A44"/>
                </a:solidFill>
                <a:latin typeface="Calibri"/>
              </a:rPr>
              <a:t>Applications</a:t>
            </a:r>
          </a:p>
        </p:txBody>
      </p:sp>
      <p:sp>
        <p:nvSpPr>
          <p:cNvPr id="9" name="TextBox 8"/>
          <p:cNvSpPr txBox="1"/>
          <p:nvPr/>
        </p:nvSpPr>
        <p:spPr>
          <a:xfrm>
            <a:off x="6263640" y="1828800"/>
            <a:ext cx="5394960" cy="3657600"/>
          </a:xfrm>
          <a:prstGeom prst="rect">
            <a:avLst/>
          </a:prstGeom>
          <a:noFill/>
        </p:spPr>
        <p:txBody>
          <a:bodyPr wrap="square" lIns="45720" rIns="45720">
            <a:spAutoFit/>
          </a:bodyPr>
          <a:lstStyle/>
          <a:p>
            <a:pPr marL="274320" indent="-237744">
              <a:spcBef>
                <a:spcPts val="600"/>
              </a:spcBef>
              <a:buClr>
                <a:srgbClr val="6B717A"/>
              </a:buClr>
              <a:buChar char="•"/>
            </a:pPr>
            <a:r>
              <a:rPr sz="1900" b="1" i="0">
                <a:solidFill>
                  <a:srgbClr val="2B2F36"/>
                </a:solidFill>
                <a:latin typeface="Calibri"/>
              </a:rPr>
              <a:t>Circuit equivalence checking</a:t>
            </a:r>
          </a:p>
          <a:p>
            <a:pPr marL="274320" indent="-237744">
              <a:spcBef>
                <a:spcPts val="600"/>
              </a:spcBef>
              <a:buClr>
                <a:srgbClr val="6B717A"/>
              </a:buClr>
              <a:buChar char="•"/>
            </a:pPr>
            <a:r>
              <a:rPr sz="1900" b="1" i="0">
                <a:solidFill>
                  <a:srgbClr val="2B2F36"/>
                </a:solidFill>
                <a:latin typeface="Calibri"/>
              </a:rPr>
              <a:t>Software verification</a:t>
            </a:r>
            <a:r>
              <a:rPr sz="1900" b="0" i="0">
                <a:solidFill>
                  <a:srgbClr val="2B2F36"/>
                </a:solidFill>
                <a:latin typeface="Calibri"/>
              </a:rPr>
              <a:t>: Dafny, Verus</a:t>
            </a:r>
          </a:p>
          <a:p>
            <a:pPr marL="274320" indent="-237744">
              <a:spcBef>
                <a:spcPts val="600"/>
              </a:spcBef>
              <a:buClr>
                <a:srgbClr val="6B717A"/>
              </a:buClr>
              <a:buChar char="•"/>
            </a:pPr>
            <a:r>
              <a:rPr sz="1900" b="1" i="0">
                <a:solidFill>
                  <a:srgbClr val="2B2F36"/>
                </a:solidFill>
                <a:latin typeface="Calibri"/>
              </a:rPr>
              <a:t>Hardware design</a:t>
            </a:r>
          </a:p>
          <a:p>
            <a:pPr marL="274320" indent="-237744">
              <a:spcBef>
                <a:spcPts val="600"/>
              </a:spcBef>
              <a:buClr>
                <a:srgbClr val="6B717A"/>
              </a:buClr>
              <a:buChar char="•"/>
            </a:pPr>
            <a:r>
              <a:rPr sz="1900" b="1" i="0">
                <a:solidFill>
                  <a:srgbClr val="2B2F36"/>
                </a:solidFill>
                <a:latin typeface="Calibri"/>
              </a:rPr>
              <a:t>Theorem proving</a:t>
            </a:r>
            <a:r>
              <a:rPr sz="1900" b="0" i="0">
                <a:solidFill>
                  <a:srgbClr val="2B2F36"/>
                </a:solidFill>
                <a:latin typeface="Calibri"/>
              </a:rPr>
              <a:t>: Lean grind</a:t>
            </a:r>
          </a:p>
        </p:txBody>
      </p:sp>
      <p:sp>
        <p:nvSpPr>
          <p:cNvPr id="10" name="Rounded Rectangle 9"/>
          <p:cNvSpPr/>
          <p:nvPr/>
        </p:nvSpPr>
        <p:spPr>
          <a:xfrm>
            <a:off x="548640" y="4297680"/>
            <a:ext cx="11064240" cy="914400"/>
          </a:xfrm>
          <a:prstGeom prst="roundRect">
            <a:avLst>
              <a:gd name="adj" fmla="val 15000"/>
            </a:avLst>
          </a:prstGeom>
          <a:solidFill>
            <a:srgbClr val="F4F5F7"/>
          </a:solidFill>
          <a:ln>
            <a:noFill/>
          </a:ln>
          <a:effectLst/>
        </p:spPr>
        <p:txBody>
          <a:bodyPr rtlCol="0" anchor="ctr" lIns="54864" rIns="54864" tIns="27432" bIns="27432" wrap="square"/>
          <a:lstStyle/>
          <a:p>
            <a:pPr algn="ctr"/>
            <a:r>
              <a:rPr sz="2000" b="1" i="0">
                <a:solidFill>
                  <a:srgbClr val="1F2A44"/>
                </a:solidFill>
                <a:latin typeface="Calibri"/>
              </a:rPr>
              <a:t>Performance critical: called millions of times inside a solver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Sequential in practice, hard in theory</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4</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TextBox 5"/>
          <p:cNvSpPr txBox="1"/>
          <p:nvPr/>
        </p:nvSpPr>
        <p:spPr>
          <a:xfrm>
            <a:off x="731520" y="1737360"/>
            <a:ext cx="10972800" cy="640080"/>
          </a:xfrm>
          <a:prstGeom prst="rect">
            <a:avLst/>
          </a:prstGeom>
          <a:noFill/>
        </p:spPr>
        <p:txBody>
          <a:bodyPr wrap="square" anchor="t" lIns="45720" rIns="45720" tIns="27432" bIns="27432">
            <a:spAutoFit/>
          </a:bodyPr>
          <a:lstStyle/>
          <a:p>
            <a:pPr algn="ctr"/>
            <a:r>
              <a:rPr sz="3000" b="1" i="0">
                <a:solidFill>
                  <a:srgbClr val="1F2A44"/>
                </a:solidFill>
                <a:latin typeface="Calibri"/>
              </a:rPr>
              <a:t>every implementation: sequential</a:t>
            </a:r>
          </a:p>
        </p:txBody>
      </p:sp>
      <p:sp>
        <p:nvSpPr>
          <p:cNvPr id="7" name="TextBox 6"/>
          <p:cNvSpPr txBox="1"/>
          <p:nvPr/>
        </p:nvSpPr>
        <p:spPr>
          <a:xfrm>
            <a:off x="731520" y="2743200"/>
            <a:ext cx="10972800" cy="640080"/>
          </a:xfrm>
          <a:prstGeom prst="rect">
            <a:avLst/>
          </a:prstGeom>
          <a:noFill/>
        </p:spPr>
        <p:txBody>
          <a:bodyPr wrap="square" anchor="t" lIns="45720" rIns="45720" tIns="27432" bIns="27432">
            <a:spAutoFit/>
          </a:bodyPr>
          <a:lstStyle/>
          <a:p>
            <a:pPr algn="ctr"/>
            <a:r>
              <a:rPr sz="3000" b="1" i="0">
                <a:solidFill>
                  <a:srgbClr val="1F2A44"/>
                </a:solidFill>
                <a:latin typeface="Calibri"/>
              </a:rPr>
              <a:t>P-complete</a:t>
            </a:r>
          </a:p>
        </p:txBody>
      </p:sp>
      <p:sp>
        <p:nvSpPr>
          <p:cNvPr id="8" name="TextBox 7"/>
          <p:cNvSpPr txBox="1"/>
          <p:nvPr/>
        </p:nvSpPr>
        <p:spPr>
          <a:xfrm>
            <a:off x="731520" y="3337560"/>
            <a:ext cx="10972800" cy="320040"/>
          </a:xfrm>
          <a:prstGeom prst="rect">
            <a:avLst/>
          </a:prstGeom>
          <a:noFill/>
        </p:spPr>
        <p:txBody>
          <a:bodyPr wrap="square" anchor="t" lIns="45720" rIns="45720" tIns="27432" bIns="27432">
            <a:spAutoFit/>
          </a:bodyPr>
          <a:lstStyle/>
          <a:p>
            <a:pPr algn="ctr"/>
            <a:r>
              <a:rPr sz="1300" b="0" i="0">
                <a:solidFill>
                  <a:srgbClr val="6B717A"/>
                </a:solidFill>
                <a:latin typeface="Calibri"/>
              </a:rPr>
              <a:t>Kanellakis &amp; Revesz 1989</a:t>
            </a:r>
          </a:p>
        </p:txBody>
      </p:sp>
      <p:sp>
        <p:nvSpPr>
          <p:cNvPr id="9" name="Rounded Rectangle 8"/>
          <p:cNvSpPr/>
          <p:nvPr/>
        </p:nvSpPr>
        <p:spPr>
          <a:xfrm>
            <a:off x="548640" y="4480560"/>
            <a:ext cx="11064240" cy="1097280"/>
          </a:xfrm>
          <a:prstGeom prst="roundRect">
            <a:avLst>
              <a:gd name="adj" fmla="val 15000"/>
            </a:avLst>
          </a:prstGeom>
          <a:solidFill>
            <a:srgbClr val="1F2A44"/>
          </a:solidFill>
          <a:ln>
            <a:noFill/>
          </a:ln>
          <a:effectLst/>
        </p:spPr>
        <p:txBody>
          <a:bodyPr rtlCol="0" anchor="ctr" lIns="54864" rIns="54864" tIns="27432" bIns="27432" wrap="square"/>
          <a:lstStyle/>
          <a:p>
            <a:pPr algn="ctr"/>
            <a:r>
              <a:rPr sz="2400" b="1" i="0">
                <a:solidFill>
                  <a:srgbClr val="FFFFFF"/>
                </a:solidFill>
                <a:latin typeface="Calibri"/>
              </a:rPr>
              <a:t>Do practical instances expose enough independent merges?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Contributions</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5</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640080" y="1463040"/>
            <a:ext cx="566928" cy="566928"/>
          </a:xfrm>
          <a:prstGeom prst="roundRect">
            <a:avLst>
              <a:gd name="adj" fmla="val 50000"/>
            </a:avLst>
          </a:prstGeom>
          <a:solidFill>
            <a:srgbClr val="C8501E"/>
          </a:solidFill>
          <a:ln>
            <a:noFill/>
          </a:ln>
          <a:effectLst/>
        </p:spPr>
        <p:txBody>
          <a:bodyPr rtlCol="0" anchor="ctr" lIns="54864" rIns="54864" tIns="27432" bIns="27432" wrap="square"/>
          <a:lstStyle/>
          <a:p>
            <a:pPr algn="ctr"/>
            <a:r>
              <a:rPr sz="2000" b="1" i="0">
                <a:solidFill>
                  <a:srgbClr val="FFFFFF"/>
                </a:solidFill>
                <a:latin typeface="Calibri"/>
              </a:rPr>
              <a:t>1</a:t>
            </a:r>
          </a:p>
        </p:txBody>
      </p:sp>
      <p:sp>
        <p:nvSpPr>
          <p:cNvPr id="7" name="TextBox 6"/>
          <p:cNvSpPr txBox="1"/>
          <p:nvPr/>
        </p:nvSpPr>
        <p:spPr>
          <a:xfrm>
            <a:off x="1417320" y="1399032"/>
            <a:ext cx="10058400" cy="457200"/>
          </a:xfrm>
          <a:prstGeom prst="rect">
            <a:avLst/>
          </a:prstGeom>
          <a:noFill/>
        </p:spPr>
        <p:txBody>
          <a:bodyPr wrap="square" anchor="t" lIns="45720" rIns="45720" tIns="27432" bIns="27432">
            <a:spAutoFit/>
          </a:bodyPr>
          <a:lstStyle/>
          <a:p>
            <a:pPr algn="l"/>
            <a:r>
              <a:rPr sz="2200" b="1" i="0">
                <a:solidFill>
                  <a:srgbClr val="1F2A44"/>
                </a:solidFill>
                <a:latin typeface="Calibri"/>
              </a:rPr>
              <a:t>Two parallel algorithms: ParentCC and FilterCC</a:t>
            </a:r>
          </a:p>
        </p:txBody>
      </p:sp>
      <p:sp>
        <p:nvSpPr>
          <p:cNvPr id="8" name="TextBox 7"/>
          <p:cNvSpPr txBox="1"/>
          <p:nvPr/>
        </p:nvSpPr>
        <p:spPr>
          <a:xfrm>
            <a:off x="1417320" y="1828800"/>
            <a:ext cx="10058400" cy="457200"/>
          </a:xfrm>
          <a:prstGeom prst="rect">
            <a:avLst/>
          </a:prstGeom>
          <a:noFill/>
        </p:spPr>
        <p:txBody>
          <a:bodyPr wrap="square" anchor="t" lIns="45720" rIns="45720" tIns="27432" bIns="27432">
            <a:spAutoFit/>
          </a:bodyPr>
          <a:lstStyle/>
          <a:p>
            <a:pPr algn="l"/>
            <a:r>
              <a:rPr sz="1700" b="0" i="0">
                <a:solidFill>
                  <a:srgbClr val="6B717A"/>
                </a:solidFill>
                <a:latin typeface="Calibri"/>
              </a:rPr>
              <a:t>bulk-synchronous rounds of data-parallel primitives over a lock-free concurrent union-find</a:t>
            </a:r>
          </a:p>
        </p:txBody>
      </p:sp>
      <p:sp>
        <p:nvSpPr>
          <p:cNvPr id="9" name="Rounded Rectangle 8"/>
          <p:cNvSpPr/>
          <p:nvPr/>
        </p:nvSpPr>
        <p:spPr>
          <a:xfrm>
            <a:off x="640080" y="2651760"/>
            <a:ext cx="566928" cy="566928"/>
          </a:xfrm>
          <a:prstGeom prst="roundRect">
            <a:avLst>
              <a:gd name="adj" fmla="val 50000"/>
            </a:avLst>
          </a:prstGeom>
          <a:solidFill>
            <a:srgbClr val="C8501E"/>
          </a:solidFill>
          <a:ln>
            <a:noFill/>
          </a:ln>
          <a:effectLst/>
        </p:spPr>
        <p:txBody>
          <a:bodyPr rtlCol="0" anchor="ctr" lIns="54864" rIns="54864" tIns="27432" bIns="27432" wrap="square"/>
          <a:lstStyle/>
          <a:p>
            <a:pPr algn="ctr"/>
            <a:r>
              <a:rPr sz="2000" b="1" i="0">
                <a:solidFill>
                  <a:srgbClr val="FFFFFF"/>
                </a:solidFill>
                <a:latin typeface="Calibri"/>
              </a:rPr>
              <a:t>2</a:t>
            </a:r>
          </a:p>
        </p:txBody>
      </p:sp>
      <p:sp>
        <p:nvSpPr>
          <p:cNvPr id="10" name="TextBox 9"/>
          <p:cNvSpPr txBox="1"/>
          <p:nvPr/>
        </p:nvSpPr>
        <p:spPr>
          <a:xfrm>
            <a:off x="1417320" y="2587752"/>
            <a:ext cx="10058400" cy="457200"/>
          </a:xfrm>
          <a:prstGeom prst="rect">
            <a:avLst/>
          </a:prstGeom>
          <a:noFill/>
        </p:spPr>
        <p:txBody>
          <a:bodyPr wrap="square" anchor="t" lIns="45720" rIns="45720" tIns="27432" bIns="27432">
            <a:spAutoFit/>
          </a:bodyPr>
          <a:lstStyle/>
          <a:p>
            <a:pPr algn="l"/>
            <a:r>
              <a:rPr sz="2200" b="1" i="0">
                <a:solidFill>
                  <a:srgbClr val="1F2A44"/>
                </a:solidFill>
                <a:latin typeface="Calibri"/>
              </a:rPr>
              <a:t>Workload characterization: congruence depth and width</a:t>
            </a:r>
          </a:p>
        </p:txBody>
      </p:sp>
      <p:sp>
        <p:nvSpPr>
          <p:cNvPr id="11" name="TextBox 10"/>
          <p:cNvSpPr txBox="1"/>
          <p:nvPr/>
        </p:nvSpPr>
        <p:spPr>
          <a:xfrm>
            <a:off x="1417320" y="3017520"/>
            <a:ext cx="10058400" cy="457200"/>
          </a:xfrm>
          <a:prstGeom prst="rect">
            <a:avLst/>
          </a:prstGeom>
          <a:noFill/>
        </p:spPr>
        <p:txBody>
          <a:bodyPr wrap="square" anchor="t" lIns="45720" rIns="45720" tIns="27432" bIns="27432">
            <a:spAutoFit/>
          </a:bodyPr>
          <a:lstStyle/>
          <a:p>
            <a:pPr algn="l"/>
            <a:r>
              <a:rPr sz="1700" b="0" i="0">
                <a:solidFill>
                  <a:srgbClr val="6B717A"/>
                </a:solidFill>
                <a:latin typeface="Calibri"/>
              </a:rPr>
              <a:t>width, the number of independent merges per round, is the dominant factor empirically</a:t>
            </a:r>
          </a:p>
        </p:txBody>
      </p:sp>
      <p:sp>
        <p:nvSpPr>
          <p:cNvPr id="12" name="Rounded Rectangle 11"/>
          <p:cNvSpPr/>
          <p:nvPr/>
        </p:nvSpPr>
        <p:spPr>
          <a:xfrm>
            <a:off x="640080" y="3840480"/>
            <a:ext cx="566928" cy="566928"/>
          </a:xfrm>
          <a:prstGeom prst="roundRect">
            <a:avLst>
              <a:gd name="adj" fmla="val 50000"/>
            </a:avLst>
          </a:prstGeom>
          <a:solidFill>
            <a:srgbClr val="C8501E"/>
          </a:solidFill>
          <a:ln>
            <a:noFill/>
          </a:ln>
          <a:effectLst/>
        </p:spPr>
        <p:txBody>
          <a:bodyPr rtlCol="0" anchor="ctr" lIns="54864" rIns="54864" tIns="27432" bIns="27432" wrap="square"/>
          <a:lstStyle/>
          <a:p>
            <a:pPr algn="ctr"/>
            <a:r>
              <a:rPr sz="2000" b="1" i="0">
                <a:solidFill>
                  <a:srgbClr val="FFFFFF"/>
                </a:solidFill>
                <a:latin typeface="Calibri"/>
              </a:rPr>
              <a:t>3</a:t>
            </a:r>
          </a:p>
        </p:txBody>
      </p:sp>
      <p:sp>
        <p:nvSpPr>
          <p:cNvPr id="13" name="TextBox 12"/>
          <p:cNvSpPr txBox="1"/>
          <p:nvPr/>
        </p:nvSpPr>
        <p:spPr>
          <a:xfrm>
            <a:off x="1417320" y="3776472"/>
            <a:ext cx="10058400" cy="457200"/>
          </a:xfrm>
          <a:prstGeom prst="rect">
            <a:avLst/>
          </a:prstGeom>
          <a:noFill/>
        </p:spPr>
        <p:txBody>
          <a:bodyPr wrap="square" anchor="t" lIns="45720" rIns="45720" tIns="27432" bIns="27432">
            <a:spAutoFit/>
          </a:bodyPr>
          <a:lstStyle/>
          <a:p>
            <a:pPr algn="l"/>
            <a:r>
              <a:rPr sz="2200" b="1" i="0">
                <a:solidFill>
                  <a:srgbClr val="1F2A44"/>
                </a:solidFill>
                <a:latin typeface="Calibri"/>
              </a:rPr>
              <a:t>Evaluation on random, synthetic, and circuit-equivalence benchmarks</a:t>
            </a:r>
          </a:p>
        </p:txBody>
      </p:sp>
      <p:sp>
        <p:nvSpPr>
          <p:cNvPr id="14" name="TextBox 13"/>
          <p:cNvSpPr txBox="1"/>
          <p:nvPr/>
        </p:nvSpPr>
        <p:spPr>
          <a:xfrm>
            <a:off x="1417320" y="4206240"/>
            <a:ext cx="10058400" cy="457200"/>
          </a:xfrm>
          <a:prstGeom prst="rect">
            <a:avLst/>
          </a:prstGeom>
          <a:noFill/>
        </p:spPr>
        <p:txBody>
          <a:bodyPr wrap="square" anchor="t" lIns="45720" rIns="45720" tIns="27432" bIns="27432">
            <a:spAutoFit/>
          </a:bodyPr>
          <a:lstStyle/>
          <a:p>
            <a:pPr algn="l"/>
            <a:r>
              <a:rPr sz="1700" b="0" i="0">
                <a:solidFill>
                  <a:srgbClr val="6B717A"/>
                </a:solidFill>
                <a:latin typeface="Calibri"/>
              </a:rPr>
              <a:t>near-linear speedup up to 32 cores over a tuned sequential baseline</a:t>
            </a:r>
          </a:p>
        </p:txBody>
      </p:sp>
      <p:sp>
        <p:nvSpPr>
          <p:cNvPr id="15" name="Rounded Rectangle 14"/>
          <p:cNvSpPr/>
          <p:nvPr/>
        </p:nvSpPr>
        <p:spPr>
          <a:xfrm>
            <a:off x="640080" y="5029200"/>
            <a:ext cx="566928" cy="566928"/>
          </a:xfrm>
          <a:prstGeom prst="roundRect">
            <a:avLst>
              <a:gd name="adj" fmla="val 50000"/>
            </a:avLst>
          </a:prstGeom>
          <a:solidFill>
            <a:srgbClr val="C8501E"/>
          </a:solidFill>
          <a:ln>
            <a:noFill/>
          </a:ln>
          <a:effectLst/>
        </p:spPr>
        <p:txBody>
          <a:bodyPr rtlCol="0" anchor="ctr" lIns="54864" rIns="54864" tIns="27432" bIns="27432" wrap="square"/>
          <a:lstStyle/>
          <a:p>
            <a:pPr algn="ctr"/>
            <a:r>
              <a:rPr sz="2000" b="1" i="0">
                <a:solidFill>
                  <a:srgbClr val="FFFFFF"/>
                </a:solidFill>
                <a:latin typeface="Calibri"/>
              </a:rPr>
              <a:t>4</a:t>
            </a:r>
          </a:p>
        </p:txBody>
      </p:sp>
      <p:sp>
        <p:nvSpPr>
          <p:cNvPr id="16" name="TextBox 15"/>
          <p:cNvSpPr txBox="1"/>
          <p:nvPr/>
        </p:nvSpPr>
        <p:spPr>
          <a:xfrm>
            <a:off x="1417320" y="4965192"/>
            <a:ext cx="10058400" cy="457200"/>
          </a:xfrm>
          <a:prstGeom prst="rect">
            <a:avLst/>
          </a:prstGeom>
          <a:noFill/>
        </p:spPr>
        <p:txBody>
          <a:bodyPr wrap="square" anchor="t" lIns="45720" rIns="45720" tIns="27432" bIns="27432">
            <a:spAutoFit/>
          </a:bodyPr>
          <a:lstStyle/>
          <a:p>
            <a:pPr algn="l"/>
            <a:r>
              <a:rPr sz="2200" b="1" i="0">
                <a:solidFill>
                  <a:srgbClr val="1F2A44"/>
                </a:solidFill>
                <a:latin typeface="Calibri"/>
              </a:rPr>
              <a:t>Open source implementation and benchmarks</a:t>
            </a:r>
          </a:p>
        </p:txBody>
      </p:sp>
      <p:sp>
        <p:nvSpPr>
          <p:cNvPr id="17" name="TextBox 16"/>
          <p:cNvSpPr txBox="1"/>
          <p:nvPr/>
        </p:nvSpPr>
        <p:spPr>
          <a:xfrm>
            <a:off x="1417320" y="5394960"/>
            <a:ext cx="10058400" cy="457200"/>
          </a:xfrm>
          <a:prstGeom prst="rect">
            <a:avLst/>
          </a:prstGeom>
          <a:noFill/>
        </p:spPr>
        <p:txBody>
          <a:bodyPr wrap="square" anchor="t" lIns="45720" rIns="45720" tIns="27432" bIns="27432">
            <a:spAutoFit/>
          </a:bodyPr>
          <a:lstStyle/>
          <a:p>
            <a:pPr algn="l"/>
            <a:r>
              <a:rPr sz="1700" b="0" i="0">
                <a:solidFill>
                  <a:srgbClr val="6B717A"/>
                </a:solidFill>
                <a:latin typeface="Calibri"/>
              </a:rPr>
              <a:t>github.com/amarshah10/ParallelEgraph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Setting: combinational equivalence checking</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6</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1874519" y="5230368"/>
            <a:ext cx="2834640" cy="411480"/>
          </a:xfrm>
          <a:prstGeom prst="roundRect">
            <a:avLst>
              <a:gd name="adj" fmla="val 15000"/>
            </a:avLst>
          </a:prstGeom>
          <a:solidFill>
            <a:srgbClr val="EEF0F3"/>
          </a:solidFill>
          <a:ln w="15875">
            <a:solidFill>
              <a:srgbClr val="9AA0A8"/>
            </a:solidFill>
          </a:ln>
          <a:effectLst/>
        </p:spPr>
        <p:txBody>
          <a:bodyPr rtlCol="0" anchor="ctr" lIns="54864" rIns="54864" tIns="27432" bIns="27432" wrap="square"/>
          <a:lstStyle/>
          <a:p>
            <a:pPr algn="ctr"/>
            <a:r>
              <a:rPr sz="1300" b="0" i="0">
                <a:solidFill>
                  <a:srgbClr val="2B2F36"/>
                </a:solidFill>
                <a:latin typeface="Calibri"/>
              </a:rPr>
              <a:t>shared inputs  r, s, u, v, c</a:t>
            </a:r>
          </a:p>
        </p:txBody>
      </p:sp>
      <p:sp>
        <p:nvSpPr>
          <p:cNvPr id="7" name="Rounded Rectangle 6"/>
          <p:cNvSpPr/>
          <p:nvPr/>
        </p:nvSpPr>
        <p:spPr>
          <a:xfrm>
            <a:off x="1417320" y="3977639"/>
            <a:ext cx="1554480" cy="777240"/>
          </a:xfrm>
          <a:prstGeom prst="roundRect">
            <a:avLst>
              <a:gd name="adj" fmla="val 15000"/>
            </a:avLst>
          </a:prstGeom>
          <a:solidFill>
            <a:srgbClr val="DCEAF8"/>
          </a:solidFill>
          <a:ln w="19050">
            <a:solidFill>
              <a:srgbClr val="2E6FB0"/>
            </a:solidFill>
          </a:ln>
          <a:effectLst/>
        </p:spPr>
        <p:txBody>
          <a:bodyPr rtlCol="0" anchor="ctr" lIns="54864" rIns="54864" tIns="27432" bIns="27432" wrap="square"/>
          <a:lstStyle/>
          <a:p>
            <a:pPr algn="ctr"/>
            <a:r>
              <a:rPr sz="1900" b="1" i="0">
                <a:solidFill>
                  <a:srgbClr val="1F2A44"/>
                </a:solidFill>
                <a:latin typeface="Calibri"/>
              </a:rPr>
              <a:t>C₁</a:t>
            </a:r>
          </a:p>
        </p:txBody>
      </p:sp>
      <p:sp>
        <p:nvSpPr>
          <p:cNvPr id="8" name="Rounded Rectangle 7"/>
          <p:cNvSpPr/>
          <p:nvPr/>
        </p:nvSpPr>
        <p:spPr>
          <a:xfrm>
            <a:off x="3611880" y="3977639"/>
            <a:ext cx="1554480" cy="777240"/>
          </a:xfrm>
          <a:prstGeom prst="roundRect">
            <a:avLst>
              <a:gd name="adj" fmla="val 15000"/>
            </a:avLst>
          </a:prstGeom>
          <a:solidFill>
            <a:srgbClr val="DCEAF8"/>
          </a:solidFill>
          <a:ln w="19050">
            <a:solidFill>
              <a:srgbClr val="2E6FB0"/>
            </a:solidFill>
          </a:ln>
          <a:effectLst/>
        </p:spPr>
        <p:txBody>
          <a:bodyPr rtlCol="0" anchor="ctr" lIns="54864" rIns="54864" tIns="27432" bIns="27432" wrap="square"/>
          <a:lstStyle/>
          <a:p>
            <a:pPr algn="ctr"/>
            <a:r>
              <a:rPr sz="1900" b="1" i="0">
                <a:solidFill>
                  <a:srgbClr val="1F2A44"/>
                </a:solidFill>
                <a:latin typeface="Calibri"/>
              </a:rPr>
              <a:t>C₂</a:t>
            </a:r>
          </a:p>
        </p:txBody>
      </p:sp>
      <p:cxnSp>
        <p:nvCxnSpPr>
          <p:cNvPr id="9" name="Connector 8"/>
          <p:cNvCxnSpPr/>
          <p:nvPr/>
        </p:nvCxnSpPr>
        <p:spPr>
          <a:xfrm flipV="1">
            <a:off x="2194560" y="4754880"/>
            <a:ext cx="0" cy="475488"/>
          </a:xfrm>
          <a:prstGeom prst="line">
            <a:avLst/>
          </a:prstGeom>
          <a:ln w="15875">
            <a:solidFill>
              <a:srgbClr val="8A8F98"/>
            </a:solidFill>
            <a:tailEnd type="triangle" w="med" len="med"/>
          </a:ln>
          <a:effectLst/>
        </p:spPr>
      </p:cxnSp>
      <p:cxnSp>
        <p:nvCxnSpPr>
          <p:cNvPr id="10" name="Connector 9"/>
          <p:cNvCxnSpPr/>
          <p:nvPr/>
        </p:nvCxnSpPr>
        <p:spPr>
          <a:xfrm flipV="1">
            <a:off x="4389120" y="4754880"/>
            <a:ext cx="0" cy="475488"/>
          </a:xfrm>
          <a:prstGeom prst="line">
            <a:avLst/>
          </a:prstGeom>
          <a:ln w="15875">
            <a:solidFill>
              <a:srgbClr val="8A8F98"/>
            </a:solidFill>
            <a:tailEnd type="triangle" w="med" len="med"/>
          </a:ln>
          <a:effectLst/>
        </p:spPr>
      </p:cxnSp>
      <p:sp>
        <p:nvSpPr>
          <p:cNvPr id="11" name="Rounded Rectangle 10"/>
          <p:cNvSpPr/>
          <p:nvPr/>
        </p:nvSpPr>
        <p:spPr>
          <a:xfrm>
            <a:off x="2560320" y="2697480"/>
            <a:ext cx="1463040" cy="658368"/>
          </a:xfrm>
          <a:prstGeom prst="roundRect">
            <a:avLst>
              <a:gd name="adj" fmla="val 15000"/>
            </a:avLst>
          </a:prstGeom>
          <a:solidFill>
            <a:srgbClr val="FBE4D3"/>
          </a:solidFill>
          <a:ln w="19050">
            <a:solidFill>
              <a:srgbClr val="C8501E"/>
            </a:solidFill>
          </a:ln>
          <a:effectLst/>
        </p:spPr>
        <p:txBody>
          <a:bodyPr rtlCol="0" anchor="ctr" lIns="54864" rIns="54864" tIns="27432" bIns="27432" wrap="square"/>
          <a:lstStyle/>
          <a:p>
            <a:pPr algn="ctr"/>
            <a:r>
              <a:rPr sz="1700" b="1" i="0">
                <a:solidFill>
                  <a:srgbClr val="1F2A44"/>
                </a:solidFill>
                <a:latin typeface="Calibri"/>
              </a:rPr>
              <a:t>XOR</a:t>
            </a:r>
          </a:p>
        </p:txBody>
      </p:sp>
      <p:cxnSp>
        <p:nvCxnSpPr>
          <p:cNvPr id="12" name="Connector 11"/>
          <p:cNvCxnSpPr/>
          <p:nvPr/>
        </p:nvCxnSpPr>
        <p:spPr>
          <a:xfrm flipV="1">
            <a:off x="2194560" y="3355848"/>
            <a:ext cx="731520" cy="621791"/>
          </a:xfrm>
          <a:prstGeom prst="line">
            <a:avLst/>
          </a:prstGeom>
          <a:ln w="15875">
            <a:solidFill>
              <a:srgbClr val="8A8F98"/>
            </a:solidFill>
            <a:tailEnd type="triangle" w="med" len="med"/>
          </a:ln>
          <a:effectLst/>
        </p:spPr>
      </p:cxnSp>
      <p:cxnSp>
        <p:nvCxnSpPr>
          <p:cNvPr id="13" name="Connector 12"/>
          <p:cNvCxnSpPr/>
          <p:nvPr/>
        </p:nvCxnSpPr>
        <p:spPr>
          <a:xfrm flipH="1" flipV="1">
            <a:off x="3657600" y="3355848"/>
            <a:ext cx="731520" cy="621791"/>
          </a:xfrm>
          <a:prstGeom prst="line">
            <a:avLst/>
          </a:prstGeom>
          <a:ln w="15875">
            <a:solidFill>
              <a:srgbClr val="8A8F98"/>
            </a:solidFill>
            <a:tailEnd type="triangle" w="med" len="med"/>
          </a:ln>
          <a:effectLst/>
        </p:spPr>
      </p:cxnSp>
      <p:sp>
        <p:nvSpPr>
          <p:cNvPr id="14" name="TextBox 13"/>
          <p:cNvSpPr txBox="1"/>
          <p:nvPr/>
        </p:nvSpPr>
        <p:spPr>
          <a:xfrm>
            <a:off x="2176272" y="3520440"/>
            <a:ext cx="457200" cy="274320"/>
          </a:xfrm>
          <a:prstGeom prst="rect">
            <a:avLst/>
          </a:prstGeom>
          <a:noFill/>
        </p:spPr>
        <p:txBody>
          <a:bodyPr wrap="square" anchor="t" lIns="45720" rIns="45720" tIns="27432" bIns="27432">
            <a:spAutoFit/>
          </a:bodyPr>
          <a:lstStyle/>
          <a:p>
            <a:pPr algn="l"/>
            <a:r>
              <a:rPr sz="1400" b="1" i="0">
                <a:solidFill>
                  <a:srgbClr val="6B717A"/>
                </a:solidFill>
                <a:latin typeface="Calibri"/>
              </a:rPr>
              <a:t>m₁</a:t>
            </a:r>
          </a:p>
        </p:txBody>
      </p:sp>
      <p:sp>
        <p:nvSpPr>
          <p:cNvPr id="15" name="TextBox 14"/>
          <p:cNvSpPr txBox="1"/>
          <p:nvPr/>
        </p:nvSpPr>
        <p:spPr>
          <a:xfrm>
            <a:off x="4133087" y="3520440"/>
            <a:ext cx="457200" cy="274320"/>
          </a:xfrm>
          <a:prstGeom prst="rect">
            <a:avLst/>
          </a:prstGeom>
          <a:noFill/>
        </p:spPr>
        <p:txBody>
          <a:bodyPr wrap="square" anchor="t" lIns="45720" rIns="45720" tIns="27432" bIns="27432">
            <a:spAutoFit/>
          </a:bodyPr>
          <a:lstStyle/>
          <a:p>
            <a:pPr algn="l"/>
            <a:r>
              <a:rPr sz="1400" b="1" i="0">
                <a:solidFill>
                  <a:srgbClr val="6B717A"/>
                </a:solidFill>
                <a:latin typeface="Calibri"/>
              </a:rPr>
              <a:t>m₂</a:t>
            </a:r>
          </a:p>
        </p:txBody>
      </p:sp>
      <p:cxnSp>
        <p:nvCxnSpPr>
          <p:cNvPr id="16" name="Connector 15"/>
          <p:cNvCxnSpPr/>
          <p:nvPr/>
        </p:nvCxnSpPr>
        <p:spPr>
          <a:xfrm flipV="1">
            <a:off x="3291840" y="2240280"/>
            <a:ext cx="0" cy="457200"/>
          </a:xfrm>
          <a:prstGeom prst="line">
            <a:avLst/>
          </a:prstGeom>
          <a:ln w="15875">
            <a:solidFill>
              <a:srgbClr val="8A8F98"/>
            </a:solidFill>
            <a:tailEnd type="triangle" w="med" len="med"/>
          </a:ln>
          <a:effectLst/>
        </p:spPr>
      </p:cxnSp>
      <p:sp>
        <p:nvSpPr>
          <p:cNvPr id="17" name="TextBox 16"/>
          <p:cNvSpPr txBox="1"/>
          <p:nvPr/>
        </p:nvSpPr>
        <p:spPr>
          <a:xfrm>
            <a:off x="3017520" y="1901952"/>
            <a:ext cx="457200" cy="320040"/>
          </a:xfrm>
          <a:prstGeom prst="rect">
            <a:avLst/>
          </a:prstGeom>
          <a:noFill/>
        </p:spPr>
        <p:txBody>
          <a:bodyPr wrap="square" anchor="t" lIns="45720" rIns="45720" tIns="27432" bIns="27432">
            <a:spAutoFit/>
          </a:bodyPr>
          <a:lstStyle/>
          <a:p>
            <a:pPr algn="ctr"/>
            <a:r>
              <a:rPr sz="1600" b="1" i="0">
                <a:solidFill>
                  <a:srgbClr val="1F2A44"/>
                </a:solidFill>
                <a:latin typeface="Calibri"/>
              </a:rPr>
              <a:t>p</a:t>
            </a:r>
          </a:p>
        </p:txBody>
      </p:sp>
      <p:sp>
        <p:nvSpPr>
          <p:cNvPr id="18" name="Rounded Rectangle 17"/>
          <p:cNvSpPr/>
          <p:nvPr/>
        </p:nvSpPr>
        <p:spPr>
          <a:xfrm>
            <a:off x="3657600" y="1874519"/>
            <a:ext cx="1691640" cy="384048"/>
          </a:xfrm>
          <a:prstGeom prst="roundRect">
            <a:avLst>
              <a:gd name="adj" fmla="val 15000"/>
            </a:avLst>
          </a:prstGeom>
          <a:solidFill>
            <a:srgbClr val="1F2A44"/>
          </a:solidFill>
          <a:ln>
            <a:noFill/>
          </a:ln>
          <a:effectLst/>
        </p:spPr>
        <p:txBody>
          <a:bodyPr rtlCol="0" anchor="ctr" lIns="54864" rIns="54864" tIns="27432" bIns="27432" wrap="square"/>
          <a:lstStyle/>
          <a:p>
            <a:pPr algn="ctr"/>
            <a:r>
              <a:rPr sz="1400" b="1" i="0">
                <a:solidFill>
                  <a:srgbClr val="FFFFFF"/>
                </a:solidFill>
                <a:latin typeface="Calibri"/>
              </a:rPr>
              <a:t>assert p = 1</a:t>
            </a:r>
          </a:p>
        </p:txBody>
      </p:sp>
      <p:sp>
        <p:nvSpPr>
          <p:cNvPr id="19" name="TextBox 18"/>
          <p:cNvSpPr txBox="1"/>
          <p:nvPr/>
        </p:nvSpPr>
        <p:spPr>
          <a:xfrm>
            <a:off x="5715000" y="1298448"/>
            <a:ext cx="5943600" cy="2011680"/>
          </a:xfrm>
          <a:prstGeom prst="rect">
            <a:avLst/>
          </a:prstGeom>
          <a:noFill/>
        </p:spPr>
        <p:txBody>
          <a:bodyPr wrap="square" lIns="45720" rIns="45720">
            <a:spAutoFit/>
          </a:bodyPr>
          <a:lstStyle/>
          <a:p>
            <a:pPr>
              <a:spcBef>
                <a:spcPts val="1100"/>
              </a:spcBef>
              <a:spcAft>
                <a:spcPts val="200"/>
              </a:spcAft>
            </a:pPr>
            <a:r>
              <a:rPr sz="1800" b="1" i="0">
                <a:solidFill>
                  <a:srgbClr val="1F2A44"/>
                </a:solidFill>
                <a:latin typeface="Calibri"/>
              </a:rPr>
              <a:t>Miter</a:t>
            </a:r>
          </a:p>
          <a:p>
            <a:pPr marL="274320" indent="-237744">
              <a:spcBef>
                <a:spcPts val="500"/>
              </a:spcBef>
              <a:buClr>
                <a:srgbClr val="6B717A"/>
              </a:buClr>
              <a:buChar char="•"/>
            </a:pPr>
            <a:r>
              <a:rPr sz="1800" b="0" i="0">
                <a:solidFill>
                  <a:srgbClr val="2B2F36"/>
                </a:solidFill>
                <a:latin typeface="Calibri"/>
              </a:rPr>
              <a:t>two circuits, same inputs</a:t>
            </a:r>
          </a:p>
          <a:p>
            <a:pPr marL="274320" indent="-237744">
              <a:spcBef>
                <a:spcPts val="500"/>
              </a:spcBef>
              <a:buClr>
                <a:srgbClr val="6B717A"/>
              </a:buClr>
              <a:buChar char="•"/>
            </a:pPr>
            <a:r>
              <a:rPr sz="1800" b="0" i="0">
                <a:solidFill>
                  <a:srgbClr val="2B2F36"/>
                </a:solidFill>
                <a:latin typeface="Calibri"/>
              </a:rPr>
              <a:t>XOR the corresponding outputs</a:t>
            </a:r>
          </a:p>
          <a:p>
            <a:pPr marL="274320" indent="-237744">
              <a:spcBef>
                <a:spcPts val="500"/>
              </a:spcBef>
              <a:buClr>
                <a:srgbClr val="6B717A"/>
              </a:buClr>
              <a:buChar char="•"/>
            </a:pPr>
            <a:r>
              <a:rPr sz="1800" b="0" i="0">
                <a:solidFill>
                  <a:srgbClr val="2B2F36"/>
                </a:solidFill>
                <a:latin typeface="Calibri"/>
              </a:rPr>
              <a:t>p = 1  ⟺  the circuits disagree</a:t>
            </a:r>
          </a:p>
          <a:p>
            <a:pPr marL="274320" indent="-237744">
              <a:spcBef>
                <a:spcPts val="500"/>
              </a:spcBef>
              <a:buClr>
                <a:srgbClr val="6B717A"/>
              </a:buClr>
              <a:buChar char="•"/>
            </a:pPr>
            <a:r>
              <a:rPr sz="1800" b="1" i="0">
                <a:solidFill>
                  <a:srgbClr val="2B2F36"/>
                </a:solidFill>
                <a:latin typeface="Calibri"/>
              </a:rPr>
              <a:t>equivalent  ⟺  p = 1 unsatisfiable</a:t>
            </a:r>
          </a:p>
        </p:txBody>
      </p:sp>
      <p:sp>
        <p:nvSpPr>
          <p:cNvPr id="20" name="Rounded Rectangle 19"/>
          <p:cNvSpPr/>
          <p:nvPr/>
        </p:nvSpPr>
        <p:spPr>
          <a:xfrm>
            <a:off x="5806440" y="3154680"/>
            <a:ext cx="5806440" cy="1325880"/>
          </a:xfrm>
          <a:prstGeom prst="roundRect">
            <a:avLst>
              <a:gd name="adj" fmla="val 15000"/>
            </a:avLst>
          </a:prstGeom>
          <a:solidFill>
            <a:srgbClr val="F4F5F7"/>
          </a:solidFill>
          <a:ln>
            <a:noFill/>
          </a:ln>
          <a:effectLst/>
        </p:spPr>
        <p:txBody>
          <a:bodyPr rtlCol="0" anchor="ctr" lIns="54864" rIns="54864" tIns="27432" bIns="27432" wrap="square"/>
          <a:lstStyle/>
          <a:p>
            <a:pPr algn="ctr"/>
          </a:p>
        </p:txBody>
      </p:sp>
      <p:sp>
        <p:nvSpPr>
          <p:cNvPr id="21" name="TextBox 20"/>
          <p:cNvSpPr txBox="1"/>
          <p:nvPr/>
        </p:nvSpPr>
        <p:spPr>
          <a:xfrm>
            <a:off x="5989320" y="3218688"/>
            <a:ext cx="2743200" cy="320040"/>
          </a:xfrm>
          <a:prstGeom prst="rect">
            <a:avLst/>
          </a:prstGeom>
          <a:noFill/>
        </p:spPr>
        <p:txBody>
          <a:bodyPr wrap="square" anchor="t" lIns="45720" rIns="45720" tIns="27432" bIns="27432">
            <a:spAutoFit/>
          </a:bodyPr>
          <a:lstStyle/>
          <a:p>
            <a:pPr algn="l"/>
            <a:r>
              <a:rPr sz="1500" b="1" i="0">
                <a:solidFill>
                  <a:srgbClr val="1F2A44"/>
                </a:solidFill>
                <a:latin typeface="Calibri"/>
              </a:rPr>
              <a:t>Terms</a:t>
            </a:r>
          </a:p>
        </p:txBody>
      </p:sp>
      <p:sp>
        <p:nvSpPr>
          <p:cNvPr id="22" name="TextBox 21"/>
          <p:cNvSpPr txBox="1"/>
          <p:nvPr/>
        </p:nvSpPr>
        <p:spPr>
          <a:xfrm>
            <a:off x="5989320" y="3529584"/>
            <a:ext cx="5486400" cy="914400"/>
          </a:xfrm>
          <a:prstGeom prst="rect">
            <a:avLst/>
          </a:prstGeom>
          <a:noFill/>
        </p:spPr>
        <p:txBody>
          <a:bodyPr wrap="none">
            <a:spAutoFit/>
          </a:bodyPr>
          <a:lstStyle/>
          <a:p>
            <a:pPr>
              <a:spcAft>
                <a:spcPts val="200"/>
              </a:spcAft>
            </a:pPr>
            <a:r>
              <a:rPr sz="1400" b="0" i="0">
                <a:solidFill>
                  <a:srgbClr val="2B2F36"/>
                </a:solidFill>
                <a:latin typeface="Consolas"/>
              </a:rPr>
              <a:t>t  ::=  x             </a:t>
            </a:r>
            <a:r>
              <a:rPr sz="1300" b="0" i="0">
                <a:solidFill>
                  <a:srgbClr val="6B717A"/>
                </a:solidFill>
                <a:latin typeface="Calibri"/>
              </a:rPr>
              <a:t>leaf: an input wire</a:t>
            </a:r>
          </a:p>
          <a:p>
            <a:pPr>
              <a:spcAft>
                <a:spcPts val="200"/>
              </a:spcAft>
            </a:pPr>
            <a:r>
              <a:rPr sz="1400" b="0" i="0">
                <a:solidFill>
                  <a:srgbClr val="2B2F36"/>
                </a:solidFill>
                <a:latin typeface="Consolas"/>
              </a:rPr>
              <a:t>   |   f(t₁, …, tₖ)   </a:t>
            </a:r>
            <a:r>
              <a:rPr sz="1300" b="0" i="0">
                <a:solidFill>
                  <a:srgbClr val="6B717A"/>
                </a:solidFill>
                <a:latin typeface="Calibri"/>
              </a:rPr>
              <a:t>gate: f ∈ F,  arity k</a:t>
            </a:r>
          </a:p>
          <a:p>
            <a:pPr>
              <a:spcAft>
                <a:spcPts val="200"/>
              </a:spcAft>
            </a:pPr>
            <a:r>
              <a:rPr sz="1400" b="0" i="0">
                <a:solidFill>
                  <a:srgbClr val="2B2F36"/>
                </a:solidFill>
                <a:latin typeface="Consolas"/>
              </a:rPr>
              <a:t>F = {AND, OR, XOR, ITE,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Running example: a miter</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7</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cxnSp>
        <p:nvCxnSpPr>
          <p:cNvPr id="6" name="Connector 5"/>
          <p:cNvCxnSpPr/>
          <p:nvPr/>
        </p:nvCxnSpPr>
        <p:spPr>
          <a:xfrm flipH="1">
            <a:off x="2784348" y="3803903"/>
            <a:ext cx="539496" cy="1106425"/>
          </a:xfrm>
          <a:prstGeom prst="line">
            <a:avLst/>
          </a:prstGeom>
          <a:ln w="15875">
            <a:solidFill>
              <a:srgbClr val="8A8F98"/>
            </a:solidFill>
          </a:ln>
          <a:effectLst/>
        </p:spPr>
      </p:cxnSp>
      <p:cxnSp>
        <p:nvCxnSpPr>
          <p:cNvPr id="7" name="Connector 6"/>
          <p:cNvCxnSpPr/>
          <p:nvPr/>
        </p:nvCxnSpPr>
        <p:spPr>
          <a:xfrm>
            <a:off x="3323844" y="3803903"/>
            <a:ext cx="960120" cy="1106425"/>
          </a:xfrm>
          <a:prstGeom prst="line">
            <a:avLst/>
          </a:prstGeom>
          <a:ln w="15875">
            <a:solidFill>
              <a:srgbClr val="8A8F98"/>
            </a:solidFill>
          </a:ln>
          <a:effectLst/>
        </p:spPr>
      </p:cxnSp>
      <p:cxnSp>
        <p:nvCxnSpPr>
          <p:cNvPr id="8" name="Connector 7"/>
          <p:cNvCxnSpPr/>
          <p:nvPr/>
        </p:nvCxnSpPr>
        <p:spPr>
          <a:xfrm flipH="1">
            <a:off x="3406139" y="3803903"/>
            <a:ext cx="1014985" cy="1106425"/>
          </a:xfrm>
          <a:prstGeom prst="line">
            <a:avLst/>
          </a:prstGeom>
          <a:ln w="15875">
            <a:solidFill>
              <a:srgbClr val="8A8F98"/>
            </a:solidFill>
          </a:ln>
          <a:effectLst/>
        </p:spPr>
      </p:cxnSp>
      <p:cxnSp>
        <p:nvCxnSpPr>
          <p:cNvPr id="9" name="Connector 8"/>
          <p:cNvCxnSpPr/>
          <p:nvPr/>
        </p:nvCxnSpPr>
        <p:spPr>
          <a:xfrm>
            <a:off x="4421124" y="3803903"/>
            <a:ext cx="484632" cy="1106425"/>
          </a:xfrm>
          <a:prstGeom prst="line">
            <a:avLst/>
          </a:prstGeom>
          <a:ln w="15875">
            <a:solidFill>
              <a:srgbClr val="8A8F98"/>
            </a:solidFill>
          </a:ln>
          <a:effectLst/>
        </p:spPr>
      </p:cxnSp>
      <p:cxnSp>
        <p:nvCxnSpPr>
          <p:cNvPr id="10" name="Connector 9"/>
          <p:cNvCxnSpPr/>
          <p:nvPr/>
        </p:nvCxnSpPr>
        <p:spPr>
          <a:xfrm flipH="1">
            <a:off x="7283196" y="3803903"/>
            <a:ext cx="475487" cy="1106425"/>
          </a:xfrm>
          <a:prstGeom prst="line">
            <a:avLst/>
          </a:prstGeom>
          <a:ln w="15875">
            <a:solidFill>
              <a:srgbClr val="8A8F98"/>
            </a:solidFill>
          </a:ln>
          <a:effectLst/>
        </p:spPr>
      </p:cxnSp>
      <p:cxnSp>
        <p:nvCxnSpPr>
          <p:cNvPr id="11" name="Connector 10"/>
          <p:cNvCxnSpPr/>
          <p:nvPr/>
        </p:nvCxnSpPr>
        <p:spPr>
          <a:xfrm>
            <a:off x="7758683" y="3803903"/>
            <a:ext cx="1024129" cy="1106425"/>
          </a:xfrm>
          <a:prstGeom prst="line">
            <a:avLst/>
          </a:prstGeom>
          <a:ln w="15875">
            <a:solidFill>
              <a:srgbClr val="8A8F98"/>
            </a:solidFill>
          </a:ln>
          <a:effectLst/>
        </p:spPr>
      </p:cxnSp>
      <p:cxnSp>
        <p:nvCxnSpPr>
          <p:cNvPr id="12" name="Connector 11"/>
          <p:cNvCxnSpPr/>
          <p:nvPr/>
        </p:nvCxnSpPr>
        <p:spPr>
          <a:xfrm flipH="1">
            <a:off x="7904988" y="3803903"/>
            <a:ext cx="950975" cy="1106425"/>
          </a:xfrm>
          <a:prstGeom prst="line">
            <a:avLst/>
          </a:prstGeom>
          <a:ln w="15875">
            <a:solidFill>
              <a:srgbClr val="8A8F98"/>
            </a:solidFill>
          </a:ln>
          <a:effectLst/>
        </p:spPr>
      </p:cxnSp>
      <p:cxnSp>
        <p:nvCxnSpPr>
          <p:cNvPr id="13" name="Connector 12"/>
          <p:cNvCxnSpPr/>
          <p:nvPr/>
        </p:nvCxnSpPr>
        <p:spPr>
          <a:xfrm>
            <a:off x="8855963" y="3803903"/>
            <a:ext cx="548641" cy="1106425"/>
          </a:xfrm>
          <a:prstGeom prst="line">
            <a:avLst/>
          </a:prstGeom>
          <a:ln w="15875">
            <a:solidFill>
              <a:srgbClr val="8A8F98"/>
            </a:solidFill>
          </a:ln>
          <a:effectLst/>
        </p:spPr>
      </p:cxnSp>
      <p:cxnSp>
        <p:nvCxnSpPr>
          <p:cNvPr id="14" name="Connector 13"/>
          <p:cNvCxnSpPr/>
          <p:nvPr/>
        </p:nvCxnSpPr>
        <p:spPr>
          <a:xfrm>
            <a:off x="5564124" y="2203704"/>
            <a:ext cx="219455" cy="2706624"/>
          </a:xfrm>
          <a:prstGeom prst="line">
            <a:avLst/>
          </a:prstGeom>
          <a:ln w="15875">
            <a:solidFill>
              <a:srgbClr val="8A8F98"/>
            </a:solidFill>
          </a:ln>
          <a:effectLst/>
        </p:spPr>
      </p:cxnSp>
      <p:cxnSp>
        <p:nvCxnSpPr>
          <p:cNvPr id="15" name="Connector 14"/>
          <p:cNvCxnSpPr/>
          <p:nvPr/>
        </p:nvCxnSpPr>
        <p:spPr>
          <a:xfrm flipH="1">
            <a:off x="3323844" y="2203704"/>
            <a:ext cx="2240280" cy="749807"/>
          </a:xfrm>
          <a:prstGeom prst="line">
            <a:avLst/>
          </a:prstGeom>
          <a:ln w="15875">
            <a:solidFill>
              <a:srgbClr val="8A8F98"/>
            </a:solidFill>
          </a:ln>
          <a:effectLst/>
        </p:spPr>
      </p:cxnSp>
      <p:cxnSp>
        <p:nvCxnSpPr>
          <p:cNvPr id="16" name="Connector 15"/>
          <p:cNvCxnSpPr/>
          <p:nvPr/>
        </p:nvCxnSpPr>
        <p:spPr>
          <a:xfrm>
            <a:off x="5564124" y="2203704"/>
            <a:ext cx="2194559" cy="749807"/>
          </a:xfrm>
          <a:prstGeom prst="line">
            <a:avLst/>
          </a:prstGeom>
          <a:ln w="15875">
            <a:solidFill>
              <a:srgbClr val="8A8F98"/>
            </a:solidFill>
          </a:ln>
          <a:effectLst/>
        </p:spPr>
      </p:cxnSp>
      <p:cxnSp>
        <p:nvCxnSpPr>
          <p:cNvPr id="17" name="Connector 16"/>
          <p:cNvCxnSpPr/>
          <p:nvPr/>
        </p:nvCxnSpPr>
        <p:spPr>
          <a:xfrm flipH="1">
            <a:off x="6405372" y="2203704"/>
            <a:ext cx="484632" cy="2706624"/>
          </a:xfrm>
          <a:prstGeom prst="line">
            <a:avLst/>
          </a:prstGeom>
          <a:ln w="15875">
            <a:solidFill>
              <a:srgbClr val="8A8F98"/>
            </a:solidFill>
          </a:ln>
          <a:effectLst/>
        </p:spPr>
      </p:cxnSp>
      <p:cxnSp>
        <p:nvCxnSpPr>
          <p:cNvPr id="18" name="Connector 17"/>
          <p:cNvCxnSpPr/>
          <p:nvPr/>
        </p:nvCxnSpPr>
        <p:spPr>
          <a:xfrm flipH="1">
            <a:off x="4421124" y="2203704"/>
            <a:ext cx="2468880" cy="749807"/>
          </a:xfrm>
          <a:prstGeom prst="line">
            <a:avLst/>
          </a:prstGeom>
          <a:ln w="15875">
            <a:solidFill>
              <a:srgbClr val="8A8F98"/>
            </a:solidFill>
          </a:ln>
          <a:effectLst/>
        </p:spPr>
      </p:cxnSp>
      <p:cxnSp>
        <p:nvCxnSpPr>
          <p:cNvPr id="19" name="Connector 18"/>
          <p:cNvCxnSpPr/>
          <p:nvPr/>
        </p:nvCxnSpPr>
        <p:spPr>
          <a:xfrm>
            <a:off x="6890004" y="2203704"/>
            <a:ext cx="1965959" cy="749807"/>
          </a:xfrm>
          <a:prstGeom prst="line">
            <a:avLst/>
          </a:prstGeom>
          <a:ln w="15875">
            <a:solidFill>
              <a:srgbClr val="8A8F98"/>
            </a:solidFill>
          </a:ln>
          <a:effectLst/>
        </p:spPr>
      </p:cxnSp>
      <p:sp>
        <p:nvSpPr>
          <p:cNvPr id="20" name="Rounded Rectangle 19"/>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1" name="Rounded Rectangle 20"/>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2" name="Rounded Rectangle 21"/>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3" name="Rounded Rectangle 22"/>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4" name="Rounded Rectangle 23"/>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25" name="Rounded Rectangle 24"/>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26" name="Rounded Rectangle 25"/>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27" name="Rounded Rectangle 26"/>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28" name="Rounded Rectangle 27"/>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29" name="Rounded Rectangle 28"/>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0" name="Rounded Rectangle 29"/>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1" name="TextBox 30"/>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32" name="Rounded Rectangle 3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3" name="TextBox 32"/>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34" name="Rounded Rectangle 33"/>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35" name="TextBox 34"/>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36" name="Rounded Rectangle 3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37" name="TextBox 36"/>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38" name="Rounded Rectangle 37"/>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39" name="TextBox 38"/>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0" name="Rounded Rectangle 39"/>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1" name="TextBox 40"/>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Running example: a miter</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8</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cxnSp>
        <p:nvCxnSpPr>
          <p:cNvPr id="6" name="Connector 5"/>
          <p:cNvCxnSpPr/>
          <p:nvPr/>
        </p:nvCxnSpPr>
        <p:spPr>
          <a:xfrm flipH="1">
            <a:off x="2784348" y="3803903"/>
            <a:ext cx="539496" cy="1106425"/>
          </a:xfrm>
          <a:prstGeom prst="line">
            <a:avLst/>
          </a:prstGeom>
          <a:ln w="15875">
            <a:solidFill>
              <a:srgbClr val="8A8F98"/>
            </a:solidFill>
          </a:ln>
          <a:effectLst/>
        </p:spPr>
      </p:cxnSp>
      <p:cxnSp>
        <p:nvCxnSpPr>
          <p:cNvPr id="7" name="Connector 6"/>
          <p:cNvCxnSpPr/>
          <p:nvPr/>
        </p:nvCxnSpPr>
        <p:spPr>
          <a:xfrm>
            <a:off x="3323844" y="3803903"/>
            <a:ext cx="960120" cy="1106425"/>
          </a:xfrm>
          <a:prstGeom prst="line">
            <a:avLst/>
          </a:prstGeom>
          <a:ln w="15875">
            <a:solidFill>
              <a:srgbClr val="8A8F98"/>
            </a:solidFill>
          </a:ln>
          <a:effectLst/>
        </p:spPr>
      </p:cxnSp>
      <p:cxnSp>
        <p:nvCxnSpPr>
          <p:cNvPr id="8" name="Connector 7"/>
          <p:cNvCxnSpPr/>
          <p:nvPr/>
        </p:nvCxnSpPr>
        <p:spPr>
          <a:xfrm flipH="1">
            <a:off x="3406139" y="3803903"/>
            <a:ext cx="1014985" cy="1106425"/>
          </a:xfrm>
          <a:prstGeom prst="line">
            <a:avLst/>
          </a:prstGeom>
          <a:ln w="15875">
            <a:solidFill>
              <a:srgbClr val="8A8F98"/>
            </a:solidFill>
          </a:ln>
          <a:effectLst/>
        </p:spPr>
      </p:cxnSp>
      <p:cxnSp>
        <p:nvCxnSpPr>
          <p:cNvPr id="9" name="Connector 8"/>
          <p:cNvCxnSpPr/>
          <p:nvPr/>
        </p:nvCxnSpPr>
        <p:spPr>
          <a:xfrm>
            <a:off x="4421124" y="3803903"/>
            <a:ext cx="484632" cy="1106425"/>
          </a:xfrm>
          <a:prstGeom prst="line">
            <a:avLst/>
          </a:prstGeom>
          <a:ln w="15875">
            <a:solidFill>
              <a:srgbClr val="8A8F98"/>
            </a:solidFill>
          </a:ln>
          <a:effectLst/>
        </p:spPr>
      </p:cxnSp>
      <p:cxnSp>
        <p:nvCxnSpPr>
          <p:cNvPr id="10" name="Connector 9"/>
          <p:cNvCxnSpPr/>
          <p:nvPr/>
        </p:nvCxnSpPr>
        <p:spPr>
          <a:xfrm flipH="1">
            <a:off x="7283196" y="3803903"/>
            <a:ext cx="475487" cy="1106425"/>
          </a:xfrm>
          <a:prstGeom prst="line">
            <a:avLst/>
          </a:prstGeom>
          <a:ln w="15875">
            <a:solidFill>
              <a:srgbClr val="8A8F98"/>
            </a:solidFill>
          </a:ln>
          <a:effectLst/>
        </p:spPr>
      </p:cxnSp>
      <p:cxnSp>
        <p:nvCxnSpPr>
          <p:cNvPr id="11" name="Connector 10"/>
          <p:cNvCxnSpPr/>
          <p:nvPr/>
        </p:nvCxnSpPr>
        <p:spPr>
          <a:xfrm>
            <a:off x="7758683" y="3803903"/>
            <a:ext cx="1024129" cy="1106425"/>
          </a:xfrm>
          <a:prstGeom prst="line">
            <a:avLst/>
          </a:prstGeom>
          <a:ln w="15875">
            <a:solidFill>
              <a:srgbClr val="8A8F98"/>
            </a:solidFill>
          </a:ln>
          <a:effectLst/>
        </p:spPr>
      </p:cxnSp>
      <p:cxnSp>
        <p:nvCxnSpPr>
          <p:cNvPr id="12" name="Connector 11"/>
          <p:cNvCxnSpPr/>
          <p:nvPr/>
        </p:nvCxnSpPr>
        <p:spPr>
          <a:xfrm flipH="1">
            <a:off x="7904988" y="3803903"/>
            <a:ext cx="950975" cy="1106425"/>
          </a:xfrm>
          <a:prstGeom prst="line">
            <a:avLst/>
          </a:prstGeom>
          <a:ln w="15875">
            <a:solidFill>
              <a:srgbClr val="8A8F98"/>
            </a:solidFill>
          </a:ln>
          <a:effectLst/>
        </p:spPr>
      </p:cxnSp>
      <p:cxnSp>
        <p:nvCxnSpPr>
          <p:cNvPr id="13" name="Connector 12"/>
          <p:cNvCxnSpPr/>
          <p:nvPr/>
        </p:nvCxnSpPr>
        <p:spPr>
          <a:xfrm>
            <a:off x="8855963" y="3803903"/>
            <a:ext cx="548641" cy="1106425"/>
          </a:xfrm>
          <a:prstGeom prst="line">
            <a:avLst/>
          </a:prstGeom>
          <a:ln w="15875">
            <a:solidFill>
              <a:srgbClr val="8A8F98"/>
            </a:solidFill>
          </a:ln>
          <a:effectLst/>
        </p:spPr>
      </p:cxnSp>
      <p:cxnSp>
        <p:nvCxnSpPr>
          <p:cNvPr id="14" name="Connector 13"/>
          <p:cNvCxnSpPr/>
          <p:nvPr/>
        </p:nvCxnSpPr>
        <p:spPr>
          <a:xfrm>
            <a:off x="5564124" y="2203704"/>
            <a:ext cx="219455" cy="2706624"/>
          </a:xfrm>
          <a:prstGeom prst="line">
            <a:avLst/>
          </a:prstGeom>
          <a:ln w="15875">
            <a:solidFill>
              <a:srgbClr val="8A8F98"/>
            </a:solidFill>
          </a:ln>
          <a:effectLst/>
        </p:spPr>
      </p:cxnSp>
      <p:cxnSp>
        <p:nvCxnSpPr>
          <p:cNvPr id="15" name="Connector 14"/>
          <p:cNvCxnSpPr/>
          <p:nvPr/>
        </p:nvCxnSpPr>
        <p:spPr>
          <a:xfrm flipH="1">
            <a:off x="3323844" y="2203704"/>
            <a:ext cx="2240280" cy="749807"/>
          </a:xfrm>
          <a:prstGeom prst="line">
            <a:avLst/>
          </a:prstGeom>
          <a:ln w="15875">
            <a:solidFill>
              <a:srgbClr val="8A8F98"/>
            </a:solidFill>
          </a:ln>
          <a:effectLst/>
        </p:spPr>
      </p:cxnSp>
      <p:cxnSp>
        <p:nvCxnSpPr>
          <p:cNvPr id="16" name="Connector 15"/>
          <p:cNvCxnSpPr/>
          <p:nvPr/>
        </p:nvCxnSpPr>
        <p:spPr>
          <a:xfrm>
            <a:off x="5564124" y="2203704"/>
            <a:ext cx="2194559" cy="749807"/>
          </a:xfrm>
          <a:prstGeom prst="line">
            <a:avLst/>
          </a:prstGeom>
          <a:ln w="15875">
            <a:solidFill>
              <a:srgbClr val="8A8F98"/>
            </a:solidFill>
          </a:ln>
          <a:effectLst/>
        </p:spPr>
      </p:cxnSp>
      <p:cxnSp>
        <p:nvCxnSpPr>
          <p:cNvPr id="17" name="Connector 16"/>
          <p:cNvCxnSpPr/>
          <p:nvPr/>
        </p:nvCxnSpPr>
        <p:spPr>
          <a:xfrm flipH="1">
            <a:off x="6405372" y="2203704"/>
            <a:ext cx="484632" cy="2706624"/>
          </a:xfrm>
          <a:prstGeom prst="line">
            <a:avLst/>
          </a:prstGeom>
          <a:ln w="15875">
            <a:solidFill>
              <a:srgbClr val="8A8F98"/>
            </a:solidFill>
          </a:ln>
          <a:effectLst/>
        </p:spPr>
      </p:cxnSp>
      <p:cxnSp>
        <p:nvCxnSpPr>
          <p:cNvPr id="18" name="Connector 17"/>
          <p:cNvCxnSpPr/>
          <p:nvPr/>
        </p:nvCxnSpPr>
        <p:spPr>
          <a:xfrm flipH="1">
            <a:off x="4421124" y="2203704"/>
            <a:ext cx="2468880" cy="749807"/>
          </a:xfrm>
          <a:prstGeom prst="line">
            <a:avLst/>
          </a:prstGeom>
          <a:ln w="15875">
            <a:solidFill>
              <a:srgbClr val="8A8F98"/>
            </a:solidFill>
          </a:ln>
          <a:effectLst/>
        </p:spPr>
      </p:cxnSp>
      <p:cxnSp>
        <p:nvCxnSpPr>
          <p:cNvPr id="19" name="Connector 18"/>
          <p:cNvCxnSpPr/>
          <p:nvPr/>
        </p:nvCxnSpPr>
        <p:spPr>
          <a:xfrm>
            <a:off x="6890004" y="2203704"/>
            <a:ext cx="1965959" cy="749807"/>
          </a:xfrm>
          <a:prstGeom prst="line">
            <a:avLst/>
          </a:prstGeom>
          <a:ln w="15875">
            <a:solidFill>
              <a:srgbClr val="8A8F98"/>
            </a:solidFill>
          </a:ln>
          <a:effectLst/>
        </p:spPr>
      </p:cxnSp>
      <p:sp>
        <p:nvSpPr>
          <p:cNvPr id="20" name="Rounded Rectangle 19"/>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1" name="Rounded Rectangle 20"/>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2" name="Rounded Rectangle 21"/>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3" name="Rounded Rectangle 22"/>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4" name="Rounded Rectangle 23"/>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25" name="Rounded Rectangle 24"/>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26" name="Rounded Rectangle 25"/>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27" name="Rounded Rectangle 26"/>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28" name="Rounded Rectangle 27"/>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29" name="Rounded Rectangle 28"/>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0" name="Rounded Rectangle 29"/>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1" name="TextBox 30"/>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32" name="Rounded Rectangle 3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3" name="TextBox 32"/>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34" name="Rounded Rectangle 33"/>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35" name="TextBox 34"/>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36" name="Rounded Rectangle 3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37" name="TextBox 36"/>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38" name="Rounded Rectangle 37"/>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39" name="TextBox 38"/>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0" name="Rounded Rectangle 39"/>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1" name="TextBox 40"/>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42" name="TextBox 41"/>
          <p:cNvSpPr txBox="1"/>
          <p:nvPr/>
        </p:nvSpPr>
        <p:spPr>
          <a:xfrm>
            <a:off x="5724144" y="1316736"/>
            <a:ext cx="1005840" cy="274320"/>
          </a:xfrm>
          <a:prstGeom prst="rect">
            <a:avLst/>
          </a:prstGeom>
          <a:noFill/>
        </p:spPr>
        <p:txBody>
          <a:bodyPr wrap="square" anchor="t" lIns="45720" rIns="45720" tIns="27432" bIns="27432">
            <a:spAutoFit/>
          </a:bodyPr>
          <a:lstStyle/>
          <a:p>
            <a:pPr algn="ctr"/>
            <a:r>
              <a:rPr sz="1200" b="1" i="0">
                <a:solidFill>
                  <a:srgbClr val="6B717A"/>
                </a:solidFill>
                <a:latin typeface="Calibri"/>
              </a:rPr>
              <a:t>Query</a:t>
            </a:r>
          </a:p>
        </p:txBody>
      </p:sp>
      <p:sp>
        <p:nvSpPr>
          <p:cNvPr id="43" name="TextBox 42"/>
          <p:cNvSpPr txBox="1"/>
          <p:nvPr/>
        </p:nvSpPr>
        <p:spPr>
          <a:xfrm>
            <a:off x="5724144" y="1682496"/>
            <a:ext cx="1005840" cy="475488"/>
          </a:xfrm>
          <a:prstGeom prst="rect">
            <a:avLst/>
          </a:prstGeom>
          <a:noFill/>
        </p:spPr>
        <p:txBody>
          <a:bodyPr wrap="square" anchor="ctr" lIns="45720" rIns="45720" tIns="27432" bIns="27432">
            <a:spAutoFit/>
          </a:bodyPr>
          <a:lstStyle/>
          <a:p>
            <a:pPr algn="ctr"/>
            <a:r>
              <a:rPr sz="2400" b="1" i="0">
                <a:solidFill>
                  <a:srgbClr val="C8501E"/>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Running example: a miter</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9</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cxnSp>
        <p:nvCxnSpPr>
          <p:cNvPr id="6" name="Connector 5"/>
          <p:cNvCxnSpPr/>
          <p:nvPr/>
        </p:nvCxnSpPr>
        <p:spPr>
          <a:xfrm flipH="1">
            <a:off x="2784348" y="3803903"/>
            <a:ext cx="539496" cy="1106425"/>
          </a:xfrm>
          <a:prstGeom prst="line">
            <a:avLst/>
          </a:prstGeom>
          <a:ln w="15875">
            <a:solidFill>
              <a:srgbClr val="8A8F98"/>
            </a:solidFill>
          </a:ln>
          <a:effectLst/>
        </p:spPr>
      </p:cxnSp>
      <p:cxnSp>
        <p:nvCxnSpPr>
          <p:cNvPr id="7" name="Connector 6"/>
          <p:cNvCxnSpPr/>
          <p:nvPr/>
        </p:nvCxnSpPr>
        <p:spPr>
          <a:xfrm>
            <a:off x="3323844" y="3803903"/>
            <a:ext cx="960120" cy="1106425"/>
          </a:xfrm>
          <a:prstGeom prst="line">
            <a:avLst/>
          </a:prstGeom>
          <a:ln w="15875">
            <a:solidFill>
              <a:srgbClr val="8A8F98"/>
            </a:solidFill>
          </a:ln>
          <a:effectLst/>
        </p:spPr>
      </p:cxnSp>
      <p:cxnSp>
        <p:nvCxnSpPr>
          <p:cNvPr id="8" name="Connector 7"/>
          <p:cNvCxnSpPr/>
          <p:nvPr/>
        </p:nvCxnSpPr>
        <p:spPr>
          <a:xfrm flipH="1">
            <a:off x="3406139" y="3803903"/>
            <a:ext cx="1014985" cy="1106425"/>
          </a:xfrm>
          <a:prstGeom prst="line">
            <a:avLst/>
          </a:prstGeom>
          <a:ln w="15875">
            <a:solidFill>
              <a:srgbClr val="8A8F98"/>
            </a:solidFill>
          </a:ln>
          <a:effectLst/>
        </p:spPr>
      </p:cxnSp>
      <p:cxnSp>
        <p:nvCxnSpPr>
          <p:cNvPr id="9" name="Connector 8"/>
          <p:cNvCxnSpPr/>
          <p:nvPr/>
        </p:nvCxnSpPr>
        <p:spPr>
          <a:xfrm>
            <a:off x="4421124" y="3803903"/>
            <a:ext cx="484632" cy="1106425"/>
          </a:xfrm>
          <a:prstGeom prst="line">
            <a:avLst/>
          </a:prstGeom>
          <a:ln w="15875">
            <a:solidFill>
              <a:srgbClr val="8A8F98"/>
            </a:solidFill>
          </a:ln>
          <a:effectLst/>
        </p:spPr>
      </p:cxnSp>
      <p:cxnSp>
        <p:nvCxnSpPr>
          <p:cNvPr id="10" name="Connector 9"/>
          <p:cNvCxnSpPr/>
          <p:nvPr/>
        </p:nvCxnSpPr>
        <p:spPr>
          <a:xfrm flipH="1">
            <a:off x="7283196" y="3803903"/>
            <a:ext cx="475487" cy="1106425"/>
          </a:xfrm>
          <a:prstGeom prst="line">
            <a:avLst/>
          </a:prstGeom>
          <a:ln w="15875">
            <a:solidFill>
              <a:srgbClr val="8A8F98"/>
            </a:solidFill>
          </a:ln>
          <a:effectLst/>
        </p:spPr>
      </p:cxnSp>
      <p:cxnSp>
        <p:nvCxnSpPr>
          <p:cNvPr id="11" name="Connector 10"/>
          <p:cNvCxnSpPr/>
          <p:nvPr/>
        </p:nvCxnSpPr>
        <p:spPr>
          <a:xfrm>
            <a:off x="7758683" y="3803903"/>
            <a:ext cx="1024129" cy="1106425"/>
          </a:xfrm>
          <a:prstGeom prst="line">
            <a:avLst/>
          </a:prstGeom>
          <a:ln w="15875">
            <a:solidFill>
              <a:srgbClr val="8A8F98"/>
            </a:solidFill>
          </a:ln>
          <a:effectLst/>
        </p:spPr>
      </p:cxnSp>
      <p:cxnSp>
        <p:nvCxnSpPr>
          <p:cNvPr id="12" name="Connector 11"/>
          <p:cNvCxnSpPr/>
          <p:nvPr/>
        </p:nvCxnSpPr>
        <p:spPr>
          <a:xfrm flipH="1">
            <a:off x="7904988" y="3803903"/>
            <a:ext cx="950975" cy="1106425"/>
          </a:xfrm>
          <a:prstGeom prst="line">
            <a:avLst/>
          </a:prstGeom>
          <a:ln w="15875">
            <a:solidFill>
              <a:srgbClr val="8A8F98"/>
            </a:solidFill>
          </a:ln>
          <a:effectLst/>
        </p:spPr>
      </p:cxnSp>
      <p:cxnSp>
        <p:nvCxnSpPr>
          <p:cNvPr id="13" name="Connector 12"/>
          <p:cNvCxnSpPr/>
          <p:nvPr/>
        </p:nvCxnSpPr>
        <p:spPr>
          <a:xfrm>
            <a:off x="8855963" y="3803903"/>
            <a:ext cx="548641" cy="1106425"/>
          </a:xfrm>
          <a:prstGeom prst="line">
            <a:avLst/>
          </a:prstGeom>
          <a:ln w="15875">
            <a:solidFill>
              <a:srgbClr val="8A8F98"/>
            </a:solidFill>
          </a:ln>
          <a:effectLst/>
        </p:spPr>
      </p:cxnSp>
      <p:cxnSp>
        <p:nvCxnSpPr>
          <p:cNvPr id="14" name="Connector 13"/>
          <p:cNvCxnSpPr/>
          <p:nvPr/>
        </p:nvCxnSpPr>
        <p:spPr>
          <a:xfrm>
            <a:off x="5564124" y="2203704"/>
            <a:ext cx="219455" cy="2706624"/>
          </a:xfrm>
          <a:prstGeom prst="line">
            <a:avLst/>
          </a:prstGeom>
          <a:ln w="15875">
            <a:solidFill>
              <a:srgbClr val="8A8F98"/>
            </a:solidFill>
          </a:ln>
          <a:effectLst/>
        </p:spPr>
      </p:cxnSp>
      <p:cxnSp>
        <p:nvCxnSpPr>
          <p:cNvPr id="15" name="Connector 14"/>
          <p:cNvCxnSpPr/>
          <p:nvPr/>
        </p:nvCxnSpPr>
        <p:spPr>
          <a:xfrm flipH="1">
            <a:off x="3323844" y="2203704"/>
            <a:ext cx="2240280" cy="749807"/>
          </a:xfrm>
          <a:prstGeom prst="line">
            <a:avLst/>
          </a:prstGeom>
          <a:ln w="15875">
            <a:solidFill>
              <a:srgbClr val="8A8F98"/>
            </a:solidFill>
          </a:ln>
          <a:effectLst/>
        </p:spPr>
      </p:cxnSp>
      <p:cxnSp>
        <p:nvCxnSpPr>
          <p:cNvPr id="16" name="Connector 15"/>
          <p:cNvCxnSpPr/>
          <p:nvPr/>
        </p:nvCxnSpPr>
        <p:spPr>
          <a:xfrm>
            <a:off x="5564124" y="2203704"/>
            <a:ext cx="2194559" cy="749807"/>
          </a:xfrm>
          <a:prstGeom prst="line">
            <a:avLst/>
          </a:prstGeom>
          <a:ln w="15875">
            <a:solidFill>
              <a:srgbClr val="8A8F98"/>
            </a:solidFill>
          </a:ln>
          <a:effectLst/>
        </p:spPr>
      </p:cxnSp>
      <p:cxnSp>
        <p:nvCxnSpPr>
          <p:cNvPr id="17" name="Connector 16"/>
          <p:cNvCxnSpPr/>
          <p:nvPr/>
        </p:nvCxnSpPr>
        <p:spPr>
          <a:xfrm flipH="1">
            <a:off x="6405372" y="2203704"/>
            <a:ext cx="484632" cy="2706624"/>
          </a:xfrm>
          <a:prstGeom prst="line">
            <a:avLst/>
          </a:prstGeom>
          <a:ln w="15875">
            <a:solidFill>
              <a:srgbClr val="8A8F98"/>
            </a:solidFill>
          </a:ln>
          <a:effectLst/>
        </p:spPr>
      </p:cxnSp>
      <p:cxnSp>
        <p:nvCxnSpPr>
          <p:cNvPr id="18" name="Connector 17"/>
          <p:cNvCxnSpPr/>
          <p:nvPr/>
        </p:nvCxnSpPr>
        <p:spPr>
          <a:xfrm flipH="1">
            <a:off x="4421124" y="2203704"/>
            <a:ext cx="2468880" cy="749807"/>
          </a:xfrm>
          <a:prstGeom prst="line">
            <a:avLst/>
          </a:prstGeom>
          <a:ln w="15875">
            <a:solidFill>
              <a:srgbClr val="8A8F98"/>
            </a:solidFill>
          </a:ln>
          <a:effectLst/>
        </p:spPr>
      </p:cxnSp>
      <p:cxnSp>
        <p:nvCxnSpPr>
          <p:cNvPr id="19" name="Connector 18"/>
          <p:cNvCxnSpPr/>
          <p:nvPr/>
        </p:nvCxnSpPr>
        <p:spPr>
          <a:xfrm>
            <a:off x="6890004" y="2203704"/>
            <a:ext cx="1965959" cy="749807"/>
          </a:xfrm>
          <a:prstGeom prst="line">
            <a:avLst/>
          </a:prstGeom>
          <a:ln w="15875">
            <a:solidFill>
              <a:srgbClr val="8A8F98"/>
            </a:solidFill>
          </a:ln>
          <a:effectLst/>
        </p:spPr>
      </p:cxnSp>
      <p:sp>
        <p:nvSpPr>
          <p:cNvPr id="20" name="Rounded Rectangle 19"/>
          <p:cNvSpPr/>
          <p:nvPr/>
        </p:nvSpPr>
        <p:spPr>
          <a:xfrm>
            <a:off x="2510028" y="4910327"/>
            <a:ext cx="548640" cy="420624"/>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400" b="1" i="0">
                <a:solidFill>
                  <a:srgbClr val="2B2F36"/>
                </a:solidFill>
                <a:latin typeface="Calibri"/>
              </a:rPr>
              <a:t>r</a:t>
            </a:r>
          </a:p>
        </p:txBody>
      </p:sp>
      <p:sp>
        <p:nvSpPr>
          <p:cNvPr id="21" name="Rounded Rectangle 20"/>
          <p:cNvSpPr/>
          <p:nvPr/>
        </p:nvSpPr>
        <p:spPr>
          <a:xfrm>
            <a:off x="3131820" y="4910327"/>
            <a:ext cx="548640" cy="420624"/>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400" b="1" i="0">
                <a:solidFill>
                  <a:srgbClr val="2B2F36"/>
                </a:solidFill>
                <a:latin typeface="Calibri"/>
              </a:rPr>
              <a:t>r′</a:t>
            </a:r>
          </a:p>
        </p:txBody>
      </p:sp>
      <p:sp>
        <p:nvSpPr>
          <p:cNvPr id="22" name="Rounded Rectangle 21"/>
          <p:cNvSpPr/>
          <p:nvPr/>
        </p:nvSpPr>
        <p:spPr>
          <a:xfrm>
            <a:off x="4009644" y="4910327"/>
            <a:ext cx="548640" cy="420624"/>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400" b="1" i="0">
                <a:solidFill>
                  <a:srgbClr val="2B2F36"/>
                </a:solidFill>
                <a:latin typeface="Calibri"/>
              </a:rPr>
              <a:t>s</a:t>
            </a:r>
          </a:p>
        </p:txBody>
      </p:sp>
      <p:sp>
        <p:nvSpPr>
          <p:cNvPr id="23" name="Rounded Rectangle 22"/>
          <p:cNvSpPr/>
          <p:nvPr/>
        </p:nvSpPr>
        <p:spPr>
          <a:xfrm>
            <a:off x="4631436" y="4910327"/>
            <a:ext cx="548640" cy="420624"/>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400" b="1" i="0">
                <a:solidFill>
                  <a:srgbClr val="2B2F36"/>
                </a:solidFill>
                <a:latin typeface="Calibri"/>
              </a:rPr>
              <a:t>s′</a:t>
            </a:r>
          </a:p>
        </p:txBody>
      </p:sp>
      <p:sp>
        <p:nvSpPr>
          <p:cNvPr id="24" name="Rounded Rectangle 23"/>
          <p:cNvSpPr/>
          <p:nvPr/>
        </p:nvSpPr>
        <p:spPr>
          <a:xfrm>
            <a:off x="5509259" y="4910327"/>
            <a:ext cx="548640" cy="420624"/>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400" b="1" i="0">
                <a:solidFill>
                  <a:srgbClr val="2B2F36"/>
                </a:solidFill>
                <a:latin typeface="Calibri"/>
              </a:rPr>
              <a:t>c</a:t>
            </a:r>
          </a:p>
        </p:txBody>
      </p:sp>
      <p:sp>
        <p:nvSpPr>
          <p:cNvPr id="25" name="Rounded Rectangle 24"/>
          <p:cNvSpPr/>
          <p:nvPr/>
        </p:nvSpPr>
        <p:spPr>
          <a:xfrm>
            <a:off x="6131052" y="4910327"/>
            <a:ext cx="548640" cy="420624"/>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400" b="1" i="0">
                <a:solidFill>
                  <a:srgbClr val="2B2F36"/>
                </a:solidFill>
                <a:latin typeface="Calibri"/>
              </a:rPr>
              <a:t>c′</a:t>
            </a:r>
          </a:p>
        </p:txBody>
      </p:sp>
      <p:sp>
        <p:nvSpPr>
          <p:cNvPr id="26" name="Rounded Rectangle 25"/>
          <p:cNvSpPr/>
          <p:nvPr/>
        </p:nvSpPr>
        <p:spPr>
          <a:xfrm>
            <a:off x="7008876" y="4910327"/>
            <a:ext cx="548640" cy="420624"/>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400" b="1" i="0">
                <a:solidFill>
                  <a:srgbClr val="2B2F36"/>
                </a:solidFill>
                <a:latin typeface="Calibri"/>
              </a:rPr>
              <a:t>u</a:t>
            </a:r>
          </a:p>
        </p:txBody>
      </p:sp>
      <p:sp>
        <p:nvSpPr>
          <p:cNvPr id="27" name="Rounded Rectangle 26"/>
          <p:cNvSpPr/>
          <p:nvPr/>
        </p:nvSpPr>
        <p:spPr>
          <a:xfrm>
            <a:off x="7630667" y="4910327"/>
            <a:ext cx="548640" cy="420624"/>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400" b="1" i="0">
                <a:solidFill>
                  <a:srgbClr val="2B2F36"/>
                </a:solidFill>
                <a:latin typeface="Calibri"/>
              </a:rPr>
              <a:t>u′</a:t>
            </a:r>
          </a:p>
        </p:txBody>
      </p:sp>
      <p:sp>
        <p:nvSpPr>
          <p:cNvPr id="28" name="Rounded Rectangle 27"/>
          <p:cNvSpPr/>
          <p:nvPr/>
        </p:nvSpPr>
        <p:spPr>
          <a:xfrm>
            <a:off x="8508492" y="4910327"/>
            <a:ext cx="548640" cy="420624"/>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400" b="1" i="0">
                <a:solidFill>
                  <a:srgbClr val="2B2F36"/>
                </a:solidFill>
                <a:latin typeface="Calibri"/>
              </a:rPr>
              <a:t>v</a:t>
            </a:r>
          </a:p>
        </p:txBody>
      </p:sp>
      <p:sp>
        <p:nvSpPr>
          <p:cNvPr id="29" name="Rounded Rectangle 28"/>
          <p:cNvSpPr/>
          <p:nvPr/>
        </p:nvSpPr>
        <p:spPr>
          <a:xfrm>
            <a:off x="9130284" y="4910327"/>
            <a:ext cx="548640" cy="420624"/>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400" b="1" i="0">
                <a:solidFill>
                  <a:srgbClr val="2B2F36"/>
                </a:solidFill>
                <a:latin typeface="Calibri"/>
              </a:rPr>
              <a:t>v′</a:t>
            </a:r>
          </a:p>
        </p:txBody>
      </p:sp>
      <p:sp>
        <p:nvSpPr>
          <p:cNvPr id="30" name="Rounded Rectangle 29"/>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1" name="TextBox 30"/>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32" name="Rounded Rectangle 3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3" name="TextBox 32"/>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34" name="Rounded Rectangle 33"/>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35" name="TextBox 34"/>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36" name="Rounded Rectangle 3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37" name="TextBox 36"/>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38" name="Rounded Rectangle 37"/>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39" name="TextBox 38"/>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0" name="Rounded Rectangle 39"/>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1" name="TextBox 40"/>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42" name="TextBox 41"/>
          <p:cNvSpPr txBox="1"/>
          <p:nvPr/>
        </p:nvSpPr>
        <p:spPr>
          <a:xfrm>
            <a:off x="2775203" y="5458968"/>
            <a:ext cx="640080" cy="457200"/>
          </a:xfrm>
          <a:prstGeom prst="rect">
            <a:avLst/>
          </a:prstGeom>
          <a:noFill/>
        </p:spPr>
        <p:txBody>
          <a:bodyPr wrap="square" anchor="ctr" lIns="45720" rIns="45720" tIns="27432" bIns="27432">
            <a:spAutoFit/>
          </a:bodyPr>
          <a:lstStyle/>
          <a:p>
            <a:pPr algn="ctr"/>
            <a:r>
              <a:rPr sz="3200" b="1" i="0">
                <a:solidFill>
                  <a:srgbClr val="C8501E"/>
                </a:solidFill>
                <a:latin typeface="Calibri"/>
              </a:rPr>
              <a:t>=</a:t>
            </a:r>
          </a:p>
        </p:txBody>
      </p:sp>
      <p:sp>
        <p:nvSpPr>
          <p:cNvPr id="43" name="TextBox 42"/>
          <p:cNvSpPr txBox="1"/>
          <p:nvPr/>
        </p:nvSpPr>
        <p:spPr>
          <a:xfrm>
            <a:off x="4274820" y="5458968"/>
            <a:ext cx="640080" cy="457200"/>
          </a:xfrm>
          <a:prstGeom prst="rect">
            <a:avLst/>
          </a:prstGeom>
          <a:noFill/>
        </p:spPr>
        <p:txBody>
          <a:bodyPr wrap="square" anchor="ctr" lIns="45720" rIns="45720" tIns="27432" bIns="27432">
            <a:spAutoFit/>
          </a:bodyPr>
          <a:lstStyle/>
          <a:p>
            <a:pPr algn="ctr"/>
            <a:r>
              <a:rPr sz="3200" b="1" i="0">
                <a:solidFill>
                  <a:srgbClr val="C8501E"/>
                </a:solidFill>
                <a:latin typeface="Calibri"/>
              </a:rPr>
              <a:t>=</a:t>
            </a:r>
          </a:p>
        </p:txBody>
      </p:sp>
      <p:sp>
        <p:nvSpPr>
          <p:cNvPr id="44" name="TextBox 43"/>
          <p:cNvSpPr txBox="1"/>
          <p:nvPr/>
        </p:nvSpPr>
        <p:spPr>
          <a:xfrm>
            <a:off x="5774436" y="5458968"/>
            <a:ext cx="640080" cy="457200"/>
          </a:xfrm>
          <a:prstGeom prst="rect">
            <a:avLst/>
          </a:prstGeom>
          <a:noFill/>
        </p:spPr>
        <p:txBody>
          <a:bodyPr wrap="square" anchor="ctr" lIns="45720" rIns="45720" tIns="27432" bIns="27432">
            <a:spAutoFit/>
          </a:bodyPr>
          <a:lstStyle/>
          <a:p>
            <a:pPr algn="ctr"/>
            <a:r>
              <a:rPr sz="3200" b="1" i="0">
                <a:solidFill>
                  <a:srgbClr val="C8501E"/>
                </a:solidFill>
                <a:latin typeface="Calibri"/>
              </a:rPr>
              <a:t>=</a:t>
            </a:r>
          </a:p>
        </p:txBody>
      </p:sp>
      <p:sp>
        <p:nvSpPr>
          <p:cNvPr id="45" name="TextBox 44"/>
          <p:cNvSpPr txBox="1"/>
          <p:nvPr/>
        </p:nvSpPr>
        <p:spPr>
          <a:xfrm>
            <a:off x="7274052" y="5458968"/>
            <a:ext cx="640080" cy="457200"/>
          </a:xfrm>
          <a:prstGeom prst="rect">
            <a:avLst/>
          </a:prstGeom>
          <a:noFill/>
        </p:spPr>
        <p:txBody>
          <a:bodyPr wrap="square" anchor="ctr" lIns="45720" rIns="45720" tIns="27432" bIns="27432">
            <a:spAutoFit/>
          </a:bodyPr>
          <a:lstStyle/>
          <a:p>
            <a:pPr algn="ctr"/>
            <a:r>
              <a:rPr sz="3200" b="1" i="0">
                <a:solidFill>
                  <a:srgbClr val="C8501E"/>
                </a:solidFill>
                <a:latin typeface="Calibri"/>
              </a:rPr>
              <a:t>=</a:t>
            </a:r>
          </a:p>
        </p:txBody>
      </p:sp>
      <p:sp>
        <p:nvSpPr>
          <p:cNvPr id="46" name="TextBox 45"/>
          <p:cNvSpPr txBox="1"/>
          <p:nvPr/>
        </p:nvSpPr>
        <p:spPr>
          <a:xfrm>
            <a:off x="8773668" y="5458968"/>
            <a:ext cx="640080" cy="457200"/>
          </a:xfrm>
          <a:prstGeom prst="rect">
            <a:avLst/>
          </a:prstGeom>
          <a:noFill/>
        </p:spPr>
        <p:txBody>
          <a:bodyPr wrap="square" anchor="ctr" lIns="45720" rIns="45720" tIns="27432" bIns="27432">
            <a:spAutoFit/>
          </a:bodyPr>
          <a:lstStyle/>
          <a:p>
            <a:pPr algn="ctr"/>
            <a:r>
              <a:rPr sz="3200" b="1" i="0">
                <a:solidFill>
                  <a:srgbClr val="C8501E"/>
                </a:solidFill>
                <a:latin typeface="Calibri"/>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Reading the diagram</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10</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cxnSp>
        <p:nvCxnSpPr>
          <p:cNvPr id="6" name="Connector 5"/>
          <p:cNvCxnSpPr/>
          <p:nvPr/>
        </p:nvCxnSpPr>
        <p:spPr>
          <a:xfrm flipH="1">
            <a:off x="2784348" y="3803903"/>
            <a:ext cx="539496" cy="1106425"/>
          </a:xfrm>
          <a:prstGeom prst="line">
            <a:avLst/>
          </a:prstGeom>
          <a:ln w="15875">
            <a:solidFill>
              <a:srgbClr val="C9CDD3"/>
            </a:solidFill>
          </a:ln>
          <a:effectLst/>
        </p:spPr>
      </p:cxnSp>
      <p:cxnSp>
        <p:nvCxnSpPr>
          <p:cNvPr id="7" name="Connector 6"/>
          <p:cNvCxnSpPr/>
          <p:nvPr/>
        </p:nvCxnSpPr>
        <p:spPr>
          <a:xfrm>
            <a:off x="3323844" y="3803903"/>
            <a:ext cx="960120" cy="1106425"/>
          </a:xfrm>
          <a:prstGeom prst="line">
            <a:avLst/>
          </a:prstGeom>
          <a:ln w="15875">
            <a:solidFill>
              <a:srgbClr val="C9CDD3"/>
            </a:solidFill>
          </a:ln>
          <a:effectLst/>
        </p:spPr>
      </p:cxnSp>
      <p:cxnSp>
        <p:nvCxnSpPr>
          <p:cNvPr id="8" name="Connector 7"/>
          <p:cNvCxnSpPr/>
          <p:nvPr/>
        </p:nvCxnSpPr>
        <p:spPr>
          <a:xfrm flipH="1">
            <a:off x="3406139" y="3803903"/>
            <a:ext cx="1014985" cy="1106425"/>
          </a:xfrm>
          <a:prstGeom prst="line">
            <a:avLst/>
          </a:prstGeom>
          <a:ln w="15875">
            <a:solidFill>
              <a:srgbClr val="C9CDD3"/>
            </a:solidFill>
          </a:ln>
          <a:effectLst/>
        </p:spPr>
      </p:cxnSp>
      <p:cxnSp>
        <p:nvCxnSpPr>
          <p:cNvPr id="9" name="Connector 8"/>
          <p:cNvCxnSpPr/>
          <p:nvPr/>
        </p:nvCxnSpPr>
        <p:spPr>
          <a:xfrm>
            <a:off x="4421124" y="3803903"/>
            <a:ext cx="484632" cy="1106425"/>
          </a:xfrm>
          <a:prstGeom prst="line">
            <a:avLst/>
          </a:prstGeom>
          <a:ln w="15875">
            <a:solidFill>
              <a:srgbClr val="C9CDD3"/>
            </a:solidFill>
          </a:ln>
          <a:effectLst/>
        </p:spPr>
      </p:cxnSp>
      <p:cxnSp>
        <p:nvCxnSpPr>
          <p:cNvPr id="10" name="Connector 9"/>
          <p:cNvCxnSpPr/>
          <p:nvPr/>
        </p:nvCxnSpPr>
        <p:spPr>
          <a:xfrm flipH="1">
            <a:off x="7283196" y="3803903"/>
            <a:ext cx="475487" cy="1106425"/>
          </a:xfrm>
          <a:prstGeom prst="line">
            <a:avLst/>
          </a:prstGeom>
          <a:ln w="15875">
            <a:solidFill>
              <a:srgbClr val="C9CDD3"/>
            </a:solidFill>
          </a:ln>
          <a:effectLst/>
        </p:spPr>
      </p:cxnSp>
      <p:cxnSp>
        <p:nvCxnSpPr>
          <p:cNvPr id="11" name="Connector 10"/>
          <p:cNvCxnSpPr/>
          <p:nvPr/>
        </p:nvCxnSpPr>
        <p:spPr>
          <a:xfrm>
            <a:off x="7758683" y="3803903"/>
            <a:ext cx="1024129" cy="1106425"/>
          </a:xfrm>
          <a:prstGeom prst="line">
            <a:avLst/>
          </a:prstGeom>
          <a:ln w="15875">
            <a:solidFill>
              <a:srgbClr val="C9CDD3"/>
            </a:solidFill>
          </a:ln>
          <a:effectLst/>
        </p:spPr>
      </p:cxnSp>
      <p:cxnSp>
        <p:nvCxnSpPr>
          <p:cNvPr id="12" name="Connector 11"/>
          <p:cNvCxnSpPr/>
          <p:nvPr/>
        </p:nvCxnSpPr>
        <p:spPr>
          <a:xfrm flipH="1">
            <a:off x="7904988" y="3803903"/>
            <a:ext cx="950975" cy="1106425"/>
          </a:xfrm>
          <a:prstGeom prst="line">
            <a:avLst/>
          </a:prstGeom>
          <a:ln w="15875">
            <a:solidFill>
              <a:srgbClr val="C9CDD3"/>
            </a:solidFill>
          </a:ln>
          <a:effectLst/>
        </p:spPr>
      </p:cxnSp>
      <p:cxnSp>
        <p:nvCxnSpPr>
          <p:cNvPr id="13" name="Connector 12"/>
          <p:cNvCxnSpPr/>
          <p:nvPr/>
        </p:nvCxnSpPr>
        <p:spPr>
          <a:xfrm>
            <a:off x="8855963" y="3803903"/>
            <a:ext cx="548641" cy="1106425"/>
          </a:xfrm>
          <a:prstGeom prst="line">
            <a:avLst/>
          </a:prstGeom>
          <a:ln w="15875">
            <a:solidFill>
              <a:srgbClr val="C9CDD3"/>
            </a:solidFill>
          </a:ln>
          <a:effectLst/>
        </p:spPr>
      </p:cxnSp>
      <p:cxnSp>
        <p:nvCxnSpPr>
          <p:cNvPr id="14" name="Connector 13"/>
          <p:cNvCxnSpPr/>
          <p:nvPr/>
        </p:nvCxnSpPr>
        <p:spPr>
          <a:xfrm>
            <a:off x="5564124" y="2203704"/>
            <a:ext cx="219455" cy="2706624"/>
          </a:xfrm>
          <a:prstGeom prst="line">
            <a:avLst/>
          </a:prstGeom>
          <a:ln w="15875">
            <a:solidFill>
              <a:srgbClr val="C9CDD3"/>
            </a:solidFill>
          </a:ln>
          <a:effectLst/>
        </p:spPr>
      </p:cxnSp>
      <p:cxnSp>
        <p:nvCxnSpPr>
          <p:cNvPr id="15" name="Connector 14"/>
          <p:cNvCxnSpPr/>
          <p:nvPr/>
        </p:nvCxnSpPr>
        <p:spPr>
          <a:xfrm flipH="1">
            <a:off x="3323844" y="2203704"/>
            <a:ext cx="2240280" cy="749807"/>
          </a:xfrm>
          <a:prstGeom prst="line">
            <a:avLst/>
          </a:prstGeom>
          <a:ln w="15875">
            <a:solidFill>
              <a:srgbClr val="C9CDD3"/>
            </a:solidFill>
          </a:ln>
          <a:effectLst/>
        </p:spPr>
      </p:cxnSp>
      <p:cxnSp>
        <p:nvCxnSpPr>
          <p:cNvPr id="16" name="Connector 15"/>
          <p:cNvCxnSpPr/>
          <p:nvPr/>
        </p:nvCxnSpPr>
        <p:spPr>
          <a:xfrm>
            <a:off x="5564124" y="2203704"/>
            <a:ext cx="2194559" cy="749807"/>
          </a:xfrm>
          <a:prstGeom prst="line">
            <a:avLst/>
          </a:prstGeom>
          <a:ln w="15875">
            <a:solidFill>
              <a:srgbClr val="C9CDD3"/>
            </a:solidFill>
          </a:ln>
          <a:effectLst/>
        </p:spPr>
      </p:cxnSp>
      <p:cxnSp>
        <p:nvCxnSpPr>
          <p:cNvPr id="17" name="Connector 16"/>
          <p:cNvCxnSpPr/>
          <p:nvPr/>
        </p:nvCxnSpPr>
        <p:spPr>
          <a:xfrm flipH="1">
            <a:off x="6405372" y="2203704"/>
            <a:ext cx="484632" cy="2706624"/>
          </a:xfrm>
          <a:prstGeom prst="line">
            <a:avLst/>
          </a:prstGeom>
          <a:ln w="31750">
            <a:solidFill>
              <a:srgbClr val="C8501E"/>
            </a:solidFill>
            <a:tailEnd type="triangle" w="med" len="med"/>
          </a:ln>
          <a:effectLst/>
        </p:spPr>
      </p:cxnSp>
      <p:cxnSp>
        <p:nvCxnSpPr>
          <p:cNvPr id="18" name="Connector 17"/>
          <p:cNvCxnSpPr/>
          <p:nvPr/>
        </p:nvCxnSpPr>
        <p:spPr>
          <a:xfrm flipH="1">
            <a:off x="4421124" y="2203704"/>
            <a:ext cx="2468880" cy="749807"/>
          </a:xfrm>
          <a:prstGeom prst="line">
            <a:avLst/>
          </a:prstGeom>
          <a:ln w="31750">
            <a:solidFill>
              <a:srgbClr val="C8501E"/>
            </a:solidFill>
            <a:tailEnd type="triangle" w="med" len="med"/>
          </a:ln>
          <a:effectLst/>
        </p:spPr>
      </p:cxnSp>
      <p:cxnSp>
        <p:nvCxnSpPr>
          <p:cNvPr id="19" name="Connector 18"/>
          <p:cNvCxnSpPr/>
          <p:nvPr/>
        </p:nvCxnSpPr>
        <p:spPr>
          <a:xfrm>
            <a:off x="6890004" y="2203704"/>
            <a:ext cx="1965959" cy="749807"/>
          </a:xfrm>
          <a:prstGeom prst="line">
            <a:avLst/>
          </a:prstGeom>
          <a:ln w="31750">
            <a:solidFill>
              <a:srgbClr val="C8501E"/>
            </a:solidFill>
            <a:tailEnd type="triangle" w="med" len="med"/>
          </a:ln>
          <a:effectLst/>
        </p:spPr>
      </p:cxnSp>
      <p:sp>
        <p:nvSpPr>
          <p:cNvPr id="20" name="Rounded Rectangle 19"/>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r</a:t>
            </a:r>
          </a:p>
        </p:txBody>
      </p:sp>
      <p:sp>
        <p:nvSpPr>
          <p:cNvPr id="21" name="Rounded Rectangle 20"/>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r′</a:t>
            </a:r>
          </a:p>
        </p:txBody>
      </p:sp>
      <p:sp>
        <p:nvSpPr>
          <p:cNvPr id="22" name="Rounded Rectangle 21"/>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s</a:t>
            </a:r>
          </a:p>
        </p:txBody>
      </p:sp>
      <p:sp>
        <p:nvSpPr>
          <p:cNvPr id="23" name="Rounded Rectangle 22"/>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s′</a:t>
            </a:r>
          </a:p>
        </p:txBody>
      </p:sp>
      <p:sp>
        <p:nvSpPr>
          <p:cNvPr id="24" name="Rounded Rectangle 23"/>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c</a:t>
            </a:r>
          </a:p>
        </p:txBody>
      </p:sp>
      <p:sp>
        <p:nvSpPr>
          <p:cNvPr id="25" name="Rounded Rectangle 24"/>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26" name="Rounded Rectangle 25"/>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u</a:t>
            </a:r>
          </a:p>
        </p:txBody>
      </p:sp>
      <p:sp>
        <p:nvSpPr>
          <p:cNvPr id="27" name="Rounded Rectangle 26"/>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u′</a:t>
            </a:r>
          </a:p>
        </p:txBody>
      </p:sp>
      <p:sp>
        <p:nvSpPr>
          <p:cNvPr id="28" name="Rounded Rectangle 27"/>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v</a:t>
            </a:r>
          </a:p>
        </p:txBody>
      </p:sp>
      <p:sp>
        <p:nvSpPr>
          <p:cNvPr id="29" name="Rounded Rectangle 28"/>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v′</a:t>
            </a:r>
          </a:p>
        </p:txBody>
      </p:sp>
      <p:sp>
        <p:nvSpPr>
          <p:cNvPr id="30" name="Rounded Rectangle 29"/>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C9CDD3"/>
                </a:solidFill>
                <a:latin typeface="Calibri"/>
              </a:rPr>
              <a:t>AND</a:t>
            </a:r>
          </a:p>
        </p:txBody>
      </p:sp>
      <p:sp>
        <p:nvSpPr>
          <p:cNvPr id="31" name="TextBox 30"/>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C9CDD3"/>
                </a:solidFill>
                <a:latin typeface="Calibri"/>
              </a:rPr>
              <a:t>a₁</a:t>
            </a:r>
          </a:p>
        </p:txBody>
      </p:sp>
      <p:sp>
        <p:nvSpPr>
          <p:cNvPr id="32" name="Rounded Rectangle 3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3" name="TextBox 32"/>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34" name="Rounded Rectangle 33"/>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C9CDD3"/>
                </a:solidFill>
                <a:latin typeface="Calibri"/>
              </a:rPr>
              <a:t>XOR</a:t>
            </a:r>
          </a:p>
        </p:txBody>
      </p:sp>
      <p:sp>
        <p:nvSpPr>
          <p:cNvPr id="35" name="TextBox 34"/>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C9CDD3"/>
                </a:solidFill>
                <a:latin typeface="Calibri"/>
              </a:rPr>
              <a:t>x₁</a:t>
            </a:r>
          </a:p>
        </p:txBody>
      </p:sp>
      <p:sp>
        <p:nvSpPr>
          <p:cNvPr id="36" name="Rounded Rectangle 3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37" name="TextBox 36"/>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38" name="Rounded Rectangle 37"/>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C9CDD3"/>
                </a:solidFill>
                <a:latin typeface="Calibri"/>
              </a:rPr>
              <a:t>ITE</a:t>
            </a:r>
          </a:p>
        </p:txBody>
      </p:sp>
      <p:sp>
        <p:nvSpPr>
          <p:cNvPr id="39" name="TextBox 38"/>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C9CDD3"/>
                </a:solidFill>
                <a:latin typeface="Calibri"/>
              </a:rPr>
              <a:t>m₁</a:t>
            </a:r>
          </a:p>
        </p:txBody>
      </p:sp>
      <p:sp>
        <p:nvSpPr>
          <p:cNvPr id="40" name="Rounded Rectangle 39"/>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1" name="TextBox 40"/>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42" name="Rounded Rectangle 41"/>
          <p:cNvSpPr/>
          <p:nvPr/>
        </p:nvSpPr>
        <p:spPr>
          <a:xfrm>
            <a:off x="7575804" y="1115568"/>
            <a:ext cx="2286000" cy="420624"/>
          </a:xfrm>
          <a:prstGeom prst="roundRect">
            <a:avLst>
              <a:gd name="adj" fmla="val 15000"/>
            </a:avLst>
          </a:prstGeom>
          <a:solidFill>
            <a:srgbClr val="FFF3CC"/>
          </a:solidFill>
          <a:ln w="19050">
            <a:solidFill>
              <a:srgbClr val="E0A300"/>
            </a:solidFill>
          </a:ln>
          <a:effectLst/>
        </p:spPr>
        <p:txBody>
          <a:bodyPr rtlCol="0" anchor="ctr" lIns="54864" rIns="54864" tIns="27432" bIns="27432" wrap="square"/>
          <a:lstStyle/>
          <a:p>
            <a:pPr algn="ctr"/>
            <a:r>
              <a:rPr sz="1500" b="1" i="0">
                <a:solidFill>
                  <a:srgbClr val="2B2F36"/>
                </a:solidFill>
                <a:latin typeface="Calibri"/>
              </a:rPr>
              <a:t>m₂ = ITE(c′, a₂, x₂)</a:t>
            </a:r>
          </a:p>
        </p:txBody>
      </p:sp>
      <p:cxnSp>
        <p:nvCxnSpPr>
          <p:cNvPr id="43" name="Connector 42"/>
          <p:cNvCxnSpPr/>
          <p:nvPr/>
        </p:nvCxnSpPr>
        <p:spPr>
          <a:xfrm flipH="1">
            <a:off x="7091172" y="1325880"/>
            <a:ext cx="484632" cy="292608"/>
          </a:xfrm>
          <a:prstGeom prst="line">
            <a:avLst/>
          </a:prstGeom>
          <a:ln w="28575">
            <a:solidFill>
              <a:srgbClr val="E0A300"/>
            </a:solidFill>
            <a:tailEnd type="triangle" w="med" len="med"/>
          </a:ln>
          <a:effectLst/>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Reading the diagram</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11</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cxnSp>
        <p:nvCxnSpPr>
          <p:cNvPr id="6" name="Connector 5"/>
          <p:cNvCxnSpPr/>
          <p:nvPr/>
        </p:nvCxnSpPr>
        <p:spPr>
          <a:xfrm flipH="1">
            <a:off x="2784348" y="3803903"/>
            <a:ext cx="539496" cy="1106425"/>
          </a:xfrm>
          <a:prstGeom prst="line">
            <a:avLst/>
          </a:prstGeom>
          <a:ln w="15875">
            <a:solidFill>
              <a:srgbClr val="C9CDD3"/>
            </a:solidFill>
          </a:ln>
          <a:effectLst/>
        </p:spPr>
      </p:cxnSp>
      <p:cxnSp>
        <p:nvCxnSpPr>
          <p:cNvPr id="7" name="Connector 6"/>
          <p:cNvCxnSpPr/>
          <p:nvPr/>
        </p:nvCxnSpPr>
        <p:spPr>
          <a:xfrm>
            <a:off x="3323844" y="3803903"/>
            <a:ext cx="960120" cy="1106425"/>
          </a:xfrm>
          <a:prstGeom prst="line">
            <a:avLst/>
          </a:prstGeom>
          <a:ln w="15875">
            <a:solidFill>
              <a:srgbClr val="C9CDD3"/>
            </a:solidFill>
          </a:ln>
          <a:effectLst/>
        </p:spPr>
      </p:cxnSp>
      <p:cxnSp>
        <p:nvCxnSpPr>
          <p:cNvPr id="8" name="Connector 7"/>
          <p:cNvCxnSpPr/>
          <p:nvPr/>
        </p:nvCxnSpPr>
        <p:spPr>
          <a:xfrm flipH="1">
            <a:off x="3406139" y="3803903"/>
            <a:ext cx="1014985" cy="1106425"/>
          </a:xfrm>
          <a:prstGeom prst="line">
            <a:avLst/>
          </a:prstGeom>
          <a:ln w="15875">
            <a:solidFill>
              <a:srgbClr val="C9CDD3"/>
            </a:solidFill>
          </a:ln>
          <a:effectLst/>
        </p:spPr>
      </p:cxnSp>
      <p:cxnSp>
        <p:nvCxnSpPr>
          <p:cNvPr id="9" name="Connector 8"/>
          <p:cNvCxnSpPr/>
          <p:nvPr/>
        </p:nvCxnSpPr>
        <p:spPr>
          <a:xfrm>
            <a:off x="4421124" y="3803903"/>
            <a:ext cx="484632" cy="1106425"/>
          </a:xfrm>
          <a:prstGeom prst="line">
            <a:avLst/>
          </a:prstGeom>
          <a:ln w="15875">
            <a:solidFill>
              <a:srgbClr val="C9CDD3"/>
            </a:solidFill>
          </a:ln>
          <a:effectLst/>
        </p:spPr>
      </p:cxnSp>
      <p:cxnSp>
        <p:nvCxnSpPr>
          <p:cNvPr id="10" name="Connector 9"/>
          <p:cNvCxnSpPr/>
          <p:nvPr/>
        </p:nvCxnSpPr>
        <p:spPr>
          <a:xfrm flipH="1">
            <a:off x="7283196" y="3803903"/>
            <a:ext cx="475487" cy="1106425"/>
          </a:xfrm>
          <a:prstGeom prst="line">
            <a:avLst/>
          </a:prstGeom>
          <a:ln w="15875">
            <a:solidFill>
              <a:srgbClr val="C9CDD3"/>
            </a:solidFill>
          </a:ln>
          <a:effectLst/>
        </p:spPr>
      </p:cxnSp>
      <p:cxnSp>
        <p:nvCxnSpPr>
          <p:cNvPr id="11" name="Connector 10"/>
          <p:cNvCxnSpPr/>
          <p:nvPr/>
        </p:nvCxnSpPr>
        <p:spPr>
          <a:xfrm>
            <a:off x="7758683" y="3803903"/>
            <a:ext cx="1024129" cy="1106425"/>
          </a:xfrm>
          <a:prstGeom prst="line">
            <a:avLst/>
          </a:prstGeom>
          <a:ln w="15875">
            <a:solidFill>
              <a:srgbClr val="C9CDD3"/>
            </a:solidFill>
          </a:ln>
          <a:effectLst/>
        </p:spPr>
      </p:cxnSp>
      <p:cxnSp>
        <p:nvCxnSpPr>
          <p:cNvPr id="12" name="Connector 11"/>
          <p:cNvCxnSpPr/>
          <p:nvPr/>
        </p:nvCxnSpPr>
        <p:spPr>
          <a:xfrm flipH="1">
            <a:off x="7904988" y="3803903"/>
            <a:ext cx="950975" cy="1106425"/>
          </a:xfrm>
          <a:prstGeom prst="line">
            <a:avLst/>
          </a:prstGeom>
          <a:ln w="15875">
            <a:solidFill>
              <a:srgbClr val="C9CDD3"/>
            </a:solidFill>
          </a:ln>
          <a:effectLst/>
        </p:spPr>
      </p:cxnSp>
      <p:cxnSp>
        <p:nvCxnSpPr>
          <p:cNvPr id="13" name="Connector 12"/>
          <p:cNvCxnSpPr/>
          <p:nvPr/>
        </p:nvCxnSpPr>
        <p:spPr>
          <a:xfrm>
            <a:off x="8855963" y="3803903"/>
            <a:ext cx="548641" cy="1106425"/>
          </a:xfrm>
          <a:prstGeom prst="line">
            <a:avLst/>
          </a:prstGeom>
          <a:ln w="15875">
            <a:solidFill>
              <a:srgbClr val="C9CDD3"/>
            </a:solidFill>
          </a:ln>
          <a:effectLst/>
        </p:spPr>
      </p:cxnSp>
      <p:cxnSp>
        <p:nvCxnSpPr>
          <p:cNvPr id="14" name="Connector 13"/>
          <p:cNvCxnSpPr/>
          <p:nvPr/>
        </p:nvCxnSpPr>
        <p:spPr>
          <a:xfrm>
            <a:off x="5564124" y="2203704"/>
            <a:ext cx="219455" cy="2706624"/>
          </a:xfrm>
          <a:prstGeom prst="line">
            <a:avLst/>
          </a:prstGeom>
          <a:ln w="15875">
            <a:solidFill>
              <a:srgbClr val="C9CDD3"/>
            </a:solidFill>
          </a:ln>
          <a:effectLst/>
        </p:spPr>
      </p:cxnSp>
      <p:cxnSp>
        <p:nvCxnSpPr>
          <p:cNvPr id="15" name="Connector 14"/>
          <p:cNvCxnSpPr/>
          <p:nvPr/>
        </p:nvCxnSpPr>
        <p:spPr>
          <a:xfrm flipH="1">
            <a:off x="3323844" y="2203704"/>
            <a:ext cx="2240280" cy="749807"/>
          </a:xfrm>
          <a:prstGeom prst="line">
            <a:avLst/>
          </a:prstGeom>
          <a:ln w="15875">
            <a:solidFill>
              <a:srgbClr val="C9CDD3"/>
            </a:solidFill>
          </a:ln>
          <a:effectLst/>
        </p:spPr>
      </p:cxnSp>
      <p:cxnSp>
        <p:nvCxnSpPr>
          <p:cNvPr id="16" name="Connector 15"/>
          <p:cNvCxnSpPr/>
          <p:nvPr/>
        </p:nvCxnSpPr>
        <p:spPr>
          <a:xfrm>
            <a:off x="5564124" y="2203704"/>
            <a:ext cx="2194559" cy="749807"/>
          </a:xfrm>
          <a:prstGeom prst="line">
            <a:avLst/>
          </a:prstGeom>
          <a:ln w="15875">
            <a:solidFill>
              <a:srgbClr val="C9CDD3"/>
            </a:solidFill>
          </a:ln>
          <a:effectLst/>
        </p:spPr>
      </p:cxnSp>
      <p:cxnSp>
        <p:nvCxnSpPr>
          <p:cNvPr id="17" name="Connector 16"/>
          <p:cNvCxnSpPr/>
          <p:nvPr/>
        </p:nvCxnSpPr>
        <p:spPr>
          <a:xfrm flipH="1">
            <a:off x="6405372" y="2203704"/>
            <a:ext cx="484632" cy="2706624"/>
          </a:xfrm>
          <a:prstGeom prst="line">
            <a:avLst/>
          </a:prstGeom>
          <a:ln w="31750">
            <a:solidFill>
              <a:srgbClr val="C8501E"/>
            </a:solidFill>
            <a:tailEnd type="triangle" w="med" len="med"/>
          </a:ln>
          <a:effectLst/>
        </p:spPr>
      </p:cxnSp>
      <p:cxnSp>
        <p:nvCxnSpPr>
          <p:cNvPr id="18" name="Connector 17"/>
          <p:cNvCxnSpPr/>
          <p:nvPr/>
        </p:nvCxnSpPr>
        <p:spPr>
          <a:xfrm flipH="1">
            <a:off x="4421124" y="2203704"/>
            <a:ext cx="2468880" cy="749807"/>
          </a:xfrm>
          <a:prstGeom prst="line">
            <a:avLst/>
          </a:prstGeom>
          <a:ln w="31750">
            <a:solidFill>
              <a:srgbClr val="C8501E"/>
            </a:solidFill>
            <a:tailEnd type="triangle" w="med" len="med"/>
          </a:ln>
          <a:effectLst/>
        </p:spPr>
      </p:cxnSp>
      <p:cxnSp>
        <p:nvCxnSpPr>
          <p:cNvPr id="19" name="Connector 18"/>
          <p:cNvCxnSpPr/>
          <p:nvPr/>
        </p:nvCxnSpPr>
        <p:spPr>
          <a:xfrm>
            <a:off x="6890004" y="2203704"/>
            <a:ext cx="1965959" cy="749807"/>
          </a:xfrm>
          <a:prstGeom prst="line">
            <a:avLst/>
          </a:prstGeom>
          <a:ln w="31750">
            <a:solidFill>
              <a:srgbClr val="C8501E"/>
            </a:solidFill>
            <a:tailEnd type="triangle" w="med" len="med"/>
          </a:ln>
          <a:effectLst/>
        </p:spPr>
      </p:cxnSp>
      <p:sp>
        <p:nvSpPr>
          <p:cNvPr id="20" name="Rounded Rectangle 19"/>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r</a:t>
            </a:r>
          </a:p>
        </p:txBody>
      </p:sp>
      <p:sp>
        <p:nvSpPr>
          <p:cNvPr id="21" name="Rounded Rectangle 20"/>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r′</a:t>
            </a:r>
          </a:p>
        </p:txBody>
      </p:sp>
      <p:sp>
        <p:nvSpPr>
          <p:cNvPr id="22" name="Rounded Rectangle 21"/>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s</a:t>
            </a:r>
          </a:p>
        </p:txBody>
      </p:sp>
      <p:sp>
        <p:nvSpPr>
          <p:cNvPr id="23" name="Rounded Rectangle 22"/>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s′</a:t>
            </a:r>
          </a:p>
        </p:txBody>
      </p:sp>
      <p:sp>
        <p:nvSpPr>
          <p:cNvPr id="24" name="Rounded Rectangle 23"/>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c</a:t>
            </a:r>
          </a:p>
        </p:txBody>
      </p:sp>
      <p:sp>
        <p:nvSpPr>
          <p:cNvPr id="25" name="Rounded Rectangle 24"/>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26" name="Rounded Rectangle 25"/>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u</a:t>
            </a:r>
          </a:p>
        </p:txBody>
      </p:sp>
      <p:sp>
        <p:nvSpPr>
          <p:cNvPr id="27" name="Rounded Rectangle 26"/>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u′</a:t>
            </a:r>
          </a:p>
        </p:txBody>
      </p:sp>
      <p:sp>
        <p:nvSpPr>
          <p:cNvPr id="28" name="Rounded Rectangle 27"/>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v</a:t>
            </a:r>
          </a:p>
        </p:txBody>
      </p:sp>
      <p:sp>
        <p:nvSpPr>
          <p:cNvPr id="29" name="Rounded Rectangle 28"/>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C9CDD3"/>
                </a:solidFill>
                <a:latin typeface="Calibri"/>
              </a:rPr>
              <a:t>v′</a:t>
            </a:r>
          </a:p>
        </p:txBody>
      </p:sp>
      <p:sp>
        <p:nvSpPr>
          <p:cNvPr id="30" name="Rounded Rectangle 29"/>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C9CDD3"/>
                </a:solidFill>
                <a:latin typeface="Calibri"/>
              </a:rPr>
              <a:t>AND</a:t>
            </a:r>
          </a:p>
        </p:txBody>
      </p:sp>
      <p:sp>
        <p:nvSpPr>
          <p:cNvPr id="31" name="TextBox 30"/>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C9CDD3"/>
                </a:solidFill>
                <a:latin typeface="Calibri"/>
              </a:rPr>
              <a:t>a₁</a:t>
            </a:r>
          </a:p>
        </p:txBody>
      </p:sp>
      <p:sp>
        <p:nvSpPr>
          <p:cNvPr id="32" name="Rounded Rectangle 3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3" name="TextBox 32"/>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34" name="Rounded Rectangle 33"/>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C9CDD3"/>
                </a:solidFill>
                <a:latin typeface="Calibri"/>
              </a:rPr>
              <a:t>XOR</a:t>
            </a:r>
          </a:p>
        </p:txBody>
      </p:sp>
      <p:sp>
        <p:nvSpPr>
          <p:cNvPr id="35" name="TextBox 34"/>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C9CDD3"/>
                </a:solidFill>
                <a:latin typeface="Calibri"/>
              </a:rPr>
              <a:t>x₁</a:t>
            </a:r>
          </a:p>
        </p:txBody>
      </p:sp>
      <p:sp>
        <p:nvSpPr>
          <p:cNvPr id="36" name="Rounded Rectangle 3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37" name="TextBox 36"/>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38" name="Rounded Rectangle 37"/>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C9CDD3"/>
                </a:solidFill>
                <a:latin typeface="Calibri"/>
              </a:rPr>
              <a:t>ITE</a:t>
            </a:r>
          </a:p>
        </p:txBody>
      </p:sp>
      <p:sp>
        <p:nvSpPr>
          <p:cNvPr id="39" name="TextBox 38"/>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C9CDD3"/>
                </a:solidFill>
                <a:latin typeface="Calibri"/>
              </a:rPr>
              <a:t>m₁</a:t>
            </a:r>
          </a:p>
        </p:txBody>
      </p:sp>
      <p:sp>
        <p:nvSpPr>
          <p:cNvPr id="40" name="Rounded Rectangle 39"/>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1" name="TextBox 40"/>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42" name="TextBox 41"/>
          <p:cNvSpPr txBox="1"/>
          <p:nvPr/>
        </p:nvSpPr>
        <p:spPr>
          <a:xfrm>
            <a:off x="7712964" y="1764792"/>
            <a:ext cx="822960" cy="310896"/>
          </a:xfrm>
          <a:prstGeom prst="rect">
            <a:avLst/>
          </a:prstGeom>
          <a:noFill/>
        </p:spPr>
        <p:txBody>
          <a:bodyPr wrap="square" anchor="ctr" lIns="45720" rIns="45720" tIns="27432" bIns="27432">
            <a:spAutoFit/>
          </a:bodyPr>
          <a:lstStyle/>
          <a:p>
            <a:pPr algn="ctr"/>
            <a:r>
              <a:rPr sz="1700" b="1" i="0">
                <a:solidFill>
                  <a:srgbClr val="C8501E"/>
                </a:solidFill>
                <a:latin typeface="Calibri"/>
              </a:rPr>
              <a:t>parent</a:t>
            </a:r>
          </a:p>
        </p:txBody>
      </p:sp>
      <p:sp>
        <p:nvSpPr>
          <p:cNvPr id="43" name="TextBox 42"/>
          <p:cNvSpPr txBox="1"/>
          <p:nvPr/>
        </p:nvSpPr>
        <p:spPr>
          <a:xfrm>
            <a:off x="5993892" y="5358383"/>
            <a:ext cx="822960" cy="292608"/>
          </a:xfrm>
          <a:prstGeom prst="rect">
            <a:avLst/>
          </a:prstGeom>
          <a:noFill/>
        </p:spPr>
        <p:txBody>
          <a:bodyPr wrap="square" anchor="ctr" lIns="45720" rIns="45720" tIns="27432" bIns="27432">
            <a:spAutoFit/>
          </a:bodyPr>
          <a:lstStyle/>
          <a:p>
            <a:pPr algn="ctr"/>
            <a:r>
              <a:rPr sz="1500" b="1" i="0">
                <a:solidFill>
                  <a:srgbClr val="C8501E"/>
                </a:solidFill>
                <a:latin typeface="Calibri"/>
              </a:rPr>
              <a:t>child</a:t>
            </a:r>
          </a:p>
        </p:txBody>
      </p:sp>
      <p:sp>
        <p:nvSpPr>
          <p:cNvPr id="44" name="TextBox 43"/>
          <p:cNvSpPr txBox="1"/>
          <p:nvPr/>
        </p:nvSpPr>
        <p:spPr>
          <a:xfrm>
            <a:off x="4814316" y="3374135"/>
            <a:ext cx="822960" cy="292608"/>
          </a:xfrm>
          <a:prstGeom prst="rect">
            <a:avLst/>
          </a:prstGeom>
          <a:noFill/>
        </p:spPr>
        <p:txBody>
          <a:bodyPr wrap="square" anchor="ctr" lIns="45720" rIns="45720" tIns="27432" bIns="27432">
            <a:spAutoFit/>
          </a:bodyPr>
          <a:lstStyle/>
          <a:p>
            <a:pPr algn="ctr"/>
            <a:r>
              <a:rPr sz="1500" b="1" i="0">
                <a:solidFill>
                  <a:srgbClr val="C8501E"/>
                </a:solidFill>
                <a:latin typeface="Calibri"/>
              </a:rPr>
              <a:t>child</a:t>
            </a:r>
          </a:p>
        </p:txBody>
      </p:sp>
      <p:sp>
        <p:nvSpPr>
          <p:cNvPr id="45" name="TextBox 44"/>
          <p:cNvSpPr txBox="1"/>
          <p:nvPr/>
        </p:nvSpPr>
        <p:spPr>
          <a:xfrm>
            <a:off x="9249156" y="3374135"/>
            <a:ext cx="822960" cy="292608"/>
          </a:xfrm>
          <a:prstGeom prst="rect">
            <a:avLst/>
          </a:prstGeom>
          <a:noFill/>
        </p:spPr>
        <p:txBody>
          <a:bodyPr wrap="square" anchor="ctr" lIns="45720" rIns="45720" tIns="27432" bIns="27432">
            <a:spAutoFit/>
          </a:bodyPr>
          <a:lstStyle/>
          <a:p>
            <a:pPr algn="ctr"/>
            <a:r>
              <a:rPr sz="1500" b="1" i="0">
                <a:solidFill>
                  <a:srgbClr val="C8501E"/>
                </a:solidFill>
                <a:latin typeface="Calibri"/>
              </a:rPr>
              <a:t>child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Congruence 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12</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cxnSp>
        <p:nvCxnSpPr>
          <p:cNvPr id="6" name="Connector 5"/>
          <p:cNvCxnSpPr/>
          <p:nvPr/>
        </p:nvCxnSpPr>
        <p:spPr>
          <a:xfrm flipH="1">
            <a:off x="2784348" y="3803903"/>
            <a:ext cx="539496" cy="1106425"/>
          </a:xfrm>
          <a:prstGeom prst="line">
            <a:avLst/>
          </a:prstGeom>
          <a:ln w="15875">
            <a:solidFill>
              <a:srgbClr val="8A8F98"/>
            </a:solidFill>
          </a:ln>
          <a:effectLst/>
        </p:spPr>
      </p:cxnSp>
      <p:cxnSp>
        <p:nvCxnSpPr>
          <p:cNvPr id="7" name="Connector 6"/>
          <p:cNvCxnSpPr/>
          <p:nvPr/>
        </p:nvCxnSpPr>
        <p:spPr>
          <a:xfrm>
            <a:off x="3323844" y="3803903"/>
            <a:ext cx="960120" cy="1106425"/>
          </a:xfrm>
          <a:prstGeom prst="line">
            <a:avLst/>
          </a:prstGeom>
          <a:ln w="15875">
            <a:solidFill>
              <a:srgbClr val="8A8F98"/>
            </a:solidFill>
          </a:ln>
          <a:effectLst/>
        </p:spPr>
      </p:cxnSp>
      <p:cxnSp>
        <p:nvCxnSpPr>
          <p:cNvPr id="8" name="Connector 7"/>
          <p:cNvCxnSpPr/>
          <p:nvPr/>
        </p:nvCxnSpPr>
        <p:spPr>
          <a:xfrm flipH="1">
            <a:off x="3406139" y="3803903"/>
            <a:ext cx="1014985" cy="1106425"/>
          </a:xfrm>
          <a:prstGeom prst="line">
            <a:avLst/>
          </a:prstGeom>
          <a:ln w="15875">
            <a:solidFill>
              <a:srgbClr val="8A8F98"/>
            </a:solidFill>
          </a:ln>
          <a:effectLst/>
        </p:spPr>
      </p:cxnSp>
      <p:cxnSp>
        <p:nvCxnSpPr>
          <p:cNvPr id="9" name="Connector 8"/>
          <p:cNvCxnSpPr/>
          <p:nvPr/>
        </p:nvCxnSpPr>
        <p:spPr>
          <a:xfrm>
            <a:off x="4421124" y="3803903"/>
            <a:ext cx="484632" cy="1106425"/>
          </a:xfrm>
          <a:prstGeom prst="line">
            <a:avLst/>
          </a:prstGeom>
          <a:ln w="15875">
            <a:solidFill>
              <a:srgbClr val="8A8F98"/>
            </a:solidFill>
          </a:ln>
          <a:effectLst/>
        </p:spPr>
      </p:cxnSp>
      <p:cxnSp>
        <p:nvCxnSpPr>
          <p:cNvPr id="10" name="Connector 9"/>
          <p:cNvCxnSpPr/>
          <p:nvPr/>
        </p:nvCxnSpPr>
        <p:spPr>
          <a:xfrm flipH="1">
            <a:off x="7283196" y="3803903"/>
            <a:ext cx="475487" cy="1106425"/>
          </a:xfrm>
          <a:prstGeom prst="line">
            <a:avLst/>
          </a:prstGeom>
          <a:ln w="15875">
            <a:solidFill>
              <a:srgbClr val="8A8F98"/>
            </a:solidFill>
          </a:ln>
          <a:effectLst/>
        </p:spPr>
      </p:cxnSp>
      <p:cxnSp>
        <p:nvCxnSpPr>
          <p:cNvPr id="11" name="Connector 10"/>
          <p:cNvCxnSpPr/>
          <p:nvPr/>
        </p:nvCxnSpPr>
        <p:spPr>
          <a:xfrm>
            <a:off x="7758683" y="3803903"/>
            <a:ext cx="1024129" cy="1106425"/>
          </a:xfrm>
          <a:prstGeom prst="line">
            <a:avLst/>
          </a:prstGeom>
          <a:ln w="15875">
            <a:solidFill>
              <a:srgbClr val="8A8F98"/>
            </a:solidFill>
          </a:ln>
          <a:effectLst/>
        </p:spPr>
      </p:cxnSp>
      <p:cxnSp>
        <p:nvCxnSpPr>
          <p:cNvPr id="12" name="Connector 11"/>
          <p:cNvCxnSpPr/>
          <p:nvPr/>
        </p:nvCxnSpPr>
        <p:spPr>
          <a:xfrm flipH="1">
            <a:off x="7904988" y="3803903"/>
            <a:ext cx="950975" cy="1106425"/>
          </a:xfrm>
          <a:prstGeom prst="line">
            <a:avLst/>
          </a:prstGeom>
          <a:ln w="15875">
            <a:solidFill>
              <a:srgbClr val="8A8F98"/>
            </a:solidFill>
          </a:ln>
          <a:effectLst/>
        </p:spPr>
      </p:cxnSp>
      <p:cxnSp>
        <p:nvCxnSpPr>
          <p:cNvPr id="13" name="Connector 12"/>
          <p:cNvCxnSpPr/>
          <p:nvPr/>
        </p:nvCxnSpPr>
        <p:spPr>
          <a:xfrm>
            <a:off x="8855963" y="3803903"/>
            <a:ext cx="548641" cy="1106425"/>
          </a:xfrm>
          <a:prstGeom prst="line">
            <a:avLst/>
          </a:prstGeom>
          <a:ln w="15875">
            <a:solidFill>
              <a:srgbClr val="8A8F98"/>
            </a:solidFill>
          </a:ln>
          <a:effectLst/>
        </p:spPr>
      </p:cxnSp>
      <p:cxnSp>
        <p:nvCxnSpPr>
          <p:cNvPr id="14" name="Connector 13"/>
          <p:cNvCxnSpPr/>
          <p:nvPr/>
        </p:nvCxnSpPr>
        <p:spPr>
          <a:xfrm>
            <a:off x="5564124" y="2203704"/>
            <a:ext cx="219455" cy="2706624"/>
          </a:xfrm>
          <a:prstGeom prst="line">
            <a:avLst/>
          </a:prstGeom>
          <a:ln w="15875">
            <a:solidFill>
              <a:srgbClr val="8A8F98"/>
            </a:solidFill>
          </a:ln>
          <a:effectLst/>
        </p:spPr>
      </p:cxnSp>
      <p:cxnSp>
        <p:nvCxnSpPr>
          <p:cNvPr id="15" name="Connector 14"/>
          <p:cNvCxnSpPr/>
          <p:nvPr/>
        </p:nvCxnSpPr>
        <p:spPr>
          <a:xfrm flipH="1">
            <a:off x="3323844" y="2203704"/>
            <a:ext cx="2240280" cy="749807"/>
          </a:xfrm>
          <a:prstGeom prst="line">
            <a:avLst/>
          </a:prstGeom>
          <a:ln w="15875">
            <a:solidFill>
              <a:srgbClr val="8A8F98"/>
            </a:solidFill>
          </a:ln>
          <a:effectLst/>
        </p:spPr>
      </p:cxnSp>
      <p:cxnSp>
        <p:nvCxnSpPr>
          <p:cNvPr id="16" name="Connector 15"/>
          <p:cNvCxnSpPr/>
          <p:nvPr/>
        </p:nvCxnSpPr>
        <p:spPr>
          <a:xfrm>
            <a:off x="5564124" y="2203704"/>
            <a:ext cx="2194559" cy="749807"/>
          </a:xfrm>
          <a:prstGeom prst="line">
            <a:avLst/>
          </a:prstGeom>
          <a:ln w="15875">
            <a:solidFill>
              <a:srgbClr val="8A8F98"/>
            </a:solidFill>
          </a:ln>
          <a:effectLst/>
        </p:spPr>
      </p:cxnSp>
      <p:cxnSp>
        <p:nvCxnSpPr>
          <p:cNvPr id="17" name="Connector 16"/>
          <p:cNvCxnSpPr/>
          <p:nvPr/>
        </p:nvCxnSpPr>
        <p:spPr>
          <a:xfrm flipH="1">
            <a:off x="6405372" y="2203704"/>
            <a:ext cx="484632" cy="2706624"/>
          </a:xfrm>
          <a:prstGeom prst="line">
            <a:avLst/>
          </a:prstGeom>
          <a:ln w="15875">
            <a:solidFill>
              <a:srgbClr val="8A8F98"/>
            </a:solidFill>
          </a:ln>
          <a:effectLst/>
        </p:spPr>
      </p:cxnSp>
      <p:cxnSp>
        <p:nvCxnSpPr>
          <p:cNvPr id="18" name="Connector 17"/>
          <p:cNvCxnSpPr/>
          <p:nvPr/>
        </p:nvCxnSpPr>
        <p:spPr>
          <a:xfrm flipH="1">
            <a:off x="4421124" y="2203704"/>
            <a:ext cx="2468880" cy="749807"/>
          </a:xfrm>
          <a:prstGeom prst="line">
            <a:avLst/>
          </a:prstGeom>
          <a:ln w="15875">
            <a:solidFill>
              <a:srgbClr val="8A8F98"/>
            </a:solidFill>
          </a:ln>
          <a:effectLst/>
        </p:spPr>
      </p:cxnSp>
      <p:cxnSp>
        <p:nvCxnSpPr>
          <p:cNvPr id="19" name="Connector 18"/>
          <p:cNvCxnSpPr/>
          <p:nvPr/>
        </p:nvCxnSpPr>
        <p:spPr>
          <a:xfrm>
            <a:off x="6890004" y="2203704"/>
            <a:ext cx="1965959" cy="749807"/>
          </a:xfrm>
          <a:prstGeom prst="line">
            <a:avLst/>
          </a:prstGeom>
          <a:ln w="15875">
            <a:solidFill>
              <a:srgbClr val="8A8F98"/>
            </a:solidFill>
          </a:ln>
          <a:effectLst/>
        </p:spPr>
      </p:cxnSp>
      <p:sp>
        <p:nvSpPr>
          <p:cNvPr id="20" name="Rounded Rectangle 19"/>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1" name="Rounded Rectangle 20"/>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2" name="Rounded Rectangle 21"/>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3" name="Rounded Rectangle 22"/>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4" name="Rounded Rectangle 23"/>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25" name="Rounded Rectangle 24"/>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26" name="Rounded Rectangle 25"/>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27" name="Rounded Rectangle 26"/>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28" name="Rounded Rectangle 27"/>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29" name="Rounded Rectangle 28"/>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0" name="Rounded Rectangle 29"/>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1" name="TextBox 30"/>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32" name="Rounded Rectangle 3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3" name="TextBox 32"/>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34" name="Rounded Rectangle 33"/>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35" name="TextBox 34"/>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36" name="Rounded Rectangle 3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37" name="TextBox 36"/>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38" name="Rounded Rectangle 37"/>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39" name="TextBox 38"/>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0" name="Rounded Rectangle 39"/>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1" name="TextBox 40"/>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42" name="TextBox 41"/>
          <p:cNvSpPr txBox="1"/>
          <p:nvPr/>
        </p:nvSpPr>
        <p:spPr>
          <a:xfrm>
            <a:off x="2775203" y="5458968"/>
            <a:ext cx="640080" cy="457200"/>
          </a:xfrm>
          <a:prstGeom prst="rect">
            <a:avLst/>
          </a:prstGeom>
          <a:noFill/>
        </p:spPr>
        <p:txBody>
          <a:bodyPr wrap="square" anchor="ctr" lIns="45720" rIns="45720" tIns="27432" bIns="27432">
            <a:spAutoFit/>
          </a:bodyPr>
          <a:lstStyle/>
          <a:p>
            <a:pPr algn="ctr"/>
            <a:r>
              <a:rPr sz="3200" b="1" i="0">
                <a:solidFill>
                  <a:srgbClr val="C8501E"/>
                </a:solidFill>
                <a:latin typeface="Calibri"/>
              </a:rPr>
              <a:t>=</a:t>
            </a:r>
          </a:p>
        </p:txBody>
      </p:sp>
      <p:sp>
        <p:nvSpPr>
          <p:cNvPr id="43" name="TextBox 42"/>
          <p:cNvSpPr txBox="1"/>
          <p:nvPr/>
        </p:nvSpPr>
        <p:spPr>
          <a:xfrm>
            <a:off x="4274820" y="5458968"/>
            <a:ext cx="640080" cy="457200"/>
          </a:xfrm>
          <a:prstGeom prst="rect">
            <a:avLst/>
          </a:prstGeom>
          <a:noFill/>
        </p:spPr>
        <p:txBody>
          <a:bodyPr wrap="square" anchor="ctr" lIns="45720" rIns="45720" tIns="27432" bIns="27432">
            <a:spAutoFit/>
          </a:bodyPr>
          <a:lstStyle/>
          <a:p>
            <a:pPr algn="ctr"/>
            <a:r>
              <a:rPr sz="3200" b="1" i="0">
                <a:solidFill>
                  <a:srgbClr val="C8501E"/>
                </a:solidFill>
                <a:latin typeface="Calibri"/>
              </a:rPr>
              <a:t>=</a:t>
            </a:r>
          </a:p>
        </p:txBody>
      </p:sp>
      <p:sp>
        <p:nvSpPr>
          <p:cNvPr id="44" name="TextBox 43"/>
          <p:cNvSpPr txBox="1"/>
          <p:nvPr/>
        </p:nvSpPr>
        <p:spPr>
          <a:xfrm>
            <a:off x="5774436" y="5458968"/>
            <a:ext cx="640080" cy="457200"/>
          </a:xfrm>
          <a:prstGeom prst="rect">
            <a:avLst/>
          </a:prstGeom>
          <a:noFill/>
        </p:spPr>
        <p:txBody>
          <a:bodyPr wrap="square" anchor="ctr" lIns="45720" rIns="45720" tIns="27432" bIns="27432">
            <a:spAutoFit/>
          </a:bodyPr>
          <a:lstStyle/>
          <a:p>
            <a:pPr algn="ctr"/>
            <a:r>
              <a:rPr sz="3200" b="1" i="0">
                <a:solidFill>
                  <a:srgbClr val="C8501E"/>
                </a:solidFill>
                <a:latin typeface="Calibri"/>
              </a:rPr>
              <a:t>=</a:t>
            </a:r>
          </a:p>
        </p:txBody>
      </p:sp>
      <p:sp>
        <p:nvSpPr>
          <p:cNvPr id="45" name="TextBox 44"/>
          <p:cNvSpPr txBox="1"/>
          <p:nvPr/>
        </p:nvSpPr>
        <p:spPr>
          <a:xfrm>
            <a:off x="7274052" y="5458968"/>
            <a:ext cx="640080" cy="457200"/>
          </a:xfrm>
          <a:prstGeom prst="rect">
            <a:avLst/>
          </a:prstGeom>
          <a:noFill/>
        </p:spPr>
        <p:txBody>
          <a:bodyPr wrap="square" anchor="ctr" lIns="45720" rIns="45720" tIns="27432" bIns="27432">
            <a:spAutoFit/>
          </a:bodyPr>
          <a:lstStyle/>
          <a:p>
            <a:pPr algn="ctr"/>
            <a:r>
              <a:rPr sz="3200" b="1" i="0">
                <a:solidFill>
                  <a:srgbClr val="C8501E"/>
                </a:solidFill>
                <a:latin typeface="Calibri"/>
              </a:rPr>
              <a:t>=</a:t>
            </a:r>
          </a:p>
        </p:txBody>
      </p:sp>
      <p:sp>
        <p:nvSpPr>
          <p:cNvPr id="46" name="TextBox 45"/>
          <p:cNvSpPr txBox="1"/>
          <p:nvPr/>
        </p:nvSpPr>
        <p:spPr>
          <a:xfrm>
            <a:off x="8773668" y="5458968"/>
            <a:ext cx="640080" cy="457200"/>
          </a:xfrm>
          <a:prstGeom prst="rect">
            <a:avLst/>
          </a:prstGeom>
          <a:noFill/>
        </p:spPr>
        <p:txBody>
          <a:bodyPr wrap="square" anchor="ctr" lIns="45720" rIns="45720" tIns="27432" bIns="27432">
            <a:spAutoFit/>
          </a:bodyPr>
          <a:lstStyle/>
          <a:p>
            <a:pPr algn="ctr"/>
            <a:r>
              <a:rPr sz="3200" b="1" i="0">
                <a:solidFill>
                  <a:srgbClr val="C8501E"/>
                </a:solidFill>
                <a:latin typeface="Calibri"/>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Congruence 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13</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cxnSp>
        <p:nvCxnSpPr>
          <p:cNvPr id="11" name="Connector 10"/>
          <p:cNvCxnSpPr/>
          <p:nvPr/>
        </p:nvCxnSpPr>
        <p:spPr>
          <a:xfrm flipH="1">
            <a:off x="2784348" y="3803903"/>
            <a:ext cx="539496" cy="1106425"/>
          </a:xfrm>
          <a:prstGeom prst="line">
            <a:avLst/>
          </a:prstGeom>
          <a:ln w="15875">
            <a:solidFill>
              <a:srgbClr val="8A8F98"/>
            </a:solidFill>
          </a:ln>
          <a:effectLst/>
        </p:spPr>
      </p:cxnSp>
      <p:cxnSp>
        <p:nvCxnSpPr>
          <p:cNvPr id="12" name="Connector 11"/>
          <p:cNvCxnSpPr/>
          <p:nvPr/>
        </p:nvCxnSpPr>
        <p:spPr>
          <a:xfrm>
            <a:off x="3323844" y="3803903"/>
            <a:ext cx="960120" cy="1106425"/>
          </a:xfrm>
          <a:prstGeom prst="line">
            <a:avLst/>
          </a:prstGeom>
          <a:ln w="15875">
            <a:solidFill>
              <a:srgbClr val="8A8F98"/>
            </a:solidFill>
          </a:ln>
          <a:effectLst/>
        </p:spPr>
      </p:cxnSp>
      <p:cxnSp>
        <p:nvCxnSpPr>
          <p:cNvPr id="13" name="Connector 12"/>
          <p:cNvCxnSpPr/>
          <p:nvPr/>
        </p:nvCxnSpPr>
        <p:spPr>
          <a:xfrm flipH="1">
            <a:off x="3406139" y="3803903"/>
            <a:ext cx="1014985" cy="1106425"/>
          </a:xfrm>
          <a:prstGeom prst="line">
            <a:avLst/>
          </a:prstGeom>
          <a:ln w="15875">
            <a:solidFill>
              <a:srgbClr val="8A8F98"/>
            </a:solidFill>
          </a:ln>
          <a:effectLst/>
        </p:spPr>
      </p:cxnSp>
      <p:cxnSp>
        <p:nvCxnSpPr>
          <p:cNvPr id="14" name="Connector 13"/>
          <p:cNvCxnSpPr/>
          <p:nvPr/>
        </p:nvCxnSpPr>
        <p:spPr>
          <a:xfrm>
            <a:off x="4421124" y="3803903"/>
            <a:ext cx="484632" cy="1106425"/>
          </a:xfrm>
          <a:prstGeom prst="line">
            <a:avLst/>
          </a:prstGeom>
          <a:ln w="15875">
            <a:solidFill>
              <a:srgbClr val="8A8F98"/>
            </a:solidFill>
          </a:ln>
          <a:effectLst/>
        </p:spPr>
      </p:cxnSp>
      <p:cxnSp>
        <p:nvCxnSpPr>
          <p:cNvPr id="15" name="Connector 14"/>
          <p:cNvCxnSpPr/>
          <p:nvPr/>
        </p:nvCxnSpPr>
        <p:spPr>
          <a:xfrm flipH="1">
            <a:off x="7283196" y="3803903"/>
            <a:ext cx="475487" cy="1106425"/>
          </a:xfrm>
          <a:prstGeom prst="line">
            <a:avLst/>
          </a:prstGeom>
          <a:ln w="15875">
            <a:solidFill>
              <a:srgbClr val="8A8F98"/>
            </a:solidFill>
          </a:ln>
          <a:effectLst/>
        </p:spPr>
      </p:cxnSp>
      <p:cxnSp>
        <p:nvCxnSpPr>
          <p:cNvPr id="16" name="Connector 15"/>
          <p:cNvCxnSpPr/>
          <p:nvPr/>
        </p:nvCxnSpPr>
        <p:spPr>
          <a:xfrm>
            <a:off x="7758683" y="3803903"/>
            <a:ext cx="1024129" cy="1106425"/>
          </a:xfrm>
          <a:prstGeom prst="line">
            <a:avLst/>
          </a:prstGeom>
          <a:ln w="15875">
            <a:solidFill>
              <a:srgbClr val="8A8F98"/>
            </a:solidFill>
          </a:ln>
          <a:effectLst/>
        </p:spPr>
      </p:cxnSp>
      <p:cxnSp>
        <p:nvCxnSpPr>
          <p:cNvPr id="17" name="Connector 16"/>
          <p:cNvCxnSpPr/>
          <p:nvPr/>
        </p:nvCxnSpPr>
        <p:spPr>
          <a:xfrm flipH="1">
            <a:off x="7904988" y="3803903"/>
            <a:ext cx="950975" cy="1106425"/>
          </a:xfrm>
          <a:prstGeom prst="line">
            <a:avLst/>
          </a:prstGeom>
          <a:ln w="15875">
            <a:solidFill>
              <a:srgbClr val="8A8F98"/>
            </a:solidFill>
          </a:ln>
          <a:effectLst/>
        </p:spPr>
      </p:cxnSp>
      <p:cxnSp>
        <p:nvCxnSpPr>
          <p:cNvPr id="18" name="Connector 17"/>
          <p:cNvCxnSpPr/>
          <p:nvPr/>
        </p:nvCxnSpPr>
        <p:spPr>
          <a:xfrm>
            <a:off x="8855963" y="3803903"/>
            <a:ext cx="548641" cy="1106425"/>
          </a:xfrm>
          <a:prstGeom prst="line">
            <a:avLst/>
          </a:prstGeom>
          <a:ln w="15875">
            <a:solidFill>
              <a:srgbClr val="8A8F98"/>
            </a:solidFill>
          </a:ln>
          <a:effectLst/>
        </p:spPr>
      </p:cxnSp>
      <p:cxnSp>
        <p:nvCxnSpPr>
          <p:cNvPr id="19" name="Connector 18"/>
          <p:cNvCxnSpPr/>
          <p:nvPr/>
        </p:nvCxnSpPr>
        <p:spPr>
          <a:xfrm>
            <a:off x="5564124" y="2203704"/>
            <a:ext cx="219455" cy="2706624"/>
          </a:xfrm>
          <a:prstGeom prst="line">
            <a:avLst/>
          </a:prstGeom>
          <a:ln w="15875">
            <a:solidFill>
              <a:srgbClr val="8A8F98"/>
            </a:solidFill>
          </a:ln>
          <a:effectLst/>
        </p:spPr>
      </p:cxnSp>
      <p:cxnSp>
        <p:nvCxnSpPr>
          <p:cNvPr id="20" name="Connector 19"/>
          <p:cNvCxnSpPr/>
          <p:nvPr/>
        </p:nvCxnSpPr>
        <p:spPr>
          <a:xfrm flipH="1">
            <a:off x="3323844" y="2203704"/>
            <a:ext cx="2240280" cy="749807"/>
          </a:xfrm>
          <a:prstGeom prst="line">
            <a:avLst/>
          </a:prstGeom>
          <a:ln w="15875">
            <a:solidFill>
              <a:srgbClr val="8A8F98"/>
            </a:solidFill>
          </a:ln>
          <a:effectLst/>
        </p:spPr>
      </p:cxnSp>
      <p:cxnSp>
        <p:nvCxnSpPr>
          <p:cNvPr id="21" name="Connector 20"/>
          <p:cNvCxnSpPr/>
          <p:nvPr/>
        </p:nvCxnSpPr>
        <p:spPr>
          <a:xfrm>
            <a:off x="5564124" y="2203704"/>
            <a:ext cx="2194559" cy="749807"/>
          </a:xfrm>
          <a:prstGeom prst="line">
            <a:avLst/>
          </a:prstGeom>
          <a:ln w="15875">
            <a:solidFill>
              <a:srgbClr val="8A8F98"/>
            </a:solidFill>
          </a:ln>
          <a:effectLst/>
        </p:spPr>
      </p:cxnSp>
      <p:cxnSp>
        <p:nvCxnSpPr>
          <p:cNvPr id="22" name="Connector 21"/>
          <p:cNvCxnSpPr/>
          <p:nvPr/>
        </p:nvCxnSpPr>
        <p:spPr>
          <a:xfrm flipH="1">
            <a:off x="6405372" y="2203704"/>
            <a:ext cx="484632" cy="2706624"/>
          </a:xfrm>
          <a:prstGeom prst="line">
            <a:avLst/>
          </a:prstGeom>
          <a:ln w="15875">
            <a:solidFill>
              <a:srgbClr val="8A8F98"/>
            </a:solidFill>
          </a:ln>
          <a:effectLst/>
        </p:spPr>
      </p:cxnSp>
      <p:cxnSp>
        <p:nvCxnSpPr>
          <p:cNvPr id="23" name="Connector 22"/>
          <p:cNvCxnSpPr/>
          <p:nvPr/>
        </p:nvCxnSpPr>
        <p:spPr>
          <a:xfrm flipH="1">
            <a:off x="4421124" y="2203704"/>
            <a:ext cx="2468880" cy="749807"/>
          </a:xfrm>
          <a:prstGeom prst="line">
            <a:avLst/>
          </a:prstGeom>
          <a:ln w="15875">
            <a:solidFill>
              <a:srgbClr val="8A8F98"/>
            </a:solidFill>
          </a:ln>
          <a:effectLst/>
        </p:spPr>
      </p:cxnSp>
      <p:cxnSp>
        <p:nvCxnSpPr>
          <p:cNvPr id="24" name="Connector 23"/>
          <p:cNvCxnSpPr/>
          <p:nvPr/>
        </p:nvCxnSpPr>
        <p:spPr>
          <a:xfrm>
            <a:off x="6890004" y="2203704"/>
            <a:ext cx="1965959" cy="749807"/>
          </a:xfrm>
          <a:prstGeom prst="line">
            <a:avLst/>
          </a:prstGeom>
          <a:ln w="15875">
            <a:solidFill>
              <a:srgbClr val="8A8F98"/>
            </a:solidFill>
          </a:ln>
          <a:effectLst/>
        </p:spPr>
      </p:cxnSp>
      <p:sp>
        <p:nvSpPr>
          <p:cNvPr id="25" name="Rounded Rectangle 24"/>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6" name="Rounded Rectangle 25"/>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7" name="Rounded Rectangle 26"/>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8" name="Rounded Rectangle 27"/>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9" name="Rounded Rectangle 28"/>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0" name="Rounded Rectangle 29"/>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1" name="Rounded Rectangle 30"/>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2" name="Rounded Rectangle 31"/>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3" name="Rounded Rectangle 32"/>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4" name="Rounded Rectangle 33"/>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5" name="Rounded Rectangle 34"/>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6" name="TextBox 35"/>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37" name="Rounded Rectangle 36"/>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8" name="TextBox 37"/>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39" name="Rounded Rectangle 38"/>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0" name="TextBox 39"/>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1" name="Rounded Rectangle 40"/>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2" name="TextBox 41"/>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3" name="Rounded Rectangle 42"/>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4" name="TextBox 43"/>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5" name="Rounded Rectangle 44"/>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6" name="TextBox 45"/>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47" name="TextBox 46"/>
          <p:cNvSpPr txBox="1"/>
          <p:nvPr/>
        </p:nvSpPr>
        <p:spPr>
          <a:xfrm>
            <a:off x="2775203" y="5458968"/>
            <a:ext cx="640080" cy="457200"/>
          </a:xfrm>
          <a:prstGeom prst="rect">
            <a:avLst/>
          </a:prstGeom>
          <a:noFill/>
        </p:spPr>
        <p:txBody>
          <a:bodyPr wrap="square" anchor="ctr" lIns="45720" rIns="45720" tIns="27432" bIns="27432">
            <a:spAutoFit/>
          </a:bodyPr>
          <a:lstStyle/>
          <a:p>
            <a:pPr algn="ctr"/>
            <a:r>
              <a:rPr sz="2400" b="1" i="0">
                <a:solidFill>
                  <a:srgbClr val="C8501E"/>
                </a:solidFill>
                <a:latin typeface="Calibri"/>
              </a:rPr>
              <a:t>∪</a:t>
            </a:r>
          </a:p>
        </p:txBody>
      </p:sp>
      <p:sp>
        <p:nvSpPr>
          <p:cNvPr id="48" name="TextBox 47"/>
          <p:cNvSpPr txBox="1"/>
          <p:nvPr/>
        </p:nvSpPr>
        <p:spPr>
          <a:xfrm>
            <a:off x="4274820" y="5458968"/>
            <a:ext cx="640080" cy="457200"/>
          </a:xfrm>
          <a:prstGeom prst="rect">
            <a:avLst/>
          </a:prstGeom>
          <a:noFill/>
        </p:spPr>
        <p:txBody>
          <a:bodyPr wrap="square" anchor="ctr" lIns="45720" rIns="45720" tIns="27432" bIns="27432">
            <a:spAutoFit/>
          </a:bodyPr>
          <a:lstStyle/>
          <a:p>
            <a:pPr algn="ctr"/>
            <a:r>
              <a:rPr sz="2400" b="1" i="0">
                <a:solidFill>
                  <a:srgbClr val="C8501E"/>
                </a:solidFill>
                <a:latin typeface="Calibri"/>
              </a:rPr>
              <a:t>∪</a:t>
            </a:r>
          </a:p>
        </p:txBody>
      </p:sp>
      <p:sp>
        <p:nvSpPr>
          <p:cNvPr id="49" name="TextBox 48"/>
          <p:cNvSpPr txBox="1"/>
          <p:nvPr/>
        </p:nvSpPr>
        <p:spPr>
          <a:xfrm>
            <a:off x="5774436" y="5458968"/>
            <a:ext cx="640080" cy="457200"/>
          </a:xfrm>
          <a:prstGeom prst="rect">
            <a:avLst/>
          </a:prstGeom>
          <a:noFill/>
        </p:spPr>
        <p:txBody>
          <a:bodyPr wrap="square" anchor="ctr" lIns="45720" rIns="45720" tIns="27432" bIns="27432">
            <a:spAutoFit/>
          </a:bodyPr>
          <a:lstStyle/>
          <a:p>
            <a:pPr algn="ctr"/>
            <a:r>
              <a:rPr sz="2400" b="1" i="0">
                <a:solidFill>
                  <a:srgbClr val="C8501E"/>
                </a:solidFill>
                <a:latin typeface="Calibri"/>
              </a:rPr>
              <a:t>∪</a:t>
            </a:r>
          </a:p>
        </p:txBody>
      </p:sp>
      <p:sp>
        <p:nvSpPr>
          <p:cNvPr id="50" name="TextBox 49"/>
          <p:cNvSpPr txBox="1"/>
          <p:nvPr/>
        </p:nvSpPr>
        <p:spPr>
          <a:xfrm>
            <a:off x="7274052" y="5458968"/>
            <a:ext cx="640080" cy="457200"/>
          </a:xfrm>
          <a:prstGeom prst="rect">
            <a:avLst/>
          </a:prstGeom>
          <a:noFill/>
        </p:spPr>
        <p:txBody>
          <a:bodyPr wrap="square" anchor="ctr" lIns="45720" rIns="45720" tIns="27432" bIns="27432">
            <a:spAutoFit/>
          </a:bodyPr>
          <a:lstStyle/>
          <a:p>
            <a:pPr algn="ctr"/>
            <a:r>
              <a:rPr sz="2400" b="1" i="0">
                <a:solidFill>
                  <a:srgbClr val="C8501E"/>
                </a:solidFill>
                <a:latin typeface="Calibri"/>
              </a:rPr>
              <a:t>∪</a:t>
            </a:r>
          </a:p>
        </p:txBody>
      </p:sp>
      <p:sp>
        <p:nvSpPr>
          <p:cNvPr id="51" name="TextBox 50"/>
          <p:cNvSpPr txBox="1"/>
          <p:nvPr/>
        </p:nvSpPr>
        <p:spPr>
          <a:xfrm>
            <a:off x="8773668" y="5458968"/>
            <a:ext cx="640080" cy="457200"/>
          </a:xfrm>
          <a:prstGeom prst="rect">
            <a:avLst/>
          </a:prstGeom>
          <a:noFill/>
        </p:spPr>
        <p:txBody>
          <a:bodyPr wrap="square" anchor="ctr" lIns="45720" rIns="45720" tIns="27432" bIns="27432">
            <a:spAutoFit/>
          </a:bodyPr>
          <a:lstStyle/>
          <a:p>
            <a:pPr algn="ctr"/>
            <a:r>
              <a:rPr sz="2400" b="1" i="0">
                <a:solidFill>
                  <a:srgbClr val="C8501E"/>
                </a:solidFill>
                <a:latin typeface="Calibri"/>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Congruence 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14</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cxnSp>
        <p:nvCxnSpPr>
          <p:cNvPr id="11" name="Connector 10"/>
          <p:cNvCxnSpPr/>
          <p:nvPr/>
        </p:nvCxnSpPr>
        <p:spPr>
          <a:xfrm flipH="1">
            <a:off x="2784348" y="3803903"/>
            <a:ext cx="539496" cy="1106425"/>
          </a:xfrm>
          <a:prstGeom prst="line">
            <a:avLst/>
          </a:prstGeom>
          <a:ln w="15875">
            <a:solidFill>
              <a:srgbClr val="8A8F98"/>
            </a:solidFill>
          </a:ln>
          <a:effectLst/>
        </p:spPr>
      </p:cxnSp>
      <p:cxnSp>
        <p:nvCxnSpPr>
          <p:cNvPr id="12" name="Connector 11"/>
          <p:cNvCxnSpPr/>
          <p:nvPr/>
        </p:nvCxnSpPr>
        <p:spPr>
          <a:xfrm>
            <a:off x="3323844" y="3803903"/>
            <a:ext cx="960120" cy="1106425"/>
          </a:xfrm>
          <a:prstGeom prst="line">
            <a:avLst/>
          </a:prstGeom>
          <a:ln w="15875">
            <a:solidFill>
              <a:srgbClr val="8A8F98"/>
            </a:solidFill>
          </a:ln>
          <a:effectLst/>
        </p:spPr>
      </p:cxnSp>
      <p:cxnSp>
        <p:nvCxnSpPr>
          <p:cNvPr id="13" name="Connector 12"/>
          <p:cNvCxnSpPr/>
          <p:nvPr/>
        </p:nvCxnSpPr>
        <p:spPr>
          <a:xfrm flipH="1">
            <a:off x="3406139" y="3803903"/>
            <a:ext cx="1014985" cy="1106425"/>
          </a:xfrm>
          <a:prstGeom prst="line">
            <a:avLst/>
          </a:prstGeom>
          <a:ln w="15875">
            <a:solidFill>
              <a:srgbClr val="8A8F98"/>
            </a:solidFill>
          </a:ln>
          <a:effectLst/>
        </p:spPr>
      </p:cxnSp>
      <p:cxnSp>
        <p:nvCxnSpPr>
          <p:cNvPr id="14" name="Connector 13"/>
          <p:cNvCxnSpPr/>
          <p:nvPr/>
        </p:nvCxnSpPr>
        <p:spPr>
          <a:xfrm>
            <a:off x="4421124" y="3803903"/>
            <a:ext cx="484632" cy="1106425"/>
          </a:xfrm>
          <a:prstGeom prst="line">
            <a:avLst/>
          </a:prstGeom>
          <a:ln w="15875">
            <a:solidFill>
              <a:srgbClr val="8A8F98"/>
            </a:solidFill>
          </a:ln>
          <a:effectLst/>
        </p:spPr>
      </p:cxnSp>
      <p:cxnSp>
        <p:nvCxnSpPr>
          <p:cNvPr id="15" name="Connector 14"/>
          <p:cNvCxnSpPr/>
          <p:nvPr/>
        </p:nvCxnSpPr>
        <p:spPr>
          <a:xfrm flipH="1">
            <a:off x="7283196" y="3803903"/>
            <a:ext cx="475487" cy="1106425"/>
          </a:xfrm>
          <a:prstGeom prst="line">
            <a:avLst/>
          </a:prstGeom>
          <a:ln w="15875">
            <a:solidFill>
              <a:srgbClr val="8A8F98"/>
            </a:solidFill>
          </a:ln>
          <a:effectLst/>
        </p:spPr>
      </p:cxnSp>
      <p:cxnSp>
        <p:nvCxnSpPr>
          <p:cNvPr id="16" name="Connector 15"/>
          <p:cNvCxnSpPr/>
          <p:nvPr/>
        </p:nvCxnSpPr>
        <p:spPr>
          <a:xfrm>
            <a:off x="7758683" y="3803903"/>
            <a:ext cx="1024129" cy="1106425"/>
          </a:xfrm>
          <a:prstGeom prst="line">
            <a:avLst/>
          </a:prstGeom>
          <a:ln w="15875">
            <a:solidFill>
              <a:srgbClr val="8A8F98"/>
            </a:solidFill>
          </a:ln>
          <a:effectLst/>
        </p:spPr>
      </p:cxnSp>
      <p:cxnSp>
        <p:nvCxnSpPr>
          <p:cNvPr id="17" name="Connector 16"/>
          <p:cNvCxnSpPr/>
          <p:nvPr/>
        </p:nvCxnSpPr>
        <p:spPr>
          <a:xfrm flipH="1">
            <a:off x="7904988" y="3803903"/>
            <a:ext cx="950975" cy="1106425"/>
          </a:xfrm>
          <a:prstGeom prst="line">
            <a:avLst/>
          </a:prstGeom>
          <a:ln w="15875">
            <a:solidFill>
              <a:srgbClr val="8A8F98"/>
            </a:solidFill>
          </a:ln>
          <a:effectLst/>
        </p:spPr>
      </p:cxnSp>
      <p:cxnSp>
        <p:nvCxnSpPr>
          <p:cNvPr id="18" name="Connector 17"/>
          <p:cNvCxnSpPr/>
          <p:nvPr/>
        </p:nvCxnSpPr>
        <p:spPr>
          <a:xfrm>
            <a:off x="8855963" y="3803903"/>
            <a:ext cx="548641" cy="1106425"/>
          </a:xfrm>
          <a:prstGeom prst="line">
            <a:avLst/>
          </a:prstGeom>
          <a:ln w="15875">
            <a:solidFill>
              <a:srgbClr val="8A8F98"/>
            </a:solidFill>
          </a:ln>
          <a:effectLst/>
        </p:spPr>
      </p:cxnSp>
      <p:cxnSp>
        <p:nvCxnSpPr>
          <p:cNvPr id="19" name="Connector 18"/>
          <p:cNvCxnSpPr/>
          <p:nvPr/>
        </p:nvCxnSpPr>
        <p:spPr>
          <a:xfrm>
            <a:off x="5564124" y="2203704"/>
            <a:ext cx="219455" cy="2706624"/>
          </a:xfrm>
          <a:prstGeom prst="line">
            <a:avLst/>
          </a:prstGeom>
          <a:ln w="15875">
            <a:solidFill>
              <a:srgbClr val="8A8F98"/>
            </a:solidFill>
          </a:ln>
          <a:effectLst/>
        </p:spPr>
      </p:cxnSp>
      <p:cxnSp>
        <p:nvCxnSpPr>
          <p:cNvPr id="20" name="Connector 19"/>
          <p:cNvCxnSpPr/>
          <p:nvPr/>
        </p:nvCxnSpPr>
        <p:spPr>
          <a:xfrm flipH="1">
            <a:off x="3323844" y="2203704"/>
            <a:ext cx="2240280" cy="749807"/>
          </a:xfrm>
          <a:prstGeom prst="line">
            <a:avLst/>
          </a:prstGeom>
          <a:ln w="15875">
            <a:solidFill>
              <a:srgbClr val="8A8F98"/>
            </a:solidFill>
          </a:ln>
          <a:effectLst/>
        </p:spPr>
      </p:cxnSp>
      <p:cxnSp>
        <p:nvCxnSpPr>
          <p:cNvPr id="21" name="Connector 20"/>
          <p:cNvCxnSpPr/>
          <p:nvPr/>
        </p:nvCxnSpPr>
        <p:spPr>
          <a:xfrm>
            <a:off x="5564124" y="2203704"/>
            <a:ext cx="2194559" cy="749807"/>
          </a:xfrm>
          <a:prstGeom prst="line">
            <a:avLst/>
          </a:prstGeom>
          <a:ln w="15875">
            <a:solidFill>
              <a:srgbClr val="8A8F98"/>
            </a:solidFill>
          </a:ln>
          <a:effectLst/>
        </p:spPr>
      </p:cxnSp>
      <p:cxnSp>
        <p:nvCxnSpPr>
          <p:cNvPr id="22" name="Connector 21"/>
          <p:cNvCxnSpPr/>
          <p:nvPr/>
        </p:nvCxnSpPr>
        <p:spPr>
          <a:xfrm flipH="1">
            <a:off x="6405372" y="2203704"/>
            <a:ext cx="484632" cy="2706624"/>
          </a:xfrm>
          <a:prstGeom prst="line">
            <a:avLst/>
          </a:prstGeom>
          <a:ln w="15875">
            <a:solidFill>
              <a:srgbClr val="8A8F98"/>
            </a:solidFill>
          </a:ln>
          <a:effectLst/>
        </p:spPr>
      </p:cxnSp>
      <p:cxnSp>
        <p:nvCxnSpPr>
          <p:cNvPr id="23" name="Connector 22"/>
          <p:cNvCxnSpPr/>
          <p:nvPr/>
        </p:nvCxnSpPr>
        <p:spPr>
          <a:xfrm flipH="1">
            <a:off x="4421124" y="2203704"/>
            <a:ext cx="2468880" cy="749807"/>
          </a:xfrm>
          <a:prstGeom prst="line">
            <a:avLst/>
          </a:prstGeom>
          <a:ln w="15875">
            <a:solidFill>
              <a:srgbClr val="8A8F98"/>
            </a:solidFill>
          </a:ln>
          <a:effectLst/>
        </p:spPr>
      </p:cxnSp>
      <p:cxnSp>
        <p:nvCxnSpPr>
          <p:cNvPr id="24" name="Connector 23"/>
          <p:cNvCxnSpPr/>
          <p:nvPr/>
        </p:nvCxnSpPr>
        <p:spPr>
          <a:xfrm>
            <a:off x="6890004" y="2203704"/>
            <a:ext cx="1965959" cy="749807"/>
          </a:xfrm>
          <a:prstGeom prst="line">
            <a:avLst/>
          </a:prstGeom>
          <a:ln w="15875">
            <a:solidFill>
              <a:srgbClr val="8A8F98"/>
            </a:solidFill>
          </a:ln>
          <a:effectLst/>
        </p:spPr>
      </p:cxnSp>
      <p:sp>
        <p:nvSpPr>
          <p:cNvPr id="25" name="Rounded Rectangle 24"/>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6" name="Rounded Rectangle 25"/>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7" name="Rounded Rectangle 26"/>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8" name="Rounded Rectangle 27"/>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9" name="Rounded Rectangle 28"/>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0" name="Rounded Rectangle 29"/>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1" name="Rounded Rectangle 30"/>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2" name="Rounded Rectangle 31"/>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3" name="Rounded Rectangle 32"/>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4" name="Rounded Rectangle 33"/>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5" name="Rounded Rectangle 34"/>
          <p:cNvSpPr/>
          <p:nvPr/>
        </p:nvSpPr>
        <p:spPr>
          <a:xfrm>
            <a:off x="292150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36" name="TextBox 35"/>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37" name="Rounded Rectangle 36"/>
          <p:cNvSpPr/>
          <p:nvPr/>
        </p:nvSpPr>
        <p:spPr>
          <a:xfrm>
            <a:off x="4018787"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38" name="TextBox 37"/>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39" name="Rounded Rectangle 38"/>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0" name="TextBox 39"/>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1" name="Rounded Rectangle 40"/>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2" name="TextBox 41"/>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3" name="Rounded Rectangle 42"/>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4" name="TextBox 43"/>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5" name="Rounded Rectangle 44"/>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6" name="TextBox 45"/>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Congruence 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15</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cxnSp>
        <p:nvCxnSpPr>
          <p:cNvPr id="12" name="Connector 11"/>
          <p:cNvCxnSpPr/>
          <p:nvPr/>
        </p:nvCxnSpPr>
        <p:spPr>
          <a:xfrm flipH="1">
            <a:off x="2784348" y="3803903"/>
            <a:ext cx="539496" cy="1106425"/>
          </a:xfrm>
          <a:prstGeom prst="line">
            <a:avLst/>
          </a:prstGeom>
          <a:ln w="15875">
            <a:solidFill>
              <a:srgbClr val="8A8F98"/>
            </a:solidFill>
          </a:ln>
          <a:effectLst/>
        </p:spPr>
      </p:cxnSp>
      <p:cxnSp>
        <p:nvCxnSpPr>
          <p:cNvPr id="13" name="Connector 12"/>
          <p:cNvCxnSpPr/>
          <p:nvPr/>
        </p:nvCxnSpPr>
        <p:spPr>
          <a:xfrm>
            <a:off x="3323844" y="3803903"/>
            <a:ext cx="960120" cy="1106425"/>
          </a:xfrm>
          <a:prstGeom prst="line">
            <a:avLst/>
          </a:prstGeom>
          <a:ln w="15875">
            <a:solidFill>
              <a:srgbClr val="8A8F98"/>
            </a:solidFill>
          </a:ln>
          <a:effectLst/>
        </p:spPr>
      </p:cxnSp>
      <p:cxnSp>
        <p:nvCxnSpPr>
          <p:cNvPr id="14" name="Connector 13"/>
          <p:cNvCxnSpPr/>
          <p:nvPr/>
        </p:nvCxnSpPr>
        <p:spPr>
          <a:xfrm flipH="1">
            <a:off x="3406139" y="3803903"/>
            <a:ext cx="1014985" cy="1106425"/>
          </a:xfrm>
          <a:prstGeom prst="line">
            <a:avLst/>
          </a:prstGeom>
          <a:ln w="15875">
            <a:solidFill>
              <a:srgbClr val="8A8F98"/>
            </a:solidFill>
          </a:ln>
          <a:effectLst/>
        </p:spPr>
      </p:cxnSp>
      <p:cxnSp>
        <p:nvCxnSpPr>
          <p:cNvPr id="15" name="Connector 14"/>
          <p:cNvCxnSpPr/>
          <p:nvPr/>
        </p:nvCxnSpPr>
        <p:spPr>
          <a:xfrm>
            <a:off x="4421124" y="3803903"/>
            <a:ext cx="484632" cy="1106425"/>
          </a:xfrm>
          <a:prstGeom prst="line">
            <a:avLst/>
          </a:prstGeom>
          <a:ln w="15875">
            <a:solidFill>
              <a:srgbClr val="8A8F98"/>
            </a:solidFill>
          </a:ln>
          <a:effectLst/>
        </p:spPr>
      </p:cxnSp>
      <p:cxnSp>
        <p:nvCxnSpPr>
          <p:cNvPr id="16" name="Connector 15"/>
          <p:cNvCxnSpPr/>
          <p:nvPr/>
        </p:nvCxnSpPr>
        <p:spPr>
          <a:xfrm flipH="1">
            <a:off x="7283196" y="3803903"/>
            <a:ext cx="475487" cy="1106425"/>
          </a:xfrm>
          <a:prstGeom prst="line">
            <a:avLst/>
          </a:prstGeom>
          <a:ln w="15875">
            <a:solidFill>
              <a:srgbClr val="8A8F98"/>
            </a:solidFill>
          </a:ln>
          <a:effectLst/>
        </p:spPr>
      </p:cxnSp>
      <p:cxnSp>
        <p:nvCxnSpPr>
          <p:cNvPr id="17" name="Connector 16"/>
          <p:cNvCxnSpPr/>
          <p:nvPr/>
        </p:nvCxnSpPr>
        <p:spPr>
          <a:xfrm>
            <a:off x="7758683" y="3803903"/>
            <a:ext cx="1024129" cy="1106425"/>
          </a:xfrm>
          <a:prstGeom prst="line">
            <a:avLst/>
          </a:prstGeom>
          <a:ln w="15875">
            <a:solidFill>
              <a:srgbClr val="8A8F98"/>
            </a:solidFill>
          </a:ln>
          <a:effectLst/>
        </p:spPr>
      </p:cxnSp>
      <p:cxnSp>
        <p:nvCxnSpPr>
          <p:cNvPr id="18" name="Connector 17"/>
          <p:cNvCxnSpPr/>
          <p:nvPr/>
        </p:nvCxnSpPr>
        <p:spPr>
          <a:xfrm flipH="1">
            <a:off x="7904988" y="3803903"/>
            <a:ext cx="950975" cy="1106425"/>
          </a:xfrm>
          <a:prstGeom prst="line">
            <a:avLst/>
          </a:prstGeom>
          <a:ln w="15875">
            <a:solidFill>
              <a:srgbClr val="8A8F98"/>
            </a:solidFill>
          </a:ln>
          <a:effectLst/>
        </p:spPr>
      </p:cxnSp>
      <p:cxnSp>
        <p:nvCxnSpPr>
          <p:cNvPr id="19" name="Connector 18"/>
          <p:cNvCxnSpPr/>
          <p:nvPr/>
        </p:nvCxnSpPr>
        <p:spPr>
          <a:xfrm>
            <a:off x="8855963" y="3803903"/>
            <a:ext cx="548641" cy="1106425"/>
          </a:xfrm>
          <a:prstGeom prst="line">
            <a:avLst/>
          </a:prstGeom>
          <a:ln w="15875">
            <a:solidFill>
              <a:srgbClr val="8A8F98"/>
            </a:solidFill>
          </a:ln>
          <a:effectLst/>
        </p:spPr>
      </p:cxnSp>
      <p:cxnSp>
        <p:nvCxnSpPr>
          <p:cNvPr id="20" name="Connector 19"/>
          <p:cNvCxnSpPr/>
          <p:nvPr/>
        </p:nvCxnSpPr>
        <p:spPr>
          <a:xfrm>
            <a:off x="5564124" y="2203704"/>
            <a:ext cx="219455" cy="2706624"/>
          </a:xfrm>
          <a:prstGeom prst="line">
            <a:avLst/>
          </a:prstGeom>
          <a:ln w="15875">
            <a:solidFill>
              <a:srgbClr val="8A8F98"/>
            </a:solidFill>
          </a:ln>
          <a:effectLst/>
        </p:spPr>
      </p:cxnSp>
      <p:cxnSp>
        <p:nvCxnSpPr>
          <p:cNvPr id="21" name="Connector 20"/>
          <p:cNvCxnSpPr/>
          <p:nvPr/>
        </p:nvCxnSpPr>
        <p:spPr>
          <a:xfrm flipH="1">
            <a:off x="3323844" y="2203704"/>
            <a:ext cx="2240280" cy="749807"/>
          </a:xfrm>
          <a:prstGeom prst="line">
            <a:avLst/>
          </a:prstGeom>
          <a:ln w="15875">
            <a:solidFill>
              <a:srgbClr val="8A8F98"/>
            </a:solidFill>
          </a:ln>
          <a:effectLst/>
        </p:spPr>
      </p:cxnSp>
      <p:cxnSp>
        <p:nvCxnSpPr>
          <p:cNvPr id="22" name="Connector 21"/>
          <p:cNvCxnSpPr/>
          <p:nvPr/>
        </p:nvCxnSpPr>
        <p:spPr>
          <a:xfrm>
            <a:off x="5564124" y="2203704"/>
            <a:ext cx="2194559" cy="749807"/>
          </a:xfrm>
          <a:prstGeom prst="line">
            <a:avLst/>
          </a:prstGeom>
          <a:ln w="15875">
            <a:solidFill>
              <a:srgbClr val="8A8F98"/>
            </a:solidFill>
          </a:ln>
          <a:effectLst/>
        </p:spPr>
      </p:cxnSp>
      <p:cxnSp>
        <p:nvCxnSpPr>
          <p:cNvPr id="23" name="Connector 22"/>
          <p:cNvCxnSpPr/>
          <p:nvPr/>
        </p:nvCxnSpPr>
        <p:spPr>
          <a:xfrm flipH="1">
            <a:off x="6405372" y="2203704"/>
            <a:ext cx="484632" cy="2706624"/>
          </a:xfrm>
          <a:prstGeom prst="line">
            <a:avLst/>
          </a:prstGeom>
          <a:ln w="15875">
            <a:solidFill>
              <a:srgbClr val="8A8F98"/>
            </a:solidFill>
          </a:ln>
          <a:effectLst/>
        </p:spPr>
      </p:cxnSp>
      <p:cxnSp>
        <p:nvCxnSpPr>
          <p:cNvPr id="24" name="Connector 23"/>
          <p:cNvCxnSpPr/>
          <p:nvPr/>
        </p:nvCxnSpPr>
        <p:spPr>
          <a:xfrm flipH="1">
            <a:off x="4421124" y="2203704"/>
            <a:ext cx="2468880" cy="749807"/>
          </a:xfrm>
          <a:prstGeom prst="line">
            <a:avLst/>
          </a:prstGeom>
          <a:ln w="15875">
            <a:solidFill>
              <a:srgbClr val="8A8F98"/>
            </a:solidFill>
          </a:ln>
          <a:effectLst/>
        </p:spPr>
      </p:cxnSp>
      <p:cxnSp>
        <p:nvCxnSpPr>
          <p:cNvPr id="25" name="Connector 24"/>
          <p:cNvCxnSpPr/>
          <p:nvPr/>
        </p:nvCxnSpPr>
        <p:spPr>
          <a:xfrm>
            <a:off x="6890004" y="2203704"/>
            <a:ext cx="1965959" cy="749807"/>
          </a:xfrm>
          <a:prstGeom prst="line">
            <a:avLst/>
          </a:prstGeom>
          <a:ln w="15875">
            <a:solidFill>
              <a:srgbClr val="8A8F98"/>
            </a:solidFill>
          </a:ln>
          <a:effectLst/>
        </p:spPr>
      </p:cxnSp>
      <p:sp>
        <p:nvSpPr>
          <p:cNvPr id="26" name="Rounded Rectangle 25"/>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7" name="Rounded Rectangle 26"/>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8" name="Rounded Rectangle 27"/>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9" name="Rounded Rectangle 28"/>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0" name="Rounded Rectangle 29"/>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1" name="Rounded Rectangle 30"/>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2" name="Rounded Rectangle 31"/>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3" name="Rounded Rectangle 32"/>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4" name="Rounded Rectangle 33"/>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5" name="Rounded Rectangle 34"/>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6" name="Rounded Rectangle 35"/>
          <p:cNvSpPr/>
          <p:nvPr/>
        </p:nvSpPr>
        <p:spPr>
          <a:xfrm>
            <a:off x="292150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37" name="TextBox 36"/>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38" name="Rounded Rectangle 37"/>
          <p:cNvSpPr/>
          <p:nvPr/>
        </p:nvSpPr>
        <p:spPr>
          <a:xfrm>
            <a:off x="4018787"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39" name="TextBox 38"/>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0" name="Rounded Rectangle 39"/>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1" name="TextBox 40"/>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2" name="Rounded Rectangle 41"/>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3" name="TextBox 42"/>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4" name="Rounded Rectangle 43"/>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5" name="TextBox 44"/>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6" name="Rounded Rectangle 45"/>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7" name="TextBox 46"/>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48" name="TextBox 47"/>
          <p:cNvSpPr txBox="1"/>
          <p:nvPr/>
        </p:nvSpPr>
        <p:spPr>
          <a:xfrm>
            <a:off x="3506723" y="3246120"/>
            <a:ext cx="731520" cy="548640"/>
          </a:xfrm>
          <a:prstGeom prst="rect">
            <a:avLst/>
          </a:prstGeom>
          <a:noFill/>
        </p:spPr>
        <p:txBody>
          <a:bodyPr wrap="square" anchor="ctr" lIns="45720" rIns="45720" tIns="27432" bIns="27432">
            <a:spAutoFit/>
          </a:bodyPr>
          <a:lstStyle/>
          <a:p>
            <a:pPr algn="ctr"/>
            <a:r>
              <a:rPr sz="2200" b="1" i="0">
                <a:solidFill>
                  <a:srgbClr val="C8501E"/>
                </a:solidFill>
                <a:latin typeface="Calibri"/>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Congruence 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16</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cxnSp>
        <p:nvCxnSpPr>
          <p:cNvPr id="12" name="Connector 11"/>
          <p:cNvCxnSpPr/>
          <p:nvPr/>
        </p:nvCxnSpPr>
        <p:spPr>
          <a:xfrm flipH="1">
            <a:off x="2784348" y="3803903"/>
            <a:ext cx="539496" cy="1106425"/>
          </a:xfrm>
          <a:prstGeom prst="line">
            <a:avLst/>
          </a:prstGeom>
          <a:ln w="15875">
            <a:solidFill>
              <a:srgbClr val="8A8F98"/>
            </a:solidFill>
          </a:ln>
          <a:effectLst/>
        </p:spPr>
      </p:cxnSp>
      <p:cxnSp>
        <p:nvCxnSpPr>
          <p:cNvPr id="13" name="Connector 12"/>
          <p:cNvCxnSpPr/>
          <p:nvPr/>
        </p:nvCxnSpPr>
        <p:spPr>
          <a:xfrm>
            <a:off x="3323844" y="3803903"/>
            <a:ext cx="960120" cy="1106425"/>
          </a:xfrm>
          <a:prstGeom prst="line">
            <a:avLst/>
          </a:prstGeom>
          <a:ln w="15875">
            <a:solidFill>
              <a:srgbClr val="8A8F98"/>
            </a:solidFill>
          </a:ln>
          <a:effectLst/>
        </p:spPr>
      </p:cxnSp>
      <p:cxnSp>
        <p:nvCxnSpPr>
          <p:cNvPr id="14" name="Connector 13"/>
          <p:cNvCxnSpPr/>
          <p:nvPr/>
        </p:nvCxnSpPr>
        <p:spPr>
          <a:xfrm flipH="1">
            <a:off x="3406139" y="3803903"/>
            <a:ext cx="1014985" cy="1106425"/>
          </a:xfrm>
          <a:prstGeom prst="line">
            <a:avLst/>
          </a:prstGeom>
          <a:ln w="15875">
            <a:solidFill>
              <a:srgbClr val="8A8F98"/>
            </a:solidFill>
          </a:ln>
          <a:effectLst/>
        </p:spPr>
      </p:cxnSp>
      <p:cxnSp>
        <p:nvCxnSpPr>
          <p:cNvPr id="15" name="Connector 14"/>
          <p:cNvCxnSpPr/>
          <p:nvPr/>
        </p:nvCxnSpPr>
        <p:spPr>
          <a:xfrm>
            <a:off x="4421124" y="3803903"/>
            <a:ext cx="484632" cy="1106425"/>
          </a:xfrm>
          <a:prstGeom prst="line">
            <a:avLst/>
          </a:prstGeom>
          <a:ln w="15875">
            <a:solidFill>
              <a:srgbClr val="8A8F98"/>
            </a:solidFill>
          </a:ln>
          <a:effectLst/>
        </p:spPr>
      </p:cxnSp>
      <p:cxnSp>
        <p:nvCxnSpPr>
          <p:cNvPr id="16" name="Connector 15"/>
          <p:cNvCxnSpPr/>
          <p:nvPr/>
        </p:nvCxnSpPr>
        <p:spPr>
          <a:xfrm flipH="1">
            <a:off x="7283196" y="3803903"/>
            <a:ext cx="475487" cy="1106425"/>
          </a:xfrm>
          <a:prstGeom prst="line">
            <a:avLst/>
          </a:prstGeom>
          <a:ln w="15875">
            <a:solidFill>
              <a:srgbClr val="8A8F98"/>
            </a:solidFill>
          </a:ln>
          <a:effectLst/>
        </p:spPr>
      </p:cxnSp>
      <p:cxnSp>
        <p:nvCxnSpPr>
          <p:cNvPr id="17" name="Connector 16"/>
          <p:cNvCxnSpPr/>
          <p:nvPr/>
        </p:nvCxnSpPr>
        <p:spPr>
          <a:xfrm>
            <a:off x="7758683" y="3803903"/>
            <a:ext cx="1024129" cy="1106425"/>
          </a:xfrm>
          <a:prstGeom prst="line">
            <a:avLst/>
          </a:prstGeom>
          <a:ln w="15875">
            <a:solidFill>
              <a:srgbClr val="8A8F98"/>
            </a:solidFill>
          </a:ln>
          <a:effectLst/>
        </p:spPr>
      </p:cxnSp>
      <p:cxnSp>
        <p:nvCxnSpPr>
          <p:cNvPr id="18" name="Connector 17"/>
          <p:cNvCxnSpPr/>
          <p:nvPr/>
        </p:nvCxnSpPr>
        <p:spPr>
          <a:xfrm flipH="1">
            <a:off x="7904988" y="3803903"/>
            <a:ext cx="950975" cy="1106425"/>
          </a:xfrm>
          <a:prstGeom prst="line">
            <a:avLst/>
          </a:prstGeom>
          <a:ln w="15875">
            <a:solidFill>
              <a:srgbClr val="8A8F98"/>
            </a:solidFill>
          </a:ln>
          <a:effectLst/>
        </p:spPr>
      </p:cxnSp>
      <p:cxnSp>
        <p:nvCxnSpPr>
          <p:cNvPr id="19" name="Connector 18"/>
          <p:cNvCxnSpPr/>
          <p:nvPr/>
        </p:nvCxnSpPr>
        <p:spPr>
          <a:xfrm>
            <a:off x="8855963" y="3803903"/>
            <a:ext cx="548641" cy="1106425"/>
          </a:xfrm>
          <a:prstGeom prst="line">
            <a:avLst/>
          </a:prstGeom>
          <a:ln w="15875">
            <a:solidFill>
              <a:srgbClr val="8A8F98"/>
            </a:solidFill>
          </a:ln>
          <a:effectLst/>
        </p:spPr>
      </p:cxnSp>
      <p:cxnSp>
        <p:nvCxnSpPr>
          <p:cNvPr id="20" name="Connector 19"/>
          <p:cNvCxnSpPr/>
          <p:nvPr/>
        </p:nvCxnSpPr>
        <p:spPr>
          <a:xfrm>
            <a:off x="5564124" y="2203704"/>
            <a:ext cx="219455" cy="2706624"/>
          </a:xfrm>
          <a:prstGeom prst="line">
            <a:avLst/>
          </a:prstGeom>
          <a:ln w="15875">
            <a:solidFill>
              <a:srgbClr val="8A8F98"/>
            </a:solidFill>
          </a:ln>
          <a:effectLst/>
        </p:spPr>
      </p:cxnSp>
      <p:cxnSp>
        <p:nvCxnSpPr>
          <p:cNvPr id="21" name="Connector 20"/>
          <p:cNvCxnSpPr/>
          <p:nvPr/>
        </p:nvCxnSpPr>
        <p:spPr>
          <a:xfrm flipH="1">
            <a:off x="3323844" y="2203704"/>
            <a:ext cx="2240280" cy="749807"/>
          </a:xfrm>
          <a:prstGeom prst="line">
            <a:avLst/>
          </a:prstGeom>
          <a:ln w="15875">
            <a:solidFill>
              <a:srgbClr val="8A8F98"/>
            </a:solidFill>
          </a:ln>
          <a:effectLst/>
        </p:spPr>
      </p:cxnSp>
      <p:cxnSp>
        <p:nvCxnSpPr>
          <p:cNvPr id="22" name="Connector 21"/>
          <p:cNvCxnSpPr/>
          <p:nvPr/>
        </p:nvCxnSpPr>
        <p:spPr>
          <a:xfrm>
            <a:off x="5564124" y="2203704"/>
            <a:ext cx="2194559" cy="749807"/>
          </a:xfrm>
          <a:prstGeom prst="line">
            <a:avLst/>
          </a:prstGeom>
          <a:ln w="15875">
            <a:solidFill>
              <a:srgbClr val="8A8F98"/>
            </a:solidFill>
          </a:ln>
          <a:effectLst/>
        </p:spPr>
      </p:cxnSp>
      <p:cxnSp>
        <p:nvCxnSpPr>
          <p:cNvPr id="23" name="Connector 22"/>
          <p:cNvCxnSpPr/>
          <p:nvPr/>
        </p:nvCxnSpPr>
        <p:spPr>
          <a:xfrm flipH="1">
            <a:off x="6405372" y="2203704"/>
            <a:ext cx="484632" cy="2706624"/>
          </a:xfrm>
          <a:prstGeom prst="line">
            <a:avLst/>
          </a:prstGeom>
          <a:ln w="15875">
            <a:solidFill>
              <a:srgbClr val="8A8F98"/>
            </a:solidFill>
          </a:ln>
          <a:effectLst/>
        </p:spPr>
      </p:cxnSp>
      <p:cxnSp>
        <p:nvCxnSpPr>
          <p:cNvPr id="24" name="Connector 23"/>
          <p:cNvCxnSpPr/>
          <p:nvPr/>
        </p:nvCxnSpPr>
        <p:spPr>
          <a:xfrm flipH="1">
            <a:off x="4421124" y="2203704"/>
            <a:ext cx="2468880" cy="749807"/>
          </a:xfrm>
          <a:prstGeom prst="line">
            <a:avLst/>
          </a:prstGeom>
          <a:ln w="15875">
            <a:solidFill>
              <a:srgbClr val="8A8F98"/>
            </a:solidFill>
          </a:ln>
          <a:effectLst/>
        </p:spPr>
      </p:cxnSp>
      <p:cxnSp>
        <p:nvCxnSpPr>
          <p:cNvPr id="25" name="Connector 24"/>
          <p:cNvCxnSpPr/>
          <p:nvPr/>
        </p:nvCxnSpPr>
        <p:spPr>
          <a:xfrm>
            <a:off x="6890004" y="2203704"/>
            <a:ext cx="1965959" cy="749807"/>
          </a:xfrm>
          <a:prstGeom prst="line">
            <a:avLst/>
          </a:prstGeom>
          <a:ln w="15875">
            <a:solidFill>
              <a:srgbClr val="8A8F98"/>
            </a:solidFill>
          </a:ln>
          <a:effectLst/>
        </p:spPr>
      </p:cxnSp>
      <p:sp>
        <p:nvSpPr>
          <p:cNvPr id="26" name="Rounded Rectangle 25"/>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7" name="Rounded Rectangle 26"/>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8" name="Rounded Rectangle 27"/>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29" name="Rounded Rectangle 28"/>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0" name="Rounded Rectangle 29"/>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1" name="Rounded Rectangle 30"/>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2" name="Rounded Rectangle 31"/>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3" name="Rounded Rectangle 32"/>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4" name="Rounded Rectangle 33"/>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5" name="Rounded Rectangle 34"/>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6" name="Rounded Rectangle 35"/>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7" name="TextBox 36"/>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38" name="Rounded Rectangle 37"/>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9" name="TextBox 38"/>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0" name="Rounded Rectangle 39"/>
          <p:cNvSpPr/>
          <p:nvPr/>
        </p:nvSpPr>
        <p:spPr>
          <a:xfrm>
            <a:off x="735634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41" name="TextBox 40"/>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2" name="Rounded Rectangle 41"/>
          <p:cNvSpPr/>
          <p:nvPr/>
        </p:nvSpPr>
        <p:spPr>
          <a:xfrm>
            <a:off x="845362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43" name="TextBox 42"/>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4" name="Rounded Rectangle 43"/>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5" name="TextBox 44"/>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6" name="Rounded Rectangle 45"/>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7" name="TextBox 46"/>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Congruence 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17</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cxnSp>
        <p:nvCxnSpPr>
          <p:cNvPr id="13" name="Connector 12"/>
          <p:cNvCxnSpPr/>
          <p:nvPr/>
        </p:nvCxnSpPr>
        <p:spPr>
          <a:xfrm flipH="1">
            <a:off x="2784348" y="3803903"/>
            <a:ext cx="539496" cy="1106425"/>
          </a:xfrm>
          <a:prstGeom prst="line">
            <a:avLst/>
          </a:prstGeom>
          <a:ln w="15875">
            <a:solidFill>
              <a:srgbClr val="8A8F98"/>
            </a:solidFill>
          </a:ln>
          <a:effectLst/>
        </p:spPr>
      </p:cxnSp>
      <p:cxnSp>
        <p:nvCxnSpPr>
          <p:cNvPr id="14" name="Connector 13"/>
          <p:cNvCxnSpPr/>
          <p:nvPr/>
        </p:nvCxnSpPr>
        <p:spPr>
          <a:xfrm>
            <a:off x="3323844" y="3803903"/>
            <a:ext cx="960120" cy="1106425"/>
          </a:xfrm>
          <a:prstGeom prst="line">
            <a:avLst/>
          </a:prstGeom>
          <a:ln w="15875">
            <a:solidFill>
              <a:srgbClr val="8A8F98"/>
            </a:solidFill>
          </a:ln>
          <a:effectLst/>
        </p:spPr>
      </p:cxnSp>
      <p:cxnSp>
        <p:nvCxnSpPr>
          <p:cNvPr id="15" name="Connector 14"/>
          <p:cNvCxnSpPr/>
          <p:nvPr/>
        </p:nvCxnSpPr>
        <p:spPr>
          <a:xfrm flipH="1">
            <a:off x="3406139" y="3803903"/>
            <a:ext cx="1014985" cy="1106425"/>
          </a:xfrm>
          <a:prstGeom prst="line">
            <a:avLst/>
          </a:prstGeom>
          <a:ln w="15875">
            <a:solidFill>
              <a:srgbClr val="8A8F98"/>
            </a:solidFill>
          </a:ln>
          <a:effectLst/>
        </p:spPr>
      </p:cxnSp>
      <p:cxnSp>
        <p:nvCxnSpPr>
          <p:cNvPr id="16" name="Connector 15"/>
          <p:cNvCxnSpPr/>
          <p:nvPr/>
        </p:nvCxnSpPr>
        <p:spPr>
          <a:xfrm>
            <a:off x="4421124" y="3803903"/>
            <a:ext cx="484632" cy="1106425"/>
          </a:xfrm>
          <a:prstGeom prst="line">
            <a:avLst/>
          </a:prstGeom>
          <a:ln w="15875">
            <a:solidFill>
              <a:srgbClr val="8A8F98"/>
            </a:solidFill>
          </a:ln>
          <a:effectLst/>
        </p:spPr>
      </p:cxnSp>
      <p:cxnSp>
        <p:nvCxnSpPr>
          <p:cNvPr id="17" name="Connector 16"/>
          <p:cNvCxnSpPr/>
          <p:nvPr/>
        </p:nvCxnSpPr>
        <p:spPr>
          <a:xfrm flipH="1">
            <a:off x="7283196" y="3803903"/>
            <a:ext cx="475487" cy="1106425"/>
          </a:xfrm>
          <a:prstGeom prst="line">
            <a:avLst/>
          </a:prstGeom>
          <a:ln w="15875">
            <a:solidFill>
              <a:srgbClr val="8A8F98"/>
            </a:solidFill>
          </a:ln>
          <a:effectLst/>
        </p:spPr>
      </p:cxnSp>
      <p:cxnSp>
        <p:nvCxnSpPr>
          <p:cNvPr id="18" name="Connector 17"/>
          <p:cNvCxnSpPr/>
          <p:nvPr/>
        </p:nvCxnSpPr>
        <p:spPr>
          <a:xfrm>
            <a:off x="7758683" y="3803903"/>
            <a:ext cx="1024129" cy="1106425"/>
          </a:xfrm>
          <a:prstGeom prst="line">
            <a:avLst/>
          </a:prstGeom>
          <a:ln w="15875">
            <a:solidFill>
              <a:srgbClr val="8A8F98"/>
            </a:solidFill>
          </a:ln>
          <a:effectLst/>
        </p:spPr>
      </p:cxnSp>
      <p:cxnSp>
        <p:nvCxnSpPr>
          <p:cNvPr id="19" name="Connector 18"/>
          <p:cNvCxnSpPr/>
          <p:nvPr/>
        </p:nvCxnSpPr>
        <p:spPr>
          <a:xfrm flipH="1">
            <a:off x="7904988" y="3803903"/>
            <a:ext cx="950975" cy="1106425"/>
          </a:xfrm>
          <a:prstGeom prst="line">
            <a:avLst/>
          </a:prstGeom>
          <a:ln w="15875">
            <a:solidFill>
              <a:srgbClr val="8A8F98"/>
            </a:solidFill>
          </a:ln>
          <a:effectLst/>
        </p:spPr>
      </p:cxnSp>
      <p:cxnSp>
        <p:nvCxnSpPr>
          <p:cNvPr id="20" name="Connector 19"/>
          <p:cNvCxnSpPr/>
          <p:nvPr/>
        </p:nvCxnSpPr>
        <p:spPr>
          <a:xfrm>
            <a:off x="8855963" y="3803903"/>
            <a:ext cx="548641" cy="1106425"/>
          </a:xfrm>
          <a:prstGeom prst="line">
            <a:avLst/>
          </a:prstGeom>
          <a:ln w="15875">
            <a:solidFill>
              <a:srgbClr val="8A8F98"/>
            </a:solidFill>
          </a:ln>
          <a:effectLst/>
        </p:spPr>
      </p:cxnSp>
      <p:cxnSp>
        <p:nvCxnSpPr>
          <p:cNvPr id="21" name="Connector 20"/>
          <p:cNvCxnSpPr/>
          <p:nvPr/>
        </p:nvCxnSpPr>
        <p:spPr>
          <a:xfrm>
            <a:off x="5564124" y="2203704"/>
            <a:ext cx="219455" cy="2706624"/>
          </a:xfrm>
          <a:prstGeom prst="line">
            <a:avLst/>
          </a:prstGeom>
          <a:ln w="15875">
            <a:solidFill>
              <a:srgbClr val="8A8F98"/>
            </a:solidFill>
          </a:ln>
          <a:effectLst/>
        </p:spPr>
      </p:cxnSp>
      <p:cxnSp>
        <p:nvCxnSpPr>
          <p:cNvPr id="22" name="Connector 21"/>
          <p:cNvCxnSpPr/>
          <p:nvPr/>
        </p:nvCxnSpPr>
        <p:spPr>
          <a:xfrm flipH="1">
            <a:off x="3323844" y="2203704"/>
            <a:ext cx="2240280" cy="749807"/>
          </a:xfrm>
          <a:prstGeom prst="line">
            <a:avLst/>
          </a:prstGeom>
          <a:ln w="15875">
            <a:solidFill>
              <a:srgbClr val="8A8F98"/>
            </a:solidFill>
          </a:ln>
          <a:effectLst/>
        </p:spPr>
      </p:cxnSp>
      <p:cxnSp>
        <p:nvCxnSpPr>
          <p:cNvPr id="23" name="Connector 22"/>
          <p:cNvCxnSpPr/>
          <p:nvPr/>
        </p:nvCxnSpPr>
        <p:spPr>
          <a:xfrm>
            <a:off x="5564124" y="2203704"/>
            <a:ext cx="2194559" cy="749807"/>
          </a:xfrm>
          <a:prstGeom prst="line">
            <a:avLst/>
          </a:prstGeom>
          <a:ln w="15875">
            <a:solidFill>
              <a:srgbClr val="8A8F98"/>
            </a:solidFill>
          </a:ln>
          <a:effectLst/>
        </p:spPr>
      </p:cxnSp>
      <p:cxnSp>
        <p:nvCxnSpPr>
          <p:cNvPr id="24" name="Connector 23"/>
          <p:cNvCxnSpPr/>
          <p:nvPr/>
        </p:nvCxnSpPr>
        <p:spPr>
          <a:xfrm flipH="1">
            <a:off x="6405372" y="2203704"/>
            <a:ext cx="484632" cy="2706624"/>
          </a:xfrm>
          <a:prstGeom prst="line">
            <a:avLst/>
          </a:prstGeom>
          <a:ln w="15875">
            <a:solidFill>
              <a:srgbClr val="8A8F98"/>
            </a:solidFill>
          </a:ln>
          <a:effectLst/>
        </p:spPr>
      </p:cxnSp>
      <p:cxnSp>
        <p:nvCxnSpPr>
          <p:cNvPr id="25" name="Connector 24"/>
          <p:cNvCxnSpPr/>
          <p:nvPr/>
        </p:nvCxnSpPr>
        <p:spPr>
          <a:xfrm flipH="1">
            <a:off x="4421124" y="2203704"/>
            <a:ext cx="2468880" cy="749807"/>
          </a:xfrm>
          <a:prstGeom prst="line">
            <a:avLst/>
          </a:prstGeom>
          <a:ln w="15875">
            <a:solidFill>
              <a:srgbClr val="8A8F98"/>
            </a:solidFill>
          </a:ln>
          <a:effectLst/>
        </p:spPr>
      </p:cxnSp>
      <p:cxnSp>
        <p:nvCxnSpPr>
          <p:cNvPr id="26" name="Connector 25"/>
          <p:cNvCxnSpPr/>
          <p:nvPr/>
        </p:nvCxnSpPr>
        <p:spPr>
          <a:xfrm>
            <a:off x="6890004" y="2203704"/>
            <a:ext cx="1965959" cy="749807"/>
          </a:xfrm>
          <a:prstGeom prst="line">
            <a:avLst/>
          </a:prstGeom>
          <a:ln w="15875">
            <a:solidFill>
              <a:srgbClr val="8A8F98"/>
            </a:solidFill>
          </a:ln>
          <a:effectLst/>
        </p:spPr>
      </p:cxnSp>
      <p:sp>
        <p:nvSpPr>
          <p:cNvPr id="27" name="Rounded Rectangle 26"/>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8" name="Rounded Rectangle 27"/>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9" name="Rounded Rectangle 28"/>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0" name="Rounded Rectangle 29"/>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1" name="Rounded Rectangle 30"/>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2" name="Rounded Rectangle 31"/>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3" name="Rounded Rectangle 32"/>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4" name="Rounded Rectangle 33"/>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5" name="Rounded Rectangle 34"/>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6" name="Rounded Rectangle 35"/>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7" name="Rounded Rectangle 36"/>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8" name="TextBox 37"/>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39" name="Rounded Rectangle 38"/>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0" name="TextBox 39"/>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1" name="Rounded Rectangle 40"/>
          <p:cNvSpPr/>
          <p:nvPr/>
        </p:nvSpPr>
        <p:spPr>
          <a:xfrm>
            <a:off x="735634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42" name="TextBox 41"/>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3" name="Rounded Rectangle 42"/>
          <p:cNvSpPr/>
          <p:nvPr/>
        </p:nvSpPr>
        <p:spPr>
          <a:xfrm>
            <a:off x="845362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44" name="TextBox 43"/>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5" name="Rounded Rectangle 44"/>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6" name="TextBox 45"/>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7" name="Rounded Rectangle 46"/>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8" name="TextBox 47"/>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49" name="TextBox 48"/>
          <p:cNvSpPr txBox="1"/>
          <p:nvPr/>
        </p:nvSpPr>
        <p:spPr>
          <a:xfrm>
            <a:off x="7941563" y="3246120"/>
            <a:ext cx="731520" cy="548640"/>
          </a:xfrm>
          <a:prstGeom prst="rect">
            <a:avLst/>
          </a:prstGeom>
          <a:noFill/>
        </p:spPr>
        <p:txBody>
          <a:bodyPr wrap="square" anchor="ctr" lIns="45720" rIns="45720" tIns="27432" bIns="27432">
            <a:spAutoFit/>
          </a:bodyPr>
          <a:lstStyle/>
          <a:p>
            <a:pPr algn="ctr"/>
            <a:r>
              <a:rPr sz="2200" b="1" i="0">
                <a:solidFill>
                  <a:srgbClr val="C8501E"/>
                </a:solidFill>
                <a:latin typeface="Calibri"/>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Congruence 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18</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cxnSp>
        <p:nvCxnSpPr>
          <p:cNvPr id="13" name="Connector 12"/>
          <p:cNvCxnSpPr/>
          <p:nvPr/>
        </p:nvCxnSpPr>
        <p:spPr>
          <a:xfrm flipH="1">
            <a:off x="2784348" y="3803903"/>
            <a:ext cx="539496" cy="1106425"/>
          </a:xfrm>
          <a:prstGeom prst="line">
            <a:avLst/>
          </a:prstGeom>
          <a:ln w="15875">
            <a:solidFill>
              <a:srgbClr val="8A8F98"/>
            </a:solidFill>
          </a:ln>
          <a:effectLst/>
        </p:spPr>
      </p:cxnSp>
      <p:cxnSp>
        <p:nvCxnSpPr>
          <p:cNvPr id="14" name="Connector 13"/>
          <p:cNvCxnSpPr/>
          <p:nvPr/>
        </p:nvCxnSpPr>
        <p:spPr>
          <a:xfrm>
            <a:off x="3323844" y="3803903"/>
            <a:ext cx="960120" cy="1106425"/>
          </a:xfrm>
          <a:prstGeom prst="line">
            <a:avLst/>
          </a:prstGeom>
          <a:ln w="15875">
            <a:solidFill>
              <a:srgbClr val="8A8F98"/>
            </a:solidFill>
          </a:ln>
          <a:effectLst/>
        </p:spPr>
      </p:cxnSp>
      <p:cxnSp>
        <p:nvCxnSpPr>
          <p:cNvPr id="15" name="Connector 14"/>
          <p:cNvCxnSpPr/>
          <p:nvPr/>
        </p:nvCxnSpPr>
        <p:spPr>
          <a:xfrm flipH="1">
            <a:off x="3406139" y="3803903"/>
            <a:ext cx="1014985" cy="1106425"/>
          </a:xfrm>
          <a:prstGeom prst="line">
            <a:avLst/>
          </a:prstGeom>
          <a:ln w="15875">
            <a:solidFill>
              <a:srgbClr val="8A8F98"/>
            </a:solidFill>
          </a:ln>
          <a:effectLst/>
        </p:spPr>
      </p:cxnSp>
      <p:cxnSp>
        <p:nvCxnSpPr>
          <p:cNvPr id="16" name="Connector 15"/>
          <p:cNvCxnSpPr/>
          <p:nvPr/>
        </p:nvCxnSpPr>
        <p:spPr>
          <a:xfrm>
            <a:off x="4421124" y="3803903"/>
            <a:ext cx="484632" cy="1106425"/>
          </a:xfrm>
          <a:prstGeom prst="line">
            <a:avLst/>
          </a:prstGeom>
          <a:ln w="15875">
            <a:solidFill>
              <a:srgbClr val="8A8F98"/>
            </a:solidFill>
          </a:ln>
          <a:effectLst/>
        </p:spPr>
      </p:cxnSp>
      <p:cxnSp>
        <p:nvCxnSpPr>
          <p:cNvPr id="17" name="Connector 16"/>
          <p:cNvCxnSpPr/>
          <p:nvPr/>
        </p:nvCxnSpPr>
        <p:spPr>
          <a:xfrm flipH="1">
            <a:off x="7283196" y="3803903"/>
            <a:ext cx="475487" cy="1106425"/>
          </a:xfrm>
          <a:prstGeom prst="line">
            <a:avLst/>
          </a:prstGeom>
          <a:ln w="15875">
            <a:solidFill>
              <a:srgbClr val="8A8F98"/>
            </a:solidFill>
          </a:ln>
          <a:effectLst/>
        </p:spPr>
      </p:cxnSp>
      <p:cxnSp>
        <p:nvCxnSpPr>
          <p:cNvPr id="18" name="Connector 17"/>
          <p:cNvCxnSpPr/>
          <p:nvPr/>
        </p:nvCxnSpPr>
        <p:spPr>
          <a:xfrm>
            <a:off x="7758683" y="3803903"/>
            <a:ext cx="1024129" cy="1106425"/>
          </a:xfrm>
          <a:prstGeom prst="line">
            <a:avLst/>
          </a:prstGeom>
          <a:ln w="15875">
            <a:solidFill>
              <a:srgbClr val="8A8F98"/>
            </a:solidFill>
          </a:ln>
          <a:effectLst/>
        </p:spPr>
      </p:cxnSp>
      <p:cxnSp>
        <p:nvCxnSpPr>
          <p:cNvPr id="19" name="Connector 18"/>
          <p:cNvCxnSpPr/>
          <p:nvPr/>
        </p:nvCxnSpPr>
        <p:spPr>
          <a:xfrm flipH="1">
            <a:off x="7904988" y="3803903"/>
            <a:ext cx="950975" cy="1106425"/>
          </a:xfrm>
          <a:prstGeom prst="line">
            <a:avLst/>
          </a:prstGeom>
          <a:ln w="15875">
            <a:solidFill>
              <a:srgbClr val="8A8F98"/>
            </a:solidFill>
          </a:ln>
          <a:effectLst/>
        </p:spPr>
      </p:cxnSp>
      <p:cxnSp>
        <p:nvCxnSpPr>
          <p:cNvPr id="20" name="Connector 19"/>
          <p:cNvCxnSpPr/>
          <p:nvPr/>
        </p:nvCxnSpPr>
        <p:spPr>
          <a:xfrm>
            <a:off x="8855963" y="3803903"/>
            <a:ext cx="548641" cy="1106425"/>
          </a:xfrm>
          <a:prstGeom prst="line">
            <a:avLst/>
          </a:prstGeom>
          <a:ln w="15875">
            <a:solidFill>
              <a:srgbClr val="8A8F98"/>
            </a:solidFill>
          </a:ln>
          <a:effectLst/>
        </p:spPr>
      </p:cxnSp>
      <p:cxnSp>
        <p:nvCxnSpPr>
          <p:cNvPr id="21" name="Connector 20"/>
          <p:cNvCxnSpPr/>
          <p:nvPr/>
        </p:nvCxnSpPr>
        <p:spPr>
          <a:xfrm>
            <a:off x="5564124" y="2203704"/>
            <a:ext cx="219455" cy="2706624"/>
          </a:xfrm>
          <a:prstGeom prst="line">
            <a:avLst/>
          </a:prstGeom>
          <a:ln w="15875">
            <a:solidFill>
              <a:srgbClr val="8A8F98"/>
            </a:solidFill>
          </a:ln>
          <a:effectLst/>
        </p:spPr>
      </p:cxnSp>
      <p:cxnSp>
        <p:nvCxnSpPr>
          <p:cNvPr id="22" name="Connector 21"/>
          <p:cNvCxnSpPr/>
          <p:nvPr/>
        </p:nvCxnSpPr>
        <p:spPr>
          <a:xfrm flipH="1">
            <a:off x="3323844" y="2203704"/>
            <a:ext cx="2240280" cy="749807"/>
          </a:xfrm>
          <a:prstGeom prst="line">
            <a:avLst/>
          </a:prstGeom>
          <a:ln w="15875">
            <a:solidFill>
              <a:srgbClr val="8A8F98"/>
            </a:solidFill>
          </a:ln>
          <a:effectLst/>
        </p:spPr>
      </p:cxnSp>
      <p:cxnSp>
        <p:nvCxnSpPr>
          <p:cNvPr id="23" name="Connector 22"/>
          <p:cNvCxnSpPr/>
          <p:nvPr/>
        </p:nvCxnSpPr>
        <p:spPr>
          <a:xfrm>
            <a:off x="5564124" y="2203704"/>
            <a:ext cx="2194559" cy="749807"/>
          </a:xfrm>
          <a:prstGeom prst="line">
            <a:avLst/>
          </a:prstGeom>
          <a:ln w="15875">
            <a:solidFill>
              <a:srgbClr val="8A8F98"/>
            </a:solidFill>
          </a:ln>
          <a:effectLst/>
        </p:spPr>
      </p:cxnSp>
      <p:cxnSp>
        <p:nvCxnSpPr>
          <p:cNvPr id="24" name="Connector 23"/>
          <p:cNvCxnSpPr/>
          <p:nvPr/>
        </p:nvCxnSpPr>
        <p:spPr>
          <a:xfrm flipH="1">
            <a:off x="6405372" y="2203704"/>
            <a:ext cx="484632" cy="2706624"/>
          </a:xfrm>
          <a:prstGeom prst="line">
            <a:avLst/>
          </a:prstGeom>
          <a:ln w="15875">
            <a:solidFill>
              <a:srgbClr val="8A8F98"/>
            </a:solidFill>
          </a:ln>
          <a:effectLst/>
        </p:spPr>
      </p:cxnSp>
      <p:cxnSp>
        <p:nvCxnSpPr>
          <p:cNvPr id="25" name="Connector 24"/>
          <p:cNvCxnSpPr/>
          <p:nvPr/>
        </p:nvCxnSpPr>
        <p:spPr>
          <a:xfrm flipH="1">
            <a:off x="4421124" y="2203704"/>
            <a:ext cx="2468880" cy="749807"/>
          </a:xfrm>
          <a:prstGeom prst="line">
            <a:avLst/>
          </a:prstGeom>
          <a:ln w="15875">
            <a:solidFill>
              <a:srgbClr val="8A8F98"/>
            </a:solidFill>
          </a:ln>
          <a:effectLst/>
        </p:spPr>
      </p:cxnSp>
      <p:cxnSp>
        <p:nvCxnSpPr>
          <p:cNvPr id="26" name="Connector 25"/>
          <p:cNvCxnSpPr/>
          <p:nvPr/>
        </p:nvCxnSpPr>
        <p:spPr>
          <a:xfrm>
            <a:off x="6890004" y="2203704"/>
            <a:ext cx="1965959" cy="749807"/>
          </a:xfrm>
          <a:prstGeom prst="line">
            <a:avLst/>
          </a:prstGeom>
          <a:ln w="15875">
            <a:solidFill>
              <a:srgbClr val="8A8F98"/>
            </a:solidFill>
          </a:ln>
          <a:effectLst/>
        </p:spPr>
      </p:cxnSp>
      <p:sp>
        <p:nvSpPr>
          <p:cNvPr id="27" name="Rounded Rectangle 26"/>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8" name="Rounded Rectangle 27"/>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9" name="Rounded Rectangle 28"/>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0" name="Rounded Rectangle 29"/>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1" name="Rounded Rectangle 30"/>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2" name="Rounded Rectangle 31"/>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3" name="Rounded Rectangle 32"/>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4" name="Rounded Rectangle 33"/>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5" name="Rounded Rectangle 34"/>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6" name="Rounded Rectangle 35"/>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7" name="Rounded Rectangle 36"/>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8" name="TextBox 37"/>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39" name="Rounded Rectangle 38"/>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0" name="TextBox 39"/>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1" name="Rounded Rectangle 40"/>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2" name="TextBox 41"/>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3" name="Rounded Rectangle 42"/>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4" name="TextBox 43"/>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5" name="Rounded Rectangle 44"/>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6" name="TextBox 45"/>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7" name="Rounded Rectangle 46"/>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8" name="TextBox 47"/>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Congruence 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19</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rtlCol="0" anchor="ctr" lIns="54864" rIns="54864" tIns="27432" bIns="27432" wrap="square"/>
          <a:lstStyle/>
          <a:p>
            <a:pPr algn="ct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50" name="TextBox 49"/>
          <p:cNvSpPr txBox="1"/>
          <p:nvPr/>
        </p:nvSpPr>
        <p:spPr>
          <a:xfrm>
            <a:off x="5861304" y="1645920"/>
            <a:ext cx="731520" cy="548640"/>
          </a:xfrm>
          <a:prstGeom prst="rect">
            <a:avLst/>
          </a:prstGeom>
          <a:noFill/>
        </p:spPr>
        <p:txBody>
          <a:bodyPr wrap="square" anchor="ctr" lIns="45720" rIns="45720" tIns="27432" bIns="27432">
            <a:spAutoFit/>
          </a:bodyPr>
          <a:lstStyle/>
          <a:p>
            <a:pPr algn="ctr"/>
            <a:r>
              <a:rPr sz="2200" b="1" i="0">
                <a:solidFill>
                  <a:srgbClr val="C8501E"/>
                </a:solidFill>
                <a:latin typeface="Calibri"/>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Congruence closure by hand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20</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rtlCol="0" anchor="ctr" lIns="54864" rIns="54864" tIns="27432" bIns="27432" wrap="square"/>
          <a:lstStyle/>
          <a:p>
            <a:pPr algn="ct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50" name="TextBox 49"/>
          <p:cNvSpPr txBox="1"/>
          <p:nvPr/>
        </p:nvSpPr>
        <p:spPr>
          <a:xfrm>
            <a:off x="5724144" y="1316736"/>
            <a:ext cx="1005840" cy="274320"/>
          </a:xfrm>
          <a:prstGeom prst="rect">
            <a:avLst/>
          </a:prstGeom>
          <a:noFill/>
        </p:spPr>
        <p:txBody>
          <a:bodyPr wrap="square" anchor="t" lIns="45720" rIns="45720" tIns="27432" bIns="27432">
            <a:spAutoFit/>
          </a:bodyPr>
          <a:lstStyle/>
          <a:p>
            <a:pPr algn="ctr"/>
            <a:r>
              <a:rPr sz="1200" b="1" i="0">
                <a:solidFill>
                  <a:srgbClr val="6B717A"/>
                </a:solidFill>
                <a:latin typeface="Calibri"/>
              </a:rPr>
              <a:t>Query</a:t>
            </a:r>
          </a:p>
        </p:txBody>
      </p:sp>
      <p:sp>
        <p:nvSpPr>
          <p:cNvPr id="51" name="TextBox 50"/>
          <p:cNvSpPr txBox="1"/>
          <p:nvPr/>
        </p:nvSpPr>
        <p:spPr>
          <a:xfrm>
            <a:off x="5724144" y="1682496"/>
            <a:ext cx="1005840" cy="475488"/>
          </a:xfrm>
          <a:prstGeom prst="rect">
            <a:avLst/>
          </a:prstGeom>
          <a:noFill/>
        </p:spPr>
        <p:txBody>
          <a:bodyPr wrap="square" anchor="ctr" lIns="45720" rIns="45720" tIns="27432" bIns="27432">
            <a:spAutoFit/>
          </a:bodyPr>
          <a:lstStyle/>
          <a:p>
            <a:pPr algn="ctr"/>
            <a:r>
              <a:rPr sz="2400" b="1" i="0">
                <a:solidFill>
                  <a:srgbClr val="3A9A5B"/>
                </a:solidFill>
                <a:latin typeface="Calibri"/>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Observation</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21</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rtlCol="0" anchor="ctr" lIns="54864" rIns="54864" tIns="27432" bIns="27432" wrap="square"/>
          <a:lstStyle/>
          <a:p>
            <a:pPr algn="ct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6405372" y="2203704"/>
            <a:ext cx="484632" cy="2706624"/>
          </a:xfrm>
          <a:prstGeom prst="line">
            <a:avLst/>
          </a:prstGeom>
          <a:ln w="15875">
            <a:solidFill>
              <a:srgbClr val="8A8F98"/>
            </a:solidFill>
          </a:ln>
          <a:effectLst/>
        </p:spPr>
      </p:cxnSp>
      <p:cxnSp>
        <p:nvCxnSpPr>
          <p:cNvPr id="24" name="Connector 23"/>
          <p:cNvCxnSpPr/>
          <p:nvPr/>
        </p:nvCxnSpPr>
        <p:spPr>
          <a:xfrm flipH="1">
            <a:off x="3323844" y="2203704"/>
            <a:ext cx="2240280" cy="749807"/>
          </a:xfrm>
          <a:prstGeom prst="line">
            <a:avLst/>
          </a:prstGeom>
          <a:ln w="31750">
            <a:solidFill>
              <a:srgbClr val="C8501E"/>
            </a:solidFill>
            <a:tailEnd type="triangle" w="med" len="med"/>
          </a:ln>
          <a:effectLst/>
        </p:spPr>
      </p:cxnSp>
      <p:cxnSp>
        <p:nvCxnSpPr>
          <p:cNvPr id="25" name="Connector 24"/>
          <p:cNvCxnSpPr/>
          <p:nvPr/>
        </p:nvCxnSpPr>
        <p:spPr>
          <a:xfrm>
            <a:off x="5564124" y="2203704"/>
            <a:ext cx="2194559" cy="749807"/>
          </a:xfrm>
          <a:prstGeom prst="line">
            <a:avLst/>
          </a:prstGeom>
          <a:ln w="31750">
            <a:solidFill>
              <a:srgbClr val="C8501E"/>
            </a:solidFill>
            <a:tailEnd type="triangle" w="med" len="med"/>
          </a:ln>
          <a:effectLst/>
        </p:spPr>
      </p:cxnSp>
      <p:cxnSp>
        <p:nvCxnSpPr>
          <p:cNvPr id="26" name="Connector 25"/>
          <p:cNvCxnSpPr/>
          <p:nvPr/>
        </p:nvCxnSpPr>
        <p:spPr>
          <a:xfrm flipH="1">
            <a:off x="4421124" y="2203704"/>
            <a:ext cx="2468880" cy="749807"/>
          </a:xfrm>
          <a:prstGeom prst="line">
            <a:avLst/>
          </a:prstGeom>
          <a:ln w="31750">
            <a:solidFill>
              <a:srgbClr val="C8501E"/>
            </a:solidFill>
            <a:tailEnd type="triangle" w="med" len="med"/>
          </a:ln>
          <a:effectLst/>
        </p:spPr>
      </p:cxnSp>
      <p:cxnSp>
        <p:nvCxnSpPr>
          <p:cNvPr id="27" name="Connector 26"/>
          <p:cNvCxnSpPr/>
          <p:nvPr/>
        </p:nvCxnSpPr>
        <p:spPr>
          <a:xfrm>
            <a:off x="6890004" y="2203704"/>
            <a:ext cx="1965959" cy="749807"/>
          </a:xfrm>
          <a:prstGeom prst="line">
            <a:avLst/>
          </a:prstGeom>
          <a:ln w="31750">
            <a:solidFill>
              <a:srgbClr val="C8501E"/>
            </a:solidFill>
            <a:tailEnd type="triangle" w="med" len="med"/>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50" name="Rounded Rectangle 49"/>
          <p:cNvSpPr/>
          <p:nvPr/>
        </p:nvSpPr>
        <p:spPr>
          <a:xfrm>
            <a:off x="548640" y="5596128"/>
            <a:ext cx="11064240" cy="694944"/>
          </a:xfrm>
          <a:prstGeom prst="roundRect">
            <a:avLst>
              <a:gd name="adj" fmla="val 15000"/>
            </a:avLst>
          </a:prstGeom>
          <a:solidFill>
            <a:srgbClr val="1F2A44"/>
          </a:solidFill>
          <a:ln>
            <a:noFill/>
          </a:ln>
          <a:effectLst/>
        </p:spPr>
        <p:txBody>
          <a:bodyPr rtlCol="0" anchor="ctr" lIns="54864" rIns="54864" tIns="27432" bIns="27432" wrap="square"/>
          <a:lstStyle/>
          <a:p>
            <a:pPr algn="ctr"/>
            <a:r>
              <a:rPr sz="2600" b="1" i="0">
                <a:solidFill>
                  <a:srgbClr val="FFFFFF"/>
                </a:solidFill>
                <a:latin typeface="Calibri"/>
              </a:rPr>
              <a:t>Data dependences are parent–child edges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Observation</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22</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rtlCol="0" anchor="ctr" lIns="54864" rIns="54864" tIns="27432" bIns="27432" wrap="square"/>
          <a:lstStyle/>
          <a:p>
            <a:pPr algn="ct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50" name="TextBox 49"/>
          <p:cNvSpPr txBox="1"/>
          <p:nvPr/>
        </p:nvSpPr>
        <p:spPr>
          <a:xfrm>
            <a:off x="5678423" y="3136391"/>
            <a:ext cx="822960" cy="566928"/>
          </a:xfrm>
          <a:prstGeom prst="rect">
            <a:avLst/>
          </a:prstGeom>
          <a:noFill/>
        </p:spPr>
        <p:txBody>
          <a:bodyPr wrap="square" anchor="ctr" lIns="45720" rIns="45720" tIns="27432" bIns="27432">
            <a:spAutoFit/>
          </a:bodyPr>
          <a:lstStyle/>
          <a:p>
            <a:pPr algn="ctr"/>
            <a:r>
              <a:rPr sz="4000" b="1" i="0">
                <a:solidFill>
                  <a:srgbClr val="C8501E"/>
                </a:solidFill>
                <a:latin typeface="Calibri"/>
              </a:rPr>
              <a:t>∥</a:t>
            </a:r>
          </a:p>
        </p:txBody>
      </p:sp>
      <p:sp>
        <p:nvSpPr>
          <p:cNvPr id="51" name="TextBox 50"/>
          <p:cNvSpPr txBox="1"/>
          <p:nvPr/>
        </p:nvSpPr>
        <p:spPr>
          <a:xfrm>
            <a:off x="5404103" y="3739896"/>
            <a:ext cx="1371600" cy="274320"/>
          </a:xfrm>
          <a:prstGeom prst="rect">
            <a:avLst/>
          </a:prstGeom>
          <a:noFill/>
        </p:spPr>
        <p:txBody>
          <a:bodyPr wrap="square" anchor="t" lIns="45720" rIns="45720" tIns="27432" bIns="27432">
            <a:spAutoFit/>
          </a:bodyPr>
          <a:lstStyle/>
          <a:p>
            <a:pPr algn="ctr"/>
            <a:r>
              <a:rPr sz="1300" b="1" i="0">
                <a:solidFill>
                  <a:srgbClr val="C8501E"/>
                </a:solidFill>
                <a:latin typeface="Calibri"/>
              </a:rPr>
              <a:t>independent</a:t>
            </a:r>
          </a:p>
        </p:txBody>
      </p:sp>
      <p:sp>
        <p:nvSpPr>
          <p:cNvPr id="52" name="Rounded Rectangle 51"/>
          <p:cNvSpPr/>
          <p:nvPr/>
        </p:nvSpPr>
        <p:spPr>
          <a:xfrm>
            <a:off x="548640" y="5596128"/>
            <a:ext cx="11064240" cy="694944"/>
          </a:xfrm>
          <a:prstGeom prst="roundRect">
            <a:avLst>
              <a:gd name="adj" fmla="val 15000"/>
            </a:avLst>
          </a:prstGeom>
          <a:solidFill>
            <a:srgbClr val="1F2A44"/>
          </a:solidFill>
          <a:ln>
            <a:noFill/>
          </a:ln>
          <a:effectLst/>
        </p:spPr>
        <p:txBody>
          <a:bodyPr rtlCol="0" anchor="ctr" lIns="54864" rIns="54864" tIns="27432" bIns="27432" wrap="square"/>
          <a:lstStyle/>
          <a:p>
            <a:pPr algn="ctr"/>
            <a:r>
              <a:rPr sz="2600" b="1" i="0">
                <a:solidFill>
                  <a:srgbClr val="FFFFFF"/>
                </a:solidFill>
                <a:latin typeface="Calibri"/>
              </a:rPr>
              <a:t>Unrelated merges run in parallel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The structure induces a bulk-synchronous schedule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23</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rtlCol="0" anchor="ctr" lIns="54864" rIns="54864" tIns="27432" bIns="27432" wrap="square"/>
          <a:lstStyle/>
          <a:p>
            <a:pPr algn="ct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50" name="Rounded Rectangle 49"/>
          <p:cNvSpPr/>
          <p:nvPr/>
        </p:nvSpPr>
        <p:spPr>
          <a:xfrm>
            <a:off x="2263139" y="4663440"/>
            <a:ext cx="7662672" cy="914400"/>
          </a:xfrm>
          <a:prstGeom prst="roundRect">
            <a:avLst>
              <a:gd name="adj" fmla="val 35000"/>
            </a:avLst>
          </a:prstGeom>
          <a:noFill/>
          <a:ln w="28575">
            <a:solidFill>
              <a:srgbClr val="1F2A44"/>
            </a:solidFill>
            <a:prstDash val="lgDash"/>
          </a:ln>
          <a:effectLst/>
        </p:spPr>
        <p:txBody>
          <a:bodyPr rtlCol="0" anchor="ctr" lIns="54864" rIns="54864" tIns="27432" bIns="27432" wrap="square"/>
          <a:lstStyle/>
          <a:p>
            <a:pPr algn="ctr"/>
          </a:p>
        </p:txBody>
      </p:sp>
      <p:sp>
        <p:nvSpPr>
          <p:cNvPr id="51" name="TextBox 50"/>
          <p:cNvSpPr txBox="1"/>
          <p:nvPr/>
        </p:nvSpPr>
        <p:spPr>
          <a:xfrm>
            <a:off x="10017252" y="4937759"/>
            <a:ext cx="1188720" cy="365760"/>
          </a:xfrm>
          <a:prstGeom prst="rect">
            <a:avLst/>
          </a:prstGeom>
          <a:noFill/>
        </p:spPr>
        <p:txBody>
          <a:bodyPr wrap="square" anchor="ctr" lIns="45720" rIns="45720" tIns="27432" bIns="27432">
            <a:spAutoFit/>
          </a:bodyPr>
          <a:lstStyle/>
          <a:p>
            <a:pPr algn="l"/>
            <a:r>
              <a:rPr sz="1600" b="1" i="0">
                <a:solidFill>
                  <a:srgbClr val="1F2A44"/>
                </a:solidFill>
                <a:latin typeface="Calibri"/>
              </a:rPr>
              <a:t>round 0</a:t>
            </a:r>
          </a:p>
        </p:txBody>
      </p:sp>
      <p:sp>
        <p:nvSpPr>
          <p:cNvPr id="52" name="Rounded Rectangle 51"/>
          <p:cNvSpPr/>
          <p:nvPr/>
        </p:nvSpPr>
        <p:spPr>
          <a:xfrm>
            <a:off x="548640" y="5596128"/>
            <a:ext cx="11064240" cy="694944"/>
          </a:xfrm>
          <a:prstGeom prst="roundRect">
            <a:avLst>
              <a:gd name="adj" fmla="val 15000"/>
            </a:avLst>
          </a:prstGeom>
          <a:solidFill>
            <a:srgbClr val="1F2A44"/>
          </a:solidFill>
          <a:ln>
            <a:noFill/>
          </a:ln>
          <a:effectLst/>
        </p:spPr>
        <p:txBody>
          <a:bodyPr rtlCol="0" anchor="ctr" lIns="54864" rIns="54864" tIns="27432" bIns="27432" wrap="square"/>
          <a:lstStyle/>
          <a:p>
            <a:pPr algn="ctr"/>
            <a:r>
              <a:rPr sz="2600" b="1" i="0">
                <a:solidFill>
                  <a:srgbClr val="FFFFFF"/>
                </a:solidFill>
                <a:latin typeface="Calibri"/>
              </a:rPr>
              <a:t>Round 0: the input equalities, nothing waits on them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The structure induces a bulk-synchronous schedule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24</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rtlCol="0" anchor="ctr" lIns="54864" rIns="54864" tIns="27432" bIns="27432" wrap="square"/>
          <a:lstStyle/>
          <a:p>
            <a:pPr algn="ct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50" name="Rounded Rectangle 49"/>
          <p:cNvSpPr/>
          <p:nvPr/>
        </p:nvSpPr>
        <p:spPr>
          <a:xfrm>
            <a:off x="2263139" y="4663440"/>
            <a:ext cx="7662672" cy="914400"/>
          </a:xfrm>
          <a:prstGeom prst="roundRect">
            <a:avLst>
              <a:gd name="adj" fmla="val 35000"/>
            </a:avLst>
          </a:prstGeom>
          <a:noFill/>
          <a:ln w="28575">
            <a:solidFill>
              <a:srgbClr val="1F2A44"/>
            </a:solidFill>
            <a:prstDash val="lgDash"/>
          </a:ln>
          <a:effectLst/>
        </p:spPr>
        <p:txBody>
          <a:bodyPr rtlCol="0" anchor="ctr" lIns="54864" rIns="54864" tIns="27432" bIns="27432" wrap="square"/>
          <a:lstStyle/>
          <a:p>
            <a:pPr algn="ctr"/>
          </a:p>
        </p:txBody>
      </p:sp>
      <p:sp>
        <p:nvSpPr>
          <p:cNvPr id="51" name="TextBox 50"/>
          <p:cNvSpPr txBox="1"/>
          <p:nvPr/>
        </p:nvSpPr>
        <p:spPr>
          <a:xfrm>
            <a:off x="10017252" y="4937759"/>
            <a:ext cx="1188720" cy="365760"/>
          </a:xfrm>
          <a:prstGeom prst="rect">
            <a:avLst/>
          </a:prstGeom>
          <a:noFill/>
        </p:spPr>
        <p:txBody>
          <a:bodyPr wrap="square" anchor="ctr" lIns="45720" rIns="45720" tIns="27432" bIns="27432">
            <a:spAutoFit/>
          </a:bodyPr>
          <a:lstStyle/>
          <a:p>
            <a:pPr algn="l"/>
            <a:r>
              <a:rPr sz="1600" b="1" i="0">
                <a:solidFill>
                  <a:srgbClr val="1F2A44"/>
                </a:solidFill>
                <a:latin typeface="Calibri"/>
              </a:rPr>
              <a:t>round 0</a:t>
            </a:r>
          </a:p>
        </p:txBody>
      </p:sp>
      <p:sp>
        <p:nvSpPr>
          <p:cNvPr id="52" name="Rounded Rectangle 51"/>
          <p:cNvSpPr/>
          <p:nvPr/>
        </p:nvSpPr>
        <p:spPr>
          <a:xfrm>
            <a:off x="2674620" y="2715768"/>
            <a:ext cx="6830568" cy="1335024"/>
          </a:xfrm>
          <a:prstGeom prst="roundRect">
            <a:avLst>
              <a:gd name="adj" fmla="val 35000"/>
            </a:avLst>
          </a:prstGeom>
          <a:noFill/>
          <a:ln w="28575">
            <a:solidFill>
              <a:srgbClr val="1F2A44"/>
            </a:solidFill>
            <a:prstDash val="lgDash"/>
          </a:ln>
          <a:effectLst/>
        </p:spPr>
        <p:txBody>
          <a:bodyPr rtlCol="0" anchor="ctr" lIns="54864" rIns="54864" tIns="27432" bIns="27432" wrap="square"/>
          <a:lstStyle/>
          <a:p>
            <a:pPr algn="ctr"/>
          </a:p>
        </p:txBody>
      </p:sp>
      <p:sp>
        <p:nvSpPr>
          <p:cNvPr id="53" name="TextBox 52"/>
          <p:cNvSpPr txBox="1"/>
          <p:nvPr/>
        </p:nvSpPr>
        <p:spPr>
          <a:xfrm>
            <a:off x="9596628" y="3200399"/>
            <a:ext cx="1188720" cy="365760"/>
          </a:xfrm>
          <a:prstGeom prst="rect">
            <a:avLst/>
          </a:prstGeom>
          <a:noFill/>
        </p:spPr>
        <p:txBody>
          <a:bodyPr wrap="square" anchor="ctr" lIns="45720" rIns="45720" tIns="27432" bIns="27432">
            <a:spAutoFit/>
          </a:bodyPr>
          <a:lstStyle/>
          <a:p>
            <a:pPr algn="l"/>
            <a:r>
              <a:rPr sz="1600" b="1" i="0">
                <a:solidFill>
                  <a:srgbClr val="1F2A44"/>
                </a:solidFill>
                <a:latin typeface="Calibri"/>
              </a:rPr>
              <a:t>round 1</a:t>
            </a:r>
          </a:p>
        </p:txBody>
      </p:sp>
      <p:sp>
        <p:nvSpPr>
          <p:cNvPr id="54" name="Rounded Rectangle 53"/>
          <p:cNvSpPr/>
          <p:nvPr/>
        </p:nvSpPr>
        <p:spPr>
          <a:xfrm>
            <a:off x="548640" y="5596128"/>
            <a:ext cx="11064240" cy="694944"/>
          </a:xfrm>
          <a:prstGeom prst="roundRect">
            <a:avLst>
              <a:gd name="adj" fmla="val 15000"/>
            </a:avLst>
          </a:prstGeom>
          <a:solidFill>
            <a:srgbClr val="1F2A44"/>
          </a:solidFill>
          <a:ln>
            <a:noFill/>
          </a:ln>
          <a:effectLst/>
        </p:spPr>
        <p:txBody>
          <a:bodyPr rtlCol="0" anchor="ctr" lIns="54864" rIns="54864" tIns="27432" bIns="27432" wrap="square"/>
          <a:lstStyle/>
          <a:p>
            <a:pPr algn="ctr"/>
            <a:r>
              <a:rPr sz="2600" b="1" i="0">
                <a:solidFill>
                  <a:srgbClr val="FFFFFF"/>
                </a:solidFill>
                <a:latin typeface="Calibri"/>
              </a:rPr>
              <a:t>Round 1: both gate merges, enabled by round 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The structure induces a bulk-synchronous schedule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25</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rtlCol="0" anchor="ctr" lIns="54864" rIns="54864" tIns="27432" bIns="27432" wrap="square"/>
          <a:lstStyle/>
          <a:p>
            <a:pPr algn="ct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50" name="Rounded Rectangle 49"/>
          <p:cNvSpPr/>
          <p:nvPr/>
        </p:nvSpPr>
        <p:spPr>
          <a:xfrm>
            <a:off x="2263139" y="4663440"/>
            <a:ext cx="7662672" cy="914400"/>
          </a:xfrm>
          <a:prstGeom prst="roundRect">
            <a:avLst>
              <a:gd name="adj" fmla="val 35000"/>
            </a:avLst>
          </a:prstGeom>
          <a:noFill/>
          <a:ln w="28575">
            <a:solidFill>
              <a:srgbClr val="1F2A44"/>
            </a:solidFill>
            <a:prstDash val="lgDash"/>
          </a:ln>
          <a:effectLst/>
        </p:spPr>
        <p:txBody>
          <a:bodyPr rtlCol="0" anchor="ctr" lIns="54864" rIns="54864" tIns="27432" bIns="27432" wrap="square"/>
          <a:lstStyle/>
          <a:p>
            <a:pPr algn="ctr"/>
          </a:p>
        </p:txBody>
      </p:sp>
      <p:sp>
        <p:nvSpPr>
          <p:cNvPr id="51" name="TextBox 50"/>
          <p:cNvSpPr txBox="1"/>
          <p:nvPr/>
        </p:nvSpPr>
        <p:spPr>
          <a:xfrm>
            <a:off x="10017252" y="4937759"/>
            <a:ext cx="1188720" cy="365760"/>
          </a:xfrm>
          <a:prstGeom prst="rect">
            <a:avLst/>
          </a:prstGeom>
          <a:noFill/>
        </p:spPr>
        <p:txBody>
          <a:bodyPr wrap="square" anchor="ctr" lIns="45720" rIns="45720" tIns="27432" bIns="27432">
            <a:spAutoFit/>
          </a:bodyPr>
          <a:lstStyle/>
          <a:p>
            <a:pPr algn="l"/>
            <a:r>
              <a:rPr sz="1600" b="1" i="0">
                <a:solidFill>
                  <a:srgbClr val="1F2A44"/>
                </a:solidFill>
                <a:latin typeface="Calibri"/>
              </a:rPr>
              <a:t>round 0</a:t>
            </a:r>
          </a:p>
        </p:txBody>
      </p:sp>
      <p:sp>
        <p:nvSpPr>
          <p:cNvPr id="52" name="Rounded Rectangle 51"/>
          <p:cNvSpPr/>
          <p:nvPr/>
        </p:nvSpPr>
        <p:spPr>
          <a:xfrm>
            <a:off x="2674620" y="2715768"/>
            <a:ext cx="6830568" cy="1335024"/>
          </a:xfrm>
          <a:prstGeom prst="roundRect">
            <a:avLst>
              <a:gd name="adj" fmla="val 35000"/>
            </a:avLst>
          </a:prstGeom>
          <a:noFill/>
          <a:ln w="28575">
            <a:solidFill>
              <a:srgbClr val="1F2A44"/>
            </a:solidFill>
            <a:prstDash val="lgDash"/>
          </a:ln>
          <a:effectLst/>
        </p:spPr>
        <p:txBody>
          <a:bodyPr rtlCol="0" anchor="ctr" lIns="54864" rIns="54864" tIns="27432" bIns="27432" wrap="square"/>
          <a:lstStyle/>
          <a:p>
            <a:pPr algn="ctr"/>
          </a:p>
        </p:txBody>
      </p:sp>
      <p:sp>
        <p:nvSpPr>
          <p:cNvPr id="53" name="TextBox 52"/>
          <p:cNvSpPr txBox="1"/>
          <p:nvPr/>
        </p:nvSpPr>
        <p:spPr>
          <a:xfrm>
            <a:off x="9596628" y="3200399"/>
            <a:ext cx="1188720" cy="365760"/>
          </a:xfrm>
          <a:prstGeom prst="rect">
            <a:avLst/>
          </a:prstGeom>
          <a:noFill/>
        </p:spPr>
        <p:txBody>
          <a:bodyPr wrap="square" anchor="ctr" lIns="45720" rIns="45720" tIns="27432" bIns="27432">
            <a:spAutoFit/>
          </a:bodyPr>
          <a:lstStyle/>
          <a:p>
            <a:pPr algn="l"/>
            <a:r>
              <a:rPr sz="1600" b="1" i="0">
                <a:solidFill>
                  <a:srgbClr val="1F2A44"/>
                </a:solidFill>
                <a:latin typeface="Calibri"/>
              </a:rPr>
              <a:t>round 1</a:t>
            </a:r>
          </a:p>
        </p:txBody>
      </p:sp>
      <p:sp>
        <p:nvSpPr>
          <p:cNvPr id="54" name="Rounded Rectangle 53"/>
          <p:cNvSpPr/>
          <p:nvPr/>
        </p:nvSpPr>
        <p:spPr>
          <a:xfrm>
            <a:off x="4576572" y="1389888"/>
            <a:ext cx="3300984" cy="1060704"/>
          </a:xfrm>
          <a:prstGeom prst="roundRect">
            <a:avLst>
              <a:gd name="adj" fmla="val 35000"/>
            </a:avLst>
          </a:prstGeom>
          <a:noFill/>
          <a:ln w="28575">
            <a:solidFill>
              <a:srgbClr val="1F2A44"/>
            </a:solidFill>
            <a:prstDash val="lgDash"/>
          </a:ln>
          <a:effectLst/>
        </p:spPr>
        <p:txBody>
          <a:bodyPr rtlCol="0" anchor="ctr" lIns="54864" rIns="54864" tIns="27432" bIns="27432" wrap="square"/>
          <a:lstStyle/>
          <a:p>
            <a:pPr algn="ctr"/>
          </a:p>
        </p:txBody>
      </p:sp>
      <p:sp>
        <p:nvSpPr>
          <p:cNvPr id="55" name="TextBox 54"/>
          <p:cNvSpPr txBox="1"/>
          <p:nvPr/>
        </p:nvSpPr>
        <p:spPr>
          <a:xfrm>
            <a:off x="7968996" y="1737360"/>
            <a:ext cx="1188720" cy="365760"/>
          </a:xfrm>
          <a:prstGeom prst="rect">
            <a:avLst/>
          </a:prstGeom>
          <a:noFill/>
        </p:spPr>
        <p:txBody>
          <a:bodyPr wrap="square" anchor="ctr" lIns="45720" rIns="45720" tIns="27432" bIns="27432">
            <a:spAutoFit/>
          </a:bodyPr>
          <a:lstStyle/>
          <a:p>
            <a:pPr algn="l"/>
            <a:r>
              <a:rPr sz="1600" b="1" i="0">
                <a:solidFill>
                  <a:srgbClr val="1F2A44"/>
                </a:solidFill>
                <a:latin typeface="Calibri"/>
              </a:rPr>
              <a:t>round 2</a:t>
            </a:r>
          </a:p>
        </p:txBody>
      </p:sp>
      <p:sp>
        <p:nvSpPr>
          <p:cNvPr id="56" name="Rounded Rectangle 55"/>
          <p:cNvSpPr/>
          <p:nvPr/>
        </p:nvSpPr>
        <p:spPr>
          <a:xfrm>
            <a:off x="548640" y="5596128"/>
            <a:ext cx="11064240" cy="694944"/>
          </a:xfrm>
          <a:prstGeom prst="roundRect">
            <a:avLst>
              <a:gd name="adj" fmla="val 15000"/>
            </a:avLst>
          </a:prstGeom>
          <a:solidFill>
            <a:srgbClr val="1F2A44"/>
          </a:solidFill>
          <a:ln>
            <a:noFill/>
          </a:ln>
          <a:effectLst/>
        </p:spPr>
        <p:txBody>
          <a:bodyPr rtlCol="0" anchor="ctr" lIns="54864" rIns="54864" tIns="27432" bIns="27432" wrap="square"/>
          <a:lstStyle/>
          <a:p>
            <a:pPr algn="ctr"/>
            <a:r>
              <a:rPr sz="2600" b="1" i="0">
                <a:solidFill>
                  <a:srgbClr val="FFFFFF"/>
                </a:solidFill>
                <a:latin typeface="Calibri"/>
              </a:rPr>
              <a:t>Bulk-synchronous parallel: rounds of independent merges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The structure induces a bulk-synchronous schedule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26</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rtlCol="0" anchor="ctr" lIns="54864" rIns="54864" tIns="27432" bIns="27432" wrap="square"/>
          <a:lstStyle/>
          <a:p>
            <a:pPr algn="ctr"/>
          </a:p>
        </p:txBody>
      </p:sp>
      <p:cxnSp>
        <p:nvCxnSpPr>
          <p:cNvPr id="14" name="Connector 13"/>
          <p:cNvCxnSpPr/>
          <p:nvPr/>
        </p:nvCxnSpPr>
        <p:spPr>
          <a:xfrm flipH="1">
            <a:off x="2784348" y="3803903"/>
            <a:ext cx="539496" cy="1106425"/>
          </a:xfrm>
          <a:prstGeom prst="line">
            <a:avLst/>
          </a:prstGeom>
          <a:ln w="15875">
            <a:solidFill>
              <a:srgbClr val="8A8F98"/>
            </a:solidFill>
          </a:ln>
          <a:effectLst/>
        </p:spPr>
      </p:cxnSp>
      <p:cxnSp>
        <p:nvCxnSpPr>
          <p:cNvPr id="15" name="Connector 14"/>
          <p:cNvCxnSpPr/>
          <p:nvPr/>
        </p:nvCxnSpPr>
        <p:spPr>
          <a:xfrm>
            <a:off x="3323844" y="3803903"/>
            <a:ext cx="960120" cy="1106425"/>
          </a:xfrm>
          <a:prstGeom prst="line">
            <a:avLst/>
          </a:prstGeom>
          <a:ln w="15875">
            <a:solidFill>
              <a:srgbClr val="8A8F98"/>
            </a:solidFill>
          </a:ln>
          <a:effectLst/>
        </p:spPr>
      </p:cxnSp>
      <p:cxnSp>
        <p:nvCxnSpPr>
          <p:cNvPr id="16" name="Connector 15"/>
          <p:cNvCxnSpPr/>
          <p:nvPr/>
        </p:nvCxnSpPr>
        <p:spPr>
          <a:xfrm flipH="1">
            <a:off x="3406139" y="3803903"/>
            <a:ext cx="1014985" cy="1106425"/>
          </a:xfrm>
          <a:prstGeom prst="line">
            <a:avLst/>
          </a:prstGeom>
          <a:ln w="15875">
            <a:solidFill>
              <a:srgbClr val="8A8F98"/>
            </a:solidFill>
          </a:ln>
          <a:effectLst/>
        </p:spPr>
      </p:cxnSp>
      <p:cxnSp>
        <p:nvCxnSpPr>
          <p:cNvPr id="17" name="Connector 16"/>
          <p:cNvCxnSpPr/>
          <p:nvPr/>
        </p:nvCxnSpPr>
        <p:spPr>
          <a:xfrm>
            <a:off x="4421124" y="3803903"/>
            <a:ext cx="484632" cy="1106425"/>
          </a:xfrm>
          <a:prstGeom prst="line">
            <a:avLst/>
          </a:prstGeom>
          <a:ln w="15875">
            <a:solidFill>
              <a:srgbClr val="8A8F98"/>
            </a:solidFill>
          </a:ln>
          <a:effectLst/>
        </p:spPr>
      </p:cxnSp>
      <p:cxnSp>
        <p:nvCxnSpPr>
          <p:cNvPr id="18" name="Connector 17"/>
          <p:cNvCxnSpPr/>
          <p:nvPr/>
        </p:nvCxnSpPr>
        <p:spPr>
          <a:xfrm flipH="1">
            <a:off x="7283196" y="3803903"/>
            <a:ext cx="475487" cy="1106425"/>
          </a:xfrm>
          <a:prstGeom prst="line">
            <a:avLst/>
          </a:prstGeom>
          <a:ln w="15875">
            <a:solidFill>
              <a:srgbClr val="8A8F98"/>
            </a:solidFill>
          </a:ln>
          <a:effectLst/>
        </p:spPr>
      </p:cxnSp>
      <p:cxnSp>
        <p:nvCxnSpPr>
          <p:cNvPr id="19" name="Connector 18"/>
          <p:cNvCxnSpPr/>
          <p:nvPr/>
        </p:nvCxnSpPr>
        <p:spPr>
          <a:xfrm>
            <a:off x="7758683" y="3803903"/>
            <a:ext cx="1024129" cy="1106425"/>
          </a:xfrm>
          <a:prstGeom prst="line">
            <a:avLst/>
          </a:prstGeom>
          <a:ln w="15875">
            <a:solidFill>
              <a:srgbClr val="8A8F98"/>
            </a:solidFill>
          </a:ln>
          <a:effectLst/>
        </p:spPr>
      </p:cxnSp>
      <p:cxnSp>
        <p:nvCxnSpPr>
          <p:cNvPr id="20" name="Connector 19"/>
          <p:cNvCxnSpPr/>
          <p:nvPr/>
        </p:nvCxnSpPr>
        <p:spPr>
          <a:xfrm flipH="1">
            <a:off x="7904988" y="3803903"/>
            <a:ext cx="950975" cy="1106425"/>
          </a:xfrm>
          <a:prstGeom prst="line">
            <a:avLst/>
          </a:prstGeom>
          <a:ln w="15875">
            <a:solidFill>
              <a:srgbClr val="8A8F98"/>
            </a:solidFill>
          </a:ln>
          <a:effectLst/>
        </p:spPr>
      </p:cxnSp>
      <p:cxnSp>
        <p:nvCxnSpPr>
          <p:cNvPr id="21" name="Connector 20"/>
          <p:cNvCxnSpPr/>
          <p:nvPr/>
        </p:nvCxnSpPr>
        <p:spPr>
          <a:xfrm>
            <a:off x="8855963" y="3803903"/>
            <a:ext cx="548641" cy="1106425"/>
          </a:xfrm>
          <a:prstGeom prst="line">
            <a:avLst/>
          </a:prstGeom>
          <a:ln w="15875">
            <a:solidFill>
              <a:srgbClr val="8A8F98"/>
            </a:solidFill>
          </a:ln>
          <a:effectLst/>
        </p:spPr>
      </p:cxnSp>
      <p:cxnSp>
        <p:nvCxnSpPr>
          <p:cNvPr id="22" name="Connector 21"/>
          <p:cNvCxnSpPr/>
          <p:nvPr/>
        </p:nvCxnSpPr>
        <p:spPr>
          <a:xfrm>
            <a:off x="5564124" y="2203704"/>
            <a:ext cx="219455" cy="2706624"/>
          </a:xfrm>
          <a:prstGeom prst="line">
            <a:avLst/>
          </a:prstGeom>
          <a:ln w="15875">
            <a:solidFill>
              <a:srgbClr val="8A8F98"/>
            </a:solidFill>
          </a:ln>
          <a:effectLst/>
        </p:spPr>
      </p:cxnSp>
      <p:cxnSp>
        <p:nvCxnSpPr>
          <p:cNvPr id="23" name="Connector 22"/>
          <p:cNvCxnSpPr/>
          <p:nvPr/>
        </p:nvCxnSpPr>
        <p:spPr>
          <a:xfrm flipH="1">
            <a:off x="3323844" y="2203704"/>
            <a:ext cx="2240280" cy="749807"/>
          </a:xfrm>
          <a:prstGeom prst="line">
            <a:avLst/>
          </a:prstGeom>
          <a:ln w="15875">
            <a:solidFill>
              <a:srgbClr val="8A8F98"/>
            </a:solidFill>
          </a:ln>
          <a:effectLst/>
        </p:spPr>
      </p:cxnSp>
      <p:cxnSp>
        <p:nvCxnSpPr>
          <p:cNvPr id="24" name="Connector 23"/>
          <p:cNvCxnSpPr/>
          <p:nvPr/>
        </p:nvCxnSpPr>
        <p:spPr>
          <a:xfrm>
            <a:off x="5564124" y="2203704"/>
            <a:ext cx="2194559" cy="749807"/>
          </a:xfrm>
          <a:prstGeom prst="line">
            <a:avLst/>
          </a:prstGeom>
          <a:ln w="15875">
            <a:solidFill>
              <a:srgbClr val="8A8F98"/>
            </a:solidFill>
          </a:ln>
          <a:effectLst/>
        </p:spPr>
      </p:cxnSp>
      <p:cxnSp>
        <p:nvCxnSpPr>
          <p:cNvPr id="25" name="Connector 24"/>
          <p:cNvCxnSpPr/>
          <p:nvPr/>
        </p:nvCxnSpPr>
        <p:spPr>
          <a:xfrm flipH="1">
            <a:off x="6405372" y="2203704"/>
            <a:ext cx="484632" cy="2706624"/>
          </a:xfrm>
          <a:prstGeom prst="line">
            <a:avLst/>
          </a:prstGeom>
          <a:ln w="15875">
            <a:solidFill>
              <a:srgbClr val="8A8F98"/>
            </a:solidFill>
          </a:ln>
          <a:effectLst/>
        </p:spPr>
      </p:cxnSp>
      <p:cxnSp>
        <p:nvCxnSpPr>
          <p:cNvPr id="26" name="Connector 25"/>
          <p:cNvCxnSpPr/>
          <p:nvPr/>
        </p:nvCxnSpPr>
        <p:spPr>
          <a:xfrm flipH="1">
            <a:off x="4421124" y="2203704"/>
            <a:ext cx="2468880" cy="749807"/>
          </a:xfrm>
          <a:prstGeom prst="line">
            <a:avLst/>
          </a:prstGeom>
          <a:ln w="15875">
            <a:solidFill>
              <a:srgbClr val="8A8F98"/>
            </a:solidFill>
          </a:ln>
          <a:effectLst/>
        </p:spPr>
      </p:cxnSp>
      <p:cxnSp>
        <p:nvCxnSpPr>
          <p:cNvPr id="27" name="Connector 26"/>
          <p:cNvCxnSpPr/>
          <p:nvPr/>
        </p:nvCxnSpPr>
        <p:spPr>
          <a:xfrm>
            <a:off x="6890004" y="2203704"/>
            <a:ext cx="1965959" cy="749807"/>
          </a:xfrm>
          <a:prstGeom prst="line">
            <a:avLst/>
          </a:prstGeom>
          <a:ln w="15875">
            <a:solidFill>
              <a:srgbClr val="8A8F98"/>
            </a:solidFill>
          </a:ln>
          <a:effectLst/>
        </p:spPr>
      </p:cxnSp>
      <p:sp>
        <p:nvSpPr>
          <p:cNvPr id="28" name="Rounded Rectangle 27"/>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9" name="Rounded Rectangle 28"/>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0" name="Rounded Rectangle 29"/>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1" name="Rounded Rectangle 30"/>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2" name="Rounded Rectangle 31"/>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3" name="Rounded Rectangle 32"/>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4" name="Rounded Rectangle 33"/>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5" name="Rounded Rectangle 34"/>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6" name="Rounded Rectangle 35"/>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7" name="Rounded Rectangle 36"/>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8" name="Rounded Rectangle 37"/>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39" name="TextBox 38"/>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0" name="Rounded Rectangle 39"/>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1" name="TextBox 40"/>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2" name="Rounded Rectangle 41"/>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3" name="TextBox 42"/>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4" name="Rounded Rectangle 43"/>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5" name="TextBox 44"/>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6" name="Rounded Rectangle 45"/>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7" name="TextBox 46"/>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8" name="Rounded Rectangle 47"/>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9" name="TextBox 48"/>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50" name="Rounded Rectangle 49"/>
          <p:cNvSpPr/>
          <p:nvPr/>
        </p:nvSpPr>
        <p:spPr>
          <a:xfrm>
            <a:off x="2263139" y="4663440"/>
            <a:ext cx="7662672" cy="914400"/>
          </a:xfrm>
          <a:prstGeom prst="roundRect">
            <a:avLst>
              <a:gd name="adj" fmla="val 35000"/>
            </a:avLst>
          </a:prstGeom>
          <a:noFill/>
          <a:ln w="28575">
            <a:solidFill>
              <a:srgbClr val="1F2A44"/>
            </a:solidFill>
            <a:prstDash val="lgDash"/>
          </a:ln>
          <a:effectLst/>
        </p:spPr>
        <p:txBody>
          <a:bodyPr rtlCol="0" anchor="ctr" lIns="54864" rIns="54864" tIns="27432" bIns="27432" wrap="square"/>
          <a:lstStyle/>
          <a:p>
            <a:pPr algn="ctr"/>
          </a:p>
        </p:txBody>
      </p:sp>
      <p:sp>
        <p:nvSpPr>
          <p:cNvPr id="51" name="TextBox 50"/>
          <p:cNvSpPr txBox="1"/>
          <p:nvPr/>
        </p:nvSpPr>
        <p:spPr>
          <a:xfrm>
            <a:off x="10017252" y="4937759"/>
            <a:ext cx="1188720" cy="365760"/>
          </a:xfrm>
          <a:prstGeom prst="rect">
            <a:avLst/>
          </a:prstGeom>
          <a:noFill/>
        </p:spPr>
        <p:txBody>
          <a:bodyPr wrap="square" anchor="ctr" lIns="45720" rIns="45720" tIns="27432" bIns="27432">
            <a:spAutoFit/>
          </a:bodyPr>
          <a:lstStyle/>
          <a:p>
            <a:pPr algn="l"/>
            <a:r>
              <a:rPr sz="1600" b="1" i="0">
                <a:solidFill>
                  <a:srgbClr val="1F2A44"/>
                </a:solidFill>
                <a:latin typeface="Calibri"/>
              </a:rPr>
              <a:t>round 0</a:t>
            </a:r>
          </a:p>
        </p:txBody>
      </p:sp>
      <p:sp>
        <p:nvSpPr>
          <p:cNvPr id="52" name="Rounded Rectangle 51"/>
          <p:cNvSpPr/>
          <p:nvPr/>
        </p:nvSpPr>
        <p:spPr>
          <a:xfrm>
            <a:off x="2674620" y="2715768"/>
            <a:ext cx="6830568" cy="1335024"/>
          </a:xfrm>
          <a:prstGeom prst="roundRect">
            <a:avLst>
              <a:gd name="adj" fmla="val 35000"/>
            </a:avLst>
          </a:prstGeom>
          <a:noFill/>
          <a:ln w="28575">
            <a:solidFill>
              <a:srgbClr val="1F2A44"/>
            </a:solidFill>
            <a:prstDash val="lgDash"/>
          </a:ln>
          <a:effectLst/>
        </p:spPr>
        <p:txBody>
          <a:bodyPr rtlCol="0" anchor="ctr" lIns="54864" rIns="54864" tIns="27432" bIns="27432" wrap="square"/>
          <a:lstStyle/>
          <a:p>
            <a:pPr algn="ctr"/>
          </a:p>
        </p:txBody>
      </p:sp>
      <p:sp>
        <p:nvSpPr>
          <p:cNvPr id="53" name="TextBox 52"/>
          <p:cNvSpPr txBox="1"/>
          <p:nvPr/>
        </p:nvSpPr>
        <p:spPr>
          <a:xfrm>
            <a:off x="9596628" y="3200399"/>
            <a:ext cx="1188720" cy="365760"/>
          </a:xfrm>
          <a:prstGeom prst="rect">
            <a:avLst/>
          </a:prstGeom>
          <a:noFill/>
        </p:spPr>
        <p:txBody>
          <a:bodyPr wrap="square" anchor="ctr" lIns="45720" rIns="45720" tIns="27432" bIns="27432">
            <a:spAutoFit/>
          </a:bodyPr>
          <a:lstStyle/>
          <a:p>
            <a:pPr algn="l"/>
            <a:r>
              <a:rPr sz="1600" b="1" i="0">
                <a:solidFill>
                  <a:srgbClr val="1F2A44"/>
                </a:solidFill>
                <a:latin typeface="Calibri"/>
              </a:rPr>
              <a:t>round 1</a:t>
            </a:r>
          </a:p>
        </p:txBody>
      </p:sp>
      <p:sp>
        <p:nvSpPr>
          <p:cNvPr id="54" name="Rounded Rectangle 53"/>
          <p:cNvSpPr/>
          <p:nvPr/>
        </p:nvSpPr>
        <p:spPr>
          <a:xfrm>
            <a:off x="4576572" y="1389888"/>
            <a:ext cx="3300984" cy="1060704"/>
          </a:xfrm>
          <a:prstGeom prst="roundRect">
            <a:avLst>
              <a:gd name="adj" fmla="val 35000"/>
            </a:avLst>
          </a:prstGeom>
          <a:noFill/>
          <a:ln w="28575">
            <a:solidFill>
              <a:srgbClr val="1F2A44"/>
            </a:solidFill>
            <a:prstDash val="lgDash"/>
          </a:ln>
          <a:effectLst/>
        </p:spPr>
        <p:txBody>
          <a:bodyPr rtlCol="0" anchor="ctr" lIns="54864" rIns="54864" tIns="27432" bIns="27432" wrap="square"/>
          <a:lstStyle/>
          <a:p>
            <a:pPr algn="ctr"/>
          </a:p>
        </p:txBody>
      </p:sp>
      <p:sp>
        <p:nvSpPr>
          <p:cNvPr id="55" name="TextBox 54"/>
          <p:cNvSpPr txBox="1"/>
          <p:nvPr/>
        </p:nvSpPr>
        <p:spPr>
          <a:xfrm>
            <a:off x="7968996" y="1737360"/>
            <a:ext cx="1188720" cy="365760"/>
          </a:xfrm>
          <a:prstGeom prst="rect">
            <a:avLst/>
          </a:prstGeom>
          <a:noFill/>
        </p:spPr>
        <p:txBody>
          <a:bodyPr wrap="square" anchor="ctr" lIns="45720" rIns="45720" tIns="27432" bIns="27432">
            <a:spAutoFit/>
          </a:bodyPr>
          <a:lstStyle/>
          <a:p>
            <a:pPr algn="l"/>
            <a:r>
              <a:rPr sz="1600" b="1" i="0">
                <a:solidFill>
                  <a:srgbClr val="1F2A44"/>
                </a:solidFill>
                <a:latin typeface="Calibri"/>
              </a:rPr>
              <a:t>round 2</a:t>
            </a:r>
          </a:p>
        </p:txBody>
      </p:sp>
      <p:sp>
        <p:nvSpPr>
          <p:cNvPr id="56" name="Rounded Rectangle 55"/>
          <p:cNvSpPr/>
          <p:nvPr/>
        </p:nvSpPr>
        <p:spPr>
          <a:xfrm>
            <a:off x="548640" y="5596128"/>
            <a:ext cx="11064240" cy="694944"/>
          </a:xfrm>
          <a:prstGeom prst="roundRect">
            <a:avLst>
              <a:gd name="adj" fmla="val 15000"/>
            </a:avLst>
          </a:prstGeom>
          <a:solidFill>
            <a:srgbClr val="1F2A44"/>
          </a:solidFill>
          <a:ln>
            <a:noFill/>
          </a:ln>
          <a:effectLst/>
        </p:spPr>
        <p:txBody>
          <a:bodyPr rtlCol="0" anchor="ctr" lIns="54864" rIns="54864" tIns="27432" bIns="27432" wrap="square"/>
          <a:lstStyle/>
          <a:p>
            <a:pPr algn="ctr"/>
            <a:r>
              <a:rPr sz="2200" b="1" i="0">
                <a:solidFill>
                  <a:srgbClr val="FFFFFF"/>
                </a:solidFill>
                <a:latin typeface="Calibri"/>
              </a:rPr>
              <a:t>depth: number of rounds        width: merges per round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Two questions per round, two primitives</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27</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TextBox 5"/>
          <p:cNvSpPr txBox="1"/>
          <p:nvPr/>
        </p:nvSpPr>
        <p:spPr>
          <a:xfrm>
            <a:off x="731520" y="1417320"/>
            <a:ext cx="10789920" cy="502920"/>
          </a:xfrm>
          <a:prstGeom prst="rect">
            <a:avLst/>
          </a:prstGeom>
          <a:noFill/>
        </p:spPr>
        <p:txBody>
          <a:bodyPr wrap="square" anchor="t" lIns="45720" rIns="45720" tIns="27432" bIns="27432">
            <a:spAutoFit/>
          </a:bodyPr>
          <a:lstStyle/>
          <a:p>
            <a:pPr algn="l"/>
            <a:r>
              <a:rPr sz="2400" b="1" i="0">
                <a:solidFill>
                  <a:srgbClr val="1F2A44"/>
                </a:solidFill>
                <a:latin typeface="Calibri"/>
              </a:rPr>
              <a:t>How do we find all the merges of a round?</a:t>
            </a:r>
          </a:p>
        </p:txBody>
      </p:sp>
      <p:sp>
        <p:nvSpPr>
          <p:cNvPr id="7" name="TextBox 6"/>
          <p:cNvSpPr txBox="1"/>
          <p:nvPr/>
        </p:nvSpPr>
        <p:spPr>
          <a:xfrm>
            <a:off x="1280160" y="2057400"/>
            <a:ext cx="1188720" cy="365760"/>
          </a:xfrm>
          <a:prstGeom prst="rect">
            <a:avLst/>
          </a:prstGeom>
          <a:noFill/>
        </p:spPr>
        <p:txBody>
          <a:bodyPr wrap="square" anchor="ctr" lIns="45720" rIns="45720" tIns="27432" bIns="27432">
            <a:spAutoFit/>
          </a:bodyPr>
          <a:lstStyle/>
          <a:p>
            <a:pPr algn="l"/>
            <a:r>
              <a:rPr sz="1300" b="1" i="0">
                <a:solidFill>
                  <a:srgbClr val="6B717A"/>
                </a:solidFill>
                <a:latin typeface="Calibri"/>
              </a:rPr>
              <a:t>insight</a:t>
            </a:r>
          </a:p>
        </p:txBody>
      </p:sp>
      <p:sp>
        <p:nvSpPr>
          <p:cNvPr id="8" name="TextBox 7"/>
          <p:cNvSpPr txBox="1"/>
          <p:nvPr/>
        </p:nvSpPr>
        <p:spPr>
          <a:xfrm>
            <a:off x="2468880" y="2020824"/>
            <a:ext cx="8595360" cy="457200"/>
          </a:xfrm>
          <a:prstGeom prst="rect">
            <a:avLst/>
          </a:prstGeom>
          <a:noFill/>
        </p:spPr>
        <p:txBody>
          <a:bodyPr wrap="square" anchor="ctr" lIns="45720" rIns="45720" tIns="27432" bIns="27432">
            <a:spAutoFit/>
          </a:bodyPr>
          <a:lstStyle/>
          <a:p>
            <a:pPr algn="l"/>
            <a:r>
              <a:rPr sz="1900" b="0" i="0">
                <a:solidFill>
                  <a:srgbClr val="2B2F36"/>
                </a:solidFill>
                <a:latin typeface="Calibri"/>
              </a:rPr>
              <a:t>after one Find per child, congruence is equality of a key</a:t>
            </a:r>
          </a:p>
        </p:txBody>
      </p:sp>
      <p:sp>
        <p:nvSpPr>
          <p:cNvPr id="9" name="TextBox 8"/>
          <p:cNvSpPr txBox="1"/>
          <p:nvPr/>
        </p:nvSpPr>
        <p:spPr>
          <a:xfrm>
            <a:off x="1280160" y="2560320"/>
            <a:ext cx="1188720" cy="502920"/>
          </a:xfrm>
          <a:prstGeom prst="rect">
            <a:avLst/>
          </a:prstGeom>
          <a:noFill/>
        </p:spPr>
        <p:txBody>
          <a:bodyPr wrap="square" anchor="ctr" lIns="45720" rIns="45720" tIns="27432" bIns="27432">
            <a:spAutoFit/>
          </a:bodyPr>
          <a:lstStyle/>
          <a:p>
            <a:pPr algn="l"/>
            <a:r>
              <a:rPr sz="1300" b="1" i="0">
                <a:solidFill>
                  <a:srgbClr val="6B717A"/>
                </a:solidFill>
                <a:latin typeface="Calibri"/>
              </a:rPr>
              <a:t>so apply</a:t>
            </a:r>
          </a:p>
        </p:txBody>
      </p:sp>
      <p:sp>
        <p:nvSpPr>
          <p:cNvPr id="10" name="Rounded Rectangle 9"/>
          <p:cNvSpPr/>
          <p:nvPr/>
        </p:nvSpPr>
        <p:spPr>
          <a:xfrm>
            <a:off x="2468880" y="2532888"/>
            <a:ext cx="8595360" cy="566928"/>
          </a:xfrm>
          <a:prstGeom prst="roundRect">
            <a:avLst>
              <a:gd name="adj" fmla="val 15000"/>
            </a:avLst>
          </a:prstGeom>
          <a:solidFill>
            <a:srgbClr val="FBE4D3"/>
          </a:solidFill>
          <a:ln w="19050">
            <a:solidFill>
              <a:srgbClr val="C8501E"/>
            </a:solidFill>
          </a:ln>
          <a:effectLst/>
        </p:spPr>
        <p:txBody>
          <a:bodyPr rtlCol="0" anchor="ctr" lIns="54864" rIns="54864" tIns="27432" bIns="27432" wrap="square"/>
          <a:lstStyle/>
          <a:p>
            <a:pPr algn="ctr"/>
            <a:r>
              <a:rPr sz="2000" b="1" i="0">
                <a:solidFill>
                  <a:srgbClr val="2B2F36"/>
                </a:solidFill>
                <a:latin typeface="Calibri"/>
              </a:rPr>
              <a:t>semisort by that key</a:t>
            </a:r>
          </a:p>
        </p:txBody>
      </p:sp>
      <p:sp>
        <p:nvSpPr>
          <p:cNvPr id="11" name="TextBox 10"/>
          <p:cNvSpPr txBox="1"/>
          <p:nvPr/>
        </p:nvSpPr>
        <p:spPr>
          <a:xfrm>
            <a:off x="2468880" y="3118104"/>
            <a:ext cx="8595360" cy="274320"/>
          </a:xfrm>
          <a:prstGeom prst="rect">
            <a:avLst/>
          </a:prstGeom>
          <a:noFill/>
        </p:spPr>
        <p:txBody>
          <a:bodyPr wrap="square" anchor="t" lIns="45720" rIns="45720" tIns="27432" bIns="27432">
            <a:spAutoFit/>
          </a:bodyPr>
          <a:lstStyle/>
          <a:p>
            <a:pPr algn="r"/>
            <a:r>
              <a:rPr sz="1100" b="0" i="0">
                <a:solidFill>
                  <a:srgbClr val="6B717A"/>
                </a:solidFill>
                <a:latin typeface="Calibri"/>
              </a:rPr>
              <a:t>Gu, Shun, Sun &amp; Blelloch, SPAA 2015</a:t>
            </a:r>
          </a:p>
        </p:txBody>
      </p:sp>
      <p:sp>
        <p:nvSpPr>
          <p:cNvPr id="12" name="TextBox 11"/>
          <p:cNvSpPr txBox="1"/>
          <p:nvPr/>
        </p:nvSpPr>
        <p:spPr>
          <a:xfrm>
            <a:off x="731520" y="3840480"/>
            <a:ext cx="10789920" cy="502920"/>
          </a:xfrm>
          <a:prstGeom prst="rect">
            <a:avLst/>
          </a:prstGeom>
          <a:noFill/>
        </p:spPr>
        <p:txBody>
          <a:bodyPr wrap="square" anchor="t" lIns="45720" rIns="45720" tIns="27432" bIns="27432">
            <a:spAutoFit/>
          </a:bodyPr>
          <a:lstStyle/>
          <a:p>
            <a:pPr algn="l"/>
            <a:r>
              <a:rPr sz="2400" b="1" i="0">
                <a:solidFill>
                  <a:srgbClr val="1F2A44"/>
                </a:solidFill>
                <a:latin typeface="Calibri"/>
              </a:rPr>
              <a:t>How do we run thousands of unions at once, correctly?</a:t>
            </a:r>
          </a:p>
        </p:txBody>
      </p:sp>
      <p:sp>
        <p:nvSpPr>
          <p:cNvPr id="13" name="TextBox 12"/>
          <p:cNvSpPr txBox="1"/>
          <p:nvPr/>
        </p:nvSpPr>
        <p:spPr>
          <a:xfrm>
            <a:off x="1280160" y="4480560"/>
            <a:ext cx="1188720" cy="365760"/>
          </a:xfrm>
          <a:prstGeom prst="rect">
            <a:avLst/>
          </a:prstGeom>
          <a:noFill/>
        </p:spPr>
        <p:txBody>
          <a:bodyPr wrap="square" anchor="ctr" lIns="45720" rIns="45720" tIns="27432" bIns="27432">
            <a:spAutoFit/>
          </a:bodyPr>
          <a:lstStyle/>
          <a:p>
            <a:pPr algn="l"/>
            <a:r>
              <a:rPr sz="1300" b="1" i="0">
                <a:solidFill>
                  <a:srgbClr val="6B717A"/>
                </a:solidFill>
                <a:latin typeface="Calibri"/>
              </a:rPr>
              <a:t>insight</a:t>
            </a:r>
          </a:p>
        </p:txBody>
      </p:sp>
      <p:sp>
        <p:nvSpPr>
          <p:cNvPr id="14" name="TextBox 13"/>
          <p:cNvSpPr txBox="1"/>
          <p:nvPr/>
        </p:nvSpPr>
        <p:spPr>
          <a:xfrm>
            <a:off x="2468880" y="4443984"/>
            <a:ext cx="8595360" cy="457200"/>
          </a:xfrm>
          <a:prstGeom prst="rect">
            <a:avLst/>
          </a:prstGeom>
          <a:noFill/>
        </p:spPr>
        <p:txBody>
          <a:bodyPr wrap="square" anchor="ctr" lIns="45720" rIns="45720" tIns="27432" bIns="27432">
            <a:spAutoFit/>
          </a:bodyPr>
          <a:lstStyle/>
          <a:p>
            <a:pPr algn="l"/>
            <a:r>
              <a:rPr sz="1900" b="0" i="0">
                <a:solidFill>
                  <a:srgbClr val="2B2F36"/>
                </a:solidFill>
                <a:latin typeface="Calibri"/>
              </a:rPr>
              <a:t>the partition a set of unions produces does not depend on their order</a:t>
            </a:r>
          </a:p>
        </p:txBody>
      </p:sp>
      <p:sp>
        <p:nvSpPr>
          <p:cNvPr id="15" name="TextBox 14"/>
          <p:cNvSpPr txBox="1"/>
          <p:nvPr/>
        </p:nvSpPr>
        <p:spPr>
          <a:xfrm>
            <a:off x="1280160" y="4983480"/>
            <a:ext cx="1188720" cy="502920"/>
          </a:xfrm>
          <a:prstGeom prst="rect">
            <a:avLst/>
          </a:prstGeom>
          <a:noFill/>
        </p:spPr>
        <p:txBody>
          <a:bodyPr wrap="square" anchor="ctr" lIns="45720" rIns="45720" tIns="27432" bIns="27432">
            <a:spAutoFit/>
          </a:bodyPr>
          <a:lstStyle/>
          <a:p>
            <a:pPr algn="l"/>
            <a:r>
              <a:rPr sz="1300" b="1" i="0">
                <a:solidFill>
                  <a:srgbClr val="6B717A"/>
                </a:solidFill>
                <a:latin typeface="Calibri"/>
              </a:rPr>
              <a:t>so apply</a:t>
            </a:r>
          </a:p>
        </p:txBody>
      </p:sp>
      <p:sp>
        <p:nvSpPr>
          <p:cNvPr id="16" name="Rounded Rectangle 15"/>
          <p:cNvSpPr/>
          <p:nvPr/>
        </p:nvSpPr>
        <p:spPr>
          <a:xfrm>
            <a:off x="2468880" y="4956048"/>
            <a:ext cx="8595360" cy="566928"/>
          </a:xfrm>
          <a:prstGeom prst="roundRect">
            <a:avLst>
              <a:gd name="adj" fmla="val 15000"/>
            </a:avLst>
          </a:prstGeom>
          <a:solidFill>
            <a:srgbClr val="FBE4D3"/>
          </a:solidFill>
          <a:ln w="19050">
            <a:solidFill>
              <a:srgbClr val="C8501E"/>
            </a:solidFill>
          </a:ln>
          <a:effectLst/>
        </p:spPr>
        <p:txBody>
          <a:bodyPr rtlCol="0" anchor="ctr" lIns="54864" rIns="54864" tIns="27432" bIns="27432" wrap="square"/>
          <a:lstStyle/>
          <a:p>
            <a:pPr algn="ctr"/>
            <a:r>
              <a:rPr sz="2000" b="1" i="0">
                <a:solidFill>
                  <a:srgbClr val="2B2F36"/>
                </a:solidFill>
                <a:latin typeface="Calibri"/>
              </a:rPr>
              <a:t>lock-free concurrent union-find, no coordination</a:t>
            </a:r>
          </a:p>
        </p:txBody>
      </p:sp>
      <p:sp>
        <p:nvSpPr>
          <p:cNvPr id="17" name="TextBox 16"/>
          <p:cNvSpPr txBox="1"/>
          <p:nvPr/>
        </p:nvSpPr>
        <p:spPr>
          <a:xfrm>
            <a:off x="2468880" y="5541264"/>
            <a:ext cx="8595360" cy="274320"/>
          </a:xfrm>
          <a:prstGeom prst="rect">
            <a:avLst/>
          </a:prstGeom>
          <a:noFill/>
        </p:spPr>
        <p:txBody>
          <a:bodyPr wrap="square" anchor="t" lIns="45720" rIns="45720" tIns="27432" bIns="27432">
            <a:spAutoFit/>
          </a:bodyPr>
          <a:lstStyle/>
          <a:p>
            <a:pPr algn="r"/>
            <a:r>
              <a:rPr sz="1100" b="0" i="0">
                <a:solidFill>
                  <a:srgbClr val="6B717A"/>
                </a:solidFill>
                <a:latin typeface="Calibri"/>
              </a:rPr>
              <a:t>Alistarh, Fedorov &amp; Koval, OPODIS 2019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ParentCC: one round</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28</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685800" y="1691640"/>
            <a:ext cx="3291840" cy="2468880"/>
          </a:xfrm>
          <a:prstGeom prst="roundRect">
            <a:avLst>
              <a:gd name="adj" fmla="val 15000"/>
            </a:avLst>
          </a:prstGeom>
          <a:solidFill>
            <a:srgbClr val="DCEAF8"/>
          </a:solidFill>
          <a:ln w="19050">
            <a:solidFill>
              <a:srgbClr val="2E6FB0"/>
            </a:solidFill>
          </a:ln>
          <a:effectLst/>
        </p:spPr>
        <p:txBody>
          <a:bodyPr rtlCol="0" anchor="ctr" lIns="54864" rIns="54864" tIns="27432" bIns="27432" wrap="square"/>
          <a:lstStyle/>
          <a:p>
            <a:pPr algn="ctr"/>
          </a:p>
        </p:txBody>
      </p:sp>
      <p:sp>
        <p:nvSpPr>
          <p:cNvPr id="7" name="Rounded Rectangle 6"/>
          <p:cNvSpPr/>
          <p:nvPr/>
        </p:nvSpPr>
        <p:spPr>
          <a:xfrm>
            <a:off x="868680" y="1874520"/>
            <a:ext cx="457200" cy="457200"/>
          </a:xfrm>
          <a:prstGeom prst="roundRect">
            <a:avLst>
              <a:gd name="adj" fmla="val 50000"/>
            </a:avLst>
          </a:prstGeom>
          <a:solidFill>
            <a:srgbClr val="2E6FB0"/>
          </a:solidFill>
          <a:ln>
            <a:noFill/>
          </a:ln>
          <a:effectLst/>
        </p:spPr>
        <p:txBody>
          <a:bodyPr rtlCol="0" anchor="ctr" lIns="54864" rIns="54864" tIns="27432" bIns="27432" wrap="square"/>
          <a:lstStyle/>
          <a:p>
            <a:pPr algn="ctr"/>
            <a:r>
              <a:rPr sz="1600" b="1" i="0">
                <a:solidFill>
                  <a:srgbClr val="FFFFFF"/>
                </a:solidFill>
                <a:latin typeface="Calibri"/>
              </a:rPr>
              <a:t>1</a:t>
            </a:r>
          </a:p>
        </p:txBody>
      </p:sp>
      <p:sp>
        <p:nvSpPr>
          <p:cNvPr id="8" name="TextBox 7"/>
          <p:cNvSpPr txBox="1"/>
          <p:nvPr/>
        </p:nvSpPr>
        <p:spPr>
          <a:xfrm>
            <a:off x="868680" y="2468880"/>
            <a:ext cx="2926080" cy="777240"/>
          </a:xfrm>
          <a:prstGeom prst="rect">
            <a:avLst/>
          </a:prstGeom>
          <a:noFill/>
        </p:spPr>
        <p:txBody>
          <a:bodyPr wrap="square" anchor="t" lIns="45720" rIns="45720" tIns="27432" bIns="27432">
            <a:spAutoFit/>
          </a:bodyPr>
          <a:lstStyle/>
          <a:p>
            <a:pPr algn="ctr"/>
            <a:r>
              <a:rPr sz="1700" b="0" i="0">
                <a:solidFill>
                  <a:srgbClr val="6B717A"/>
                </a:solidFill>
                <a:latin typeface="Calibri"/>
              </a:rPr>
              <a:t>Who might have become congruent?</a:t>
            </a:r>
          </a:p>
        </p:txBody>
      </p:sp>
      <p:sp>
        <p:nvSpPr>
          <p:cNvPr id="9" name="TextBox 8"/>
          <p:cNvSpPr txBox="1"/>
          <p:nvPr/>
        </p:nvSpPr>
        <p:spPr>
          <a:xfrm>
            <a:off x="868680" y="3291840"/>
            <a:ext cx="2926080" cy="731520"/>
          </a:xfrm>
          <a:prstGeom prst="rect">
            <a:avLst/>
          </a:prstGeom>
          <a:noFill/>
        </p:spPr>
        <p:txBody>
          <a:bodyPr wrap="square" anchor="ctr" lIns="45720" rIns="45720" tIns="27432" bIns="27432">
            <a:spAutoFit/>
          </a:bodyPr>
          <a:lstStyle/>
          <a:p>
            <a:pPr algn="ctr"/>
            <a:r>
              <a:rPr sz="1900" b="1" i="0">
                <a:solidFill>
                  <a:srgbClr val="1F2A44"/>
                </a:solidFill>
                <a:latin typeface="Calibri"/>
              </a:rPr>
              <a:t>the parents of last round’s merges</a:t>
            </a:r>
          </a:p>
        </p:txBody>
      </p:sp>
      <p:sp>
        <p:nvSpPr>
          <p:cNvPr id="10" name="Rounded Rectangle 9"/>
          <p:cNvSpPr/>
          <p:nvPr/>
        </p:nvSpPr>
        <p:spPr>
          <a:xfrm>
            <a:off x="4453128" y="1691640"/>
            <a:ext cx="3291840" cy="2468880"/>
          </a:xfrm>
          <a:prstGeom prst="roundRect">
            <a:avLst>
              <a:gd name="adj" fmla="val 15000"/>
            </a:avLst>
          </a:prstGeom>
          <a:solidFill>
            <a:srgbClr val="EAE2F5"/>
          </a:solidFill>
          <a:ln w="19050">
            <a:solidFill>
              <a:srgbClr val="7B4FB5"/>
            </a:solidFill>
          </a:ln>
          <a:effectLst/>
        </p:spPr>
        <p:txBody>
          <a:bodyPr rtlCol="0" anchor="ctr" lIns="54864" rIns="54864" tIns="27432" bIns="27432" wrap="square"/>
          <a:lstStyle/>
          <a:p>
            <a:pPr algn="ctr"/>
          </a:p>
        </p:txBody>
      </p:sp>
      <p:sp>
        <p:nvSpPr>
          <p:cNvPr id="11" name="Rounded Rectangle 10"/>
          <p:cNvSpPr/>
          <p:nvPr/>
        </p:nvSpPr>
        <p:spPr>
          <a:xfrm>
            <a:off x="4636008" y="1874520"/>
            <a:ext cx="457200" cy="457200"/>
          </a:xfrm>
          <a:prstGeom prst="roundRect">
            <a:avLst>
              <a:gd name="adj" fmla="val 50000"/>
            </a:avLst>
          </a:prstGeom>
          <a:solidFill>
            <a:srgbClr val="7B4FB5"/>
          </a:solidFill>
          <a:ln>
            <a:noFill/>
          </a:ln>
          <a:effectLst/>
        </p:spPr>
        <p:txBody>
          <a:bodyPr rtlCol="0" anchor="ctr" lIns="54864" rIns="54864" tIns="27432" bIns="27432" wrap="square"/>
          <a:lstStyle/>
          <a:p>
            <a:pPr algn="ctr"/>
            <a:r>
              <a:rPr sz="1600" b="1" i="0">
                <a:solidFill>
                  <a:srgbClr val="FFFFFF"/>
                </a:solidFill>
                <a:latin typeface="Calibri"/>
              </a:rPr>
              <a:t>2</a:t>
            </a:r>
          </a:p>
        </p:txBody>
      </p:sp>
      <p:sp>
        <p:nvSpPr>
          <p:cNvPr id="12" name="TextBox 11"/>
          <p:cNvSpPr txBox="1"/>
          <p:nvPr/>
        </p:nvSpPr>
        <p:spPr>
          <a:xfrm>
            <a:off x="4636008" y="2468880"/>
            <a:ext cx="2926080" cy="777240"/>
          </a:xfrm>
          <a:prstGeom prst="rect">
            <a:avLst/>
          </a:prstGeom>
          <a:noFill/>
        </p:spPr>
        <p:txBody>
          <a:bodyPr wrap="square" anchor="t" lIns="45720" rIns="45720" tIns="27432" bIns="27432">
            <a:spAutoFit/>
          </a:bodyPr>
          <a:lstStyle/>
          <a:p>
            <a:pPr algn="ctr"/>
            <a:r>
              <a:rPr sz="1700" b="0" i="0">
                <a:solidFill>
                  <a:srgbClr val="6B717A"/>
                </a:solidFill>
                <a:latin typeface="Calibri"/>
              </a:rPr>
              <a:t>Who actually is?</a:t>
            </a:r>
          </a:p>
        </p:txBody>
      </p:sp>
      <p:sp>
        <p:nvSpPr>
          <p:cNvPr id="13" name="TextBox 12"/>
          <p:cNvSpPr txBox="1"/>
          <p:nvPr/>
        </p:nvSpPr>
        <p:spPr>
          <a:xfrm>
            <a:off x="4636008" y="3291840"/>
            <a:ext cx="2926080" cy="731520"/>
          </a:xfrm>
          <a:prstGeom prst="rect">
            <a:avLst/>
          </a:prstGeom>
          <a:noFill/>
        </p:spPr>
        <p:txBody>
          <a:bodyPr wrap="square" anchor="ctr" lIns="45720" rIns="45720" tIns="27432" bIns="27432">
            <a:spAutoFit/>
          </a:bodyPr>
          <a:lstStyle/>
          <a:p>
            <a:pPr algn="ctr"/>
            <a:r>
              <a:rPr sz="1900" b="1" i="0">
                <a:solidFill>
                  <a:srgbClr val="1F2A44"/>
                </a:solidFill>
                <a:latin typeface="Calibri"/>
              </a:rPr>
              <a:t>group them by signature</a:t>
            </a:r>
          </a:p>
        </p:txBody>
      </p:sp>
      <p:sp>
        <p:nvSpPr>
          <p:cNvPr id="14" name="Rounded Rectangle 13"/>
          <p:cNvSpPr/>
          <p:nvPr/>
        </p:nvSpPr>
        <p:spPr>
          <a:xfrm>
            <a:off x="8220456" y="1691640"/>
            <a:ext cx="3291840" cy="2468880"/>
          </a:xfrm>
          <a:prstGeom prst="roundRect">
            <a:avLst>
              <a:gd name="adj" fmla="val 15000"/>
            </a:avLst>
          </a:prstGeom>
          <a:solidFill>
            <a:srgbClr val="FBE4D3"/>
          </a:solidFill>
          <a:ln w="19050">
            <a:solidFill>
              <a:srgbClr val="C8501E"/>
            </a:solidFill>
          </a:ln>
          <a:effectLst/>
        </p:spPr>
        <p:txBody>
          <a:bodyPr rtlCol="0" anchor="ctr" lIns="54864" rIns="54864" tIns="27432" bIns="27432" wrap="square"/>
          <a:lstStyle/>
          <a:p>
            <a:pPr algn="ctr"/>
          </a:p>
        </p:txBody>
      </p:sp>
      <p:sp>
        <p:nvSpPr>
          <p:cNvPr id="15" name="Rounded Rectangle 14"/>
          <p:cNvSpPr/>
          <p:nvPr/>
        </p:nvSpPr>
        <p:spPr>
          <a:xfrm>
            <a:off x="8403336" y="1874520"/>
            <a:ext cx="457200" cy="457200"/>
          </a:xfrm>
          <a:prstGeom prst="roundRect">
            <a:avLst>
              <a:gd name="adj" fmla="val 50000"/>
            </a:avLst>
          </a:prstGeom>
          <a:solidFill>
            <a:srgbClr val="C8501E"/>
          </a:solidFill>
          <a:ln>
            <a:noFill/>
          </a:ln>
          <a:effectLst/>
        </p:spPr>
        <p:txBody>
          <a:bodyPr rtlCol="0" anchor="ctr" lIns="54864" rIns="54864" tIns="27432" bIns="27432" wrap="square"/>
          <a:lstStyle/>
          <a:p>
            <a:pPr algn="ctr"/>
            <a:r>
              <a:rPr sz="1600" b="1" i="0">
                <a:solidFill>
                  <a:srgbClr val="FFFFFF"/>
                </a:solidFill>
                <a:latin typeface="Calibri"/>
              </a:rPr>
              <a:t>3</a:t>
            </a:r>
          </a:p>
        </p:txBody>
      </p:sp>
      <p:sp>
        <p:nvSpPr>
          <p:cNvPr id="16" name="TextBox 15"/>
          <p:cNvSpPr txBox="1"/>
          <p:nvPr/>
        </p:nvSpPr>
        <p:spPr>
          <a:xfrm>
            <a:off x="8403336" y="2468880"/>
            <a:ext cx="2926080" cy="777240"/>
          </a:xfrm>
          <a:prstGeom prst="rect">
            <a:avLst/>
          </a:prstGeom>
          <a:noFill/>
        </p:spPr>
        <p:txBody>
          <a:bodyPr wrap="square" anchor="t" lIns="45720" rIns="45720" tIns="27432" bIns="27432">
            <a:spAutoFit/>
          </a:bodyPr>
          <a:lstStyle/>
          <a:p>
            <a:pPr algn="ctr"/>
            <a:r>
              <a:rPr sz="1700" b="0" i="0">
                <a:solidFill>
                  <a:srgbClr val="6B717A"/>
                </a:solidFill>
                <a:latin typeface="Calibri"/>
              </a:rPr>
              <a:t>Merge</a:t>
            </a:r>
          </a:p>
        </p:txBody>
      </p:sp>
      <p:sp>
        <p:nvSpPr>
          <p:cNvPr id="17" name="TextBox 16"/>
          <p:cNvSpPr txBox="1"/>
          <p:nvPr/>
        </p:nvSpPr>
        <p:spPr>
          <a:xfrm>
            <a:off x="8403336" y="3291840"/>
            <a:ext cx="2926080" cy="731520"/>
          </a:xfrm>
          <a:prstGeom prst="rect">
            <a:avLst/>
          </a:prstGeom>
          <a:noFill/>
        </p:spPr>
        <p:txBody>
          <a:bodyPr wrap="square" anchor="ctr" lIns="45720" rIns="45720" tIns="27432" bIns="27432">
            <a:spAutoFit/>
          </a:bodyPr>
          <a:lstStyle/>
          <a:p>
            <a:pPr algn="ctr"/>
            <a:r>
              <a:rPr sz="1900" b="1" i="0">
                <a:solidFill>
                  <a:srgbClr val="1F2A44"/>
                </a:solidFill>
                <a:latin typeface="Calibri"/>
              </a:rPr>
              <a:t>every group, in parallel</a:t>
            </a:r>
          </a:p>
        </p:txBody>
      </p:sp>
      <p:cxnSp>
        <p:nvCxnSpPr>
          <p:cNvPr id="18" name="Connector 17"/>
          <p:cNvCxnSpPr/>
          <p:nvPr/>
        </p:nvCxnSpPr>
        <p:spPr>
          <a:xfrm>
            <a:off x="3977639" y="2926080"/>
            <a:ext cx="475489" cy="0"/>
          </a:xfrm>
          <a:prstGeom prst="line">
            <a:avLst/>
          </a:prstGeom>
          <a:ln w="25400">
            <a:solidFill>
              <a:srgbClr val="2B2F36"/>
            </a:solidFill>
            <a:tailEnd type="triangle" w="med" len="med"/>
          </a:ln>
          <a:effectLst/>
        </p:spPr>
      </p:cxnSp>
      <p:cxnSp>
        <p:nvCxnSpPr>
          <p:cNvPr id="19" name="Connector 18"/>
          <p:cNvCxnSpPr/>
          <p:nvPr/>
        </p:nvCxnSpPr>
        <p:spPr>
          <a:xfrm>
            <a:off x="7744968" y="2926080"/>
            <a:ext cx="475488" cy="0"/>
          </a:xfrm>
          <a:prstGeom prst="line">
            <a:avLst/>
          </a:prstGeom>
          <a:ln w="25400">
            <a:solidFill>
              <a:srgbClr val="2B2F36"/>
            </a:solidFill>
            <a:tailEnd type="triangle" w="med" len="med"/>
          </a:ln>
          <a:effectLst/>
        </p:spPr>
      </p:cxnSp>
      <p:cxnSp>
        <p:nvCxnSpPr>
          <p:cNvPr id="20" name="Connector 19"/>
          <p:cNvCxnSpPr/>
          <p:nvPr/>
        </p:nvCxnSpPr>
        <p:spPr>
          <a:xfrm>
            <a:off x="9866376" y="4160520"/>
            <a:ext cx="0" cy="502920"/>
          </a:xfrm>
          <a:prstGeom prst="line">
            <a:avLst/>
          </a:prstGeom>
          <a:ln w="25400">
            <a:solidFill>
              <a:srgbClr val="2B2F36"/>
            </a:solidFill>
          </a:ln>
          <a:effectLst/>
        </p:spPr>
      </p:cxnSp>
      <p:cxnSp>
        <p:nvCxnSpPr>
          <p:cNvPr id="21" name="Connector 20"/>
          <p:cNvCxnSpPr/>
          <p:nvPr/>
        </p:nvCxnSpPr>
        <p:spPr>
          <a:xfrm flipH="1">
            <a:off x="2331720" y="4663440"/>
            <a:ext cx="7534656" cy="0"/>
          </a:xfrm>
          <a:prstGeom prst="line">
            <a:avLst/>
          </a:prstGeom>
          <a:ln w="25400">
            <a:solidFill>
              <a:srgbClr val="2B2F36"/>
            </a:solidFill>
          </a:ln>
          <a:effectLst/>
        </p:spPr>
      </p:cxnSp>
      <p:cxnSp>
        <p:nvCxnSpPr>
          <p:cNvPr id="22" name="Connector 21"/>
          <p:cNvCxnSpPr/>
          <p:nvPr/>
        </p:nvCxnSpPr>
        <p:spPr>
          <a:xfrm flipV="1">
            <a:off x="2331720" y="4160520"/>
            <a:ext cx="0" cy="502920"/>
          </a:xfrm>
          <a:prstGeom prst="line">
            <a:avLst/>
          </a:prstGeom>
          <a:ln w="25400">
            <a:solidFill>
              <a:srgbClr val="2B2F36"/>
            </a:solidFill>
            <a:tailEnd type="triangle" w="med" len="med"/>
          </a:ln>
          <a:effectLst/>
        </p:spPr>
      </p:cxnSp>
      <p:sp>
        <p:nvSpPr>
          <p:cNvPr id="23" name="TextBox 22"/>
          <p:cNvSpPr txBox="1"/>
          <p:nvPr/>
        </p:nvSpPr>
        <p:spPr>
          <a:xfrm>
            <a:off x="3291840" y="4709160"/>
            <a:ext cx="5577840" cy="365760"/>
          </a:xfrm>
          <a:prstGeom prst="rect">
            <a:avLst/>
          </a:prstGeom>
          <a:noFill/>
        </p:spPr>
        <p:txBody>
          <a:bodyPr wrap="square" anchor="t" lIns="45720" rIns="45720" tIns="27432" bIns="27432">
            <a:spAutoFit/>
          </a:bodyPr>
          <a:lstStyle/>
          <a:p>
            <a:pPr algn="ctr"/>
            <a:r>
              <a:rPr sz="1600" b="1" i="0">
                <a:solidFill>
                  <a:srgbClr val="1F2A44"/>
                </a:solidFill>
                <a:latin typeface="Calibri"/>
              </a:rPr>
              <a:t>repeat while a round merged something</a:t>
            </a:r>
          </a:p>
        </p:txBody>
      </p:sp>
      <p:sp>
        <p:nvSpPr>
          <p:cNvPr id="24" name="TextBox 23"/>
          <p:cNvSpPr txBox="1"/>
          <p:nvPr/>
        </p:nvSpPr>
        <p:spPr>
          <a:xfrm>
            <a:off x="685800" y="5166360"/>
            <a:ext cx="10789920" cy="365760"/>
          </a:xfrm>
          <a:prstGeom prst="rect">
            <a:avLst/>
          </a:prstGeom>
          <a:noFill/>
        </p:spPr>
        <p:txBody>
          <a:bodyPr wrap="square" anchor="t" lIns="45720" rIns="45720" tIns="27432" bIns="27432">
            <a:spAutoFit/>
          </a:bodyPr>
          <a:lstStyle/>
          <a:p>
            <a:pPr algn="ctr"/>
            <a:r>
              <a:rPr sz="1500" b="0" i="0">
                <a:solidFill>
                  <a:srgbClr val="6B717A"/>
                </a:solidFill>
                <a:latin typeface="Calibri"/>
              </a:rPr>
              <a:t>first round: consider every term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ParentCC on the example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29</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66644" y="2907791"/>
            <a:ext cx="2011680" cy="950976"/>
          </a:xfrm>
          <a:prstGeom prst="roundRect">
            <a:avLst>
              <a:gd name="adj" fmla="val 30000"/>
            </a:avLst>
          </a:prstGeom>
          <a:noFill/>
          <a:ln w="22225">
            <a:solidFill>
              <a:srgbClr val="7B4FB5"/>
            </a:solidFill>
            <a:prstDash val="sysDot"/>
          </a:ln>
          <a:effectLst/>
        </p:spPr>
        <p:txBody>
          <a:bodyPr rtlCol="0" anchor="ctr" lIns="54864" rIns="54864" tIns="27432" bIns="27432" wrap="square"/>
          <a:lstStyle/>
          <a:p>
            <a:pPr algn="ctr"/>
          </a:p>
        </p:txBody>
      </p:sp>
      <p:sp>
        <p:nvSpPr>
          <p:cNvPr id="12" name="Rounded Rectangle 11"/>
          <p:cNvSpPr/>
          <p:nvPr/>
        </p:nvSpPr>
        <p:spPr>
          <a:xfrm>
            <a:off x="7301483" y="2907791"/>
            <a:ext cx="2011680" cy="950976"/>
          </a:xfrm>
          <a:prstGeom prst="roundRect">
            <a:avLst>
              <a:gd name="adj" fmla="val 30000"/>
            </a:avLst>
          </a:prstGeom>
          <a:noFill/>
          <a:ln w="22225">
            <a:solidFill>
              <a:srgbClr val="7B4FB5"/>
            </a:solidFill>
            <a:prstDash val="sysDot"/>
          </a:ln>
          <a:effectLst/>
        </p:spPr>
        <p:txBody>
          <a:bodyPr rtlCol="0" anchor="ctr" lIns="54864" rIns="54864" tIns="27432" bIns="27432" wrap="square"/>
          <a:lstStyle/>
          <a:p>
            <a:pPr algn="ctr"/>
          </a:p>
        </p:txBody>
      </p:sp>
      <p:sp>
        <p:nvSpPr>
          <p:cNvPr id="13" name="Rounded Rectangle 12"/>
          <p:cNvSpPr/>
          <p:nvPr/>
        </p:nvSpPr>
        <p:spPr>
          <a:xfrm>
            <a:off x="4768596" y="1581912"/>
            <a:ext cx="1252728" cy="676656"/>
          </a:xfrm>
          <a:prstGeom prst="roundRect">
            <a:avLst>
              <a:gd name="adj" fmla="val 30000"/>
            </a:avLst>
          </a:prstGeom>
          <a:noFill/>
          <a:ln w="22225">
            <a:solidFill>
              <a:srgbClr val="7B4FB5"/>
            </a:solidFill>
            <a:prstDash val="sysDot"/>
          </a:ln>
          <a:effectLst/>
        </p:spPr>
        <p:txBody>
          <a:bodyPr rtlCol="0" anchor="ctr" lIns="54864" rIns="54864" tIns="27432" bIns="27432" wrap="square"/>
          <a:lstStyle/>
          <a:p>
            <a:pPr algn="ctr"/>
          </a:p>
        </p:txBody>
      </p:sp>
      <p:sp>
        <p:nvSpPr>
          <p:cNvPr id="14" name="Rounded Rectangle 13"/>
          <p:cNvSpPr/>
          <p:nvPr/>
        </p:nvSpPr>
        <p:spPr>
          <a:xfrm>
            <a:off x="6432804" y="1581912"/>
            <a:ext cx="1252728" cy="676656"/>
          </a:xfrm>
          <a:prstGeom prst="roundRect">
            <a:avLst>
              <a:gd name="adj" fmla="val 30000"/>
            </a:avLst>
          </a:prstGeom>
          <a:noFill/>
          <a:ln w="22225">
            <a:solidFill>
              <a:srgbClr val="7B4FB5"/>
            </a:solidFill>
            <a:prstDash val="sysDot"/>
          </a:ln>
          <a:effectLst/>
        </p:spPr>
        <p:txBody>
          <a:bodyPr rtlCol="0" anchor="ctr" lIns="54864" rIns="54864" tIns="27432" bIns="27432" wrap="square"/>
          <a:lstStyle/>
          <a:p>
            <a:pPr algn="ctr"/>
          </a:p>
        </p:txBody>
      </p:sp>
      <p:cxnSp>
        <p:nvCxnSpPr>
          <p:cNvPr id="15" name="Connector 14"/>
          <p:cNvCxnSpPr/>
          <p:nvPr/>
        </p:nvCxnSpPr>
        <p:spPr>
          <a:xfrm flipH="1">
            <a:off x="2784348" y="3803903"/>
            <a:ext cx="539496" cy="1106425"/>
          </a:xfrm>
          <a:prstGeom prst="line">
            <a:avLst/>
          </a:prstGeom>
          <a:ln w="15875">
            <a:solidFill>
              <a:srgbClr val="8A8F98"/>
            </a:solidFill>
          </a:ln>
          <a:effectLst/>
        </p:spPr>
      </p:cxnSp>
      <p:cxnSp>
        <p:nvCxnSpPr>
          <p:cNvPr id="16" name="Connector 15"/>
          <p:cNvCxnSpPr/>
          <p:nvPr/>
        </p:nvCxnSpPr>
        <p:spPr>
          <a:xfrm>
            <a:off x="3323844" y="3803903"/>
            <a:ext cx="960120" cy="1106425"/>
          </a:xfrm>
          <a:prstGeom prst="line">
            <a:avLst/>
          </a:prstGeom>
          <a:ln w="15875">
            <a:solidFill>
              <a:srgbClr val="8A8F98"/>
            </a:solidFill>
          </a:ln>
          <a:effectLst/>
        </p:spPr>
      </p:cxnSp>
      <p:cxnSp>
        <p:nvCxnSpPr>
          <p:cNvPr id="17" name="Connector 16"/>
          <p:cNvCxnSpPr/>
          <p:nvPr/>
        </p:nvCxnSpPr>
        <p:spPr>
          <a:xfrm flipH="1">
            <a:off x="3406139" y="3803903"/>
            <a:ext cx="1014985" cy="1106425"/>
          </a:xfrm>
          <a:prstGeom prst="line">
            <a:avLst/>
          </a:prstGeom>
          <a:ln w="15875">
            <a:solidFill>
              <a:srgbClr val="8A8F98"/>
            </a:solidFill>
          </a:ln>
          <a:effectLst/>
        </p:spPr>
      </p:cxnSp>
      <p:cxnSp>
        <p:nvCxnSpPr>
          <p:cNvPr id="18" name="Connector 17"/>
          <p:cNvCxnSpPr/>
          <p:nvPr/>
        </p:nvCxnSpPr>
        <p:spPr>
          <a:xfrm>
            <a:off x="4421124" y="3803903"/>
            <a:ext cx="484632" cy="1106425"/>
          </a:xfrm>
          <a:prstGeom prst="line">
            <a:avLst/>
          </a:prstGeom>
          <a:ln w="15875">
            <a:solidFill>
              <a:srgbClr val="8A8F98"/>
            </a:solidFill>
          </a:ln>
          <a:effectLst/>
        </p:spPr>
      </p:cxnSp>
      <p:cxnSp>
        <p:nvCxnSpPr>
          <p:cNvPr id="19" name="Connector 18"/>
          <p:cNvCxnSpPr/>
          <p:nvPr/>
        </p:nvCxnSpPr>
        <p:spPr>
          <a:xfrm flipH="1">
            <a:off x="7283196" y="3803903"/>
            <a:ext cx="475487" cy="1106425"/>
          </a:xfrm>
          <a:prstGeom prst="line">
            <a:avLst/>
          </a:prstGeom>
          <a:ln w="15875">
            <a:solidFill>
              <a:srgbClr val="8A8F98"/>
            </a:solidFill>
          </a:ln>
          <a:effectLst/>
        </p:spPr>
      </p:cxnSp>
      <p:cxnSp>
        <p:nvCxnSpPr>
          <p:cNvPr id="20" name="Connector 19"/>
          <p:cNvCxnSpPr/>
          <p:nvPr/>
        </p:nvCxnSpPr>
        <p:spPr>
          <a:xfrm>
            <a:off x="7758683" y="3803903"/>
            <a:ext cx="1024129" cy="1106425"/>
          </a:xfrm>
          <a:prstGeom prst="line">
            <a:avLst/>
          </a:prstGeom>
          <a:ln w="15875">
            <a:solidFill>
              <a:srgbClr val="8A8F98"/>
            </a:solidFill>
          </a:ln>
          <a:effectLst/>
        </p:spPr>
      </p:cxnSp>
      <p:cxnSp>
        <p:nvCxnSpPr>
          <p:cNvPr id="21" name="Connector 20"/>
          <p:cNvCxnSpPr/>
          <p:nvPr/>
        </p:nvCxnSpPr>
        <p:spPr>
          <a:xfrm flipH="1">
            <a:off x="7904988" y="3803903"/>
            <a:ext cx="950975" cy="1106425"/>
          </a:xfrm>
          <a:prstGeom prst="line">
            <a:avLst/>
          </a:prstGeom>
          <a:ln w="15875">
            <a:solidFill>
              <a:srgbClr val="8A8F98"/>
            </a:solidFill>
          </a:ln>
          <a:effectLst/>
        </p:spPr>
      </p:cxnSp>
      <p:cxnSp>
        <p:nvCxnSpPr>
          <p:cNvPr id="22" name="Connector 21"/>
          <p:cNvCxnSpPr/>
          <p:nvPr/>
        </p:nvCxnSpPr>
        <p:spPr>
          <a:xfrm>
            <a:off x="8855963" y="3803903"/>
            <a:ext cx="548641" cy="1106425"/>
          </a:xfrm>
          <a:prstGeom prst="line">
            <a:avLst/>
          </a:prstGeom>
          <a:ln w="15875">
            <a:solidFill>
              <a:srgbClr val="8A8F98"/>
            </a:solidFill>
          </a:ln>
          <a:effectLst/>
        </p:spPr>
      </p:cxnSp>
      <p:cxnSp>
        <p:nvCxnSpPr>
          <p:cNvPr id="23" name="Connector 22"/>
          <p:cNvCxnSpPr/>
          <p:nvPr/>
        </p:nvCxnSpPr>
        <p:spPr>
          <a:xfrm>
            <a:off x="5564124" y="2203704"/>
            <a:ext cx="219455" cy="2706624"/>
          </a:xfrm>
          <a:prstGeom prst="line">
            <a:avLst/>
          </a:prstGeom>
          <a:ln w="15875">
            <a:solidFill>
              <a:srgbClr val="8A8F98"/>
            </a:solidFill>
          </a:ln>
          <a:effectLst/>
        </p:spPr>
      </p:cxnSp>
      <p:cxnSp>
        <p:nvCxnSpPr>
          <p:cNvPr id="24" name="Connector 23"/>
          <p:cNvCxnSpPr/>
          <p:nvPr/>
        </p:nvCxnSpPr>
        <p:spPr>
          <a:xfrm flipH="1">
            <a:off x="3323844" y="2203704"/>
            <a:ext cx="2240280" cy="749807"/>
          </a:xfrm>
          <a:prstGeom prst="line">
            <a:avLst/>
          </a:prstGeom>
          <a:ln w="15875">
            <a:solidFill>
              <a:srgbClr val="8A8F98"/>
            </a:solidFill>
          </a:ln>
          <a:effectLst/>
        </p:spPr>
      </p:cxnSp>
      <p:cxnSp>
        <p:nvCxnSpPr>
          <p:cNvPr id="25" name="Connector 24"/>
          <p:cNvCxnSpPr/>
          <p:nvPr/>
        </p:nvCxnSpPr>
        <p:spPr>
          <a:xfrm>
            <a:off x="5564124" y="2203704"/>
            <a:ext cx="2194559" cy="749807"/>
          </a:xfrm>
          <a:prstGeom prst="line">
            <a:avLst/>
          </a:prstGeom>
          <a:ln w="15875">
            <a:solidFill>
              <a:srgbClr val="8A8F98"/>
            </a:solidFill>
          </a:ln>
          <a:effectLst/>
        </p:spPr>
      </p:cxnSp>
      <p:cxnSp>
        <p:nvCxnSpPr>
          <p:cNvPr id="26" name="Connector 25"/>
          <p:cNvCxnSpPr/>
          <p:nvPr/>
        </p:nvCxnSpPr>
        <p:spPr>
          <a:xfrm flipH="1">
            <a:off x="6405372" y="2203704"/>
            <a:ext cx="484632" cy="2706624"/>
          </a:xfrm>
          <a:prstGeom prst="line">
            <a:avLst/>
          </a:prstGeom>
          <a:ln w="15875">
            <a:solidFill>
              <a:srgbClr val="8A8F98"/>
            </a:solidFill>
          </a:ln>
          <a:effectLst/>
        </p:spPr>
      </p:cxnSp>
      <p:cxnSp>
        <p:nvCxnSpPr>
          <p:cNvPr id="27" name="Connector 26"/>
          <p:cNvCxnSpPr/>
          <p:nvPr/>
        </p:nvCxnSpPr>
        <p:spPr>
          <a:xfrm flipH="1">
            <a:off x="4421124" y="2203704"/>
            <a:ext cx="2468880" cy="749807"/>
          </a:xfrm>
          <a:prstGeom prst="line">
            <a:avLst/>
          </a:prstGeom>
          <a:ln w="15875">
            <a:solidFill>
              <a:srgbClr val="8A8F98"/>
            </a:solidFill>
          </a:ln>
          <a:effectLst/>
        </p:spPr>
      </p:cxnSp>
      <p:cxnSp>
        <p:nvCxnSpPr>
          <p:cNvPr id="28" name="Connector 27"/>
          <p:cNvCxnSpPr/>
          <p:nvPr/>
        </p:nvCxnSpPr>
        <p:spPr>
          <a:xfrm>
            <a:off x="6890004" y="2203704"/>
            <a:ext cx="1965959" cy="749807"/>
          </a:xfrm>
          <a:prstGeom prst="line">
            <a:avLst/>
          </a:prstGeom>
          <a:ln w="15875">
            <a:solidFill>
              <a:srgbClr val="8A8F98"/>
            </a:solidFill>
          </a:ln>
          <a:effectLst/>
        </p:spPr>
      </p:cxnSp>
      <p:sp>
        <p:nvSpPr>
          <p:cNvPr id="29" name="Rounded Rectangle 28"/>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0" name="Rounded Rectangle 29"/>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1" name="Rounded Rectangle 30"/>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2" name="Rounded Rectangle 31"/>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3" name="Rounded Rectangle 32"/>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4" name="Rounded Rectangle 33"/>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5" name="Rounded Rectangle 34"/>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6" name="Rounded Rectangle 35"/>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7" name="Rounded Rectangle 36"/>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8" name="Rounded Rectangle 37"/>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9" name="Rounded Rectangle 38"/>
          <p:cNvSpPr/>
          <p:nvPr/>
        </p:nvSpPr>
        <p:spPr>
          <a:xfrm>
            <a:off x="292150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40" name="TextBox 39"/>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1" name="Rounded Rectangle 40"/>
          <p:cNvSpPr/>
          <p:nvPr/>
        </p:nvSpPr>
        <p:spPr>
          <a:xfrm>
            <a:off x="4018787"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42" name="TextBox 41"/>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3" name="Rounded Rectangle 42"/>
          <p:cNvSpPr/>
          <p:nvPr/>
        </p:nvSpPr>
        <p:spPr>
          <a:xfrm>
            <a:off x="735634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44" name="TextBox 43"/>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5" name="Rounded Rectangle 44"/>
          <p:cNvSpPr/>
          <p:nvPr/>
        </p:nvSpPr>
        <p:spPr>
          <a:xfrm>
            <a:off x="845362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46" name="TextBox 45"/>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7" name="Rounded Rectangle 46"/>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8" name="TextBox 47"/>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9" name="Rounded Rectangle 48"/>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50" name="TextBox 49"/>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51" name="TextBox 50"/>
          <p:cNvSpPr txBox="1"/>
          <p:nvPr/>
        </p:nvSpPr>
        <p:spPr>
          <a:xfrm>
            <a:off x="2775203" y="2633472"/>
            <a:ext cx="2194560" cy="274320"/>
          </a:xfrm>
          <a:prstGeom prst="rect">
            <a:avLst/>
          </a:prstGeom>
          <a:noFill/>
        </p:spPr>
        <p:txBody>
          <a:bodyPr wrap="square" anchor="ctr" lIns="45720" rIns="45720" tIns="27432" bIns="27432">
            <a:spAutoFit/>
          </a:bodyPr>
          <a:lstStyle/>
          <a:p>
            <a:pPr algn="ctr"/>
            <a:r>
              <a:rPr sz="1150" b="1" i="0">
                <a:solidFill>
                  <a:srgbClr val="7B4FB5"/>
                </a:solidFill>
                <a:latin typeface="Calibri"/>
              </a:rPr>
              <a:t>AND([r], [s])</a:t>
            </a:r>
          </a:p>
        </p:txBody>
      </p:sp>
      <p:sp>
        <p:nvSpPr>
          <p:cNvPr id="52" name="TextBox 51"/>
          <p:cNvSpPr txBox="1"/>
          <p:nvPr/>
        </p:nvSpPr>
        <p:spPr>
          <a:xfrm>
            <a:off x="7210044" y="2633472"/>
            <a:ext cx="2194560" cy="274320"/>
          </a:xfrm>
          <a:prstGeom prst="rect">
            <a:avLst/>
          </a:prstGeom>
          <a:noFill/>
        </p:spPr>
        <p:txBody>
          <a:bodyPr wrap="square" anchor="ctr" lIns="45720" rIns="45720" tIns="27432" bIns="27432">
            <a:spAutoFit/>
          </a:bodyPr>
          <a:lstStyle/>
          <a:p>
            <a:pPr algn="ctr"/>
            <a:r>
              <a:rPr sz="1150" b="1" i="0">
                <a:solidFill>
                  <a:srgbClr val="7B4FB5"/>
                </a:solidFill>
                <a:latin typeface="Calibri"/>
              </a:rPr>
              <a:t>XOR([u], [v])</a:t>
            </a:r>
          </a:p>
        </p:txBody>
      </p:sp>
      <p:sp>
        <p:nvSpPr>
          <p:cNvPr id="53" name="TextBox 52"/>
          <p:cNvSpPr txBox="1"/>
          <p:nvPr/>
        </p:nvSpPr>
        <p:spPr>
          <a:xfrm>
            <a:off x="4297680" y="1307592"/>
            <a:ext cx="2194560" cy="274320"/>
          </a:xfrm>
          <a:prstGeom prst="rect">
            <a:avLst/>
          </a:prstGeom>
          <a:noFill/>
        </p:spPr>
        <p:txBody>
          <a:bodyPr wrap="square" anchor="ctr" lIns="45720" rIns="45720" tIns="27432" bIns="27432">
            <a:spAutoFit/>
          </a:bodyPr>
          <a:lstStyle/>
          <a:p>
            <a:pPr algn="ctr"/>
            <a:r>
              <a:rPr sz="1150" b="1" i="0">
                <a:solidFill>
                  <a:srgbClr val="7B4FB5"/>
                </a:solidFill>
                <a:latin typeface="Calibri"/>
              </a:rPr>
              <a:t>ITE([c], [a₁], [x₁])</a:t>
            </a:r>
          </a:p>
        </p:txBody>
      </p:sp>
      <p:sp>
        <p:nvSpPr>
          <p:cNvPr id="54" name="TextBox 53"/>
          <p:cNvSpPr txBox="1"/>
          <p:nvPr/>
        </p:nvSpPr>
        <p:spPr>
          <a:xfrm>
            <a:off x="5961888" y="1307592"/>
            <a:ext cx="2194560" cy="274320"/>
          </a:xfrm>
          <a:prstGeom prst="rect">
            <a:avLst/>
          </a:prstGeom>
          <a:noFill/>
        </p:spPr>
        <p:txBody>
          <a:bodyPr wrap="square" anchor="ctr" lIns="45720" rIns="45720" tIns="27432" bIns="27432">
            <a:spAutoFit/>
          </a:bodyPr>
          <a:lstStyle/>
          <a:p>
            <a:pPr algn="ctr"/>
            <a:r>
              <a:rPr sz="1150" b="1" i="0">
                <a:solidFill>
                  <a:srgbClr val="7B4FB5"/>
                </a:solidFill>
                <a:latin typeface="Calibri"/>
              </a:rPr>
              <a:t>ITE([c], [a₂], [x₂])</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ParentCC on the example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30</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cxnSp>
        <p:nvCxnSpPr>
          <p:cNvPr id="13" name="Connector 12"/>
          <p:cNvCxnSpPr/>
          <p:nvPr/>
        </p:nvCxnSpPr>
        <p:spPr>
          <a:xfrm flipH="1">
            <a:off x="2784348" y="3803903"/>
            <a:ext cx="539496" cy="1106425"/>
          </a:xfrm>
          <a:prstGeom prst="line">
            <a:avLst/>
          </a:prstGeom>
          <a:ln w="15875">
            <a:solidFill>
              <a:srgbClr val="8A8F98"/>
            </a:solidFill>
          </a:ln>
          <a:effectLst/>
        </p:spPr>
      </p:cxnSp>
      <p:cxnSp>
        <p:nvCxnSpPr>
          <p:cNvPr id="14" name="Connector 13"/>
          <p:cNvCxnSpPr/>
          <p:nvPr/>
        </p:nvCxnSpPr>
        <p:spPr>
          <a:xfrm>
            <a:off x="3323844" y="3803903"/>
            <a:ext cx="960120" cy="1106425"/>
          </a:xfrm>
          <a:prstGeom prst="line">
            <a:avLst/>
          </a:prstGeom>
          <a:ln w="15875">
            <a:solidFill>
              <a:srgbClr val="8A8F98"/>
            </a:solidFill>
          </a:ln>
          <a:effectLst/>
        </p:spPr>
      </p:cxnSp>
      <p:cxnSp>
        <p:nvCxnSpPr>
          <p:cNvPr id="15" name="Connector 14"/>
          <p:cNvCxnSpPr/>
          <p:nvPr/>
        </p:nvCxnSpPr>
        <p:spPr>
          <a:xfrm flipH="1">
            <a:off x="3406139" y="3803903"/>
            <a:ext cx="1014985" cy="1106425"/>
          </a:xfrm>
          <a:prstGeom prst="line">
            <a:avLst/>
          </a:prstGeom>
          <a:ln w="15875">
            <a:solidFill>
              <a:srgbClr val="8A8F98"/>
            </a:solidFill>
          </a:ln>
          <a:effectLst/>
        </p:spPr>
      </p:cxnSp>
      <p:cxnSp>
        <p:nvCxnSpPr>
          <p:cNvPr id="16" name="Connector 15"/>
          <p:cNvCxnSpPr/>
          <p:nvPr/>
        </p:nvCxnSpPr>
        <p:spPr>
          <a:xfrm>
            <a:off x="4421124" y="3803903"/>
            <a:ext cx="484632" cy="1106425"/>
          </a:xfrm>
          <a:prstGeom prst="line">
            <a:avLst/>
          </a:prstGeom>
          <a:ln w="15875">
            <a:solidFill>
              <a:srgbClr val="8A8F98"/>
            </a:solidFill>
          </a:ln>
          <a:effectLst/>
        </p:spPr>
      </p:cxnSp>
      <p:cxnSp>
        <p:nvCxnSpPr>
          <p:cNvPr id="17" name="Connector 16"/>
          <p:cNvCxnSpPr/>
          <p:nvPr/>
        </p:nvCxnSpPr>
        <p:spPr>
          <a:xfrm flipH="1">
            <a:off x="7283196" y="3803903"/>
            <a:ext cx="475487" cy="1106425"/>
          </a:xfrm>
          <a:prstGeom prst="line">
            <a:avLst/>
          </a:prstGeom>
          <a:ln w="15875">
            <a:solidFill>
              <a:srgbClr val="8A8F98"/>
            </a:solidFill>
          </a:ln>
          <a:effectLst/>
        </p:spPr>
      </p:cxnSp>
      <p:cxnSp>
        <p:nvCxnSpPr>
          <p:cNvPr id="18" name="Connector 17"/>
          <p:cNvCxnSpPr/>
          <p:nvPr/>
        </p:nvCxnSpPr>
        <p:spPr>
          <a:xfrm>
            <a:off x="7758683" y="3803903"/>
            <a:ext cx="1024129" cy="1106425"/>
          </a:xfrm>
          <a:prstGeom prst="line">
            <a:avLst/>
          </a:prstGeom>
          <a:ln w="15875">
            <a:solidFill>
              <a:srgbClr val="8A8F98"/>
            </a:solidFill>
          </a:ln>
          <a:effectLst/>
        </p:spPr>
      </p:cxnSp>
      <p:cxnSp>
        <p:nvCxnSpPr>
          <p:cNvPr id="19" name="Connector 18"/>
          <p:cNvCxnSpPr/>
          <p:nvPr/>
        </p:nvCxnSpPr>
        <p:spPr>
          <a:xfrm flipH="1">
            <a:off x="7904988" y="3803903"/>
            <a:ext cx="950975" cy="1106425"/>
          </a:xfrm>
          <a:prstGeom prst="line">
            <a:avLst/>
          </a:prstGeom>
          <a:ln w="15875">
            <a:solidFill>
              <a:srgbClr val="8A8F98"/>
            </a:solidFill>
          </a:ln>
          <a:effectLst/>
        </p:spPr>
      </p:cxnSp>
      <p:cxnSp>
        <p:nvCxnSpPr>
          <p:cNvPr id="20" name="Connector 19"/>
          <p:cNvCxnSpPr/>
          <p:nvPr/>
        </p:nvCxnSpPr>
        <p:spPr>
          <a:xfrm>
            <a:off x="8855963" y="3803903"/>
            <a:ext cx="548641" cy="1106425"/>
          </a:xfrm>
          <a:prstGeom prst="line">
            <a:avLst/>
          </a:prstGeom>
          <a:ln w="15875">
            <a:solidFill>
              <a:srgbClr val="8A8F98"/>
            </a:solidFill>
          </a:ln>
          <a:effectLst/>
        </p:spPr>
      </p:cxnSp>
      <p:cxnSp>
        <p:nvCxnSpPr>
          <p:cNvPr id="21" name="Connector 20"/>
          <p:cNvCxnSpPr/>
          <p:nvPr/>
        </p:nvCxnSpPr>
        <p:spPr>
          <a:xfrm>
            <a:off x="5564124" y="2203704"/>
            <a:ext cx="219455" cy="2706624"/>
          </a:xfrm>
          <a:prstGeom prst="line">
            <a:avLst/>
          </a:prstGeom>
          <a:ln w="15875">
            <a:solidFill>
              <a:srgbClr val="8A8F98"/>
            </a:solidFill>
          </a:ln>
          <a:effectLst/>
        </p:spPr>
      </p:cxnSp>
      <p:cxnSp>
        <p:nvCxnSpPr>
          <p:cNvPr id="22" name="Connector 21"/>
          <p:cNvCxnSpPr/>
          <p:nvPr/>
        </p:nvCxnSpPr>
        <p:spPr>
          <a:xfrm flipH="1">
            <a:off x="3323844" y="2203704"/>
            <a:ext cx="2240280" cy="749807"/>
          </a:xfrm>
          <a:prstGeom prst="line">
            <a:avLst/>
          </a:prstGeom>
          <a:ln w="15875">
            <a:solidFill>
              <a:srgbClr val="8A8F98"/>
            </a:solidFill>
          </a:ln>
          <a:effectLst/>
        </p:spPr>
      </p:cxnSp>
      <p:cxnSp>
        <p:nvCxnSpPr>
          <p:cNvPr id="23" name="Connector 22"/>
          <p:cNvCxnSpPr/>
          <p:nvPr/>
        </p:nvCxnSpPr>
        <p:spPr>
          <a:xfrm>
            <a:off x="5564124" y="2203704"/>
            <a:ext cx="2194559" cy="749807"/>
          </a:xfrm>
          <a:prstGeom prst="line">
            <a:avLst/>
          </a:prstGeom>
          <a:ln w="15875">
            <a:solidFill>
              <a:srgbClr val="8A8F98"/>
            </a:solidFill>
          </a:ln>
          <a:effectLst/>
        </p:spPr>
      </p:cxnSp>
      <p:cxnSp>
        <p:nvCxnSpPr>
          <p:cNvPr id="24" name="Connector 23"/>
          <p:cNvCxnSpPr/>
          <p:nvPr/>
        </p:nvCxnSpPr>
        <p:spPr>
          <a:xfrm flipH="1">
            <a:off x="6405372" y="2203704"/>
            <a:ext cx="484632" cy="2706624"/>
          </a:xfrm>
          <a:prstGeom prst="line">
            <a:avLst/>
          </a:prstGeom>
          <a:ln w="15875">
            <a:solidFill>
              <a:srgbClr val="8A8F98"/>
            </a:solidFill>
          </a:ln>
          <a:effectLst/>
        </p:spPr>
      </p:cxnSp>
      <p:cxnSp>
        <p:nvCxnSpPr>
          <p:cNvPr id="25" name="Connector 24"/>
          <p:cNvCxnSpPr/>
          <p:nvPr/>
        </p:nvCxnSpPr>
        <p:spPr>
          <a:xfrm flipH="1">
            <a:off x="4421124" y="2203704"/>
            <a:ext cx="2468880" cy="749807"/>
          </a:xfrm>
          <a:prstGeom prst="line">
            <a:avLst/>
          </a:prstGeom>
          <a:ln w="15875">
            <a:solidFill>
              <a:srgbClr val="8A8F98"/>
            </a:solidFill>
          </a:ln>
          <a:effectLst/>
        </p:spPr>
      </p:cxnSp>
      <p:cxnSp>
        <p:nvCxnSpPr>
          <p:cNvPr id="26" name="Connector 25"/>
          <p:cNvCxnSpPr/>
          <p:nvPr/>
        </p:nvCxnSpPr>
        <p:spPr>
          <a:xfrm>
            <a:off x="6890004" y="2203704"/>
            <a:ext cx="1965959" cy="749807"/>
          </a:xfrm>
          <a:prstGeom prst="line">
            <a:avLst/>
          </a:prstGeom>
          <a:ln w="15875">
            <a:solidFill>
              <a:srgbClr val="8A8F98"/>
            </a:solidFill>
          </a:ln>
          <a:effectLst/>
        </p:spPr>
      </p:cxnSp>
      <p:sp>
        <p:nvSpPr>
          <p:cNvPr id="27" name="Rounded Rectangle 26"/>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8" name="Rounded Rectangle 27"/>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29" name="Rounded Rectangle 28"/>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0" name="Rounded Rectangle 29"/>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1" name="Rounded Rectangle 30"/>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2" name="Rounded Rectangle 31"/>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3" name="Rounded Rectangle 32"/>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4" name="Rounded Rectangle 33"/>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5" name="Rounded Rectangle 34"/>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6" name="Rounded Rectangle 35"/>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7" name="Rounded Rectangle 36"/>
          <p:cNvSpPr/>
          <p:nvPr/>
        </p:nvSpPr>
        <p:spPr>
          <a:xfrm>
            <a:off x="292150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38" name="TextBox 37"/>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39" name="Rounded Rectangle 38"/>
          <p:cNvSpPr/>
          <p:nvPr/>
        </p:nvSpPr>
        <p:spPr>
          <a:xfrm>
            <a:off x="4018787"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40" name="TextBox 39"/>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1" name="Rounded Rectangle 40"/>
          <p:cNvSpPr/>
          <p:nvPr/>
        </p:nvSpPr>
        <p:spPr>
          <a:xfrm>
            <a:off x="735634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42" name="TextBox 41"/>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3" name="Rounded Rectangle 42"/>
          <p:cNvSpPr/>
          <p:nvPr/>
        </p:nvSpPr>
        <p:spPr>
          <a:xfrm>
            <a:off x="845362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44" name="TextBox 43"/>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5" name="Rounded Rectangle 44"/>
          <p:cNvSpPr/>
          <p:nvPr/>
        </p:nvSpPr>
        <p:spPr>
          <a:xfrm>
            <a:off x="516178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6" name="TextBox 45"/>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7" name="Rounded Rectangle 46"/>
          <p:cNvSpPr/>
          <p:nvPr/>
        </p:nvSpPr>
        <p:spPr>
          <a:xfrm>
            <a:off x="6487668" y="1636776"/>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ITE</a:t>
            </a:r>
          </a:p>
        </p:txBody>
      </p:sp>
      <p:sp>
        <p:nvSpPr>
          <p:cNvPr id="48" name="TextBox 47"/>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49" name="TextBox 48"/>
          <p:cNvSpPr txBox="1"/>
          <p:nvPr/>
        </p:nvSpPr>
        <p:spPr>
          <a:xfrm>
            <a:off x="3506723" y="3246120"/>
            <a:ext cx="731520" cy="548640"/>
          </a:xfrm>
          <a:prstGeom prst="rect">
            <a:avLst/>
          </a:prstGeom>
          <a:noFill/>
        </p:spPr>
        <p:txBody>
          <a:bodyPr wrap="square" anchor="ctr" lIns="45720" rIns="45720" tIns="27432" bIns="27432">
            <a:spAutoFit/>
          </a:bodyPr>
          <a:lstStyle/>
          <a:p>
            <a:pPr algn="ctr"/>
            <a:r>
              <a:rPr sz="2200" b="1" i="0">
                <a:solidFill>
                  <a:srgbClr val="C8501E"/>
                </a:solidFill>
                <a:latin typeface="Calibri"/>
              </a:rPr>
              <a:t>∪</a:t>
            </a:r>
          </a:p>
        </p:txBody>
      </p:sp>
      <p:sp>
        <p:nvSpPr>
          <p:cNvPr id="50" name="TextBox 49"/>
          <p:cNvSpPr txBox="1"/>
          <p:nvPr/>
        </p:nvSpPr>
        <p:spPr>
          <a:xfrm>
            <a:off x="7941563" y="3246120"/>
            <a:ext cx="731520" cy="548640"/>
          </a:xfrm>
          <a:prstGeom prst="rect">
            <a:avLst/>
          </a:prstGeom>
          <a:noFill/>
        </p:spPr>
        <p:txBody>
          <a:bodyPr wrap="square" anchor="ctr" lIns="45720" rIns="45720" tIns="27432" bIns="27432">
            <a:spAutoFit/>
          </a:bodyPr>
          <a:lstStyle/>
          <a:p>
            <a:pPr algn="ctr"/>
            <a:r>
              <a:rPr sz="2200" b="1" i="0">
                <a:solidFill>
                  <a:srgbClr val="C8501E"/>
                </a:solidFill>
                <a:latin typeface="Calibri"/>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ParentCC on the example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31</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sp>
        <p:nvSpPr>
          <p:cNvPr id="13" name="Rounded Rectangle 12"/>
          <p:cNvSpPr/>
          <p:nvPr/>
        </p:nvSpPr>
        <p:spPr>
          <a:xfrm>
            <a:off x="4704588" y="1517904"/>
            <a:ext cx="3044952" cy="804672"/>
          </a:xfrm>
          <a:prstGeom prst="roundRect">
            <a:avLst>
              <a:gd name="adj" fmla="val 25000"/>
            </a:avLst>
          </a:prstGeom>
          <a:solidFill>
            <a:srgbClr val="FBE4D3"/>
          </a:solidFill>
          <a:ln w="19050">
            <a:solidFill>
              <a:srgbClr val="C8501E"/>
            </a:solidFill>
            <a:prstDash val="dash"/>
          </a:ln>
          <a:effectLst/>
        </p:spPr>
        <p:txBody>
          <a:bodyPr rtlCol="0" anchor="ctr" lIns="54864" rIns="54864" tIns="27432" bIns="27432" wrap="square"/>
          <a:lstStyle/>
          <a:p>
            <a:pPr algn="ctr"/>
          </a:p>
        </p:txBody>
      </p:sp>
      <p:sp>
        <p:nvSpPr>
          <p:cNvPr id="14" name="Rounded Rectangle 13"/>
          <p:cNvSpPr/>
          <p:nvPr/>
        </p:nvSpPr>
        <p:spPr>
          <a:xfrm>
            <a:off x="4768596" y="1581912"/>
            <a:ext cx="2916936" cy="676656"/>
          </a:xfrm>
          <a:prstGeom prst="roundRect">
            <a:avLst>
              <a:gd name="adj" fmla="val 30000"/>
            </a:avLst>
          </a:prstGeom>
          <a:noFill/>
          <a:ln w="22225">
            <a:solidFill>
              <a:srgbClr val="7B4FB5"/>
            </a:solidFill>
            <a:prstDash val="sysDot"/>
          </a:ln>
          <a:effectLst/>
        </p:spPr>
        <p:txBody>
          <a:bodyPr rtlCol="0" anchor="ctr" lIns="54864" rIns="54864" tIns="27432" bIns="27432" wrap="square"/>
          <a:lstStyle/>
          <a:p>
            <a:pPr algn="ctr"/>
          </a:p>
        </p:txBody>
      </p:sp>
      <p:cxnSp>
        <p:nvCxnSpPr>
          <p:cNvPr id="15" name="Connector 14"/>
          <p:cNvCxnSpPr/>
          <p:nvPr/>
        </p:nvCxnSpPr>
        <p:spPr>
          <a:xfrm flipH="1">
            <a:off x="2784348" y="3803903"/>
            <a:ext cx="539496" cy="1106425"/>
          </a:xfrm>
          <a:prstGeom prst="line">
            <a:avLst/>
          </a:prstGeom>
          <a:ln w="15875">
            <a:solidFill>
              <a:srgbClr val="8A8F98"/>
            </a:solidFill>
          </a:ln>
          <a:effectLst/>
        </p:spPr>
      </p:cxnSp>
      <p:cxnSp>
        <p:nvCxnSpPr>
          <p:cNvPr id="16" name="Connector 15"/>
          <p:cNvCxnSpPr/>
          <p:nvPr/>
        </p:nvCxnSpPr>
        <p:spPr>
          <a:xfrm>
            <a:off x="3323844" y="3803903"/>
            <a:ext cx="960120" cy="1106425"/>
          </a:xfrm>
          <a:prstGeom prst="line">
            <a:avLst/>
          </a:prstGeom>
          <a:ln w="15875">
            <a:solidFill>
              <a:srgbClr val="8A8F98"/>
            </a:solidFill>
          </a:ln>
          <a:effectLst/>
        </p:spPr>
      </p:cxnSp>
      <p:cxnSp>
        <p:nvCxnSpPr>
          <p:cNvPr id="17" name="Connector 16"/>
          <p:cNvCxnSpPr/>
          <p:nvPr/>
        </p:nvCxnSpPr>
        <p:spPr>
          <a:xfrm flipH="1">
            <a:off x="3406139" y="3803903"/>
            <a:ext cx="1014985" cy="1106425"/>
          </a:xfrm>
          <a:prstGeom prst="line">
            <a:avLst/>
          </a:prstGeom>
          <a:ln w="15875">
            <a:solidFill>
              <a:srgbClr val="8A8F98"/>
            </a:solidFill>
          </a:ln>
          <a:effectLst/>
        </p:spPr>
      </p:cxnSp>
      <p:cxnSp>
        <p:nvCxnSpPr>
          <p:cNvPr id="18" name="Connector 17"/>
          <p:cNvCxnSpPr/>
          <p:nvPr/>
        </p:nvCxnSpPr>
        <p:spPr>
          <a:xfrm>
            <a:off x="4421124" y="3803903"/>
            <a:ext cx="484632" cy="1106425"/>
          </a:xfrm>
          <a:prstGeom prst="line">
            <a:avLst/>
          </a:prstGeom>
          <a:ln w="15875">
            <a:solidFill>
              <a:srgbClr val="8A8F98"/>
            </a:solidFill>
          </a:ln>
          <a:effectLst/>
        </p:spPr>
      </p:cxnSp>
      <p:cxnSp>
        <p:nvCxnSpPr>
          <p:cNvPr id="19" name="Connector 18"/>
          <p:cNvCxnSpPr/>
          <p:nvPr/>
        </p:nvCxnSpPr>
        <p:spPr>
          <a:xfrm flipH="1">
            <a:off x="7283196" y="3803903"/>
            <a:ext cx="475487" cy="1106425"/>
          </a:xfrm>
          <a:prstGeom prst="line">
            <a:avLst/>
          </a:prstGeom>
          <a:ln w="15875">
            <a:solidFill>
              <a:srgbClr val="8A8F98"/>
            </a:solidFill>
          </a:ln>
          <a:effectLst/>
        </p:spPr>
      </p:cxnSp>
      <p:cxnSp>
        <p:nvCxnSpPr>
          <p:cNvPr id="20" name="Connector 19"/>
          <p:cNvCxnSpPr/>
          <p:nvPr/>
        </p:nvCxnSpPr>
        <p:spPr>
          <a:xfrm>
            <a:off x="7758683" y="3803903"/>
            <a:ext cx="1024129" cy="1106425"/>
          </a:xfrm>
          <a:prstGeom prst="line">
            <a:avLst/>
          </a:prstGeom>
          <a:ln w="15875">
            <a:solidFill>
              <a:srgbClr val="8A8F98"/>
            </a:solidFill>
          </a:ln>
          <a:effectLst/>
        </p:spPr>
      </p:cxnSp>
      <p:cxnSp>
        <p:nvCxnSpPr>
          <p:cNvPr id="21" name="Connector 20"/>
          <p:cNvCxnSpPr/>
          <p:nvPr/>
        </p:nvCxnSpPr>
        <p:spPr>
          <a:xfrm flipH="1">
            <a:off x="7904988" y="3803903"/>
            <a:ext cx="950975" cy="1106425"/>
          </a:xfrm>
          <a:prstGeom prst="line">
            <a:avLst/>
          </a:prstGeom>
          <a:ln w="15875">
            <a:solidFill>
              <a:srgbClr val="8A8F98"/>
            </a:solidFill>
          </a:ln>
          <a:effectLst/>
        </p:spPr>
      </p:cxnSp>
      <p:cxnSp>
        <p:nvCxnSpPr>
          <p:cNvPr id="22" name="Connector 21"/>
          <p:cNvCxnSpPr/>
          <p:nvPr/>
        </p:nvCxnSpPr>
        <p:spPr>
          <a:xfrm>
            <a:off x="8855963" y="3803903"/>
            <a:ext cx="548641" cy="1106425"/>
          </a:xfrm>
          <a:prstGeom prst="line">
            <a:avLst/>
          </a:prstGeom>
          <a:ln w="15875">
            <a:solidFill>
              <a:srgbClr val="8A8F98"/>
            </a:solidFill>
          </a:ln>
          <a:effectLst/>
        </p:spPr>
      </p:cxnSp>
      <p:cxnSp>
        <p:nvCxnSpPr>
          <p:cNvPr id="23" name="Connector 22"/>
          <p:cNvCxnSpPr/>
          <p:nvPr/>
        </p:nvCxnSpPr>
        <p:spPr>
          <a:xfrm>
            <a:off x="5564124" y="2203704"/>
            <a:ext cx="219455" cy="2706624"/>
          </a:xfrm>
          <a:prstGeom prst="line">
            <a:avLst/>
          </a:prstGeom>
          <a:ln w="15875">
            <a:solidFill>
              <a:srgbClr val="8A8F98"/>
            </a:solidFill>
          </a:ln>
          <a:effectLst/>
        </p:spPr>
      </p:cxnSp>
      <p:cxnSp>
        <p:nvCxnSpPr>
          <p:cNvPr id="24" name="Connector 23"/>
          <p:cNvCxnSpPr/>
          <p:nvPr/>
        </p:nvCxnSpPr>
        <p:spPr>
          <a:xfrm flipH="1">
            <a:off x="3323844" y="2203704"/>
            <a:ext cx="2240280" cy="749807"/>
          </a:xfrm>
          <a:prstGeom prst="line">
            <a:avLst/>
          </a:prstGeom>
          <a:ln w="15875">
            <a:solidFill>
              <a:srgbClr val="8A8F98"/>
            </a:solidFill>
          </a:ln>
          <a:effectLst/>
        </p:spPr>
      </p:cxnSp>
      <p:cxnSp>
        <p:nvCxnSpPr>
          <p:cNvPr id="25" name="Connector 24"/>
          <p:cNvCxnSpPr/>
          <p:nvPr/>
        </p:nvCxnSpPr>
        <p:spPr>
          <a:xfrm>
            <a:off x="5564124" y="2203704"/>
            <a:ext cx="2194559" cy="749807"/>
          </a:xfrm>
          <a:prstGeom prst="line">
            <a:avLst/>
          </a:prstGeom>
          <a:ln w="15875">
            <a:solidFill>
              <a:srgbClr val="8A8F98"/>
            </a:solidFill>
          </a:ln>
          <a:effectLst/>
        </p:spPr>
      </p:cxnSp>
      <p:cxnSp>
        <p:nvCxnSpPr>
          <p:cNvPr id="26" name="Connector 25"/>
          <p:cNvCxnSpPr/>
          <p:nvPr/>
        </p:nvCxnSpPr>
        <p:spPr>
          <a:xfrm flipH="1">
            <a:off x="6405372" y="2203704"/>
            <a:ext cx="484632" cy="2706624"/>
          </a:xfrm>
          <a:prstGeom prst="line">
            <a:avLst/>
          </a:prstGeom>
          <a:ln w="15875">
            <a:solidFill>
              <a:srgbClr val="8A8F98"/>
            </a:solidFill>
          </a:ln>
          <a:effectLst/>
        </p:spPr>
      </p:cxnSp>
      <p:cxnSp>
        <p:nvCxnSpPr>
          <p:cNvPr id="27" name="Connector 26"/>
          <p:cNvCxnSpPr/>
          <p:nvPr/>
        </p:nvCxnSpPr>
        <p:spPr>
          <a:xfrm flipH="1">
            <a:off x="4421124" y="2203704"/>
            <a:ext cx="2468880" cy="749807"/>
          </a:xfrm>
          <a:prstGeom prst="line">
            <a:avLst/>
          </a:prstGeom>
          <a:ln w="15875">
            <a:solidFill>
              <a:srgbClr val="8A8F98"/>
            </a:solidFill>
          </a:ln>
          <a:effectLst/>
        </p:spPr>
      </p:cxnSp>
      <p:cxnSp>
        <p:nvCxnSpPr>
          <p:cNvPr id="28" name="Connector 27"/>
          <p:cNvCxnSpPr/>
          <p:nvPr/>
        </p:nvCxnSpPr>
        <p:spPr>
          <a:xfrm>
            <a:off x="6890004" y="2203704"/>
            <a:ext cx="1965959" cy="749807"/>
          </a:xfrm>
          <a:prstGeom prst="line">
            <a:avLst/>
          </a:prstGeom>
          <a:ln w="15875">
            <a:solidFill>
              <a:srgbClr val="8A8F98"/>
            </a:solidFill>
          </a:ln>
          <a:effectLst/>
        </p:spPr>
      </p:cxnSp>
      <p:sp>
        <p:nvSpPr>
          <p:cNvPr id="29" name="Rounded Rectangle 28"/>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0" name="Rounded Rectangle 29"/>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1" name="Rounded Rectangle 30"/>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2" name="Rounded Rectangle 31"/>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3" name="Rounded Rectangle 32"/>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4" name="Rounded Rectangle 33"/>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5" name="Rounded Rectangle 34"/>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6" name="Rounded Rectangle 35"/>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7" name="Rounded Rectangle 36"/>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8" name="Rounded Rectangle 37"/>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9" name="Rounded Rectangle 38"/>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0" name="TextBox 39"/>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1" name="Rounded Rectangle 40"/>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2" name="TextBox 41"/>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3" name="Rounded Rectangle 42"/>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4" name="TextBox 43"/>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5" name="Rounded Rectangle 44"/>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6" name="TextBox 45"/>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7" name="Rounded Rectangle 46"/>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8" name="TextBox 47"/>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49" name="Rounded Rectangle 48"/>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50" name="TextBox 49"/>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
        <p:nvSpPr>
          <p:cNvPr id="51" name="TextBox 50"/>
          <p:cNvSpPr txBox="1"/>
          <p:nvPr/>
        </p:nvSpPr>
        <p:spPr>
          <a:xfrm>
            <a:off x="5129784" y="1124712"/>
            <a:ext cx="2194560" cy="274320"/>
          </a:xfrm>
          <a:prstGeom prst="rect">
            <a:avLst/>
          </a:prstGeom>
          <a:noFill/>
        </p:spPr>
        <p:txBody>
          <a:bodyPr wrap="square" anchor="ctr" lIns="45720" rIns="45720" tIns="27432" bIns="27432">
            <a:spAutoFit/>
          </a:bodyPr>
          <a:lstStyle/>
          <a:p>
            <a:pPr algn="ctr"/>
            <a:r>
              <a:rPr sz="1150" b="1" i="0">
                <a:solidFill>
                  <a:srgbClr val="7B4FB5"/>
                </a:solidFill>
                <a:latin typeface="Calibri"/>
              </a:rPr>
              <a:t>ITE([c], [a₁], [x₁])</a:t>
            </a:r>
          </a:p>
        </p:txBody>
      </p:sp>
      <p:sp>
        <p:nvSpPr>
          <p:cNvPr id="52" name="TextBox 51"/>
          <p:cNvSpPr txBox="1"/>
          <p:nvPr/>
        </p:nvSpPr>
        <p:spPr>
          <a:xfrm>
            <a:off x="5861304" y="1645920"/>
            <a:ext cx="731520" cy="548640"/>
          </a:xfrm>
          <a:prstGeom prst="rect">
            <a:avLst/>
          </a:prstGeom>
          <a:noFill/>
        </p:spPr>
        <p:txBody>
          <a:bodyPr wrap="square" anchor="ctr" lIns="45720" rIns="45720" tIns="27432" bIns="27432">
            <a:spAutoFit/>
          </a:bodyPr>
          <a:lstStyle/>
          <a:p>
            <a:pPr algn="ctr"/>
            <a:r>
              <a:rPr sz="2200" b="1" i="0">
                <a:solidFill>
                  <a:srgbClr val="C8501E"/>
                </a:solidFill>
                <a:latin typeface="Calibri"/>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ParentCC pseudocode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32</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1463040" y="1325880"/>
            <a:ext cx="9235440" cy="4892040"/>
          </a:xfrm>
          <a:prstGeom prst="roundRect">
            <a:avLst>
              <a:gd name="adj" fmla="val 5000"/>
            </a:avLst>
          </a:prstGeom>
          <a:solidFill>
            <a:srgbClr val="F7F7F9"/>
          </a:solidFill>
          <a:ln>
            <a:noFill/>
          </a:ln>
          <a:effectLst/>
        </p:spPr>
        <p:txBody>
          <a:bodyPr rtlCol="0" anchor="ctr" lIns="54864" rIns="54864" tIns="27432" bIns="27432" wrap="square"/>
          <a:lstStyle/>
          <a:p>
            <a:pPr algn="ctr"/>
          </a:p>
        </p:txBody>
      </p:sp>
      <p:sp>
        <p:nvSpPr>
          <p:cNvPr id="7" name="TextBox 6"/>
          <p:cNvSpPr txBox="1"/>
          <p:nvPr/>
        </p:nvSpPr>
        <p:spPr>
          <a:xfrm>
            <a:off x="1737360" y="1417320"/>
            <a:ext cx="8778240" cy="4754880"/>
          </a:xfrm>
          <a:prstGeom prst="rect">
            <a:avLst/>
          </a:prstGeom>
          <a:noFill/>
        </p:spPr>
        <p:txBody>
          <a:bodyPr wrap="none">
            <a:spAutoFit/>
          </a:bodyPr>
          <a:lstStyle/>
          <a:p>
            <a:pPr>
              <a:spcAft>
                <a:spcPts val="150"/>
              </a:spcAft>
            </a:pPr>
            <a:r>
              <a:rPr sz="1400" b="1" i="0">
                <a:solidFill>
                  <a:srgbClr val="2B2F36"/>
                </a:solidFill>
                <a:latin typeface="Consolas"/>
              </a:rPr>
              <a:t>ParentCC(E):</a:t>
            </a:r>
          </a:p>
          <a:p>
            <a:pPr>
              <a:spcAft>
                <a:spcPts val="150"/>
              </a:spcAft>
            </a:pPr>
            <a:r>
              <a:rPr sz="1400" b="0" i="0">
                <a:solidFill>
                  <a:srgbClr val="2B2F36"/>
                </a:solidFill>
                <a:latin typeface="Consolas"/>
              </a:rPr>
              <a:t>    parfor (u = v) ∈ E:  Union(u, v)</a:t>
            </a:r>
          </a:p>
          <a:p>
            <a:pPr>
              <a:spcAft>
                <a:spcPts val="150"/>
              </a:spcAft>
            </a:pPr>
            <a:r>
              <a:rPr sz="1400" b="0" i="0">
                <a:solidFill>
                  <a:srgbClr val="2B2F36"/>
                </a:solidFill>
                <a:latin typeface="Consolas"/>
              </a:rPr>
              <a:t>    Work ← terms of E</a:t>
            </a:r>
          </a:p>
          <a:p>
            <a:pPr>
              <a:spcAft>
                <a:spcPts val="150"/>
              </a:spcAft>
            </a:pPr>
            <a:r>
              <a:rPr sz="1400" b="0" i="0">
                <a:solidFill>
                  <a:srgbClr val="2B2F36"/>
                </a:solidFill>
                <a:latin typeface="Consolas"/>
              </a:rPr>
              <a:t>    while Work ≠ ∅:</a:t>
            </a:r>
          </a:p>
          <a:p>
            <a:pPr>
              <a:spcAft>
                <a:spcPts val="150"/>
              </a:spcAft>
            </a:pPr>
            <a:r>
              <a:rPr sz="1400" b="0" i="0">
                <a:solidFill>
                  <a:srgbClr val="2B2F36"/>
                </a:solidFill>
                <a:latin typeface="Consolas"/>
              </a:rPr>
              <a:t>        parfor c ∈ Work with c ≠ Find(c):                 </a:t>
            </a:r>
            <a:r>
              <a:rPr sz="1400" b="0" i="0">
                <a:solidFill>
                  <a:srgbClr val="6B717A"/>
                </a:solidFill>
                <a:latin typeface="Consolas"/>
              </a:rPr>
              <a:t>▹ fold parent lists</a:t>
            </a:r>
          </a:p>
          <a:p>
            <a:pPr>
              <a:spcAft>
                <a:spcPts val="150"/>
              </a:spcAft>
            </a:pPr>
            <a:r>
              <a:rPr sz="1400" b="0" i="0">
                <a:solidFill>
                  <a:srgbClr val="2B2F36"/>
                </a:solidFill>
                <a:latin typeface="Consolas"/>
              </a:rPr>
              <a:t>            Parents[Find(c)] ← Parents[Find(c)] ∪ Parents[c]</a:t>
            </a:r>
          </a:p>
          <a:p>
            <a:pPr>
              <a:spcAft>
                <a:spcPts val="150"/>
              </a:spcAft>
            </a:pPr>
            <a:r>
              <a:rPr sz="1400" b="0" i="0">
                <a:solidFill>
                  <a:srgbClr val="2B2F36"/>
                </a:solidFill>
                <a:latin typeface="Consolas"/>
              </a:rPr>
              <a:t>        Frontier ← all compound terms          on round 0   </a:t>
            </a:r>
            <a:r>
              <a:rPr sz="1400" b="0" i="0">
                <a:solidFill>
                  <a:srgbClr val="6B717A"/>
                </a:solidFill>
                <a:latin typeface="Consolas"/>
              </a:rPr>
              <a:t>▹ seed round</a:t>
            </a:r>
          </a:p>
          <a:p>
            <a:pPr>
              <a:spcAft>
                <a:spcPts val="150"/>
              </a:spcAft>
            </a:pPr>
            <a:r>
              <a:rPr sz="1400" b="0" i="0">
                <a:solidFill>
                  <a:srgbClr val="2B2F36"/>
                </a:solidFill>
                <a:latin typeface="Consolas"/>
              </a:rPr>
              <a:t>        Frontier ← ⋃ Parents[Find(c)] for c ∈ Work   otherwise</a:t>
            </a:r>
          </a:p>
          <a:p>
            <a:pPr>
              <a:spcAft>
                <a:spcPts val="150"/>
              </a:spcAft>
            </a:pPr>
            <a:r>
              <a:rPr sz="1400" b="0" i="0">
                <a:solidFill>
                  <a:srgbClr val="2B2F36"/>
                </a:solidFill>
                <a:latin typeface="Consolas"/>
              </a:rPr>
              <a:t>        groups ← GroupBy(Congruent, Frontier)          </a:t>
            </a:r>
            <a:r>
              <a:rPr sz="1400" b="0" i="0">
                <a:solidFill>
                  <a:srgbClr val="6B717A"/>
                </a:solidFill>
                <a:latin typeface="Consolas"/>
              </a:rPr>
              <a:t>▹ semisort on sigs</a:t>
            </a:r>
          </a:p>
          <a:p>
            <a:pPr>
              <a:spcAft>
                <a:spcPts val="150"/>
              </a:spcAft>
            </a:pPr>
            <a:r>
              <a:rPr sz="1400" b="0" i="0">
                <a:solidFill>
                  <a:srgbClr val="2B2F36"/>
                </a:solidFill>
                <a:latin typeface="Consolas"/>
              </a:rPr>
              <a:t>        Work ← ∅</a:t>
            </a:r>
          </a:p>
          <a:p>
            <a:pPr>
              <a:spcAft>
                <a:spcPts val="150"/>
              </a:spcAft>
            </a:pPr>
            <a:r>
              <a:rPr sz="1400" b="0" i="0">
                <a:solidFill>
                  <a:srgbClr val="2B2F36"/>
                </a:solidFill>
                <a:latin typeface="Consolas"/>
              </a:rPr>
              <a:t>        parfor g ∈ groups spanning &gt; 1 class:</a:t>
            </a:r>
          </a:p>
          <a:p>
            <a:pPr>
              <a:spcAft>
                <a:spcPts val="150"/>
              </a:spcAft>
            </a:pPr>
            <a:r>
              <a:rPr sz="1400" b="0" i="0">
                <a:solidFill>
                  <a:srgbClr val="2B2F36"/>
                </a:solidFill>
                <a:latin typeface="Consolas"/>
              </a:rPr>
              <a:t>            MergeCongruenceClass(g)                          </a:t>
            </a:r>
            <a:r>
              <a:rPr sz="1400" b="0" i="0">
                <a:solidFill>
                  <a:srgbClr val="6B717A"/>
                </a:solidFill>
                <a:latin typeface="Consolas"/>
              </a:rPr>
              <a:t>▹ parallel unions</a:t>
            </a:r>
          </a:p>
          <a:p>
            <a:pPr>
              <a:spcAft>
                <a:spcPts val="150"/>
              </a:spcAft>
            </a:pPr>
            <a:r>
              <a:rPr sz="1400" b="0" i="0">
                <a:solidFill>
                  <a:srgbClr val="2B2F36"/>
                </a:solidFill>
                <a:latin typeface="Consolas"/>
              </a:rPr>
              <a:t>            Work ← Work ∪ pre-merge roots of g</a:t>
            </a:r>
          </a:p>
          <a:p>
            <a:pPr>
              <a:spcAft>
                <a:spcPts val="150"/>
              </a:spcAft>
            </a:pPr>
          </a:p>
          <a:p>
            <a:pPr>
              <a:spcAft>
                <a:spcPts val="150"/>
              </a:spcAft>
            </a:pPr>
            <a:r>
              <a:rPr sz="1400" b="0" i="0">
                <a:solidFill>
                  <a:srgbClr val="2B2F36"/>
                </a:solidFill>
                <a:latin typeface="Consolas"/>
              </a:rPr>
              <a:t>MergeCongruenceClass(S):                             </a:t>
            </a:r>
            <a:r>
              <a:rPr sz="1400" b="0" i="0">
                <a:solidFill>
                  <a:srgbClr val="6B717A"/>
                </a:solidFill>
                <a:latin typeface="Consolas"/>
              </a:rPr>
              <a:t>▹ divide and conquer</a:t>
            </a:r>
          </a:p>
          <a:p>
            <a:pPr>
              <a:spcAft>
                <a:spcPts val="150"/>
              </a:spcAft>
            </a:pPr>
            <a:r>
              <a:rPr sz="1400" b="0" i="0">
                <a:solidFill>
                  <a:srgbClr val="2B2F36"/>
                </a:solidFill>
                <a:latin typeface="Consolas"/>
              </a:rPr>
              <a:t>    if |S| = 1: return the element</a:t>
            </a:r>
          </a:p>
          <a:p>
            <a:pPr>
              <a:spcAft>
                <a:spcPts val="150"/>
              </a:spcAft>
            </a:pPr>
            <a:r>
              <a:rPr sz="1400" b="0" i="0">
                <a:solidFill>
                  <a:srgbClr val="2B2F36"/>
                </a:solidFill>
                <a:latin typeface="Consolas"/>
              </a:rPr>
              <a:t>    l, r ← MergeCongruenceClass(S[0..n/2]) ∥ MergeCongruenceClass(S[n/2..n])</a:t>
            </a:r>
          </a:p>
          <a:p>
            <a:pPr>
              <a:spcAft>
                <a:spcPts val="150"/>
              </a:spcAft>
            </a:pPr>
            <a:r>
              <a:rPr sz="1400" b="0" i="0">
                <a:solidFill>
                  <a:srgbClr val="2B2F36"/>
                </a:solidFill>
                <a:latin typeface="Consolas"/>
              </a:rPr>
              <a:t>    return Union(l, 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Why ParentCC is correct</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33</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731520" y="1554480"/>
            <a:ext cx="2926080" cy="822960"/>
          </a:xfrm>
          <a:prstGeom prst="roundRect">
            <a:avLst>
              <a:gd name="adj" fmla="val 15000"/>
            </a:avLst>
          </a:prstGeom>
          <a:solidFill>
            <a:srgbClr val="1F2A44"/>
          </a:solidFill>
          <a:ln>
            <a:noFill/>
          </a:ln>
          <a:effectLst/>
        </p:spPr>
        <p:txBody>
          <a:bodyPr rtlCol="0" anchor="ctr" lIns="54864" rIns="54864" tIns="27432" bIns="27432" wrap="square"/>
          <a:lstStyle/>
          <a:p>
            <a:pPr algn="ctr"/>
            <a:r>
              <a:rPr sz="2100" b="1" i="0">
                <a:solidFill>
                  <a:srgbClr val="FFFFFF"/>
                </a:solidFill>
                <a:latin typeface="Calibri"/>
              </a:rPr>
              <a:t>Deterministic</a:t>
            </a:r>
          </a:p>
        </p:txBody>
      </p:sp>
      <p:sp>
        <p:nvSpPr>
          <p:cNvPr id="7" name="Rectangle 6"/>
          <p:cNvSpPr/>
          <p:nvPr/>
        </p:nvSpPr>
        <p:spPr>
          <a:xfrm>
            <a:off x="3657600" y="1554480"/>
            <a:ext cx="7772400" cy="822960"/>
          </a:xfrm>
          <a:prstGeom prst="rect">
            <a:avLst/>
          </a:prstGeom>
          <a:solidFill>
            <a:srgbClr val="F4F5F7"/>
          </a:solidFill>
          <a:ln>
            <a:noFill/>
          </a:ln>
          <a:effectLst/>
        </p:spPr>
        <p:txBody>
          <a:bodyPr rtlCol="0" anchor="ctr" lIns="54864" rIns="54864" tIns="27432" bIns="27432" wrap="square"/>
          <a:lstStyle/>
          <a:p>
            <a:pPr algn="ctr"/>
            <a:r>
              <a:rPr sz="2000" b="0" i="0">
                <a:solidFill>
                  <a:srgbClr val="2B2F36"/>
                </a:solidFill>
                <a:latin typeface="Calibri"/>
              </a:rPr>
              <a:t>same classes whatever the thread order</a:t>
            </a:r>
          </a:p>
        </p:txBody>
      </p:sp>
      <p:sp>
        <p:nvSpPr>
          <p:cNvPr id="8" name="Rounded Rectangle 7"/>
          <p:cNvSpPr/>
          <p:nvPr/>
        </p:nvSpPr>
        <p:spPr>
          <a:xfrm>
            <a:off x="731520" y="2606039"/>
            <a:ext cx="2926080" cy="822960"/>
          </a:xfrm>
          <a:prstGeom prst="roundRect">
            <a:avLst>
              <a:gd name="adj" fmla="val 15000"/>
            </a:avLst>
          </a:prstGeom>
          <a:solidFill>
            <a:srgbClr val="1F2A44"/>
          </a:solidFill>
          <a:ln>
            <a:noFill/>
          </a:ln>
          <a:effectLst/>
        </p:spPr>
        <p:txBody>
          <a:bodyPr rtlCol="0" anchor="ctr" lIns="54864" rIns="54864" tIns="27432" bIns="27432" wrap="square"/>
          <a:lstStyle/>
          <a:p>
            <a:pPr algn="ctr"/>
            <a:r>
              <a:rPr sz="2100" b="1" i="0">
                <a:solidFill>
                  <a:srgbClr val="FFFFFF"/>
                </a:solidFill>
                <a:latin typeface="Calibri"/>
              </a:rPr>
              <a:t>Terminates</a:t>
            </a:r>
          </a:p>
        </p:txBody>
      </p:sp>
      <p:sp>
        <p:nvSpPr>
          <p:cNvPr id="9" name="Rectangle 8"/>
          <p:cNvSpPr/>
          <p:nvPr/>
        </p:nvSpPr>
        <p:spPr>
          <a:xfrm>
            <a:off x="3657600" y="2606039"/>
            <a:ext cx="7772400" cy="822960"/>
          </a:xfrm>
          <a:prstGeom prst="rect">
            <a:avLst/>
          </a:prstGeom>
          <a:solidFill>
            <a:srgbClr val="F4F5F7"/>
          </a:solidFill>
          <a:ln>
            <a:noFill/>
          </a:ln>
          <a:effectLst/>
        </p:spPr>
        <p:txBody>
          <a:bodyPr rtlCol="0" anchor="ctr" lIns="54864" rIns="54864" tIns="27432" bIns="27432" wrap="square"/>
          <a:lstStyle/>
          <a:p>
            <a:pPr algn="ctr"/>
            <a:r>
              <a:rPr sz="2000" b="0" i="0">
                <a:solidFill>
                  <a:srgbClr val="2B2F36"/>
                </a:solidFill>
                <a:latin typeface="Calibri"/>
              </a:rPr>
              <a:t>every productive round removes a class</a:t>
            </a:r>
          </a:p>
        </p:txBody>
      </p:sp>
      <p:sp>
        <p:nvSpPr>
          <p:cNvPr id="10" name="Rounded Rectangle 9"/>
          <p:cNvSpPr/>
          <p:nvPr/>
        </p:nvSpPr>
        <p:spPr>
          <a:xfrm>
            <a:off x="731520" y="3657599"/>
            <a:ext cx="2926080" cy="822960"/>
          </a:xfrm>
          <a:prstGeom prst="roundRect">
            <a:avLst>
              <a:gd name="adj" fmla="val 15000"/>
            </a:avLst>
          </a:prstGeom>
          <a:solidFill>
            <a:srgbClr val="1F2A44"/>
          </a:solidFill>
          <a:ln>
            <a:noFill/>
          </a:ln>
          <a:effectLst/>
        </p:spPr>
        <p:txBody>
          <a:bodyPr rtlCol="0" anchor="ctr" lIns="54864" rIns="54864" tIns="27432" bIns="27432" wrap="square"/>
          <a:lstStyle/>
          <a:p>
            <a:pPr algn="ctr"/>
            <a:r>
              <a:rPr sz="2100" b="1" i="0">
                <a:solidFill>
                  <a:srgbClr val="FFFFFF"/>
                </a:solidFill>
                <a:latin typeface="Calibri"/>
              </a:rPr>
              <a:t>Sound</a:t>
            </a:r>
          </a:p>
        </p:txBody>
      </p:sp>
      <p:sp>
        <p:nvSpPr>
          <p:cNvPr id="11" name="Rectangle 10"/>
          <p:cNvSpPr/>
          <p:nvPr/>
        </p:nvSpPr>
        <p:spPr>
          <a:xfrm>
            <a:off x="3657600" y="3657599"/>
            <a:ext cx="7772400" cy="822960"/>
          </a:xfrm>
          <a:prstGeom prst="rect">
            <a:avLst/>
          </a:prstGeom>
          <a:solidFill>
            <a:srgbClr val="F4F5F7"/>
          </a:solidFill>
          <a:ln>
            <a:noFill/>
          </a:ln>
          <a:effectLst/>
        </p:spPr>
        <p:txBody>
          <a:bodyPr rtlCol="0" anchor="ctr" lIns="54864" rIns="54864" tIns="27432" bIns="27432" wrap="square"/>
          <a:lstStyle/>
          <a:p>
            <a:pPr algn="ctr"/>
            <a:r>
              <a:rPr sz="2000" b="0" i="0">
                <a:solidFill>
                  <a:srgbClr val="2B2F36"/>
                </a:solidFill>
                <a:latin typeface="Calibri"/>
              </a:rPr>
              <a:t>each merge is an instance of the congruence rule</a:t>
            </a:r>
          </a:p>
        </p:txBody>
      </p:sp>
      <p:sp>
        <p:nvSpPr>
          <p:cNvPr id="12" name="Rounded Rectangle 11"/>
          <p:cNvSpPr/>
          <p:nvPr/>
        </p:nvSpPr>
        <p:spPr>
          <a:xfrm>
            <a:off x="731520" y="4709159"/>
            <a:ext cx="2926080" cy="822960"/>
          </a:xfrm>
          <a:prstGeom prst="roundRect">
            <a:avLst>
              <a:gd name="adj" fmla="val 15000"/>
            </a:avLst>
          </a:prstGeom>
          <a:solidFill>
            <a:srgbClr val="1F2A44"/>
          </a:solidFill>
          <a:ln>
            <a:noFill/>
          </a:ln>
          <a:effectLst/>
        </p:spPr>
        <p:txBody>
          <a:bodyPr rtlCol="0" anchor="ctr" lIns="54864" rIns="54864" tIns="27432" bIns="27432" wrap="square"/>
          <a:lstStyle/>
          <a:p>
            <a:pPr algn="ctr"/>
            <a:r>
              <a:rPr sz="2100" b="1" i="0">
                <a:solidFill>
                  <a:srgbClr val="FFFFFF"/>
                </a:solidFill>
                <a:latin typeface="Calibri"/>
              </a:rPr>
              <a:t>Complete</a:t>
            </a:r>
          </a:p>
        </p:txBody>
      </p:sp>
      <p:sp>
        <p:nvSpPr>
          <p:cNvPr id="13" name="Rectangle 12"/>
          <p:cNvSpPr/>
          <p:nvPr/>
        </p:nvSpPr>
        <p:spPr>
          <a:xfrm>
            <a:off x="3657600" y="4709159"/>
            <a:ext cx="7772400" cy="822960"/>
          </a:xfrm>
          <a:prstGeom prst="rect">
            <a:avLst/>
          </a:prstGeom>
          <a:solidFill>
            <a:srgbClr val="F4F5F7"/>
          </a:solidFill>
          <a:ln>
            <a:noFill/>
          </a:ln>
          <a:effectLst/>
        </p:spPr>
        <p:txBody>
          <a:bodyPr rtlCol="0" anchor="ctr" lIns="54864" rIns="54864" tIns="27432" bIns="27432" wrap="square"/>
          <a:lstStyle/>
          <a:p>
            <a:pPr algn="ctr"/>
            <a:r>
              <a:rPr sz="2000" b="0" i="0">
                <a:solidFill>
                  <a:srgbClr val="2B2F36"/>
                </a:solidFill>
                <a:latin typeface="Calibri"/>
              </a:rPr>
              <a:t>a newly congruent pair is a candidate next round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FilterCC: drop the parent lists</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34</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TextBox 5"/>
          <p:cNvSpPr txBox="1"/>
          <p:nvPr/>
        </p:nvSpPr>
        <p:spPr>
          <a:xfrm>
            <a:off x="731520" y="1417320"/>
            <a:ext cx="10972800" cy="457200"/>
          </a:xfrm>
          <a:prstGeom prst="rect">
            <a:avLst/>
          </a:prstGeom>
          <a:noFill/>
        </p:spPr>
        <p:txBody>
          <a:bodyPr wrap="square" anchor="t" lIns="45720" rIns="45720" tIns="27432" bIns="27432">
            <a:spAutoFit/>
          </a:bodyPr>
          <a:lstStyle/>
          <a:p>
            <a:pPr algn="l"/>
            <a:r>
              <a:rPr sz="2200" b="1" i="0">
                <a:solidFill>
                  <a:srgbClr val="1F2A44"/>
                </a:solidFill>
                <a:latin typeface="Calibri"/>
              </a:rPr>
              <a:t>Same rounds, different way to find the candidates</a:t>
            </a:r>
          </a:p>
        </p:txBody>
      </p:sp>
      <p:sp>
        <p:nvSpPr>
          <p:cNvPr id="7" name="Rectangle 6"/>
          <p:cNvSpPr/>
          <p:nvPr/>
        </p:nvSpPr>
        <p:spPr>
          <a:xfrm>
            <a:off x="731520" y="2194560"/>
            <a:ext cx="2322576" cy="548640"/>
          </a:xfrm>
          <a:prstGeom prst="rect">
            <a:avLst/>
          </a:prstGeom>
          <a:solidFill>
            <a:srgbClr val="1F2A44"/>
          </a:solidFill>
          <a:ln>
            <a:noFill/>
          </a:ln>
          <a:effectLst/>
        </p:spPr>
        <p:txBody>
          <a:bodyPr rtlCol="0" anchor="ctr" lIns="54864" rIns="54864" tIns="27432" bIns="27432" wrap="square"/>
          <a:lstStyle/>
          <a:p>
            <a:pPr algn="ctr"/>
          </a:p>
        </p:txBody>
      </p:sp>
      <p:sp>
        <p:nvSpPr>
          <p:cNvPr id="8" name="Rectangle 7"/>
          <p:cNvSpPr/>
          <p:nvPr/>
        </p:nvSpPr>
        <p:spPr>
          <a:xfrm>
            <a:off x="3108960" y="2194560"/>
            <a:ext cx="4151376" cy="548640"/>
          </a:xfrm>
          <a:prstGeom prst="rect">
            <a:avLst/>
          </a:prstGeom>
          <a:solidFill>
            <a:srgbClr val="1F2A44"/>
          </a:solidFill>
          <a:ln>
            <a:noFill/>
          </a:ln>
          <a:effectLst/>
        </p:spPr>
        <p:txBody>
          <a:bodyPr rtlCol="0" anchor="ctr" lIns="54864" rIns="54864" tIns="27432" bIns="27432" wrap="square"/>
          <a:lstStyle/>
          <a:p>
            <a:pPr algn="ctr"/>
            <a:r>
              <a:rPr sz="1800" b="1" i="0">
                <a:solidFill>
                  <a:srgbClr val="FFFFFF"/>
                </a:solidFill>
                <a:latin typeface="Calibri"/>
              </a:rPr>
              <a:t>ParentCC</a:t>
            </a:r>
          </a:p>
        </p:txBody>
      </p:sp>
      <p:sp>
        <p:nvSpPr>
          <p:cNvPr id="9" name="Rectangle 8"/>
          <p:cNvSpPr/>
          <p:nvPr/>
        </p:nvSpPr>
        <p:spPr>
          <a:xfrm>
            <a:off x="7315200" y="2194560"/>
            <a:ext cx="4151376" cy="548640"/>
          </a:xfrm>
          <a:prstGeom prst="rect">
            <a:avLst/>
          </a:prstGeom>
          <a:solidFill>
            <a:srgbClr val="1F2A44"/>
          </a:solidFill>
          <a:ln>
            <a:noFill/>
          </a:ln>
          <a:effectLst/>
        </p:spPr>
        <p:txBody>
          <a:bodyPr rtlCol="0" anchor="ctr" lIns="54864" rIns="54864" tIns="27432" bIns="27432" wrap="square"/>
          <a:lstStyle/>
          <a:p>
            <a:pPr algn="ctr"/>
            <a:r>
              <a:rPr sz="1800" b="1" i="0">
                <a:solidFill>
                  <a:srgbClr val="FFFFFF"/>
                </a:solidFill>
                <a:latin typeface="Calibri"/>
              </a:rPr>
              <a:t>FilterCC</a:t>
            </a:r>
          </a:p>
        </p:txBody>
      </p:sp>
      <p:sp>
        <p:nvSpPr>
          <p:cNvPr id="10" name="Rectangle 9"/>
          <p:cNvSpPr/>
          <p:nvPr/>
        </p:nvSpPr>
        <p:spPr>
          <a:xfrm>
            <a:off x="731520" y="2798064"/>
            <a:ext cx="2322576" cy="658368"/>
          </a:xfrm>
          <a:prstGeom prst="rect">
            <a:avLst/>
          </a:prstGeom>
          <a:solidFill>
            <a:srgbClr val="F4F5F7"/>
          </a:solidFill>
          <a:ln>
            <a:noFill/>
          </a:ln>
          <a:effectLst/>
        </p:spPr>
        <p:txBody>
          <a:bodyPr rtlCol="0" anchor="ctr" lIns="54864" rIns="54864" tIns="27432" bIns="27432" wrap="square"/>
          <a:lstStyle/>
          <a:p>
            <a:pPr algn="ctr"/>
            <a:r>
              <a:rPr sz="1700" b="1" i="0">
                <a:solidFill>
                  <a:srgbClr val="1F2A44"/>
                </a:solidFill>
                <a:latin typeface="Calibri"/>
              </a:rPr>
              <a:t>remember</a:t>
            </a:r>
          </a:p>
        </p:txBody>
      </p:sp>
      <p:sp>
        <p:nvSpPr>
          <p:cNvPr id="11" name="Rectangle 10"/>
          <p:cNvSpPr/>
          <p:nvPr/>
        </p:nvSpPr>
        <p:spPr>
          <a:xfrm>
            <a:off x="3108960" y="2798064"/>
            <a:ext cx="4151376" cy="658368"/>
          </a:xfrm>
          <a:prstGeom prst="rect">
            <a:avLst/>
          </a:prstGeom>
          <a:solidFill>
            <a:srgbClr val="F4F5F7"/>
          </a:solidFill>
          <a:ln>
            <a:noFill/>
          </a:ln>
          <a:effectLst/>
        </p:spPr>
        <p:txBody>
          <a:bodyPr rtlCol="0" anchor="ctr" lIns="54864" rIns="54864" tIns="27432" bIns="27432" wrap="square"/>
          <a:lstStyle/>
          <a:p>
            <a:pPr algn="ctr"/>
            <a:r>
              <a:rPr sz="1700" b="0" i="0">
                <a:solidFill>
                  <a:srgbClr val="2B2F36"/>
                </a:solidFill>
                <a:latin typeface="Calibri"/>
              </a:rPr>
              <a:t>parent list per class</a:t>
            </a:r>
          </a:p>
        </p:txBody>
      </p:sp>
      <p:sp>
        <p:nvSpPr>
          <p:cNvPr id="12" name="Rectangle 11"/>
          <p:cNvSpPr/>
          <p:nvPr/>
        </p:nvSpPr>
        <p:spPr>
          <a:xfrm>
            <a:off x="7315200" y="2798064"/>
            <a:ext cx="4151376" cy="658368"/>
          </a:xfrm>
          <a:prstGeom prst="rect">
            <a:avLst/>
          </a:prstGeom>
          <a:solidFill>
            <a:srgbClr val="F4F5F7"/>
          </a:solidFill>
          <a:ln>
            <a:noFill/>
          </a:ln>
          <a:effectLst/>
        </p:spPr>
        <p:txBody>
          <a:bodyPr rtlCol="0" anchor="ctr" lIns="54864" rIns="54864" tIns="27432" bIns="27432" wrap="square"/>
          <a:lstStyle/>
          <a:p>
            <a:pPr algn="ctr"/>
            <a:r>
              <a:rPr sz="1700" b="0" i="0">
                <a:solidFill>
                  <a:srgbClr val="2B2F36"/>
                </a:solidFill>
                <a:latin typeface="Calibri"/>
              </a:rPr>
              <a:t>one dirty bit per class</a:t>
            </a:r>
          </a:p>
        </p:txBody>
      </p:sp>
      <p:sp>
        <p:nvSpPr>
          <p:cNvPr id="13" name="Rectangle 12"/>
          <p:cNvSpPr/>
          <p:nvPr/>
        </p:nvSpPr>
        <p:spPr>
          <a:xfrm>
            <a:off x="731520" y="3511296"/>
            <a:ext cx="2322576" cy="658368"/>
          </a:xfrm>
          <a:prstGeom prst="rect">
            <a:avLst/>
          </a:prstGeom>
          <a:solidFill>
            <a:srgbClr val="F4F5F7"/>
          </a:solidFill>
          <a:ln>
            <a:noFill/>
          </a:ln>
          <a:effectLst/>
        </p:spPr>
        <p:txBody>
          <a:bodyPr rtlCol="0" anchor="ctr" lIns="54864" rIns="54864" tIns="27432" bIns="27432" wrap="square"/>
          <a:lstStyle/>
          <a:p>
            <a:pPr algn="ctr"/>
            <a:r>
              <a:rPr sz="1700" b="1" i="0">
                <a:solidFill>
                  <a:srgbClr val="1F2A44"/>
                </a:solidFill>
                <a:latin typeface="Calibri"/>
              </a:rPr>
              <a:t>candidates</a:t>
            </a:r>
          </a:p>
        </p:txBody>
      </p:sp>
      <p:sp>
        <p:nvSpPr>
          <p:cNvPr id="14" name="Rectangle 13"/>
          <p:cNvSpPr/>
          <p:nvPr/>
        </p:nvSpPr>
        <p:spPr>
          <a:xfrm>
            <a:off x="3108960" y="3511296"/>
            <a:ext cx="4151376" cy="658368"/>
          </a:xfrm>
          <a:prstGeom prst="rect">
            <a:avLst/>
          </a:prstGeom>
          <a:solidFill>
            <a:srgbClr val="F4F5F7"/>
          </a:solidFill>
          <a:ln>
            <a:noFill/>
          </a:ln>
          <a:effectLst/>
        </p:spPr>
        <p:txBody>
          <a:bodyPr rtlCol="0" anchor="ctr" lIns="54864" rIns="54864" tIns="27432" bIns="27432" wrap="square"/>
          <a:lstStyle/>
          <a:p>
            <a:pPr algn="ctr"/>
            <a:r>
              <a:rPr sz="1700" b="0" i="0">
                <a:solidFill>
                  <a:srgbClr val="2B2F36"/>
                </a:solidFill>
                <a:latin typeface="Calibri"/>
              </a:rPr>
              <a:t>parents of last round’s merges</a:t>
            </a:r>
          </a:p>
        </p:txBody>
      </p:sp>
      <p:sp>
        <p:nvSpPr>
          <p:cNvPr id="15" name="Rectangle 14"/>
          <p:cNvSpPr/>
          <p:nvPr/>
        </p:nvSpPr>
        <p:spPr>
          <a:xfrm>
            <a:off x="7315200" y="3511296"/>
            <a:ext cx="4151376" cy="658368"/>
          </a:xfrm>
          <a:prstGeom prst="rect">
            <a:avLst/>
          </a:prstGeom>
          <a:solidFill>
            <a:srgbClr val="F4F5F7"/>
          </a:solidFill>
          <a:ln>
            <a:noFill/>
          </a:ln>
          <a:effectLst/>
        </p:spPr>
        <p:txBody>
          <a:bodyPr rtlCol="0" anchor="ctr" lIns="54864" rIns="54864" tIns="27432" bIns="27432" wrap="square"/>
          <a:lstStyle/>
          <a:p>
            <a:pPr algn="ctr"/>
            <a:r>
              <a:rPr sz="1700" b="0" i="0">
                <a:solidFill>
                  <a:srgbClr val="2B2F36"/>
                </a:solidFill>
                <a:latin typeface="Calibri"/>
              </a:rPr>
              <a:t>filter all terms for a dirty child</a:t>
            </a:r>
          </a:p>
        </p:txBody>
      </p:sp>
      <p:sp>
        <p:nvSpPr>
          <p:cNvPr id="16" name="Rectangle 15"/>
          <p:cNvSpPr/>
          <p:nvPr/>
        </p:nvSpPr>
        <p:spPr>
          <a:xfrm>
            <a:off x="731520" y="4224528"/>
            <a:ext cx="2322576" cy="658368"/>
          </a:xfrm>
          <a:prstGeom prst="rect">
            <a:avLst/>
          </a:prstGeom>
          <a:solidFill>
            <a:srgbClr val="F4F5F7"/>
          </a:solidFill>
          <a:ln>
            <a:noFill/>
          </a:ln>
          <a:effectLst/>
        </p:spPr>
        <p:txBody>
          <a:bodyPr rtlCol="0" anchor="ctr" lIns="54864" rIns="54864" tIns="27432" bIns="27432" wrap="square"/>
          <a:lstStyle/>
          <a:p>
            <a:pPr algn="ctr"/>
            <a:r>
              <a:rPr sz="1700" b="1" i="0">
                <a:solidFill>
                  <a:srgbClr val="1F2A44"/>
                </a:solidFill>
                <a:latin typeface="Calibri"/>
              </a:rPr>
              <a:t>cost per round</a:t>
            </a:r>
          </a:p>
        </p:txBody>
      </p:sp>
      <p:sp>
        <p:nvSpPr>
          <p:cNvPr id="17" name="Rectangle 16"/>
          <p:cNvSpPr/>
          <p:nvPr/>
        </p:nvSpPr>
        <p:spPr>
          <a:xfrm>
            <a:off x="3108960" y="4224528"/>
            <a:ext cx="4151376" cy="658368"/>
          </a:xfrm>
          <a:prstGeom prst="rect">
            <a:avLst/>
          </a:prstGeom>
          <a:solidFill>
            <a:srgbClr val="F4F5F7"/>
          </a:solidFill>
          <a:ln>
            <a:noFill/>
          </a:ln>
          <a:effectLst/>
        </p:spPr>
        <p:txBody>
          <a:bodyPr rtlCol="0" anchor="ctr" lIns="54864" rIns="54864" tIns="27432" bIns="27432" wrap="square"/>
          <a:lstStyle/>
          <a:p>
            <a:pPr algn="ctr"/>
            <a:r>
              <a:rPr sz="1700" b="0" i="0">
                <a:solidFill>
                  <a:srgbClr val="2B2F36"/>
                </a:solidFill>
                <a:latin typeface="Calibri"/>
              </a:rPr>
              <a:t>∝ candidates, plus allocation</a:t>
            </a:r>
          </a:p>
        </p:txBody>
      </p:sp>
      <p:sp>
        <p:nvSpPr>
          <p:cNvPr id="18" name="Rectangle 17"/>
          <p:cNvSpPr/>
          <p:nvPr/>
        </p:nvSpPr>
        <p:spPr>
          <a:xfrm>
            <a:off x="7315200" y="4224528"/>
            <a:ext cx="4151376" cy="658368"/>
          </a:xfrm>
          <a:prstGeom prst="rect">
            <a:avLst/>
          </a:prstGeom>
          <a:solidFill>
            <a:srgbClr val="F4F5F7"/>
          </a:solidFill>
          <a:ln>
            <a:noFill/>
          </a:ln>
          <a:effectLst/>
        </p:spPr>
        <p:txBody>
          <a:bodyPr rtlCol="0" anchor="ctr" lIns="54864" rIns="54864" tIns="27432" bIns="27432" wrap="square"/>
          <a:lstStyle/>
          <a:p>
            <a:pPr algn="ctr"/>
            <a:r>
              <a:rPr sz="1700" b="0" i="0">
                <a:solidFill>
                  <a:srgbClr val="2B2F36"/>
                </a:solidFill>
                <a:latin typeface="Calibri"/>
              </a:rPr>
              <a:t>∝ all terms, no allocation</a:t>
            </a:r>
          </a:p>
        </p:txBody>
      </p:sp>
      <p:sp>
        <p:nvSpPr>
          <p:cNvPr id="19" name="Rectangle 18"/>
          <p:cNvSpPr/>
          <p:nvPr/>
        </p:nvSpPr>
        <p:spPr>
          <a:xfrm>
            <a:off x="731520" y="4937760"/>
            <a:ext cx="2322576" cy="658368"/>
          </a:xfrm>
          <a:prstGeom prst="rect">
            <a:avLst/>
          </a:prstGeom>
          <a:solidFill>
            <a:srgbClr val="F4F5F7"/>
          </a:solidFill>
          <a:ln>
            <a:noFill/>
          </a:ln>
          <a:effectLst/>
        </p:spPr>
        <p:txBody>
          <a:bodyPr rtlCol="0" anchor="ctr" lIns="54864" rIns="54864" tIns="27432" bIns="27432" wrap="square"/>
          <a:lstStyle/>
          <a:p>
            <a:pPr algn="ctr"/>
            <a:r>
              <a:rPr sz="1700" b="1" i="0">
                <a:solidFill>
                  <a:srgbClr val="1F2A44"/>
                </a:solidFill>
                <a:latin typeface="Calibri"/>
              </a:rPr>
              <a:t>wins when</a:t>
            </a:r>
          </a:p>
        </p:txBody>
      </p:sp>
      <p:sp>
        <p:nvSpPr>
          <p:cNvPr id="20" name="Rectangle 19"/>
          <p:cNvSpPr/>
          <p:nvPr/>
        </p:nvSpPr>
        <p:spPr>
          <a:xfrm>
            <a:off x="3108960" y="4937760"/>
            <a:ext cx="4151376" cy="658368"/>
          </a:xfrm>
          <a:prstGeom prst="rect">
            <a:avLst/>
          </a:prstGeom>
          <a:solidFill>
            <a:srgbClr val="F4F5F7"/>
          </a:solidFill>
          <a:ln>
            <a:noFill/>
          </a:ln>
          <a:effectLst/>
        </p:spPr>
        <p:txBody>
          <a:bodyPr rtlCol="0" anchor="ctr" lIns="54864" rIns="54864" tIns="27432" bIns="27432" wrap="square"/>
          <a:lstStyle/>
          <a:p>
            <a:pPr algn="ctr"/>
            <a:r>
              <a:rPr sz="1700" b="0" i="0">
                <a:solidFill>
                  <a:srgbClr val="2B2F36"/>
                </a:solidFill>
                <a:latin typeface="Calibri"/>
              </a:rPr>
              <a:t>many rounds</a:t>
            </a:r>
          </a:p>
        </p:txBody>
      </p:sp>
      <p:sp>
        <p:nvSpPr>
          <p:cNvPr id="21" name="Rectangle 20"/>
          <p:cNvSpPr/>
          <p:nvPr/>
        </p:nvSpPr>
        <p:spPr>
          <a:xfrm>
            <a:off x="7315200" y="4937760"/>
            <a:ext cx="4151376" cy="658368"/>
          </a:xfrm>
          <a:prstGeom prst="rect">
            <a:avLst/>
          </a:prstGeom>
          <a:solidFill>
            <a:srgbClr val="F4F5F7"/>
          </a:solidFill>
          <a:ln>
            <a:noFill/>
          </a:ln>
          <a:effectLst/>
        </p:spPr>
        <p:txBody>
          <a:bodyPr rtlCol="0" anchor="ctr" lIns="54864" rIns="54864" tIns="27432" bIns="27432" wrap="square"/>
          <a:lstStyle/>
          <a:p>
            <a:pPr algn="ctr"/>
            <a:r>
              <a:rPr sz="1700" b="0" i="0">
                <a:solidFill>
                  <a:srgbClr val="2B2F36"/>
                </a:solidFill>
                <a:latin typeface="Calibri"/>
              </a:rPr>
              <a:t>few rounds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FilterCC on the example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35</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323843" y="5340096"/>
            <a:ext cx="512064" cy="237744"/>
          </a:xfrm>
          <a:prstGeom prst="roundRect">
            <a:avLst>
              <a:gd name="adj" fmla="val 50000"/>
            </a:avLst>
          </a:prstGeom>
          <a:solidFill>
            <a:srgbClr val="FFFFFF"/>
          </a:solidFill>
          <a:ln w="15875">
            <a:solidFill>
              <a:srgbClr val="C0392B"/>
            </a:solidFill>
          </a:ln>
          <a:effectLst/>
        </p:spPr>
        <p:txBody>
          <a:bodyPr rtlCol="0" anchor="ctr" lIns="54864" rIns="54864" tIns="27432" bIns="27432" wrap="square"/>
          <a:lstStyle/>
          <a:p>
            <a:pPr algn="ctr"/>
            <a:r>
              <a:rPr sz="950" b="1" i="0">
                <a:solidFill>
                  <a:srgbClr val="C0392B"/>
                </a:solidFill>
                <a:latin typeface="Calibri"/>
              </a:rPr>
              <a:t>dirty</a:t>
            </a:r>
          </a:p>
        </p:txBody>
      </p:sp>
      <p:sp>
        <p:nvSpPr>
          <p:cNvPr id="8" name="Rounded Rectangle 7"/>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4823459" y="5340096"/>
            <a:ext cx="512064" cy="237744"/>
          </a:xfrm>
          <a:prstGeom prst="roundRect">
            <a:avLst>
              <a:gd name="adj" fmla="val 50000"/>
            </a:avLst>
          </a:prstGeom>
          <a:solidFill>
            <a:srgbClr val="FFFFFF"/>
          </a:solidFill>
          <a:ln w="15875">
            <a:solidFill>
              <a:srgbClr val="C0392B"/>
            </a:solidFill>
          </a:ln>
          <a:effectLst/>
        </p:spPr>
        <p:txBody>
          <a:bodyPr rtlCol="0" anchor="ctr" lIns="54864" rIns="54864" tIns="27432" bIns="27432" wrap="square"/>
          <a:lstStyle/>
          <a:p>
            <a:pPr algn="ctr"/>
            <a:r>
              <a:rPr sz="950" b="1" i="0">
                <a:solidFill>
                  <a:srgbClr val="C0392B"/>
                </a:solidFill>
                <a:latin typeface="Calibri"/>
              </a:rPr>
              <a:t>dirty</a:t>
            </a:r>
          </a:p>
        </p:txBody>
      </p:sp>
      <p:sp>
        <p:nvSpPr>
          <p:cNvPr id="10" name="Rounded Rectangle 9"/>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6323075" y="5340096"/>
            <a:ext cx="512064" cy="237744"/>
          </a:xfrm>
          <a:prstGeom prst="roundRect">
            <a:avLst>
              <a:gd name="adj" fmla="val 50000"/>
            </a:avLst>
          </a:prstGeom>
          <a:solidFill>
            <a:srgbClr val="FFFFFF"/>
          </a:solidFill>
          <a:ln w="15875">
            <a:solidFill>
              <a:srgbClr val="C0392B"/>
            </a:solidFill>
          </a:ln>
          <a:effectLst/>
        </p:spPr>
        <p:txBody>
          <a:bodyPr rtlCol="0" anchor="ctr" lIns="54864" rIns="54864" tIns="27432" bIns="27432" wrap="square"/>
          <a:lstStyle/>
          <a:p>
            <a:pPr algn="ctr"/>
            <a:r>
              <a:rPr sz="950" b="1" i="0">
                <a:solidFill>
                  <a:srgbClr val="C0392B"/>
                </a:solidFill>
                <a:latin typeface="Calibri"/>
              </a:rPr>
              <a:t>dirty</a:t>
            </a:r>
          </a:p>
        </p:txBody>
      </p:sp>
      <p:sp>
        <p:nvSpPr>
          <p:cNvPr id="12" name="Rounded Rectangle 11"/>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3" name="Rounded Rectangle 12"/>
          <p:cNvSpPr/>
          <p:nvPr/>
        </p:nvSpPr>
        <p:spPr>
          <a:xfrm>
            <a:off x="7822692" y="5340096"/>
            <a:ext cx="512064" cy="237744"/>
          </a:xfrm>
          <a:prstGeom prst="roundRect">
            <a:avLst>
              <a:gd name="adj" fmla="val 50000"/>
            </a:avLst>
          </a:prstGeom>
          <a:solidFill>
            <a:srgbClr val="FFFFFF"/>
          </a:solidFill>
          <a:ln w="15875">
            <a:solidFill>
              <a:srgbClr val="C0392B"/>
            </a:solidFill>
          </a:ln>
          <a:effectLst/>
        </p:spPr>
        <p:txBody>
          <a:bodyPr rtlCol="0" anchor="ctr" lIns="54864" rIns="54864" tIns="27432" bIns="27432" wrap="square"/>
          <a:lstStyle/>
          <a:p>
            <a:pPr algn="ctr"/>
            <a:r>
              <a:rPr sz="950" b="1" i="0">
                <a:solidFill>
                  <a:srgbClr val="C0392B"/>
                </a:solidFill>
                <a:latin typeface="Calibri"/>
              </a:rPr>
              <a:t>dirty</a:t>
            </a:r>
          </a:p>
        </p:txBody>
      </p:sp>
      <p:sp>
        <p:nvSpPr>
          <p:cNvPr id="14" name="Rounded Rectangle 13"/>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5" name="Rounded Rectangle 14"/>
          <p:cNvSpPr/>
          <p:nvPr/>
        </p:nvSpPr>
        <p:spPr>
          <a:xfrm>
            <a:off x="9322308" y="5340096"/>
            <a:ext cx="512064" cy="237744"/>
          </a:xfrm>
          <a:prstGeom prst="roundRect">
            <a:avLst>
              <a:gd name="adj" fmla="val 50000"/>
            </a:avLst>
          </a:prstGeom>
          <a:solidFill>
            <a:srgbClr val="FFFFFF"/>
          </a:solidFill>
          <a:ln w="15875">
            <a:solidFill>
              <a:srgbClr val="C0392B"/>
            </a:solidFill>
          </a:ln>
          <a:effectLst/>
        </p:spPr>
        <p:txBody>
          <a:bodyPr rtlCol="0" anchor="ctr" lIns="54864" rIns="54864" tIns="27432" bIns="27432" wrap="square"/>
          <a:lstStyle/>
          <a:p>
            <a:pPr algn="ctr"/>
            <a:r>
              <a:rPr sz="950" b="1" i="0">
                <a:solidFill>
                  <a:srgbClr val="C0392B"/>
                </a:solidFill>
                <a:latin typeface="Calibri"/>
              </a:rPr>
              <a:t>dirty</a:t>
            </a:r>
          </a:p>
        </p:txBody>
      </p:sp>
      <p:sp>
        <p:nvSpPr>
          <p:cNvPr id="16" name="Rounded Rectangle 15"/>
          <p:cNvSpPr/>
          <p:nvPr/>
        </p:nvSpPr>
        <p:spPr>
          <a:xfrm>
            <a:off x="2866644" y="2907791"/>
            <a:ext cx="2011680" cy="950976"/>
          </a:xfrm>
          <a:prstGeom prst="roundRect">
            <a:avLst>
              <a:gd name="adj" fmla="val 30000"/>
            </a:avLst>
          </a:prstGeom>
          <a:noFill/>
          <a:ln w="22225">
            <a:solidFill>
              <a:srgbClr val="7B4FB5"/>
            </a:solidFill>
            <a:prstDash val="sysDot"/>
          </a:ln>
          <a:effectLst/>
        </p:spPr>
        <p:txBody>
          <a:bodyPr rtlCol="0" anchor="ctr" lIns="54864" rIns="54864" tIns="27432" bIns="27432" wrap="square"/>
          <a:lstStyle/>
          <a:p>
            <a:pPr algn="ctr"/>
          </a:p>
        </p:txBody>
      </p:sp>
      <p:sp>
        <p:nvSpPr>
          <p:cNvPr id="17" name="Rounded Rectangle 16"/>
          <p:cNvSpPr/>
          <p:nvPr/>
        </p:nvSpPr>
        <p:spPr>
          <a:xfrm>
            <a:off x="7301483" y="2907791"/>
            <a:ext cx="2011680" cy="950976"/>
          </a:xfrm>
          <a:prstGeom prst="roundRect">
            <a:avLst>
              <a:gd name="adj" fmla="val 30000"/>
            </a:avLst>
          </a:prstGeom>
          <a:noFill/>
          <a:ln w="22225">
            <a:solidFill>
              <a:srgbClr val="7B4FB5"/>
            </a:solidFill>
            <a:prstDash val="sysDot"/>
          </a:ln>
          <a:effectLst/>
        </p:spPr>
        <p:txBody>
          <a:bodyPr rtlCol="0" anchor="ctr" lIns="54864" rIns="54864" tIns="27432" bIns="27432" wrap="square"/>
          <a:lstStyle/>
          <a:p>
            <a:pPr algn="ctr"/>
          </a:p>
        </p:txBody>
      </p:sp>
      <p:sp>
        <p:nvSpPr>
          <p:cNvPr id="18" name="Rounded Rectangle 17"/>
          <p:cNvSpPr/>
          <p:nvPr/>
        </p:nvSpPr>
        <p:spPr>
          <a:xfrm>
            <a:off x="4768596" y="1581912"/>
            <a:ext cx="1252728" cy="676656"/>
          </a:xfrm>
          <a:prstGeom prst="roundRect">
            <a:avLst>
              <a:gd name="adj" fmla="val 30000"/>
            </a:avLst>
          </a:prstGeom>
          <a:noFill/>
          <a:ln w="22225">
            <a:solidFill>
              <a:srgbClr val="7B4FB5"/>
            </a:solidFill>
            <a:prstDash val="sysDot"/>
          </a:ln>
          <a:effectLst/>
        </p:spPr>
        <p:txBody>
          <a:bodyPr rtlCol="0" anchor="ctr" lIns="54864" rIns="54864" tIns="27432" bIns="27432" wrap="square"/>
          <a:lstStyle/>
          <a:p>
            <a:pPr algn="ctr"/>
          </a:p>
        </p:txBody>
      </p:sp>
      <p:sp>
        <p:nvSpPr>
          <p:cNvPr id="19" name="Rounded Rectangle 18"/>
          <p:cNvSpPr/>
          <p:nvPr/>
        </p:nvSpPr>
        <p:spPr>
          <a:xfrm>
            <a:off x="6432804" y="1581912"/>
            <a:ext cx="1252728" cy="676656"/>
          </a:xfrm>
          <a:prstGeom prst="roundRect">
            <a:avLst>
              <a:gd name="adj" fmla="val 30000"/>
            </a:avLst>
          </a:prstGeom>
          <a:noFill/>
          <a:ln w="22225">
            <a:solidFill>
              <a:srgbClr val="7B4FB5"/>
            </a:solidFill>
            <a:prstDash val="sysDot"/>
          </a:ln>
          <a:effectLst/>
        </p:spPr>
        <p:txBody>
          <a:bodyPr rtlCol="0" anchor="ctr" lIns="54864" rIns="54864" tIns="27432" bIns="27432" wrap="square"/>
          <a:lstStyle/>
          <a:p>
            <a:pPr algn="ctr"/>
          </a:p>
        </p:txBody>
      </p:sp>
      <p:cxnSp>
        <p:nvCxnSpPr>
          <p:cNvPr id="20" name="Connector 19"/>
          <p:cNvCxnSpPr/>
          <p:nvPr/>
        </p:nvCxnSpPr>
        <p:spPr>
          <a:xfrm flipH="1">
            <a:off x="2784348" y="3803903"/>
            <a:ext cx="539496" cy="1106425"/>
          </a:xfrm>
          <a:prstGeom prst="line">
            <a:avLst/>
          </a:prstGeom>
          <a:ln w="15875">
            <a:solidFill>
              <a:srgbClr val="8A8F98"/>
            </a:solidFill>
          </a:ln>
          <a:effectLst/>
        </p:spPr>
      </p:cxnSp>
      <p:cxnSp>
        <p:nvCxnSpPr>
          <p:cNvPr id="21" name="Connector 20"/>
          <p:cNvCxnSpPr/>
          <p:nvPr/>
        </p:nvCxnSpPr>
        <p:spPr>
          <a:xfrm>
            <a:off x="3323844" y="3803903"/>
            <a:ext cx="960120" cy="1106425"/>
          </a:xfrm>
          <a:prstGeom prst="line">
            <a:avLst/>
          </a:prstGeom>
          <a:ln w="15875">
            <a:solidFill>
              <a:srgbClr val="8A8F98"/>
            </a:solidFill>
          </a:ln>
          <a:effectLst/>
        </p:spPr>
      </p:cxnSp>
      <p:cxnSp>
        <p:nvCxnSpPr>
          <p:cNvPr id="22" name="Connector 21"/>
          <p:cNvCxnSpPr/>
          <p:nvPr/>
        </p:nvCxnSpPr>
        <p:spPr>
          <a:xfrm flipH="1">
            <a:off x="3406139" y="3803903"/>
            <a:ext cx="1014985" cy="1106425"/>
          </a:xfrm>
          <a:prstGeom prst="line">
            <a:avLst/>
          </a:prstGeom>
          <a:ln w="15875">
            <a:solidFill>
              <a:srgbClr val="8A8F98"/>
            </a:solidFill>
          </a:ln>
          <a:effectLst/>
        </p:spPr>
      </p:cxnSp>
      <p:cxnSp>
        <p:nvCxnSpPr>
          <p:cNvPr id="23" name="Connector 22"/>
          <p:cNvCxnSpPr/>
          <p:nvPr/>
        </p:nvCxnSpPr>
        <p:spPr>
          <a:xfrm>
            <a:off x="4421124" y="3803903"/>
            <a:ext cx="484632" cy="1106425"/>
          </a:xfrm>
          <a:prstGeom prst="line">
            <a:avLst/>
          </a:prstGeom>
          <a:ln w="15875">
            <a:solidFill>
              <a:srgbClr val="8A8F98"/>
            </a:solidFill>
          </a:ln>
          <a:effectLst/>
        </p:spPr>
      </p:cxnSp>
      <p:cxnSp>
        <p:nvCxnSpPr>
          <p:cNvPr id="24" name="Connector 23"/>
          <p:cNvCxnSpPr/>
          <p:nvPr/>
        </p:nvCxnSpPr>
        <p:spPr>
          <a:xfrm flipH="1">
            <a:off x="7283196" y="3803903"/>
            <a:ext cx="475487" cy="1106425"/>
          </a:xfrm>
          <a:prstGeom prst="line">
            <a:avLst/>
          </a:prstGeom>
          <a:ln w="15875">
            <a:solidFill>
              <a:srgbClr val="8A8F98"/>
            </a:solidFill>
          </a:ln>
          <a:effectLst/>
        </p:spPr>
      </p:cxnSp>
      <p:cxnSp>
        <p:nvCxnSpPr>
          <p:cNvPr id="25" name="Connector 24"/>
          <p:cNvCxnSpPr/>
          <p:nvPr/>
        </p:nvCxnSpPr>
        <p:spPr>
          <a:xfrm>
            <a:off x="7758683" y="3803903"/>
            <a:ext cx="1024129" cy="1106425"/>
          </a:xfrm>
          <a:prstGeom prst="line">
            <a:avLst/>
          </a:prstGeom>
          <a:ln w="15875">
            <a:solidFill>
              <a:srgbClr val="8A8F98"/>
            </a:solidFill>
          </a:ln>
          <a:effectLst/>
        </p:spPr>
      </p:cxnSp>
      <p:cxnSp>
        <p:nvCxnSpPr>
          <p:cNvPr id="26" name="Connector 25"/>
          <p:cNvCxnSpPr/>
          <p:nvPr/>
        </p:nvCxnSpPr>
        <p:spPr>
          <a:xfrm flipH="1">
            <a:off x="7904988" y="3803903"/>
            <a:ext cx="950975" cy="1106425"/>
          </a:xfrm>
          <a:prstGeom prst="line">
            <a:avLst/>
          </a:prstGeom>
          <a:ln w="15875">
            <a:solidFill>
              <a:srgbClr val="8A8F98"/>
            </a:solidFill>
          </a:ln>
          <a:effectLst/>
        </p:spPr>
      </p:cxnSp>
      <p:cxnSp>
        <p:nvCxnSpPr>
          <p:cNvPr id="27" name="Connector 26"/>
          <p:cNvCxnSpPr/>
          <p:nvPr/>
        </p:nvCxnSpPr>
        <p:spPr>
          <a:xfrm>
            <a:off x="8855963" y="3803903"/>
            <a:ext cx="548641" cy="1106425"/>
          </a:xfrm>
          <a:prstGeom prst="line">
            <a:avLst/>
          </a:prstGeom>
          <a:ln w="15875">
            <a:solidFill>
              <a:srgbClr val="8A8F98"/>
            </a:solidFill>
          </a:ln>
          <a:effectLst/>
        </p:spPr>
      </p:cxnSp>
      <p:cxnSp>
        <p:nvCxnSpPr>
          <p:cNvPr id="28" name="Connector 27"/>
          <p:cNvCxnSpPr/>
          <p:nvPr/>
        </p:nvCxnSpPr>
        <p:spPr>
          <a:xfrm>
            <a:off x="5564124" y="2203704"/>
            <a:ext cx="219455" cy="2706624"/>
          </a:xfrm>
          <a:prstGeom prst="line">
            <a:avLst/>
          </a:prstGeom>
          <a:ln w="15875">
            <a:solidFill>
              <a:srgbClr val="8A8F98"/>
            </a:solidFill>
          </a:ln>
          <a:effectLst/>
        </p:spPr>
      </p:cxnSp>
      <p:cxnSp>
        <p:nvCxnSpPr>
          <p:cNvPr id="29" name="Connector 28"/>
          <p:cNvCxnSpPr/>
          <p:nvPr/>
        </p:nvCxnSpPr>
        <p:spPr>
          <a:xfrm flipH="1">
            <a:off x="3323844" y="2203704"/>
            <a:ext cx="2240280" cy="749807"/>
          </a:xfrm>
          <a:prstGeom prst="line">
            <a:avLst/>
          </a:prstGeom>
          <a:ln w="15875">
            <a:solidFill>
              <a:srgbClr val="8A8F98"/>
            </a:solidFill>
          </a:ln>
          <a:effectLst/>
        </p:spPr>
      </p:cxnSp>
      <p:cxnSp>
        <p:nvCxnSpPr>
          <p:cNvPr id="30" name="Connector 29"/>
          <p:cNvCxnSpPr/>
          <p:nvPr/>
        </p:nvCxnSpPr>
        <p:spPr>
          <a:xfrm>
            <a:off x="5564124" y="2203704"/>
            <a:ext cx="2194559" cy="749807"/>
          </a:xfrm>
          <a:prstGeom prst="line">
            <a:avLst/>
          </a:prstGeom>
          <a:ln w="15875">
            <a:solidFill>
              <a:srgbClr val="8A8F98"/>
            </a:solidFill>
          </a:ln>
          <a:effectLst/>
        </p:spPr>
      </p:cxnSp>
      <p:cxnSp>
        <p:nvCxnSpPr>
          <p:cNvPr id="31" name="Connector 30"/>
          <p:cNvCxnSpPr/>
          <p:nvPr/>
        </p:nvCxnSpPr>
        <p:spPr>
          <a:xfrm flipH="1">
            <a:off x="6405372" y="2203704"/>
            <a:ext cx="484632" cy="2706624"/>
          </a:xfrm>
          <a:prstGeom prst="line">
            <a:avLst/>
          </a:prstGeom>
          <a:ln w="15875">
            <a:solidFill>
              <a:srgbClr val="8A8F98"/>
            </a:solidFill>
          </a:ln>
          <a:effectLst/>
        </p:spPr>
      </p:cxnSp>
      <p:cxnSp>
        <p:nvCxnSpPr>
          <p:cNvPr id="32" name="Connector 31"/>
          <p:cNvCxnSpPr/>
          <p:nvPr/>
        </p:nvCxnSpPr>
        <p:spPr>
          <a:xfrm flipH="1">
            <a:off x="4421124" y="2203704"/>
            <a:ext cx="2468880" cy="749807"/>
          </a:xfrm>
          <a:prstGeom prst="line">
            <a:avLst/>
          </a:prstGeom>
          <a:ln w="15875">
            <a:solidFill>
              <a:srgbClr val="8A8F98"/>
            </a:solidFill>
          </a:ln>
          <a:effectLst/>
        </p:spPr>
      </p:cxnSp>
      <p:cxnSp>
        <p:nvCxnSpPr>
          <p:cNvPr id="33" name="Connector 32"/>
          <p:cNvCxnSpPr/>
          <p:nvPr/>
        </p:nvCxnSpPr>
        <p:spPr>
          <a:xfrm>
            <a:off x="6890004" y="2203704"/>
            <a:ext cx="1965959" cy="749807"/>
          </a:xfrm>
          <a:prstGeom prst="line">
            <a:avLst/>
          </a:prstGeom>
          <a:ln w="15875">
            <a:solidFill>
              <a:srgbClr val="8A8F98"/>
            </a:solidFill>
          </a:ln>
          <a:effectLst/>
        </p:spPr>
      </p:cxnSp>
      <p:sp>
        <p:nvSpPr>
          <p:cNvPr id="34" name="Rounded Rectangle 33"/>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5" name="Rounded Rectangle 34"/>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6" name="Rounded Rectangle 35"/>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7" name="Rounded Rectangle 36"/>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8" name="Rounded Rectangle 37"/>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9" name="Rounded Rectangle 38"/>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40" name="Rounded Rectangle 39"/>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41" name="Rounded Rectangle 40"/>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42" name="Rounded Rectangle 41"/>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43" name="Rounded Rectangle 42"/>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44" name="Rounded Rectangle 43"/>
          <p:cNvSpPr/>
          <p:nvPr/>
        </p:nvSpPr>
        <p:spPr>
          <a:xfrm>
            <a:off x="292150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45" name="TextBox 44"/>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6" name="Rounded Rectangle 45"/>
          <p:cNvSpPr/>
          <p:nvPr/>
        </p:nvSpPr>
        <p:spPr>
          <a:xfrm>
            <a:off x="4018787"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AND</a:t>
            </a:r>
          </a:p>
        </p:txBody>
      </p:sp>
      <p:sp>
        <p:nvSpPr>
          <p:cNvPr id="47" name="TextBox 46"/>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8" name="Rounded Rectangle 47"/>
          <p:cNvSpPr/>
          <p:nvPr/>
        </p:nvSpPr>
        <p:spPr>
          <a:xfrm>
            <a:off x="735634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49" name="TextBox 48"/>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50" name="Rounded Rectangle 49"/>
          <p:cNvSpPr/>
          <p:nvPr/>
        </p:nvSpPr>
        <p:spPr>
          <a:xfrm>
            <a:off x="8453628" y="3236975"/>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XOR</a:t>
            </a:r>
          </a:p>
        </p:txBody>
      </p:sp>
      <p:sp>
        <p:nvSpPr>
          <p:cNvPr id="51" name="TextBox 50"/>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52" name="Rounded Rectangle 51"/>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53" name="TextBox 52"/>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54" name="Rounded Rectangle 53"/>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55" name="TextBox 54"/>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FilterCC on the example</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36</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2391156"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7" name="Rounded Rectangle 6"/>
          <p:cNvSpPr/>
          <p:nvPr/>
        </p:nvSpPr>
        <p:spPr>
          <a:xfrm>
            <a:off x="3890771"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8" name="Rounded Rectangle 7"/>
          <p:cNvSpPr/>
          <p:nvPr/>
        </p:nvSpPr>
        <p:spPr>
          <a:xfrm>
            <a:off x="5390388"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9" name="Rounded Rectangle 8"/>
          <p:cNvSpPr/>
          <p:nvPr/>
        </p:nvSpPr>
        <p:spPr>
          <a:xfrm>
            <a:off x="6890004" y="4791456"/>
            <a:ext cx="1408175"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0" name="Rounded Rectangle 9"/>
          <p:cNvSpPr/>
          <p:nvPr/>
        </p:nvSpPr>
        <p:spPr>
          <a:xfrm>
            <a:off x="8389620" y="4791456"/>
            <a:ext cx="1408176" cy="658368"/>
          </a:xfrm>
          <a:prstGeom prst="roundRect">
            <a:avLst>
              <a:gd name="adj" fmla="val 25000"/>
            </a:avLst>
          </a:prstGeom>
          <a:solidFill>
            <a:srgbClr val="EEF0F3"/>
          </a:solidFill>
          <a:ln w="19050">
            <a:solidFill>
              <a:srgbClr val="9AA0A8"/>
            </a:solidFill>
            <a:prstDash val="dash"/>
          </a:ln>
          <a:effectLst/>
        </p:spPr>
        <p:txBody>
          <a:bodyPr rtlCol="0" anchor="ctr" lIns="54864" rIns="54864" tIns="27432" bIns="27432" wrap="square"/>
          <a:lstStyle/>
          <a:p>
            <a:pPr algn="ctr"/>
          </a:p>
        </p:txBody>
      </p:sp>
      <p:sp>
        <p:nvSpPr>
          <p:cNvPr id="11" name="Rounded Rectangle 10"/>
          <p:cNvSpPr/>
          <p:nvPr/>
        </p:nvSpPr>
        <p:spPr>
          <a:xfrm>
            <a:off x="2802636" y="2843783"/>
            <a:ext cx="2139696" cy="1078992"/>
          </a:xfrm>
          <a:prstGeom prst="roundRect">
            <a:avLst>
              <a:gd name="adj" fmla="val 25000"/>
            </a:avLst>
          </a:prstGeom>
          <a:solidFill>
            <a:srgbClr val="DCEAF8"/>
          </a:solidFill>
          <a:ln w="19050">
            <a:solidFill>
              <a:srgbClr val="2E6FB0"/>
            </a:solidFill>
            <a:prstDash val="dash"/>
          </a:ln>
          <a:effectLst/>
        </p:spPr>
        <p:txBody>
          <a:bodyPr rtlCol="0" anchor="ctr" lIns="54864" rIns="54864" tIns="27432" bIns="27432" wrap="square"/>
          <a:lstStyle/>
          <a:p>
            <a:pPr algn="ctr"/>
          </a:p>
        </p:txBody>
      </p:sp>
      <p:sp>
        <p:nvSpPr>
          <p:cNvPr id="12" name="Rounded Rectangle 11"/>
          <p:cNvSpPr/>
          <p:nvPr/>
        </p:nvSpPr>
        <p:spPr>
          <a:xfrm>
            <a:off x="4466844" y="2715767"/>
            <a:ext cx="512064" cy="237744"/>
          </a:xfrm>
          <a:prstGeom prst="roundRect">
            <a:avLst>
              <a:gd name="adj" fmla="val 50000"/>
            </a:avLst>
          </a:prstGeom>
          <a:solidFill>
            <a:srgbClr val="FFFFFF"/>
          </a:solidFill>
          <a:ln w="15875">
            <a:solidFill>
              <a:srgbClr val="C0392B"/>
            </a:solidFill>
          </a:ln>
          <a:effectLst/>
        </p:spPr>
        <p:txBody>
          <a:bodyPr rtlCol="0" anchor="ctr" lIns="54864" rIns="54864" tIns="27432" bIns="27432" wrap="square"/>
          <a:lstStyle/>
          <a:p>
            <a:pPr algn="ctr"/>
            <a:r>
              <a:rPr sz="950" b="1" i="0">
                <a:solidFill>
                  <a:srgbClr val="C0392B"/>
                </a:solidFill>
                <a:latin typeface="Calibri"/>
              </a:rPr>
              <a:t>dirty</a:t>
            </a:r>
          </a:p>
        </p:txBody>
      </p:sp>
      <p:sp>
        <p:nvSpPr>
          <p:cNvPr id="13" name="Rounded Rectangle 12"/>
          <p:cNvSpPr/>
          <p:nvPr/>
        </p:nvSpPr>
        <p:spPr>
          <a:xfrm>
            <a:off x="7237475" y="2843783"/>
            <a:ext cx="2139696" cy="1078992"/>
          </a:xfrm>
          <a:prstGeom prst="roundRect">
            <a:avLst>
              <a:gd name="adj" fmla="val 25000"/>
            </a:avLst>
          </a:prstGeom>
          <a:solidFill>
            <a:srgbClr val="DDF1E2"/>
          </a:solidFill>
          <a:ln w="19050">
            <a:solidFill>
              <a:srgbClr val="3A9A5B"/>
            </a:solidFill>
            <a:prstDash val="dash"/>
          </a:ln>
          <a:effectLst/>
        </p:spPr>
        <p:txBody>
          <a:bodyPr rtlCol="0" anchor="ctr" lIns="54864" rIns="54864" tIns="27432" bIns="27432" wrap="square"/>
          <a:lstStyle/>
          <a:p>
            <a:pPr algn="ctr"/>
          </a:p>
        </p:txBody>
      </p:sp>
      <p:sp>
        <p:nvSpPr>
          <p:cNvPr id="14" name="Rounded Rectangle 13"/>
          <p:cNvSpPr/>
          <p:nvPr/>
        </p:nvSpPr>
        <p:spPr>
          <a:xfrm>
            <a:off x="8901684" y="2715767"/>
            <a:ext cx="512064" cy="237744"/>
          </a:xfrm>
          <a:prstGeom prst="roundRect">
            <a:avLst>
              <a:gd name="adj" fmla="val 50000"/>
            </a:avLst>
          </a:prstGeom>
          <a:solidFill>
            <a:srgbClr val="FFFFFF"/>
          </a:solidFill>
          <a:ln w="15875">
            <a:solidFill>
              <a:srgbClr val="C0392B"/>
            </a:solidFill>
          </a:ln>
          <a:effectLst/>
        </p:spPr>
        <p:txBody>
          <a:bodyPr rtlCol="0" anchor="ctr" lIns="54864" rIns="54864" tIns="27432" bIns="27432" wrap="square"/>
          <a:lstStyle/>
          <a:p>
            <a:pPr algn="ctr"/>
            <a:r>
              <a:rPr sz="950" b="1" i="0">
                <a:solidFill>
                  <a:srgbClr val="C0392B"/>
                </a:solidFill>
                <a:latin typeface="Calibri"/>
              </a:rPr>
              <a:t>dirty</a:t>
            </a:r>
          </a:p>
        </p:txBody>
      </p:sp>
      <p:sp>
        <p:nvSpPr>
          <p:cNvPr id="15" name="Rounded Rectangle 14"/>
          <p:cNvSpPr/>
          <p:nvPr/>
        </p:nvSpPr>
        <p:spPr>
          <a:xfrm>
            <a:off x="4768596" y="1581912"/>
            <a:ext cx="2916936" cy="676656"/>
          </a:xfrm>
          <a:prstGeom prst="roundRect">
            <a:avLst>
              <a:gd name="adj" fmla="val 30000"/>
            </a:avLst>
          </a:prstGeom>
          <a:noFill/>
          <a:ln w="22225">
            <a:solidFill>
              <a:srgbClr val="7B4FB5"/>
            </a:solidFill>
            <a:prstDash val="sysDot"/>
          </a:ln>
          <a:effectLst/>
        </p:spPr>
        <p:txBody>
          <a:bodyPr rtlCol="0" anchor="ctr" lIns="54864" rIns="54864" tIns="27432" bIns="27432" wrap="square"/>
          <a:lstStyle/>
          <a:p>
            <a:pPr algn="ctr"/>
          </a:p>
        </p:txBody>
      </p:sp>
      <p:cxnSp>
        <p:nvCxnSpPr>
          <p:cNvPr id="16" name="Connector 15"/>
          <p:cNvCxnSpPr/>
          <p:nvPr/>
        </p:nvCxnSpPr>
        <p:spPr>
          <a:xfrm flipH="1">
            <a:off x="2784348" y="3803903"/>
            <a:ext cx="539496" cy="1106425"/>
          </a:xfrm>
          <a:prstGeom prst="line">
            <a:avLst/>
          </a:prstGeom>
          <a:ln w="15875">
            <a:solidFill>
              <a:srgbClr val="8A8F98"/>
            </a:solidFill>
          </a:ln>
          <a:effectLst/>
        </p:spPr>
      </p:cxnSp>
      <p:cxnSp>
        <p:nvCxnSpPr>
          <p:cNvPr id="17" name="Connector 16"/>
          <p:cNvCxnSpPr/>
          <p:nvPr/>
        </p:nvCxnSpPr>
        <p:spPr>
          <a:xfrm>
            <a:off x="3323844" y="3803903"/>
            <a:ext cx="960120" cy="1106425"/>
          </a:xfrm>
          <a:prstGeom prst="line">
            <a:avLst/>
          </a:prstGeom>
          <a:ln w="15875">
            <a:solidFill>
              <a:srgbClr val="8A8F98"/>
            </a:solidFill>
          </a:ln>
          <a:effectLst/>
        </p:spPr>
      </p:cxnSp>
      <p:cxnSp>
        <p:nvCxnSpPr>
          <p:cNvPr id="18" name="Connector 17"/>
          <p:cNvCxnSpPr/>
          <p:nvPr/>
        </p:nvCxnSpPr>
        <p:spPr>
          <a:xfrm flipH="1">
            <a:off x="3406139" y="3803903"/>
            <a:ext cx="1014985" cy="1106425"/>
          </a:xfrm>
          <a:prstGeom prst="line">
            <a:avLst/>
          </a:prstGeom>
          <a:ln w="15875">
            <a:solidFill>
              <a:srgbClr val="8A8F98"/>
            </a:solidFill>
          </a:ln>
          <a:effectLst/>
        </p:spPr>
      </p:cxnSp>
      <p:cxnSp>
        <p:nvCxnSpPr>
          <p:cNvPr id="19" name="Connector 18"/>
          <p:cNvCxnSpPr/>
          <p:nvPr/>
        </p:nvCxnSpPr>
        <p:spPr>
          <a:xfrm>
            <a:off x="4421124" y="3803903"/>
            <a:ext cx="484632" cy="1106425"/>
          </a:xfrm>
          <a:prstGeom prst="line">
            <a:avLst/>
          </a:prstGeom>
          <a:ln w="15875">
            <a:solidFill>
              <a:srgbClr val="8A8F98"/>
            </a:solidFill>
          </a:ln>
          <a:effectLst/>
        </p:spPr>
      </p:cxnSp>
      <p:cxnSp>
        <p:nvCxnSpPr>
          <p:cNvPr id="20" name="Connector 19"/>
          <p:cNvCxnSpPr/>
          <p:nvPr/>
        </p:nvCxnSpPr>
        <p:spPr>
          <a:xfrm flipH="1">
            <a:off x="7283196" y="3803903"/>
            <a:ext cx="475487" cy="1106425"/>
          </a:xfrm>
          <a:prstGeom prst="line">
            <a:avLst/>
          </a:prstGeom>
          <a:ln w="15875">
            <a:solidFill>
              <a:srgbClr val="8A8F98"/>
            </a:solidFill>
          </a:ln>
          <a:effectLst/>
        </p:spPr>
      </p:cxnSp>
      <p:cxnSp>
        <p:nvCxnSpPr>
          <p:cNvPr id="21" name="Connector 20"/>
          <p:cNvCxnSpPr/>
          <p:nvPr/>
        </p:nvCxnSpPr>
        <p:spPr>
          <a:xfrm>
            <a:off x="7758683" y="3803903"/>
            <a:ext cx="1024129" cy="1106425"/>
          </a:xfrm>
          <a:prstGeom prst="line">
            <a:avLst/>
          </a:prstGeom>
          <a:ln w="15875">
            <a:solidFill>
              <a:srgbClr val="8A8F98"/>
            </a:solidFill>
          </a:ln>
          <a:effectLst/>
        </p:spPr>
      </p:cxnSp>
      <p:cxnSp>
        <p:nvCxnSpPr>
          <p:cNvPr id="22" name="Connector 21"/>
          <p:cNvCxnSpPr/>
          <p:nvPr/>
        </p:nvCxnSpPr>
        <p:spPr>
          <a:xfrm flipH="1">
            <a:off x="7904988" y="3803903"/>
            <a:ext cx="950975" cy="1106425"/>
          </a:xfrm>
          <a:prstGeom prst="line">
            <a:avLst/>
          </a:prstGeom>
          <a:ln w="15875">
            <a:solidFill>
              <a:srgbClr val="8A8F98"/>
            </a:solidFill>
          </a:ln>
          <a:effectLst/>
        </p:spPr>
      </p:cxnSp>
      <p:cxnSp>
        <p:nvCxnSpPr>
          <p:cNvPr id="23" name="Connector 22"/>
          <p:cNvCxnSpPr/>
          <p:nvPr/>
        </p:nvCxnSpPr>
        <p:spPr>
          <a:xfrm>
            <a:off x="8855963" y="3803903"/>
            <a:ext cx="548641" cy="1106425"/>
          </a:xfrm>
          <a:prstGeom prst="line">
            <a:avLst/>
          </a:prstGeom>
          <a:ln w="15875">
            <a:solidFill>
              <a:srgbClr val="8A8F98"/>
            </a:solidFill>
          </a:ln>
          <a:effectLst/>
        </p:spPr>
      </p:cxnSp>
      <p:cxnSp>
        <p:nvCxnSpPr>
          <p:cNvPr id="24" name="Connector 23"/>
          <p:cNvCxnSpPr/>
          <p:nvPr/>
        </p:nvCxnSpPr>
        <p:spPr>
          <a:xfrm>
            <a:off x="5564124" y="2203704"/>
            <a:ext cx="219455" cy="2706624"/>
          </a:xfrm>
          <a:prstGeom prst="line">
            <a:avLst/>
          </a:prstGeom>
          <a:ln w="15875">
            <a:solidFill>
              <a:srgbClr val="8A8F98"/>
            </a:solidFill>
          </a:ln>
          <a:effectLst/>
        </p:spPr>
      </p:cxnSp>
      <p:cxnSp>
        <p:nvCxnSpPr>
          <p:cNvPr id="25" name="Connector 24"/>
          <p:cNvCxnSpPr/>
          <p:nvPr/>
        </p:nvCxnSpPr>
        <p:spPr>
          <a:xfrm flipH="1">
            <a:off x="3323844" y="2203704"/>
            <a:ext cx="2240280" cy="749807"/>
          </a:xfrm>
          <a:prstGeom prst="line">
            <a:avLst/>
          </a:prstGeom>
          <a:ln w="15875">
            <a:solidFill>
              <a:srgbClr val="8A8F98"/>
            </a:solidFill>
          </a:ln>
          <a:effectLst/>
        </p:spPr>
      </p:cxnSp>
      <p:cxnSp>
        <p:nvCxnSpPr>
          <p:cNvPr id="26" name="Connector 25"/>
          <p:cNvCxnSpPr/>
          <p:nvPr/>
        </p:nvCxnSpPr>
        <p:spPr>
          <a:xfrm>
            <a:off x="5564124" y="2203704"/>
            <a:ext cx="2194559" cy="749807"/>
          </a:xfrm>
          <a:prstGeom prst="line">
            <a:avLst/>
          </a:prstGeom>
          <a:ln w="15875">
            <a:solidFill>
              <a:srgbClr val="8A8F98"/>
            </a:solidFill>
          </a:ln>
          <a:effectLst/>
        </p:spPr>
      </p:cxnSp>
      <p:cxnSp>
        <p:nvCxnSpPr>
          <p:cNvPr id="27" name="Connector 26"/>
          <p:cNvCxnSpPr/>
          <p:nvPr/>
        </p:nvCxnSpPr>
        <p:spPr>
          <a:xfrm flipH="1">
            <a:off x="6405372" y="2203704"/>
            <a:ext cx="484632" cy="2706624"/>
          </a:xfrm>
          <a:prstGeom prst="line">
            <a:avLst/>
          </a:prstGeom>
          <a:ln w="15875">
            <a:solidFill>
              <a:srgbClr val="8A8F98"/>
            </a:solidFill>
          </a:ln>
          <a:effectLst/>
        </p:spPr>
      </p:cxnSp>
      <p:cxnSp>
        <p:nvCxnSpPr>
          <p:cNvPr id="28" name="Connector 27"/>
          <p:cNvCxnSpPr/>
          <p:nvPr/>
        </p:nvCxnSpPr>
        <p:spPr>
          <a:xfrm flipH="1">
            <a:off x="4421124" y="2203704"/>
            <a:ext cx="2468880" cy="749807"/>
          </a:xfrm>
          <a:prstGeom prst="line">
            <a:avLst/>
          </a:prstGeom>
          <a:ln w="15875">
            <a:solidFill>
              <a:srgbClr val="8A8F98"/>
            </a:solidFill>
          </a:ln>
          <a:effectLst/>
        </p:spPr>
      </p:cxnSp>
      <p:cxnSp>
        <p:nvCxnSpPr>
          <p:cNvPr id="29" name="Connector 28"/>
          <p:cNvCxnSpPr/>
          <p:nvPr/>
        </p:nvCxnSpPr>
        <p:spPr>
          <a:xfrm>
            <a:off x="6890004" y="2203704"/>
            <a:ext cx="1965959" cy="749807"/>
          </a:xfrm>
          <a:prstGeom prst="line">
            <a:avLst/>
          </a:prstGeom>
          <a:ln w="15875">
            <a:solidFill>
              <a:srgbClr val="8A8F98"/>
            </a:solidFill>
          </a:ln>
          <a:effectLst/>
        </p:spPr>
      </p:cxnSp>
      <p:sp>
        <p:nvSpPr>
          <p:cNvPr id="30" name="Rounded Rectangle 29"/>
          <p:cNvSpPr/>
          <p:nvPr/>
        </p:nvSpPr>
        <p:spPr>
          <a:xfrm>
            <a:off x="2510028"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1" name="Rounded Rectangle 30"/>
          <p:cNvSpPr/>
          <p:nvPr/>
        </p:nvSpPr>
        <p:spPr>
          <a:xfrm>
            <a:off x="3131820"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r′</a:t>
            </a:r>
          </a:p>
        </p:txBody>
      </p:sp>
      <p:sp>
        <p:nvSpPr>
          <p:cNvPr id="32" name="Rounded Rectangle 31"/>
          <p:cNvSpPr/>
          <p:nvPr/>
        </p:nvSpPr>
        <p:spPr>
          <a:xfrm>
            <a:off x="400964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3" name="Rounded Rectangle 32"/>
          <p:cNvSpPr/>
          <p:nvPr/>
        </p:nvSpPr>
        <p:spPr>
          <a:xfrm>
            <a:off x="463143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s′</a:t>
            </a:r>
          </a:p>
        </p:txBody>
      </p:sp>
      <p:sp>
        <p:nvSpPr>
          <p:cNvPr id="34" name="Rounded Rectangle 33"/>
          <p:cNvSpPr/>
          <p:nvPr/>
        </p:nvSpPr>
        <p:spPr>
          <a:xfrm>
            <a:off x="5509259"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5" name="Rounded Rectangle 34"/>
          <p:cNvSpPr/>
          <p:nvPr/>
        </p:nvSpPr>
        <p:spPr>
          <a:xfrm>
            <a:off x="613105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c′</a:t>
            </a:r>
          </a:p>
        </p:txBody>
      </p:sp>
      <p:sp>
        <p:nvSpPr>
          <p:cNvPr id="36" name="Rounded Rectangle 35"/>
          <p:cNvSpPr/>
          <p:nvPr/>
        </p:nvSpPr>
        <p:spPr>
          <a:xfrm>
            <a:off x="7008876"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7" name="Rounded Rectangle 36"/>
          <p:cNvSpPr/>
          <p:nvPr/>
        </p:nvSpPr>
        <p:spPr>
          <a:xfrm>
            <a:off x="7630667"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u′</a:t>
            </a:r>
          </a:p>
        </p:txBody>
      </p:sp>
      <p:sp>
        <p:nvSpPr>
          <p:cNvPr id="38" name="Rounded Rectangle 37"/>
          <p:cNvSpPr/>
          <p:nvPr/>
        </p:nvSpPr>
        <p:spPr>
          <a:xfrm>
            <a:off x="8508492"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39" name="Rounded Rectangle 38"/>
          <p:cNvSpPr/>
          <p:nvPr/>
        </p:nvSpPr>
        <p:spPr>
          <a:xfrm>
            <a:off x="9130284" y="4910327"/>
            <a:ext cx="548640" cy="420624"/>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400" b="1" i="0">
                <a:solidFill>
                  <a:srgbClr val="2B2F36"/>
                </a:solidFill>
                <a:latin typeface="Calibri"/>
              </a:rPr>
              <a:t>v′</a:t>
            </a:r>
          </a:p>
        </p:txBody>
      </p:sp>
      <p:sp>
        <p:nvSpPr>
          <p:cNvPr id="40" name="Rounded Rectangle 39"/>
          <p:cNvSpPr/>
          <p:nvPr/>
        </p:nvSpPr>
        <p:spPr>
          <a:xfrm>
            <a:off x="292150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1" name="TextBox 40"/>
          <p:cNvSpPr txBox="1"/>
          <p:nvPr/>
        </p:nvSpPr>
        <p:spPr>
          <a:xfrm>
            <a:off x="2912363"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a₁</a:t>
            </a:r>
          </a:p>
        </p:txBody>
      </p:sp>
      <p:sp>
        <p:nvSpPr>
          <p:cNvPr id="42" name="Rounded Rectangle 41"/>
          <p:cNvSpPr/>
          <p:nvPr/>
        </p:nvSpPr>
        <p:spPr>
          <a:xfrm>
            <a:off x="4018787"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AND</a:t>
            </a:r>
          </a:p>
        </p:txBody>
      </p:sp>
      <p:sp>
        <p:nvSpPr>
          <p:cNvPr id="43" name="TextBox 42"/>
          <p:cNvSpPr txBox="1"/>
          <p:nvPr/>
        </p:nvSpPr>
        <p:spPr>
          <a:xfrm>
            <a:off x="400964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a₂</a:t>
            </a:r>
          </a:p>
        </p:txBody>
      </p:sp>
      <p:sp>
        <p:nvSpPr>
          <p:cNvPr id="44" name="Rounded Rectangle 43"/>
          <p:cNvSpPr/>
          <p:nvPr/>
        </p:nvSpPr>
        <p:spPr>
          <a:xfrm>
            <a:off x="735634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5" name="TextBox 44"/>
          <p:cNvSpPr txBox="1"/>
          <p:nvPr/>
        </p:nvSpPr>
        <p:spPr>
          <a:xfrm>
            <a:off x="734720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x₁</a:t>
            </a:r>
          </a:p>
        </p:txBody>
      </p:sp>
      <p:sp>
        <p:nvSpPr>
          <p:cNvPr id="46" name="Rounded Rectangle 45"/>
          <p:cNvSpPr/>
          <p:nvPr/>
        </p:nvSpPr>
        <p:spPr>
          <a:xfrm>
            <a:off x="8453628" y="3236975"/>
            <a:ext cx="804672" cy="566928"/>
          </a:xfrm>
          <a:prstGeom prst="roundRect">
            <a:avLst>
              <a:gd name="adj" fmla="val 20000"/>
            </a:avLst>
          </a:prstGeom>
          <a:solidFill>
            <a:srgbClr val="FFFFFF"/>
          </a:solidFill>
          <a:ln w="12700">
            <a:solidFill>
              <a:srgbClr val="4A4F57"/>
            </a:solidFill>
          </a:ln>
          <a:effectLst/>
        </p:spPr>
        <p:txBody>
          <a:bodyPr rtlCol="0" anchor="ctr" lIns="54864" rIns="54864" tIns="0" bIns="0" wrap="square"/>
          <a:lstStyle/>
          <a:p>
            <a:pPr algn="ctr"/>
            <a:r>
              <a:rPr sz="1600" b="1" i="0">
                <a:solidFill>
                  <a:srgbClr val="2B2F36"/>
                </a:solidFill>
                <a:latin typeface="Calibri"/>
              </a:rPr>
              <a:t>XOR</a:t>
            </a:r>
          </a:p>
        </p:txBody>
      </p:sp>
      <p:sp>
        <p:nvSpPr>
          <p:cNvPr id="47" name="TextBox 46"/>
          <p:cNvSpPr txBox="1"/>
          <p:nvPr/>
        </p:nvSpPr>
        <p:spPr>
          <a:xfrm>
            <a:off x="8444484" y="2971799"/>
            <a:ext cx="822960" cy="256032"/>
          </a:xfrm>
          <a:prstGeom prst="rect">
            <a:avLst/>
          </a:prstGeom>
          <a:noFill/>
        </p:spPr>
        <p:txBody>
          <a:bodyPr wrap="square" anchor="ctr" lIns="45720" rIns="45720" tIns="27432" bIns="27432">
            <a:spAutoFit/>
          </a:bodyPr>
          <a:lstStyle/>
          <a:p>
            <a:pPr algn="ctr"/>
            <a:r>
              <a:rPr sz="1300" b="1" i="0">
                <a:solidFill>
                  <a:srgbClr val="2B2F36"/>
                </a:solidFill>
                <a:latin typeface="Calibri"/>
              </a:rPr>
              <a:t>x₂</a:t>
            </a:r>
          </a:p>
        </p:txBody>
      </p:sp>
      <p:sp>
        <p:nvSpPr>
          <p:cNvPr id="48" name="Rounded Rectangle 47"/>
          <p:cNvSpPr/>
          <p:nvPr/>
        </p:nvSpPr>
        <p:spPr>
          <a:xfrm>
            <a:off x="516178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49" name="TextBox 48"/>
          <p:cNvSpPr txBox="1"/>
          <p:nvPr/>
        </p:nvSpPr>
        <p:spPr>
          <a:xfrm>
            <a:off x="4832603" y="1783080"/>
            <a:ext cx="320040" cy="274320"/>
          </a:xfrm>
          <a:prstGeom prst="rect">
            <a:avLst/>
          </a:prstGeom>
          <a:noFill/>
        </p:spPr>
        <p:txBody>
          <a:bodyPr wrap="square" anchor="ctr" lIns="45720" rIns="45720" tIns="27432" bIns="27432">
            <a:spAutoFit/>
          </a:bodyPr>
          <a:lstStyle/>
          <a:p>
            <a:pPr algn="r"/>
            <a:r>
              <a:rPr sz="1300" b="1" i="0">
                <a:solidFill>
                  <a:srgbClr val="2B2F36"/>
                </a:solidFill>
                <a:latin typeface="Calibri"/>
              </a:rPr>
              <a:t>m₁</a:t>
            </a:r>
          </a:p>
        </p:txBody>
      </p:sp>
      <p:sp>
        <p:nvSpPr>
          <p:cNvPr id="50" name="Rounded Rectangle 49"/>
          <p:cNvSpPr/>
          <p:nvPr/>
        </p:nvSpPr>
        <p:spPr>
          <a:xfrm>
            <a:off x="6487668" y="1636776"/>
            <a:ext cx="804672" cy="566928"/>
          </a:xfrm>
          <a:prstGeom prst="roundRect">
            <a:avLst>
              <a:gd name="adj" fmla="val 20000"/>
            </a:avLst>
          </a:prstGeom>
          <a:solidFill>
            <a:srgbClr val="FFF3CC"/>
          </a:solidFill>
          <a:ln w="34925">
            <a:solidFill>
              <a:srgbClr val="E0A300"/>
            </a:solidFill>
          </a:ln>
          <a:effectLst/>
        </p:spPr>
        <p:txBody>
          <a:bodyPr rtlCol="0" anchor="ctr" lIns="54864" rIns="54864" tIns="0" bIns="0" wrap="square"/>
          <a:lstStyle/>
          <a:p>
            <a:pPr algn="ctr"/>
            <a:r>
              <a:rPr sz="1600" b="1" i="0">
                <a:solidFill>
                  <a:srgbClr val="2B2F36"/>
                </a:solidFill>
                <a:latin typeface="Calibri"/>
              </a:rPr>
              <a:t>ITE</a:t>
            </a:r>
          </a:p>
        </p:txBody>
      </p:sp>
      <p:sp>
        <p:nvSpPr>
          <p:cNvPr id="51" name="TextBox 50"/>
          <p:cNvSpPr txBox="1"/>
          <p:nvPr/>
        </p:nvSpPr>
        <p:spPr>
          <a:xfrm>
            <a:off x="7310628" y="1783080"/>
            <a:ext cx="320040" cy="274320"/>
          </a:xfrm>
          <a:prstGeom prst="rect">
            <a:avLst/>
          </a:prstGeom>
          <a:noFill/>
        </p:spPr>
        <p:txBody>
          <a:bodyPr wrap="square" anchor="ctr" lIns="45720" rIns="45720" tIns="27432" bIns="27432">
            <a:spAutoFit/>
          </a:bodyPr>
          <a:lstStyle/>
          <a:p>
            <a:pPr algn="l"/>
            <a:r>
              <a:rPr sz="1300" b="1" i="0">
                <a:solidFill>
                  <a:srgbClr val="2B2F36"/>
                </a:solidFill>
                <a:latin typeface="Calibri"/>
              </a:rPr>
              <a:t>m₂</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55680" cy="731520"/>
          </a:xfrm>
          <a:prstGeom prst="rect">
            <a:avLst/>
          </a:prstGeom>
          <a:noFill/>
        </p:spPr>
        <p:txBody>
          <a:bodyPr wrap="square" anchor="ctr" lIns="45720" rIns="45720" tIns="27432" bIns="27432">
            <a:spAutoFit/>
          </a:bodyPr>
          <a:lstStyle/>
          <a:p>
            <a:pPr algn="l"/>
            <a:r>
              <a:rPr sz="3000" b="1" i="0">
                <a:solidFill>
                  <a:srgbClr val="1F2A44"/>
                </a:solidFill>
                <a:latin typeface="Calibri"/>
              </a:rPr>
              <a:t>Implementation notes</a:t>
            </a:r>
          </a:p>
        </p:txBody>
      </p:sp>
      <p:cxnSp>
        <p:nvCxnSpPr>
          <p:cNvPr id="3" name="Connector 2"/>
          <p:cNvCxnSpPr/>
          <p:nvPr/>
        </p:nvCxnSpPr>
        <p:spPr>
          <a:xfrm>
            <a:off x="566928" y="1024128"/>
            <a:ext cx="2176272" cy="0"/>
          </a:xfrm>
          <a:prstGeom prst="line">
            <a:avLst/>
          </a:prstGeom>
          <a:ln w="31750">
            <a:solidFill>
              <a:srgbClr val="C8501E"/>
            </a:solidFill>
          </a:ln>
          <a:effectLst/>
        </p:spPr>
      </p:cxnSp>
      <p:sp>
        <p:nvSpPr>
          <p:cNvPr id="4" name="TextBox 3"/>
          <p:cNvSpPr txBox="1"/>
          <p:nvPr/>
        </p:nvSpPr>
        <p:spPr>
          <a:xfrm>
            <a:off x="11247120" y="6400800"/>
            <a:ext cx="731520" cy="320040"/>
          </a:xfrm>
          <a:prstGeom prst="rect">
            <a:avLst/>
          </a:prstGeom>
          <a:noFill/>
        </p:spPr>
        <p:txBody>
          <a:bodyPr wrap="square" anchor="t" lIns="45720" rIns="45720" tIns="27432" bIns="27432">
            <a:spAutoFit/>
          </a:bodyPr>
          <a:lstStyle/>
          <a:p>
            <a:pPr algn="r"/>
            <a:r>
              <a:rPr sz="1100" b="0" i="0">
                <a:solidFill>
                  <a:srgbClr val="6B717A"/>
                </a:solidFill>
                <a:latin typeface="Calibri"/>
              </a:rPr>
              <a:t>37</a:t>
            </a:r>
          </a:p>
        </p:txBody>
      </p:sp>
      <p:sp>
        <p:nvSpPr>
          <p:cNvPr id="5" name="TextBox 4"/>
          <p:cNvSpPr txBox="1"/>
          <p:nvPr/>
        </p:nvSpPr>
        <p:spPr>
          <a:xfrm>
            <a:off x="502920" y="6400800"/>
            <a:ext cx="5486400" cy="320040"/>
          </a:xfrm>
          <a:prstGeom prst="rect">
            <a:avLst/>
          </a:prstGeom>
          <a:noFill/>
        </p:spPr>
        <p:txBody>
          <a:bodyPr wrap="square" anchor="t" lIns="45720" rIns="45720" tIns="27432" bIns="27432">
            <a:spAutoFit/>
          </a:bodyPr>
          <a:lstStyle/>
          <a:p>
            <a:pPr algn="l"/>
            <a:r>
              <a:rPr sz="1100" b="0" i="0">
                <a:solidFill>
                  <a:srgbClr val="6B717A"/>
                </a:solidFill>
                <a:latin typeface="Calibri"/>
              </a:rPr>
              <a:t>Parallelizing Congruence Closure  ·  FMCAD 2026</a:t>
            </a:r>
          </a:p>
        </p:txBody>
      </p:sp>
      <p:sp>
        <p:nvSpPr>
          <p:cNvPr id="6" name="Rounded Rectangle 5"/>
          <p:cNvSpPr/>
          <p:nvPr/>
        </p:nvSpPr>
        <p:spPr>
          <a:xfrm>
            <a:off x="548640" y="1371600"/>
            <a:ext cx="5486400" cy="2377440"/>
          </a:xfrm>
          <a:prstGeom prst="roundRect">
            <a:avLst>
              <a:gd name="adj" fmla="val 15000"/>
            </a:avLst>
          </a:prstGeom>
          <a:solidFill>
            <a:srgbClr val="F4F5F7"/>
          </a:solidFill>
          <a:ln>
            <a:noFill/>
          </a:ln>
          <a:effectLst/>
        </p:spPr>
        <p:txBody>
          <a:bodyPr rtlCol="0" anchor="ctr" lIns="54864" rIns="54864" tIns="27432" bIns="27432" wrap="square"/>
          <a:lstStyle/>
          <a:p>
            <a:pPr algn="ctr"/>
          </a:p>
        </p:txBody>
      </p:sp>
      <p:sp>
        <p:nvSpPr>
          <p:cNvPr id="7" name="TextBox 6"/>
          <p:cNvSpPr txBox="1"/>
          <p:nvPr/>
        </p:nvSpPr>
        <p:spPr>
          <a:xfrm>
            <a:off x="731520" y="1463040"/>
            <a:ext cx="5120640" cy="411480"/>
          </a:xfrm>
          <a:prstGeom prst="rect">
            <a:avLst/>
          </a:prstGeom>
          <a:noFill/>
        </p:spPr>
        <p:txBody>
          <a:bodyPr wrap="square" anchor="t" lIns="45720" rIns="45720" tIns="27432" bIns="27432">
            <a:spAutoFit/>
          </a:bodyPr>
          <a:lstStyle/>
          <a:p>
            <a:pPr algn="l"/>
            <a:r>
              <a:rPr sz="2100" b="1" i="0">
                <a:solidFill>
                  <a:srgbClr val="1F2A44"/>
                </a:solidFill>
                <a:latin typeface="Calibri"/>
              </a:rPr>
              <a:t>Parallel algorithms</a:t>
            </a:r>
          </a:p>
        </p:txBody>
      </p:sp>
      <p:sp>
        <p:nvSpPr>
          <p:cNvPr id="8" name="TextBox 7"/>
          <p:cNvSpPr txBox="1"/>
          <p:nvPr/>
        </p:nvSpPr>
        <p:spPr>
          <a:xfrm>
            <a:off x="640080" y="2057400"/>
            <a:ext cx="5303520" cy="3108960"/>
          </a:xfrm>
          <a:prstGeom prst="rect">
            <a:avLst/>
          </a:prstGeom>
          <a:noFill/>
        </p:spPr>
        <p:txBody>
          <a:bodyPr wrap="square" lIns="45720" rIns="45720">
            <a:spAutoFit/>
          </a:bodyPr>
          <a:lstStyle/>
          <a:p>
            <a:pPr marL="274320" indent="-237744">
              <a:spcBef>
                <a:spcPts val="1000"/>
              </a:spcBef>
              <a:buClr>
                <a:srgbClr val="6B717A"/>
              </a:buClr>
              <a:buChar char="•"/>
            </a:pPr>
            <a:r>
              <a:rPr sz="1800" b="1" i="0">
                <a:solidFill>
                  <a:srgbClr val="2B2F36"/>
                </a:solidFill>
                <a:latin typeface="Calibri"/>
              </a:rPr>
              <a:t>grouping</a:t>
            </a:r>
            <a:r>
              <a:rPr sz="1800" b="0" i="0">
                <a:solidFill>
                  <a:srgbClr val="2B2F36"/>
                </a:solidFill>
                <a:latin typeface="Calibri"/>
              </a:rPr>
              <a:t>: integer sort on signature hashes</a:t>
            </a:r>
          </a:p>
          <a:p>
            <a:pPr marL="274320" indent="-237744">
              <a:spcBef>
                <a:spcPts val="1000"/>
              </a:spcBef>
              <a:buClr>
                <a:srgbClr val="6B717A"/>
              </a:buClr>
              <a:buChar char="•"/>
            </a:pPr>
            <a:r>
              <a:rPr sz="1800" b="1" i="0">
                <a:solidFill>
                  <a:srgbClr val="2B2F36"/>
                </a:solidFill>
                <a:latin typeface="Calibri"/>
              </a:rPr>
              <a:t>merging a group</a:t>
            </a:r>
            <a:r>
              <a:rPr sz="1800" b="0" i="0">
                <a:solidFill>
                  <a:srgbClr val="2B2F36"/>
                </a:solidFill>
                <a:latin typeface="Calibri"/>
              </a:rPr>
              <a:t>: divide-and-conquer unions</a:t>
            </a:r>
          </a:p>
          <a:p>
            <a:pPr marL="274320" indent="-237744">
              <a:spcBef>
                <a:spcPts val="1000"/>
              </a:spcBef>
              <a:buClr>
                <a:srgbClr val="6B717A"/>
              </a:buClr>
              <a:buChar char="•"/>
            </a:pPr>
            <a:r>
              <a:rPr sz="1800" b="1" i="0">
                <a:solidFill>
                  <a:srgbClr val="2B2F36"/>
                </a:solidFill>
                <a:latin typeface="Calibri"/>
              </a:rPr>
              <a:t>ParlayLib</a:t>
            </a:r>
            <a:r>
              <a:rPr sz="1800" b="0" i="0">
                <a:solidFill>
                  <a:srgbClr val="2B2F36"/>
                </a:solidFill>
                <a:latin typeface="Calibri"/>
              </a:rPr>
              <a:t> for scheduling and primitives</a:t>
            </a:r>
          </a:p>
        </p:txBody>
      </p:sp>
      <p:sp>
        <p:nvSpPr>
          <p:cNvPr id="9" name="Rounded Rectangle 8"/>
          <p:cNvSpPr/>
          <p:nvPr/>
        </p:nvSpPr>
        <p:spPr>
          <a:xfrm>
            <a:off x="6263640" y="1371600"/>
            <a:ext cx="5394960" cy="2377440"/>
          </a:xfrm>
          <a:prstGeom prst="roundRect">
            <a:avLst>
              <a:gd name="adj" fmla="val 15000"/>
            </a:avLst>
          </a:prstGeom>
          <a:solidFill>
            <a:srgbClr val="F4F5F7"/>
          </a:solidFill>
          <a:ln>
            <a:noFill/>
          </a:ln>
          <a:effectLst/>
        </p:spPr>
        <p:txBody>
          <a:bodyPr rtlCol="0" anchor="ctr" lIns="54864" rIns="54864" tIns="27432" bIns="27432" wrap="square"/>
          <a:lstStyle/>
          <a:p>
            <a:pPr algn="ctr"/>
          </a:p>
        </p:txBody>
      </p:sp>
      <p:sp>
        <p:nvSpPr>
          <p:cNvPr id="10" name="TextBox 9"/>
          <p:cNvSpPr txBox="1"/>
          <p:nvPr/>
        </p:nvSpPr>
        <p:spPr>
          <a:xfrm>
            <a:off x="6446520" y="1463040"/>
            <a:ext cx="5029200" cy="411480"/>
          </a:xfrm>
          <a:prstGeom prst="rect">
            <a:avLst/>
          </a:prstGeom>
          <a:noFill/>
        </p:spPr>
        <p:txBody>
          <a:bodyPr wrap="square" anchor="t" lIns="45720" rIns="45720" tIns="27432" bIns="27432">
            <a:spAutoFit/>
          </a:bodyPr>
          <a:lstStyle/>
          <a:p>
            <a:pPr algn="l"/>
            <a:r>
              <a:rPr sz="2100" b="1" i="0">
                <a:solidFill>
                  <a:srgbClr val="1F2A44"/>
                </a:solidFill>
                <a:latin typeface="Calibri"/>
              </a:rPr>
              <a:t>Sequential baseline, tuned</a:t>
            </a:r>
          </a:p>
        </p:txBody>
      </p:sp>
      <p:sp>
        <p:nvSpPr>
          <p:cNvPr id="11" name="TextBox 10"/>
          <p:cNvSpPr txBox="1"/>
          <p:nvPr/>
        </p:nvSpPr>
        <p:spPr>
          <a:xfrm>
            <a:off x="6355080" y="2057400"/>
            <a:ext cx="5212080" cy="3108960"/>
          </a:xfrm>
          <a:prstGeom prst="rect">
            <a:avLst/>
          </a:prstGeom>
          <a:noFill/>
        </p:spPr>
        <p:txBody>
          <a:bodyPr wrap="square" lIns="45720" rIns="45720">
            <a:spAutoFit/>
          </a:bodyPr>
          <a:lstStyle/>
          <a:p>
            <a:pPr marL="274320" indent="-237744">
              <a:spcBef>
                <a:spcPts val="1000"/>
              </a:spcBef>
              <a:buClr>
                <a:srgbClr val="6B717A"/>
              </a:buClr>
              <a:buChar char="•"/>
            </a:pPr>
            <a:r>
              <a:rPr sz="1800" b="1" i="0">
                <a:solidFill>
                  <a:srgbClr val="2B2F36"/>
                </a:solidFill>
                <a:latin typeface="Calibri"/>
              </a:rPr>
              <a:t>worklist algorithm</a:t>
            </a:r>
            <a:r>
              <a:rPr sz="1800" b="0" i="0">
                <a:solidFill>
                  <a:srgbClr val="2B2F36"/>
                </a:solidFill>
                <a:latin typeface="Calibri"/>
              </a:rPr>
              <a:t> of Nieuwenhuis &amp; Oliveras, fastest of three variants</a:t>
            </a:r>
          </a:p>
          <a:p>
            <a:pPr marL="274320" indent="-237744">
              <a:spcBef>
                <a:spcPts val="1000"/>
              </a:spcBef>
              <a:buClr>
                <a:srgbClr val="6B717A"/>
              </a:buClr>
              <a:buChar char="•"/>
            </a:pPr>
            <a:r>
              <a:rPr sz="1800" b="1" i="0">
                <a:solidFill>
                  <a:srgbClr val="2B2F36"/>
                </a:solidFill>
                <a:latin typeface="Calibri"/>
              </a:rPr>
              <a:t>signature tables specialized by arity</a:t>
            </a:r>
          </a:p>
          <a:p>
            <a:pPr marL="274320" indent="-237744">
              <a:spcBef>
                <a:spcPts val="1000"/>
              </a:spcBef>
              <a:buClr>
                <a:srgbClr val="6B717A"/>
              </a:buClr>
              <a:buChar char="•"/>
            </a:pPr>
            <a:r>
              <a:rPr sz="1800" b="1" i="0">
                <a:solidFill>
                  <a:srgbClr val="2B2F36"/>
                </a:solidFill>
                <a:latin typeface="Calibri"/>
              </a:rPr>
              <a:t>bump allocator</a:t>
            </a:r>
          </a:p>
        </p:txBody>
      </p:sp>
      <p:sp>
        <p:nvSpPr>
          <p:cNvPr id="12" name="TextBox 11"/>
          <p:cNvSpPr txBox="1"/>
          <p:nvPr/>
        </p:nvSpPr>
        <p:spPr>
          <a:xfrm>
            <a:off x="548640" y="4114800"/>
            <a:ext cx="11155680" cy="365760"/>
          </a:xfrm>
          <a:prstGeom prst="rect">
            <a:avLst/>
          </a:prstGeom>
          <a:noFill/>
        </p:spPr>
        <p:txBody>
          <a:bodyPr wrap="square" anchor="t" lIns="45720" rIns="45720" tIns="27432" bIns="27432">
            <a:spAutoFit/>
          </a:bodyPr>
          <a:lstStyle/>
          <a:p>
            <a:pPr algn="l"/>
            <a:r>
              <a:rPr sz="1400" b="0" i="0">
                <a:solidFill>
                  <a:srgbClr val="6B717A"/>
                </a:solidFill>
                <a:latin typeface="Calibri"/>
              </a:rPr>
              <a:t>C++ with g++ -O3.  Code and benchmarks: github.com/amarshah10/ParallelEgraph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txBody>
          <a:bodyPr rtlCol="0" anchor="ctr" lIns="54864" rIns="54864" tIns="27432" bIns="27432" wrap="square"/>
          <a:lstStyle/>
          <a:p>
            <a:pPr algn="ctr"/>
          </a:p>
        </p:txBody>
      </p:sp>
      <p:cxnSp>
        <p:nvCxnSpPr>
          <p:cNvPr id="3" name="Connector 2"/>
          <p:cNvCxnSpPr/>
          <p:nvPr/>
        </p:nvCxnSpPr>
        <p:spPr>
          <a:xfrm>
            <a:off x="822960" y="3246120"/>
            <a:ext cx="3017520" cy="0"/>
          </a:xfrm>
          <a:prstGeom prst="line">
            <a:avLst/>
          </a:prstGeom>
          <a:ln w="38100">
            <a:solidFill>
              <a:srgbClr val="C8501E"/>
            </a:solidFill>
          </a:ln>
          <a:effectLst/>
        </p:spPr>
      </p:cxnSp>
      <p:sp>
        <p:nvSpPr>
          <p:cNvPr id="4" name="TextBox 3"/>
          <p:cNvSpPr txBox="1"/>
          <p:nvPr/>
        </p:nvSpPr>
        <p:spPr>
          <a:xfrm>
            <a:off x="777240" y="2011680"/>
            <a:ext cx="10515600" cy="1188720"/>
          </a:xfrm>
          <a:prstGeom prst="rect">
            <a:avLst/>
          </a:prstGeom>
          <a:noFill/>
        </p:spPr>
        <p:txBody>
          <a:bodyPr wrap="square" anchor="b" lIns="45720" rIns="45720" tIns="27432" bIns="27432">
            <a:spAutoFit/>
          </a:bodyPr>
          <a:lstStyle/>
          <a:p>
            <a:pPr algn="l"/>
            <a:r>
              <a:rPr sz="4400" b="1" i="0">
                <a:solidFill>
                  <a:srgbClr val="FFFFFF"/>
                </a:solidFill>
                <a:latin typeface="Calibri"/>
              </a:rPr>
              <a:t>Evaluation</a:t>
            </a:r>
          </a:p>
        </p:txBody>
      </p:sp>
      <p:sp>
        <p:nvSpPr>
          <p:cNvPr id="5" name="TextBox 4"/>
          <p:cNvSpPr txBox="1"/>
          <p:nvPr/>
        </p:nvSpPr>
        <p:spPr>
          <a:xfrm>
            <a:off x="777240" y="3429000"/>
            <a:ext cx="10058400" cy="548640"/>
          </a:xfrm>
          <a:prstGeom prst="rect">
            <a:avLst/>
          </a:prstGeom>
          <a:noFill/>
        </p:spPr>
        <p:txBody>
          <a:bodyPr wrap="square" anchor="t" lIns="45720" rIns="45720" tIns="27432" bIns="27432">
            <a:spAutoFit/>
          </a:bodyPr>
          <a:lstStyle/>
          <a:p>
            <a:pPr algn="l"/>
            <a:r>
              <a:rPr sz="2200" b="0" i="0">
                <a:solidFill>
                  <a:srgbClr val="C9D3E6"/>
                </a:solidFill>
                <a:latin typeface="Calibri"/>
              </a:rPr>
              <a:t>random, synthetic, and circuit-equivalence benchmarks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