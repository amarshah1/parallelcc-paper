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outgoing edges are its children in argument order. Everything else on the slide is greyed out so only this term and its three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trace, state the procedure. Put every input equality into the union-find, then repeatedly look for two terms with the same operator whose children are pairwise in the same class, merge them, and re-examine the parents of whatever just merged. Stop when no pair matches. That fixpoint is the congruence closure. The next four slides run exactly this loop on the miter, one merge per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representatives dethroned by the previous round. Fold their parent lists into the new roots, take the parents as the frontier, group the frontier by signature with semisort, merge every group that spans more than one class, and the dethroned roots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m2 is dethroned.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term is dethroned at most once.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
        <p:nvSpPr>
          <p:cNvPr id="23" name="TextBox 22"/>
          <p:cNvSpPr txBox="1"/>
          <p:nvPr/>
        </p:nvSpPr>
        <p:spPr>
          <a:xfrm>
            <a:off x="5715000" y="4572000"/>
            <a:ext cx="5943600" cy="1463040"/>
          </a:xfrm>
          <a:prstGeom prst="rect">
            <a:avLst/>
          </a:prstGeom>
          <a:noFill/>
        </p:spPr>
        <p:txBody>
          <a:bodyPr wrap="square" lIns="45720" rIns="45720">
            <a:spAutoFit/>
          </a:bodyPr>
          <a:lstStyle/>
          <a:p>
            <a:pPr>
              <a:spcBef>
                <a:spcPts val="1100"/>
              </a:spcBef>
              <a:spcAft>
                <a:spcPts val="200"/>
              </a:spcAft>
            </a:pPr>
            <a:r>
              <a:rPr sz="1700" b="1" i="0">
                <a:solidFill>
                  <a:srgbClr val="1F2A44"/>
                </a:solidFill>
                <a:latin typeface="Calibri"/>
              </a:rPr>
              <a:t>Why congruence closure</a:t>
            </a:r>
          </a:p>
          <a:p>
            <a:pPr marL="274320" indent="-237744">
              <a:spcBef>
                <a:spcPts val="500"/>
              </a:spcBef>
              <a:buClr>
                <a:srgbClr val="6B717A"/>
              </a:buClr>
              <a:buChar char="•"/>
            </a:pPr>
            <a:r>
              <a:rPr sz="1700" b="0" i="0">
                <a:solidFill>
                  <a:srgbClr val="2B2F36"/>
                </a:solidFill>
                <a:latin typeface="Calibri"/>
              </a:rPr>
              <a:t>real miters: many distinct gates, same function</a:t>
            </a:r>
          </a:p>
          <a:p>
            <a:pPr marL="274320" indent="-237744">
              <a:spcBef>
                <a:spcPts val="500"/>
              </a:spcBef>
              <a:buClr>
                <a:srgbClr val="6B717A"/>
              </a:buClr>
              <a:buChar char="•"/>
            </a:pPr>
            <a:r>
              <a:rPr sz="1700" b="0" i="0">
                <a:solidFill>
                  <a:srgbClr val="2B2F36"/>
                </a:solidFill>
                <a:latin typeface="Calibri"/>
              </a:rPr>
              <a:t>CNF encoding discards that structure</a:t>
            </a:r>
          </a:p>
          <a:p>
            <a:pPr marL="274320" indent="-237744">
              <a:spcBef>
                <a:spcPts val="500"/>
              </a:spcBef>
              <a:buClr>
                <a:srgbClr val="6B717A"/>
              </a:buClr>
              <a:buChar char="•"/>
            </a:pPr>
            <a:r>
              <a:rPr sz="1700" b="0" i="0">
                <a:solidFill>
                  <a:srgbClr val="2B2F36"/>
                </a:solidFill>
                <a:latin typeface="Calibri"/>
              </a:rPr>
              <a:t>Biere et al. 2024: recover gates, close under congruence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8A8F98"/>
            </a:solidFill>
          </a:ln>
          <a:effectLst/>
        </p:spPr>
      </p:cxnSp>
      <p:cxnSp>
        <p:nvCxnSpPr>
          <p:cNvPr id="7" name="Connector 6"/>
          <p:cNvCxnSpPr/>
          <p:nvPr/>
        </p:nvCxnSpPr>
        <p:spPr>
          <a:xfrm>
            <a:off x="1554480" y="3803903"/>
            <a:ext cx="960120" cy="1106425"/>
          </a:xfrm>
          <a:prstGeom prst="line">
            <a:avLst/>
          </a:prstGeom>
          <a:ln w="15875">
            <a:solidFill>
              <a:srgbClr val="8A8F98"/>
            </a:solidFill>
          </a:ln>
          <a:effectLst/>
        </p:spPr>
      </p:cxnSp>
      <p:cxnSp>
        <p:nvCxnSpPr>
          <p:cNvPr id="8" name="Connector 7"/>
          <p:cNvCxnSpPr/>
          <p:nvPr/>
        </p:nvCxnSpPr>
        <p:spPr>
          <a:xfrm flipH="1">
            <a:off x="1636776" y="3803903"/>
            <a:ext cx="1014984" cy="1106425"/>
          </a:xfrm>
          <a:prstGeom prst="line">
            <a:avLst/>
          </a:prstGeom>
          <a:ln w="15875">
            <a:solidFill>
              <a:srgbClr val="8A8F98"/>
            </a:solidFill>
          </a:ln>
          <a:effectLst/>
        </p:spPr>
      </p:cxnSp>
      <p:cxnSp>
        <p:nvCxnSpPr>
          <p:cNvPr id="9" name="Connector 8"/>
          <p:cNvCxnSpPr/>
          <p:nvPr/>
        </p:nvCxnSpPr>
        <p:spPr>
          <a:xfrm>
            <a:off x="2651760" y="3803903"/>
            <a:ext cx="484632" cy="1106425"/>
          </a:xfrm>
          <a:prstGeom prst="line">
            <a:avLst/>
          </a:prstGeom>
          <a:ln w="15875">
            <a:solidFill>
              <a:srgbClr val="8A8F98"/>
            </a:solidFill>
          </a:ln>
          <a:effectLst/>
        </p:spPr>
      </p:cxnSp>
      <p:cxnSp>
        <p:nvCxnSpPr>
          <p:cNvPr id="10" name="Connector 9"/>
          <p:cNvCxnSpPr/>
          <p:nvPr/>
        </p:nvCxnSpPr>
        <p:spPr>
          <a:xfrm flipH="1">
            <a:off x="5513832" y="3803903"/>
            <a:ext cx="475488" cy="1106425"/>
          </a:xfrm>
          <a:prstGeom prst="line">
            <a:avLst/>
          </a:prstGeom>
          <a:ln w="15875">
            <a:solidFill>
              <a:srgbClr val="8A8F98"/>
            </a:solidFill>
          </a:ln>
          <a:effectLst/>
        </p:spPr>
      </p:cxnSp>
      <p:cxnSp>
        <p:nvCxnSpPr>
          <p:cNvPr id="11" name="Connector 10"/>
          <p:cNvCxnSpPr/>
          <p:nvPr/>
        </p:nvCxnSpPr>
        <p:spPr>
          <a:xfrm>
            <a:off x="5989320" y="3803903"/>
            <a:ext cx="1024128" cy="1106425"/>
          </a:xfrm>
          <a:prstGeom prst="line">
            <a:avLst/>
          </a:prstGeom>
          <a:ln w="15875">
            <a:solidFill>
              <a:srgbClr val="8A8F98"/>
            </a:solidFill>
          </a:ln>
          <a:effectLst/>
        </p:spPr>
      </p:cxnSp>
      <p:cxnSp>
        <p:nvCxnSpPr>
          <p:cNvPr id="12" name="Connector 11"/>
          <p:cNvCxnSpPr/>
          <p:nvPr/>
        </p:nvCxnSpPr>
        <p:spPr>
          <a:xfrm flipH="1">
            <a:off x="6135624" y="3803903"/>
            <a:ext cx="950976" cy="1106425"/>
          </a:xfrm>
          <a:prstGeom prst="line">
            <a:avLst/>
          </a:prstGeom>
          <a:ln w="15875">
            <a:solidFill>
              <a:srgbClr val="8A8F98"/>
            </a:solidFill>
          </a:ln>
          <a:effectLst/>
        </p:spPr>
      </p:cxnSp>
      <p:cxnSp>
        <p:nvCxnSpPr>
          <p:cNvPr id="13" name="Connector 12"/>
          <p:cNvCxnSpPr/>
          <p:nvPr/>
        </p:nvCxnSpPr>
        <p:spPr>
          <a:xfrm>
            <a:off x="7086600" y="3803903"/>
            <a:ext cx="548640" cy="1106425"/>
          </a:xfrm>
          <a:prstGeom prst="line">
            <a:avLst/>
          </a:prstGeom>
          <a:ln w="15875">
            <a:solidFill>
              <a:srgbClr val="8A8F98"/>
            </a:solidFill>
          </a:ln>
          <a:effectLst/>
        </p:spPr>
      </p:cxnSp>
      <p:cxnSp>
        <p:nvCxnSpPr>
          <p:cNvPr id="14" name="Connector 13"/>
          <p:cNvCxnSpPr/>
          <p:nvPr/>
        </p:nvCxnSpPr>
        <p:spPr>
          <a:xfrm>
            <a:off x="3794760" y="2203704"/>
            <a:ext cx="219455" cy="2706624"/>
          </a:xfrm>
          <a:prstGeom prst="line">
            <a:avLst/>
          </a:prstGeom>
          <a:ln w="15875">
            <a:solidFill>
              <a:srgbClr val="8A8F98"/>
            </a:solidFill>
          </a:ln>
          <a:effectLst/>
        </p:spPr>
      </p:cxnSp>
      <p:cxnSp>
        <p:nvCxnSpPr>
          <p:cNvPr id="15" name="Connector 14"/>
          <p:cNvCxnSpPr/>
          <p:nvPr/>
        </p:nvCxnSpPr>
        <p:spPr>
          <a:xfrm flipH="1">
            <a:off x="1554480" y="2203704"/>
            <a:ext cx="2240280" cy="749807"/>
          </a:xfrm>
          <a:prstGeom prst="line">
            <a:avLst/>
          </a:prstGeom>
          <a:ln w="15875">
            <a:solidFill>
              <a:srgbClr val="8A8F98"/>
            </a:solidFill>
          </a:ln>
          <a:effectLst/>
        </p:spPr>
      </p:cxnSp>
      <p:cxnSp>
        <p:nvCxnSpPr>
          <p:cNvPr id="16" name="Connector 15"/>
          <p:cNvCxnSpPr/>
          <p:nvPr/>
        </p:nvCxnSpPr>
        <p:spPr>
          <a:xfrm>
            <a:off x="3794760" y="2203704"/>
            <a:ext cx="2194560" cy="749807"/>
          </a:xfrm>
          <a:prstGeom prst="line">
            <a:avLst/>
          </a:prstGeom>
          <a:ln w="15875">
            <a:solidFill>
              <a:srgbClr val="8A8F98"/>
            </a:solidFill>
          </a:ln>
          <a:effectLst/>
        </p:spPr>
      </p:cxnSp>
      <p:cxnSp>
        <p:nvCxnSpPr>
          <p:cNvPr id="17" name="Connector 16"/>
          <p:cNvCxnSpPr/>
          <p:nvPr/>
        </p:nvCxnSpPr>
        <p:spPr>
          <a:xfrm flipH="1">
            <a:off x="4636008" y="2203704"/>
            <a:ext cx="484632" cy="2706624"/>
          </a:xfrm>
          <a:prstGeom prst="line">
            <a:avLst/>
          </a:prstGeom>
          <a:ln w="15875">
            <a:solidFill>
              <a:srgbClr val="8A8F98"/>
            </a:solidFill>
          </a:ln>
          <a:effectLst/>
        </p:spPr>
      </p:cxnSp>
      <p:cxnSp>
        <p:nvCxnSpPr>
          <p:cNvPr id="18" name="Connector 17"/>
          <p:cNvCxnSpPr/>
          <p:nvPr/>
        </p:nvCxnSpPr>
        <p:spPr>
          <a:xfrm flipH="1">
            <a:off x="2651760" y="2203704"/>
            <a:ext cx="2468880" cy="749807"/>
          </a:xfrm>
          <a:prstGeom prst="line">
            <a:avLst/>
          </a:prstGeom>
          <a:ln w="15875">
            <a:solidFill>
              <a:srgbClr val="8A8F98"/>
            </a:solidFill>
          </a:ln>
          <a:effectLst/>
        </p:spPr>
      </p:cxnSp>
      <p:cxnSp>
        <p:nvCxnSpPr>
          <p:cNvPr id="19" name="Connector 18"/>
          <p:cNvCxnSpPr/>
          <p:nvPr/>
        </p:nvCxnSpPr>
        <p:spPr>
          <a:xfrm>
            <a:off x="5120640" y="2203704"/>
            <a:ext cx="1965960" cy="749807"/>
          </a:xfrm>
          <a:prstGeom prst="line">
            <a:avLst/>
          </a:prstGeom>
          <a:ln w="15875">
            <a:solidFill>
              <a:srgbClr val="8A8F98"/>
            </a:solidFill>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43" name="TextBox 4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44" name="TextBox 43"/>
          <p:cNvSpPr txBox="1"/>
          <p:nvPr/>
        </p:nvSpPr>
        <p:spPr>
          <a:xfrm>
            <a:off x="457200" y="5897880"/>
            <a:ext cx="758952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nodes: terms (gates)   ·   edges: parent → child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C9CDD3"/>
            </a:solidFill>
          </a:ln>
          <a:effectLst/>
        </p:spPr>
      </p:cxnSp>
      <p:cxnSp>
        <p:nvCxnSpPr>
          <p:cNvPr id="7" name="Connector 6"/>
          <p:cNvCxnSpPr/>
          <p:nvPr/>
        </p:nvCxnSpPr>
        <p:spPr>
          <a:xfrm>
            <a:off x="1554480" y="3803903"/>
            <a:ext cx="960120" cy="1106425"/>
          </a:xfrm>
          <a:prstGeom prst="line">
            <a:avLst/>
          </a:prstGeom>
          <a:ln w="15875">
            <a:solidFill>
              <a:srgbClr val="C9CDD3"/>
            </a:solidFill>
          </a:ln>
          <a:effectLst/>
        </p:spPr>
      </p:cxnSp>
      <p:cxnSp>
        <p:nvCxnSpPr>
          <p:cNvPr id="8" name="Connector 7"/>
          <p:cNvCxnSpPr/>
          <p:nvPr/>
        </p:nvCxnSpPr>
        <p:spPr>
          <a:xfrm flipH="1">
            <a:off x="1636776" y="3803903"/>
            <a:ext cx="1014984" cy="1106425"/>
          </a:xfrm>
          <a:prstGeom prst="line">
            <a:avLst/>
          </a:prstGeom>
          <a:ln w="15875">
            <a:solidFill>
              <a:srgbClr val="C9CDD3"/>
            </a:solidFill>
          </a:ln>
          <a:effectLst/>
        </p:spPr>
      </p:cxnSp>
      <p:cxnSp>
        <p:nvCxnSpPr>
          <p:cNvPr id="9" name="Connector 8"/>
          <p:cNvCxnSpPr/>
          <p:nvPr/>
        </p:nvCxnSpPr>
        <p:spPr>
          <a:xfrm>
            <a:off x="2651760" y="3803903"/>
            <a:ext cx="484632" cy="1106425"/>
          </a:xfrm>
          <a:prstGeom prst="line">
            <a:avLst/>
          </a:prstGeom>
          <a:ln w="15875">
            <a:solidFill>
              <a:srgbClr val="C9CDD3"/>
            </a:solidFill>
          </a:ln>
          <a:effectLst/>
        </p:spPr>
      </p:cxnSp>
      <p:cxnSp>
        <p:nvCxnSpPr>
          <p:cNvPr id="10" name="Connector 9"/>
          <p:cNvCxnSpPr/>
          <p:nvPr/>
        </p:nvCxnSpPr>
        <p:spPr>
          <a:xfrm flipH="1">
            <a:off x="5513832" y="3803903"/>
            <a:ext cx="475488" cy="1106425"/>
          </a:xfrm>
          <a:prstGeom prst="line">
            <a:avLst/>
          </a:prstGeom>
          <a:ln w="15875">
            <a:solidFill>
              <a:srgbClr val="C9CDD3"/>
            </a:solidFill>
          </a:ln>
          <a:effectLst/>
        </p:spPr>
      </p:cxnSp>
      <p:cxnSp>
        <p:nvCxnSpPr>
          <p:cNvPr id="11" name="Connector 10"/>
          <p:cNvCxnSpPr/>
          <p:nvPr/>
        </p:nvCxnSpPr>
        <p:spPr>
          <a:xfrm>
            <a:off x="5989320" y="3803903"/>
            <a:ext cx="1024128" cy="1106425"/>
          </a:xfrm>
          <a:prstGeom prst="line">
            <a:avLst/>
          </a:prstGeom>
          <a:ln w="15875">
            <a:solidFill>
              <a:srgbClr val="C9CDD3"/>
            </a:solidFill>
          </a:ln>
          <a:effectLst/>
        </p:spPr>
      </p:cxnSp>
      <p:cxnSp>
        <p:nvCxnSpPr>
          <p:cNvPr id="12" name="Connector 11"/>
          <p:cNvCxnSpPr/>
          <p:nvPr/>
        </p:nvCxnSpPr>
        <p:spPr>
          <a:xfrm flipH="1">
            <a:off x="6135624" y="3803903"/>
            <a:ext cx="950976" cy="1106425"/>
          </a:xfrm>
          <a:prstGeom prst="line">
            <a:avLst/>
          </a:prstGeom>
          <a:ln w="15875">
            <a:solidFill>
              <a:srgbClr val="C9CDD3"/>
            </a:solidFill>
          </a:ln>
          <a:effectLst/>
        </p:spPr>
      </p:cxnSp>
      <p:cxnSp>
        <p:nvCxnSpPr>
          <p:cNvPr id="13" name="Connector 12"/>
          <p:cNvCxnSpPr/>
          <p:nvPr/>
        </p:nvCxnSpPr>
        <p:spPr>
          <a:xfrm>
            <a:off x="7086600" y="3803903"/>
            <a:ext cx="548640" cy="1106425"/>
          </a:xfrm>
          <a:prstGeom prst="line">
            <a:avLst/>
          </a:prstGeom>
          <a:ln w="15875">
            <a:solidFill>
              <a:srgbClr val="C9CDD3"/>
            </a:solidFill>
          </a:ln>
          <a:effectLst/>
        </p:spPr>
      </p:cxnSp>
      <p:cxnSp>
        <p:nvCxnSpPr>
          <p:cNvPr id="14" name="Connector 13"/>
          <p:cNvCxnSpPr/>
          <p:nvPr/>
        </p:nvCxnSpPr>
        <p:spPr>
          <a:xfrm>
            <a:off x="3794760" y="2203704"/>
            <a:ext cx="219455" cy="2706624"/>
          </a:xfrm>
          <a:prstGeom prst="line">
            <a:avLst/>
          </a:prstGeom>
          <a:ln w="15875">
            <a:solidFill>
              <a:srgbClr val="C9CDD3"/>
            </a:solidFill>
          </a:ln>
          <a:effectLst/>
        </p:spPr>
      </p:cxnSp>
      <p:cxnSp>
        <p:nvCxnSpPr>
          <p:cNvPr id="15" name="Connector 14"/>
          <p:cNvCxnSpPr/>
          <p:nvPr/>
        </p:nvCxnSpPr>
        <p:spPr>
          <a:xfrm flipH="1">
            <a:off x="1554480" y="2203704"/>
            <a:ext cx="2240280" cy="749807"/>
          </a:xfrm>
          <a:prstGeom prst="line">
            <a:avLst/>
          </a:prstGeom>
          <a:ln w="15875">
            <a:solidFill>
              <a:srgbClr val="C9CDD3"/>
            </a:solidFill>
          </a:ln>
          <a:effectLst/>
        </p:spPr>
      </p:cxnSp>
      <p:cxnSp>
        <p:nvCxnSpPr>
          <p:cNvPr id="16" name="Connector 15"/>
          <p:cNvCxnSpPr/>
          <p:nvPr/>
        </p:nvCxnSpPr>
        <p:spPr>
          <a:xfrm>
            <a:off x="3794760" y="2203704"/>
            <a:ext cx="2194560" cy="749807"/>
          </a:xfrm>
          <a:prstGeom prst="line">
            <a:avLst/>
          </a:prstGeom>
          <a:ln w="15875">
            <a:solidFill>
              <a:srgbClr val="C9CDD3"/>
            </a:solidFill>
          </a:ln>
          <a:effectLst/>
        </p:spPr>
      </p:cxnSp>
      <p:cxnSp>
        <p:nvCxnSpPr>
          <p:cNvPr id="17" name="Connector 16"/>
          <p:cNvCxnSpPr/>
          <p:nvPr/>
        </p:nvCxnSpPr>
        <p:spPr>
          <a:xfrm flipH="1">
            <a:off x="4636008"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2651760"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5120640" y="2203704"/>
            <a:ext cx="1965960" cy="749807"/>
          </a:xfrm>
          <a:prstGeom prst="line">
            <a:avLst/>
          </a:prstGeom>
          <a:ln w="31750">
            <a:solidFill>
              <a:srgbClr val="C8501E"/>
            </a:solidFill>
            <a:tailEnd type="triangle" w="med" len="med"/>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5989320" y="1170432"/>
            <a:ext cx="2103120" cy="676656"/>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p>
        </p:txBody>
      </p:sp>
      <p:sp>
        <p:nvSpPr>
          <p:cNvPr id="43" name="TextBox 42"/>
          <p:cNvSpPr txBox="1"/>
          <p:nvPr/>
        </p:nvSpPr>
        <p:spPr>
          <a:xfrm>
            <a:off x="6016752" y="1216152"/>
            <a:ext cx="2048256" cy="292608"/>
          </a:xfrm>
          <a:prstGeom prst="rect">
            <a:avLst/>
          </a:prstGeom>
          <a:noFill/>
        </p:spPr>
        <p:txBody>
          <a:bodyPr wrap="square" anchor="t" lIns="45720" rIns="45720" tIns="27432" bIns="27432">
            <a:spAutoFit/>
          </a:bodyPr>
          <a:lstStyle/>
          <a:p>
            <a:pPr algn="ctr"/>
            <a:r>
              <a:rPr sz="1450" b="1" i="0">
                <a:solidFill>
                  <a:srgbClr val="2B2F36"/>
                </a:solidFill>
                <a:latin typeface="Calibri"/>
              </a:rPr>
              <a:t>m₂ = ITE(c′, a₂, x₂)</a:t>
            </a:r>
          </a:p>
        </p:txBody>
      </p:sp>
      <p:sp>
        <p:nvSpPr>
          <p:cNvPr id="44" name="TextBox 43"/>
          <p:cNvSpPr txBox="1"/>
          <p:nvPr/>
        </p:nvSpPr>
        <p:spPr>
          <a:xfrm>
            <a:off x="6016752" y="1508760"/>
            <a:ext cx="2048256" cy="274320"/>
          </a:xfrm>
          <a:prstGeom prst="rect">
            <a:avLst/>
          </a:prstGeom>
          <a:noFill/>
        </p:spPr>
        <p:txBody>
          <a:bodyPr wrap="square" anchor="t" lIns="45720" rIns="45720" tIns="27432" bIns="27432">
            <a:spAutoFit/>
          </a:bodyPr>
          <a:lstStyle/>
          <a:p>
            <a:pPr algn="ctr"/>
            <a:r>
              <a:rPr sz="1150" b="0" i="0">
                <a:solidFill>
                  <a:srgbClr val="6B717A"/>
                </a:solidFill>
                <a:latin typeface="Calibri"/>
              </a:rPr>
              <a:t>orange arrows: its 3 children</a:t>
            </a:r>
          </a:p>
        </p:txBody>
      </p:sp>
      <p:cxnSp>
        <p:nvCxnSpPr>
          <p:cNvPr id="45" name="Connector 44"/>
          <p:cNvCxnSpPr/>
          <p:nvPr/>
        </p:nvCxnSpPr>
        <p:spPr>
          <a:xfrm flipH="1">
            <a:off x="5303520" y="1481328"/>
            <a:ext cx="685800" cy="137160"/>
          </a:xfrm>
          <a:prstGeom prst="line">
            <a:avLst/>
          </a:prstGeom>
          <a:ln w="28575">
            <a:solidFill>
              <a:srgbClr val="E0A300"/>
            </a:solidFill>
            <a:tailEnd type="triangle" w="med" len="med"/>
          </a:ln>
          <a:effectLst/>
        </p:spPr>
      </p:cxn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Notation</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operator</a:t>
            </a:r>
            <a:r>
              <a:rPr sz="1600" b="0" i="0">
                <a:solidFill>
                  <a:srgbClr val="2B2F36"/>
                </a:solidFill>
                <a:latin typeface="Calibri"/>
              </a:rPr>
              <a:t> inside the node</a:t>
            </a:r>
          </a:p>
          <a:p>
            <a:pPr marL="274320" indent="-237744">
              <a:spcBef>
                <a:spcPts val="500"/>
              </a:spcBef>
              <a:buClr>
                <a:srgbClr val="6B717A"/>
              </a:buClr>
              <a:buChar char="•"/>
            </a:pPr>
            <a:r>
              <a:rPr sz="1600" b="1" i="0">
                <a:solidFill>
                  <a:srgbClr val="2B2F36"/>
                </a:solidFill>
                <a:latin typeface="Calibri"/>
              </a:rPr>
              <a:t>term name</a:t>
            </a:r>
            <a:r>
              <a:rPr sz="1600" b="0" i="0">
                <a:solidFill>
                  <a:srgbClr val="2B2F36"/>
                </a:solidFill>
                <a:latin typeface="Calibri"/>
              </a:rPr>
              <a:t> alongside it</a:t>
            </a:r>
          </a:p>
          <a:p>
            <a:pPr marL="274320" indent="-237744">
              <a:spcBef>
                <a:spcPts val="500"/>
              </a:spcBef>
              <a:buClr>
                <a:srgbClr val="6B717A"/>
              </a:buClr>
              <a:buChar char="•"/>
            </a:pPr>
            <a:r>
              <a:rPr sz="1600" b="1" i="0">
                <a:solidFill>
                  <a:srgbClr val="2B2F36"/>
                </a:solidFill>
                <a:latin typeface="Calibri"/>
              </a:rPr>
              <a:t>one edge per child</a:t>
            </a:r>
            <a:r>
              <a:rPr sz="1600" b="0" i="0">
                <a:solidFill>
                  <a:srgbClr val="2B2F36"/>
                </a:solidFill>
                <a:latin typeface="Calibri"/>
              </a:rPr>
              <a:t>, in argument order</a:t>
            </a:r>
          </a:p>
          <a:p>
            <a:pPr marL="274320" indent="-237744">
              <a:spcBef>
                <a:spcPts val="500"/>
              </a:spcBef>
              <a:buClr>
                <a:srgbClr val="6B717A"/>
              </a:buClr>
              <a:buChar char="•"/>
            </a:pPr>
            <a:r>
              <a:rPr sz="1600" b="0" i="0">
                <a:solidFill>
                  <a:srgbClr val="2B2F36"/>
                </a:solidFill>
                <a:latin typeface="Calibri"/>
              </a:rPr>
              <a:t>leaves: circuit inputs, no children</a:t>
            </a:r>
          </a:p>
          <a:p>
            <a:pPr>
              <a:spcBef>
                <a:spcPts val="1100"/>
              </a:spcBef>
              <a:spcAft>
                <a:spcPts val="200"/>
              </a:spcAft>
            </a:pPr>
            <a:r>
              <a:rPr sz="1600" b="1" i="0">
                <a:solidFill>
                  <a:srgbClr val="1F2A44"/>
                </a:solidFill>
                <a:latin typeface="Calibri"/>
              </a:rPr>
              <a:t>Same term, three ways</a:t>
            </a:r>
          </a:p>
          <a:p>
            <a:pPr marL="274320" indent="-237744">
              <a:spcBef>
                <a:spcPts val="500"/>
              </a:spcBef>
              <a:buClr>
                <a:srgbClr val="6B717A"/>
              </a:buClr>
              <a:buChar char="•"/>
            </a:pPr>
            <a:r>
              <a:rPr sz="1600" b="0" i="0">
                <a:solidFill>
                  <a:srgbClr val="2B2F36"/>
                </a:solidFill>
                <a:latin typeface="Calibri"/>
              </a:rPr>
              <a:t>gate m₂ in the circuit</a:t>
            </a:r>
          </a:p>
          <a:p>
            <a:pPr marL="274320" indent="-237744">
              <a:spcBef>
                <a:spcPts val="500"/>
              </a:spcBef>
              <a:buClr>
                <a:srgbClr val="6B717A"/>
              </a:buClr>
              <a:buChar char="•"/>
            </a:pPr>
            <a:r>
              <a:rPr sz="1600" b="0" i="0">
                <a:solidFill>
                  <a:srgbClr val="2B2F36"/>
                </a:solidFill>
                <a:latin typeface="Calibri"/>
              </a:rPr>
              <a:t>term ITE(c′, a₂, x₂)</a:t>
            </a:r>
          </a:p>
          <a:p>
            <a:pPr marL="274320" indent="-237744">
              <a:spcBef>
                <a:spcPts val="500"/>
              </a:spcBef>
              <a:buClr>
                <a:srgbClr val="6B717A"/>
              </a:buClr>
              <a:buChar char="•"/>
            </a:pPr>
            <a:r>
              <a:rPr sz="1600" b="0" i="0">
                <a:solidFill>
                  <a:srgbClr val="2B2F36"/>
                </a:solidFill>
                <a:latin typeface="Calibri"/>
              </a:rPr>
              <a:t>node with 3 outgoing edges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What we do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35608"/>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1</a:t>
            </a:r>
          </a:p>
        </p:txBody>
      </p:sp>
      <p:sp>
        <p:nvSpPr>
          <p:cNvPr id="7" name="TextBox 6"/>
          <p:cNvSpPr txBox="1"/>
          <p:nvPr/>
        </p:nvSpPr>
        <p:spPr>
          <a:xfrm>
            <a:off x="1325880" y="1380744"/>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Union every input equality</a:t>
            </a:r>
          </a:p>
        </p:txBody>
      </p:sp>
      <p:sp>
        <p:nvSpPr>
          <p:cNvPr id="8" name="TextBox 7"/>
          <p:cNvSpPr txBox="1"/>
          <p:nvPr/>
        </p:nvSpPr>
        <p:spPr>
          <a:xfrm>
            <a:off x="1325880" y="1764792"/>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r ≡ r′,  s ≡ s′,  u ≡ u′,  v ≡ v′,  c ≡ c′</a:t>
            </a:r>
          </a:p>
        </p:txBody>
      </p:sp>
      <p:sp>
        <p:nvSpPr>
          <p:cNvPr id="9" name="Rounded Rectangle 8"/>
          <p:cNvSpPr/>
          <p:nvPr/>
        </p:nvSpPr>
        <p:spPr>
          <a:xfrm>
            <a:off x="640080" y="2322576"/>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2</a:t>
            </a:r>
          </a:p>
        </p:txBody>
      </p:sp>
      <p:sp>
        <p:nvSpPr>
          <p:cNvPr id="10" name="TextBox 9"/>
          <p:cNvSpPr txBox="1"/>
          <p:nvPr/>
        </p:nvSpPr>
        <p:spPr>
          <a:xfrm>
            <a:off x="1325880" y="2267712"/>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Look for a congruent pair</a:t>
            </a:r>
          </a:p>
        </p:txBody>
      </p:sp>
      <p:sp>
        <p:nvSpPr>
          <p:cNvPr id="11" name="TextBox 10"/>
          <p:cNvSpPr txBox="1"/>
          <p:nvPr/>
        </p:nvSpPr>
        <p:spPr>
          <a:xfrm>
            <a:off x="1325880" y="2651760"/>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same operator, children pairwise equivalent</a:t>
            </a:r>
          </a:p>
        </p:txBody>
      </p:sp>
      <p:sp>
        <p:nvSpPr>
          <p:cNvPr id="12" name="Rounded Rectangle 11"/>
          <p:cNvSpPr/>
          <p:nvPr/>
        </p:nvSpPr>
        <p:spPr>
          <a:xfrm>
            <a:off x="640080" y="3209544"/>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3</a:t>
            </a:r>
          </a:p>
        </p:txBody>
      </p:sp>
      <p:sp>
        <p:nvSpPr>
          <p:cNvPr id="13" name="TextBox 12"/>
          <p:cNvSpPr txBox="1"/>
          <p:nvPr/>
        </p:nvSpPr>
        <p:spPr>
          <a:xfrm>
            <a:off x="1325880" y="3154680"/>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Merge their two classes</a:t>
            </a:r>
          </a:p>
        </p:txBody>
      </p:sp>
      <p:sp>
        <p:nvSpPr>
          <p:cNvPr id="14" name="TextBox 13"/>
          <p:cNvSpPr txBox="1"/>
          <p:nvPr/>
        </p:nvSpPr>
        <p:spPr>
          <a:xfrm>
            <a:off x="1325880" y="3538728"/>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one merge at a time, in whatever order we pick</a:t>
            </a:r>
          </a:p>
        </p:txBody>
      </p:sp>
      <p:sp>
        <p:nvSpPr>
          <p:cNvPr id="15" name="Rounded Rectangle 14"/>
          <p:cNvSpPr/>
          <p:nvPr/>
        </p:nvSpPr>
        <p:spPr>
          <a:xfrm>
            <a:off x="640080" y="4096511"/>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4</a:t>
            </a:r>
          </a:p>
        </p:txBody>
      </p:sp>
      <p:sp>
        <p:nvSpPr>
          <p:cNvPr id="16" name="TextBox 15"/>
          <p:cNvSpPr txBox="1"/>
          <p:nvPr/>
        </p:nvSpPr>
        <p:spPr>
          <a:xfrm>
            <a:off x="1325880" y="4041648"/>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Re-examine the parents of what just merged</a:t>
            </a:r>
          </a:p>
        </p:txBody>
      </p:sp>
      <p:sp>
        <p:nvSpPr>
          <p:cNvPr id="17" name="TextBox 16"/>
          <p:cNvSpPr txBox="1"/>
          <p:nvPr/>
        </p:nvSpPr>
        <p:spPr>
          <a:xfrm>
            <a:off x="1325880" y="4425696"/>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a merge can make new pairs congruent</a:t>
            </a:r>
          </a:p>
        </p:txBody>
      </p:sp>
      <p:sp>
        <p:nvSpPr>
          <p:cNvPr id="18" name="Rounded Rectangle 17"/>
          <p:cNvSpPr/>
          <p:nvPr/>
        </p:nvSpPr>
        <p:spPr>
          <a:xfrm>
            <a:off x="640080" y="4983479"/>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5</a:t>
            </a:r>
          </a:p>
        </p:txBody>
      </p:sp>
      <p:sp>
        <p:nvSpPr>
          <p:cNvPr id="19" name="TextBox 18"/>
          <p:cNvSpPr txBox="1"/>
          <p:nvPr/>
        </p:nvSpPr>
        <p:spPr>
          <a:xfrm>
            <a:off x="1325880" y="4928616"/>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Stop when no pair matches</a:t>
            </a:r>
          </a:p>
        </p:txBody>
      </p:sp>
      <p:sp>
        <p:nvSpPr>
          <p:cNvPr id="20" name="TextBox 19"/>
          <p:cNvSpPr txBox="1"/>
          <p:nvPr/>
        </p:nvSpPr>
        <p:spPr>
          <a:xfrm>
            <a:off x="1325880" y="5312664"/>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that fixpoint is the congruence closure</a:t>
            </a:r>
          </a:p>
        </p:txBody>
      </p:sp>
      <p:sp>
        <p:nvSpPr>
          <p:cNvPr id="21" name="Rounded Rectangle 20"/>
          <p:cNvSpPr/>
          <p:nvPr/>
        </p:nvSpPr>
        <p:spPr>
          <a:xfrm>
            <a:off x="7635240" y="1417320"/>
            <a:ext cx="3977639" cy="28803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2" name="TextBox 21"/>
          <p:cNvSpPr txBox="1"/>
          <p:nvPr/>
        </p:nvSpPr>
        <p:spPr>
          <a:xfrm>
            <a:off x="7818120" y="1508760"/>
            <a:ext cx="3657600" cy="365760"/>
          </a:xfrm>
          <a:prstGeom prst="rect">
            <a:avLst/>
          </a:prstGeom>
          <a:noFill/>
        </p:spPr>
        <p:txBody>
          <a:bodyPr wrap="square" anchor="t" lIns="45720" rIns="45720" tIns="27432" bIns="27432">
            <a:spAutoFit/>
          </a:bodyPr>
          <a:lstStyle/>
          <a:p>
            <a:pPr algn="l"/>
            <a:r>
              <a:rPr sz="1700" b="1" i="0">
                <a:solidFill>
                  <a:srgbClr val="1F2A44"/>
                </a:solidFill>
                <a:latin typeface="Calibri"/>
              </a:rPr>
              <a:t>Test in step 2</a:t>
            </a:r>
          </a:p>
        </p:txBody>
      </p:sp>
      <p:sp>
        <p:nvSpPr>
          <p:cNvPr id="23" name="TextBox 22"/>
          <p:cNvSpPr txBox="1"/>
          <p:nvPr/>
        </p:nvSpPr>
        <p:spPr>
          <a:xfrm>
            <a:off x="7772400" y="1920240"/>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f(M₁, …, Mₙ)   and   f(N₁, …, Nₙ)</a:t>
            </a:r>
          </a:p>
        </p:txBody>
      </p:sp>
      <p:sp>
        <p:nvSpPr>
          <p:cNvPr id="24" name="TextBox 23"/>
          <p:cNvSpPr txBox="1"/>
          <p:nvPr/>
        </p:nvSpPr>
        <p:spPr>
          <a:xfrm>
            <a:off x="7772400" y="2304288"/>
            <a:ext cx="3703320" cy="292608"/>
          </a:xfrm>
          <a:prstGeom prst="rect">
            <a:avLst/>
          </a:prstGeom>
          <a:noFill/>
        </p:spPr>
        <p:txBody>
          <a:bodyPr wrap="square" anchor="t" lIns="45720" rIns="45720" tIns="27432" bIns="27432">
            <a:spAutoFit/>
          </a:bodyPr>
          <a:lstStyle/>
          <a:p>
            <a:pPr algn="ctr"/>
            <a:r>
              <a:rPr sz="1300" b="0" i="0">
                <a:solidFill>
                  <a:srgbClr val="6B717A"/>
                </a:solidFill>
                <a:latin typeface="Calibri"/>
              </a:rPr>
              <a:t>congruent when</a:t>
            </a:r>
          </a:p>
        </p:txBody>
      </p:sp>
      <p:sp>
        <p:nvSpPr>
          <p:cNvPr id="25" name="TextBox 24"/>
          <p:cNvSpPr txBox="1"/>
          <p:nvPr/>
        </p:nvSpPr>
        <p:spPr>
          <a:xfrm>
            <a:off x="7772400" y="2615184"/>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Find(Mᵢ) = Find(Nᵢ)  for every i</a:t>
            </a:r>
          </a:p>
        </p:txBody>
      </p:sp>
      <p:sp>
        <p:nvSpPr>
          <p:cNvPr id="26" name="TextBox 25"/>
          <p:cNvSpPr txBox="1"/>
          <p:nvPr/>
        </p:nvSpPr>
        <p:spPr>
          <a:xfrm>
            <a:off x="7726679" y="3108960"/>
            <a:ext cx="3794760" cy="1097280"/>
          </a:xfrm>
          <a:prstGeom prst="rect">
            <a:avLst/>
          </a:prstGeom>
          <a:noFill/>
        </p:spPr>
        <p:txBody>
          <a:bodyPr wrap="square" lIns="45720" rIns="45720">
            <a:spAutoFit/>
          </a:bodyPr>
          <a:lstStyle/>
          <a:p>
            <a:pPr marL="274320" indent="-237744">
              <a:spcBef>
                <a:spcPts val="600"/>
              </a:spcBef>
              <a:buClr>
                <a:srgbClr val="6B717A"/>
              </a:buClr>
              <a:buChar char="•"/>
            </a:pPr>
            <a:r>
              <a:rPr sz="1500" b="0" i="0">
                <a:solidFill>
                  <a:srgbClr val="2B2F36"/>
                </a:solidFill>
                <a:latin typeface="Calibri"/>
              </a:rPr>
              <a:t>classes live in a union-find</a:t>
            </a:r>
          </a:p>
          <a:p>
            <a:pPr marL="274320" indent="-237744">
              <a:spcBef>
                <a:spcPts val="600"/>
              </a:spcBef>
              <a:buClr>
                <a:srgbClr val="6B717A"/>
              </a:buClr>
              <a:buChar char="•"/>
            </a:pPr>
            <a:r>
              <a:rPr sz="1500" b="0" i="0">
                <a:solidFill>
                  <a:srgbClr val="2B2F36"/>
                </a:solidFill>
                <a:latin typeface="Calibri"/>
              </a:rPr>
              <a:t>Find(t) = representative of t</a:t>
            </a:r>
          </a:p>
        </p:txBody>
      </p:sp>
      <p:sp>
        <p:nvSpPr>
          <p:cNvPr id="27" name="Rounded Rectangle 26"/>
          <p:cNvSpPr/>
          <p:nvPr/>
        </p:nvSpPr>
        <p:spPr>
          <a:xfrm>
            <a:off x="7635240" y="4526280"/>
            <a:ext cx="3977639" cy="1234440"/>
          </a:xfrm>
          <a:prstGeom prst="roundRect">
            <a:avLst>
              <a:gd name="adj" fmla="val 15000"/>
            </a:avLst>
          </a:prstGeom>
          <a:solidFill>
            <a:srgbClr val="1F2A44"/>
          </a:solidFill>
          <a:ln>
            <a:noFill/>
          </a:ln>
          <a:effectLst/>
        </p:spPr>
        <p:txBody>
          <a:bodyPr rtlCol="0" anchor="ctr" lIns="54864" rIns="54864" tIns="27432" bIns="27432" wrap="square"/>
          <a:lstStyle/>
          <a:p>
            <a:pPr algn="ctr"/>
            <a:r>
              <a:rPr sz="1700" b="1" i="0">
                <a:solidFill>
                  <a:srgbClr val="FFFFFF"/>
                </a:solidFill>
                <a:latin typeface="Calibri"/>
              </a:rPr>
              <a:t>Next: this loop on the miter,</a:t>
            </a:r>
          </a:p>
          <a:p>
            <a:pPr algn="ctr"/>
            <a:r>
              <a:rPr sz="1700" b="1" i="0">
                <a:solidFill>
                  <a:srgbClr val="FFFFFF"/>
                </a:solidFill>
                <a:latin typeface="Calibri"/>
              </a:rPr>
              <a:t>one merge per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4984" y="3803903"/>
            <a:ext cx="539496" cy="1106425"/>
          </a:xfrm>
          <a:prstGeom prst="line">
            <a:avLst/>
          </a:prstGeom>
          <a:ln w="15875">
            <a:solidFill>
              <a:srgbClr val="8A8F98"/>
            </a:solidFill>
          </a:ln>
          <a:effectLst/>
        </p:spPr>
      </p:cxnSp>
      <p:cxnSp>
        <p:nvCxnSpPr>
          <p:cNvPr id="13" name="Connector 12"/>
          <p:cNvCxnSpPr/>
          <p:nvPr/>
        </p:nvCxnSpPr>
        <p:spPr>
          <a:xfrm>
            <a:off x="1554480" y="3803903"/>
            <a:ext cx="960120" cy="1106425"/>
          </a:xfrm>
          <a:prstGeom prst="line">
            <a:avLst/>
          </a:prstGeom>
          <a:ln w="15875">
            <a:solidFill>
              <a:srgbClr val="8A8F98"/>
            </a:solidFill>
          </a:ln>
          <a:effectLst/>
        </p:spPr>
      </p:cxnSp>
      <p:cxnSp>
        <p:nvCxnSpPr>
          <p:cNvPr id="14" name="Connector 13"/>
          <p:cNvCxnSpPr/>
          <p:nvPr/>
        </p:nvCxnSpPr>
        <p:spPr>
          <a:xfrm flipH="1">
            <a:off x="1636776" y="3803903"/>
            <a:ext cx="1014984" cy="1106425"/>
          </a:xfrm>
          <a:prstGeom prst="line">
            <a:avLst/>
          </a:prstGeom>
          <a:ln w="15875">
            <a:solidFill>
              <a:srgbClr val="8A8F98"/>
            </a:solidFill>
          </a:ln>
          <a:effectLst/>
        </p:spPr>
      </p:cxnSp>
      <p:cxnSp>
        <p:nvCxnSpPr>
          <p:cNvPr id="15" name="Connector 14"/>
          <p:cNvCxnSpPr/>
          <p:nvPr/>
        </p:nvCxnSpPr>
        <p:spPr>
          <a:xfrm>
            <a:off x="2651760" y="3803903"/>
            <a:ext cx="484632" cy="1106425"/>
          </a:xfrm>
          <a:prstGeom prst="line">
            <a:avLst/>
          </a:prstGeom>
          <a:ln w="15875">
            <a:solidFill>
              <a:srgbClr val="8A8F98"/>
            </a:solidFill>
          </a:ln>
          <a:effectLst/>
        </p:spPr>
      </p:cxnSp>
      <p:cxnSp>
        <p:nvCxnSpPr>
          <p:cNvPr id="16" name="Connector 15"/>
          <p:cNvCxnSpPr/>
          <p:nvPr/>
        </p:nvCxnSpPr>
        <p:spPr>
          <a:xfrm flipH="1">
            <a:off x="5513832" y="3803903"/>
            <a:ext cx="475488" cy="1106425"/>
          </a:xfrm>
          <a:prstGeom prst="line">
            <a:avLst/>
          </a:prstGeom>
          <a:ln w="15875">
            <a:solidFill>
              <a:srgbClr val="8A8F98"/>
            </a:solidFill>
          </a:ln>
          <a:effectLst/>
        </p:spPr>
      </p:cxnSp>
      <p:cxnSp>
        <p:nvCxnSpPr>
          <p:cNvPr id="17" name="Connector 16"/>
          <p:cNvCxnSpPr/>
          <p:nvPr/>
        </p:nvCxnSpPr>
        <p:spPr>
          <a:xfrm>
            <a:off x="5989320" y="3803903"/>
            <a:ext cx="1024128" cy="1106425"/>
          </a:xfrm>
          <a:prstGeom prst="line">
            <a:avLst/>
          </a:prstGeom>
          <a:ln w="15875">
            <a:solidFill>
              <a:srgbClr val="8A8F98"/>
            </a:solidFill>
          </a:ln>
          <a:effectLst/>
        </p:spPr>
      </p:cxnSp>
      <p:cxnSp>
        <p:nvCxnSpPr>
          <p:cNvPr id="18" name="Connector 17"/>
          <p:cNvCxnSpPr/>
          <p:nvPr/>
        </p:nvCxnSpPr>
        <p:spPr>
          <a:xfrm flipH="1">
            <a:off x="6135624" y="3803903"/>
            <a:ext cx="950976" cy="1106425"/>
          </a:xfrm>
          <a:prstGeom prst="line">
            <a:avLst/>
          </a:prstGeom>
          <a:ln w="15875">
            <a:solidFill>
              <a:srgbClr val="8A8F98"/>
            </a:solidFill>
          </a:ln>
          <a:effectLst/>
        </p:spPr>
      </p:cxnSp>
      <p:cxnSp>
        <p:nvCxnSpPr>
          <p:cNvPr id="19" name="Connector 18"/>
          <p:cNvCxnSpPr/>
          <p:nvPr/>
        </p:nvCxnSpPr>
        <p:spPr>
          <a:xfrm>
            <a:off x="7086600" y="3803903"/>
            <a:ext cx="548640" cy="1106425"/>
          </a:xfrm>
          <a:prstGeom prst="line">
            <a:avLst/>
          </a:prstGeom>
          <a:ln w="15875">
            <a:solidFill>
              <a:srgbClr val="8A8F98"/>
            </a:solidFill>
          </a:ln>
          <a:effectLst/>
        </p:spPr>
      </p:cxnSp>
      <p:cxnSp>
        <p:nvCxnSpPr>
          <p:cNvPr id="20" name="Connector 19"/>
          <p:cNvCxnSpPr/>
          <p:nvPr/>
        </p:nvCxnSpPr>
        <p:spPr>
          <a:xfrm>
            <a:off x="3794760" y="2203704"/>
            <a:ext cx="219455" cy="2706624"/>
          </a:xfrm>
          <a:prstGeom prst="line">
            <a:avLst/>
          </a:prstGeom>
          <a:ln w="15875">
            <a:solidFill>
              <a:srgbClr val="8A8F98"/>
            </a:solidFill>
          </a:ln>
          <a:effectLst/>
        </p:spPr>
      </p:cxnSp>
      <p:cxnSp>
        <p:nvCxnSpPr>
          <p:cNvPr id="21" name="Connector 20"/>
          <p:cNvCxnSpPr/>
          <p:nvPr/>
        </p:nvCxnSpPr>
        <p:spPr>
          <a:xfrm flipH="1">
            <a:off x="1554480" y="2203704"/>
            <a:ext cx="2240280" cy="749807"/>
          </a:xfrm>
          <a:prstGeom prst="line">
            <a:avLst/>
          </a:prstGeom>
          <a:ln w="15875">
            <a:solidFill>
              <a:srgbClr val="8A8F98"/>
            </a:solidFill>
          </a:ln>
          <a:effectLst/>
        </p:spPr>
      </p:cxnSp>
      <p:cxnSp>
        <p:nvCxnSpPr>
          <p:cNvPr id="22" name="Connector 21"/>
          <p:cNvCxnSpPr/>
          <p:nvPr/>
        </p:nvCxnSpPr>
        <p:spPr>
          <a:xfrm>
            <a:off x="3794760" y="2203704"/>
            <a:ext cx="2194560" cy="749807"/>
          </a:xfrm>
          <a:prstGeom prst="line">
            <a:avLst/>
          </a:prstGeom>
          <a:ln w="15875">
            <a:solidFill>
              <a:srgbClr val="8A8F98"/>
            </a:solidFill>
          </a:ln>
          <a:effectLst/>
        </p:spPr>
      </p:cxnSp>
      <p:cxnSp>
        <p:nvCxnSpPr>
          <p:cNvPr id="23" name="Connector 22"/>
          <p:cNvCxnSpPr/>
          <p:nvPr/>
        </p:nvCxnSpPr>
        <p:spPr>
          <a:xfrm flipH="1">
            <a:off x="4636008" y="2203704"/>
            <a:ext cx="484632" cy="2706624"/>
          </a:xfrm>
          <a:prstGeom prst="line">
            <a:avLst/>
          </a:prstGeom>
          <a:ln w="15875">
            <a:solidFill>
              <a:srgbClr val="8A8F98"/>
            </a:solidFill>
          </a:ln>
          <a:effectLst/>
        </p:spPr>
      </p:cxnSp>
      <p:cxnSp>
        <p:nvCxnSpPr>
          <p:cNvPr id="24" name="Connector 23"/>
          <p:cNvCxnSpPr/>
          <p:nvPr/>
        </p:nvCxnSpPr>
        <p:spPr>
          <a:xfrm flipH="1">
            <a:off x="2651760" y="2203704"/>
            <a:ext cx="2468880" cy="749807"/>
          </a:xfrm>
          <a:prstGeom prst="line">
            <a:avLst/>
          </a:prstGeom>
          <a:ln w="15875">
            <a:solidFill>
              <a:srgbClr val="8A8F98"/>
            </a:solidFill>
          </a:ln>
          <a:effectLst/>
        </p:spPr>
      </p:cxnSp>
      <p:cxnSp>
        <p:nvCxnSpPr>
          <p:cNvPr id="25" name="Connector 24"/>
          <p:cNvCxnSpPr/>
          <p:nvPr/>
        </p:nvCxnSpPr>
        <p:spPr>
          <a:xfrm>
            <a:off x="5120640" y="2203704"/>
            <a:ext cx="1965960" cy="749807"/>
          </a:xfrm>
          <a:prstGeom prst="line">
            <a:avLst/>
          </a:prstGeom>
          <a:ln w="15875">
            <a:solidFill>
              <a:srgbClr val="8A8F98"/>
            </a:solidFill>
          </a:ln>
          <a:effectLst/>
        </p:spPr>
      </p:cxnSp>
      <p:sp>
        <p:nvSpPr>
          <p:cNvPr id="26" name="Rounded Rectangle 25"/>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6" name="Rounded Rectangle 45"/>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2" name="Rounded Rectangle 51"/>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3" name="Rounded Rectangle 52"/>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4" name="Rounded Rectangle 53"/>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7552"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22392"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227832" y="1188720"/>
            <a:ext cx="3072384"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4984" y="3803903"/>
            <a:ext cx="539496" cy="1106425"/>
          </a:xfrm>
          <a:prstGeom prst="line">
            <a:avLst/>
          </a:prstGeom>
          <a:ln w="15875">
            <a:solidFill>
              <a:srgbClr val="8A8F98"/>
            </a:solidFill>
          </a:ln>
          <a:effectLst/>
        </p:spPr>
      </p:cxnSp>
      <p:cxnSp>
        <p:nvCxnSpPr>
          <p:cNvPr id="18" name="Connector 17"/>
          <p:cNvCxnSpPr/>
          <p:nvPr/>
        </p:nvCxnSpPr>
        <p:spPr>
          <a:xfrm>
            <a:off x="1554480" y="3803903"/>
            <a:ext cx="960120" cy="1106425"/>
          </a:xfrm>
          <a:prstGeom prst="line">
            <a:avLst/>
          </a:prstGeom>
          <a:ln w="15875">
            <a:solidFill>
              <a:srgbClr val="8A8F98"/>
            </a:solidFill>
          </a:ln>
          <a:effectLst/>
        </p:spPr>
      </p:cxnSp>
      <p:cxnSp>
        <p:nvCxnSpPr>
          <p:cNvPr id="19" name="Connector 18"/>
          <p:cNvCxnSpPr/>
          <p:nvPr/>
        </p:nvCxnSpPr>
        <p:spPr>
          <a:xfrm flipH="1">
            <a:off x="1636776" y="3803903"/>
            <a:ext cx="1014984" cy="1106425"/>
          </a:xfrm>
          <a:prstGeom prst="line">
            <a:avLst/>
          </a:prstGeom>
          <a:ln w="15875">
            <a:solidFill>
              <a:srgbClr val="8A8F98"/>
            </a:solidFill>
          </a:ln>
          <a:effectLst/>
        </p:spPr>
      </p:cxnSp>
      <p:cxnSp>
        <p:nvCxnSpPr>
          <p:cNvPr id="20" name="Connector 19"/>
          <p:cNvCxnSpPr/>
          <p:nvPr/>
        </p:nvCxnSpPr>
        <p:spPr>
          <a:xfrm>
            <a:off x="2651760" y="3803903"/>
            <a:ext cx="484632" cy="1106425"/>
          </a:xfrm>
          <a:prstGeom prst="line">
            <a:avLst/>
          </a:prstGeom>
          <a:ln w="15875">
            <a:solidFill>
              <a:srgbClr val="8A8F98"/>
            </a:solidFill>
          </a:ln>
          <a:effectLst/>
        </p:spPr>
      </p:cxnSp>
      <p:cxnSp>
        <p:nvCxnSpPr>
          <p:cNvPr id="21" name="Connector 20"/>
          <p:cNvCxnSpPr/>
          <p:nvPr/>
        </p:nvCxnSpPr>
        <p:spPr>
          <a:xfrm flipH="1">
            <a:off x="5513832" y="3803903"/>
            <a:ext cx="475488" cy="1106425"/>
          </a:xfrm>
          <a:prstGeom prst="line">
            <a:avLst/>
          </a:prstGeom>
          <a:ln w="15875">
            <a:solidFill>
              <a:srgbClr val="8A8F98"/>
            </a:solidFill>
          </a:ln>
          <a:effectLst/>
        </p:spPr>
      </p:cxnSp>
      <p:cxnSp>
        <p:nvCxnSpPr>
          <p:cNvPr id="22" name="Connector 21"/>
          <p:cNvCxnSpPr/>
          <p:nvPr/>
        </p:nvCxnSpPr>
        <p:spPr>
          <a:xfrm>
            <a:off x="5989320" y="3803903"/>
            <a:ext cx="1024128" cy="1106425"/>
          </a:xfrm>
          <a:prstGeom prst="line">
            <a:avLst/>
          </a:prstGeom>
          <a:ln w="15875">
            <a:solidFill>
              <a:srgbClr val="8A8F98"/>
            </a:solidFill>
          </a:ln>
          <a:effectLst/>
        </p:spPr>
      </p:cxnSp>
      <p:cxnSp>
        <p:nvCxnSpPr>
          <p:cNvPr id="23" name="Connector 22"/>
          <p:cNvCxnSpPr/>
          <p:nvPr/>
        </p:nvCxnSpPr>
        <p:spPr>
          <a:xfrm flipH="1">
            <a:off x="6135624" y="3803903"/>
            <a:ext cx="950976" cy="1106425"/>
          </a:xfrm>
          <a:prstGeom prst="line">
            <a:avLst/>
          </a:prstGeom>
          <a:ln w="15875">
            <a:solidFill>
              <a:srgbClr val="8A8F98"/>
            </a:solidFill>
          </a:ln>
          <a:effectLst/>
        </p:spPr>
      </p:cxnSp>
      <p:cxnSp>
        <p:nvCxnSpPr>
          <p:cNvPr id="24" name="Connector 23"/>
          <p:cNvCxnSpPr/>
          <p:nvPr/>
        </p:nvCxnSpPr>
        <p:spPr>
          <a:xfrm>
            <a:off x="7086600" y="3803903"/>
            <a:ext cx="548640" cy="1106425"/>
          </a:xfrm>
          <a:prstGeom prst="line">
            <a:avLst/>
          </a:prstGeom>
          <a:ln w="15875">
            <a:solidFill>
              <a:srgbClr val="8A8F98"/>
            </a:solidFill>
          </a:ln>
          <a:effectLst/>
        </p:spPr>
      </p:cxnSp>
      <p:cxnSp>
        <p:nvCxnSpPr>
          <p:cNvPr id="25" name="Connector 24"/>
          <p:cNvCxnSpPr/>
          <p:nvPr/>
        </p:nvCxnSpPr>
        <p:spPr>
          <a:xfrm>
            <a:off x="3794760" y="2203704"/>
            <a:ext cx="219455" cy="2706624"/>
          </a:xfrm>
          <a:prstGeom prst="line">
            <a:avLst/>
          </a:prstGeom>
          <a:ln w="15875">
            <a:solidFill>
              <a:srgbClr val="8A8F98"/>
            </a:solidFill>
          </a:ln>
          <a:effectLst/>
        </p:spPr>
      </p:cxnSp>
      <p:cxnSp>
        <p:nvCxnSpPr>
          <p:cNvPr id="26" name="Connector 25"/>
          <p:cNvCxnSpPr/>
          <p:nvPr/>
        </p:nvCxnSpPr>
        <p:spPr>
          <a:xfrm flipH="1">
            <a:off x="1554480" y="2203704"/>
            <a:ext cx="2240280" cy="749807"/>
          </a:xfrm>
          <a:prstGeom prst="line">
            <a:avLst/>
          </a:prstGeom>
          <a:ln w="15875">
            <a:solidFill>
              <a:srgbClr val="8A8F98"/>
            </a:solidFill>
          </a:ln>
          <a:effectLst/>
        </p:spPr>
      </p:cxnSp>
      <p:cxnSp>
        <p:nvCxnSpPr>
          <p:cNvPr id="27" name="Connector 26"/>
          <p:cNvCxnSpPr/>
          <p:nvPr/>
        </p:nvCxnSpPr>
        <p:spPr>
          <a:xfrm>
            <a:off x="3794760" y="2203704"/>
            <a:ext cx="2194560" cy="749807"/>
          </a:xfrm>
          <a:prstGeom prst="line">
            <a:avLst/>
          </a:prstGeom>
          <a:ln w="15875">
            <a:solidFill>
              <a:srgbClr val="8A8F98"/>
            </a:solidFill>
          </a:ln>
          <a:effectLst/>
        </p:spPr>
      </p:cxnSp>
      <p:cxnSp>
        <p:nvCxnSpPr>
          <p:cNvPr id="28" name="Connector 27"/>
          <p:cNvCxnSpPr/>
          <p:nvPr/>
        </p:nvCxnSpPr>
        <p:spPr>
          <a:xfrm flipH="1">
            <a:off x="4636008" y="2203704"/>
            <a:ext cx="484632" cy="2706624"/>
          </a:xfrm>
          <a:prstGeom prst="line">
            <a:avLst/>
          </a:prstGeom>
          <a:ln w="15875">
            <a:solidFill>
              <a:srgbClr val="8A8F98"/>
            </a:solidFill>
          </a:ln>
          <a:effectLst/>
        </p:spPr>
      </p:cxnSp>
      <p:cxnSp>
        <p:nvCxnSpPr>
          <p:cNvPr id="29" name="Connector 28"/>
          <p:cNvCxnSpPr/>
          <p:nvPr/>
        </p:nvCxnSpPr>
        <p:spPr>
          <a:xfrm flipH="1">
            <a:off x="2651760" y="2203704"/>
            <a:ext cx="2468880" cy="749807"/>
          </a:xfrm>
          <a:prstGeom prst="line">
            <a:avLst/>
          </a:prstGeom>
          <a:ln w="15875">
            <a:solidFill>
              <a:srgbClr val="8A8F98"/>
            </a:solidFill>
          </a:ln>
          <a:effectLst/>
        </p:spPr>
      </p:cxnSp>
      <p:cxnSp>
        <p:nvCxnSpPr>
          <p:cNvPr id="30" name="Connector 29"/>
          <p:cNvCxnSpPr/>
          <p:nvPr/>
        </p:nvCxnSpPr>
        <p:spPr>
          <a:xfrm>
            <a:off x="5120640" y="2203704"/>
            <a:ext cx="1965960" cy="749807"/>
          </a:xfrm>
          <a:prstGeom prst="line">
            <a:avLst/>
          </a:prstGeom>
          <a:ln w="15875">
            <a:solidFill>
              <a:srgbClr val="8A8F98"/>
            </a:solidFill>
          </a:ln>
          <a:effectLst/>
        </p:spPr>
      </p:cxnSp>
      <p:sp>
        <p:nvSpPr>
          <p:cNvPr id="31" name="Rounded Rectangle 30"/>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1" name="Rounded Rectangle 50"/>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411480" y="5623560"/>
            <a:ext cx="781812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54" name="TextBox 5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55" name="TextBox 5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seed Frontier ← all compound terms</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representatives dethroned</a:t>
            </a:r>
          </a:p>
          <a:p>
            <a:pPr algn="ctr"/>
            <a:r>
              <a:rPr sz="1600" b="0" i="0">
                <a:solidFill>
                  <a:srgbClr val="2B2F36"/>
                </a:solidFill>
                <a:latin typeface="Calibri"/>
              </a:rPr>
              <a:t>by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seed round: all compound terms</a:t>
            </a:r>
          </a:p>
          <a:p>
            <a:pPr algn="ctr"/>
            <a:r>
              <a:rPr sz="1600" b="0" i="0">
                <a:solidFill>
                  <a:srgbClr val="2B2F36"/>
                </a:solidFill>
                <a:latin typeface="Calibri"/>
              </a:rPr>
              <a:t>later: 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703320"/>
            <a:ext cx="2011680" cy="640080"/>
          </a:xfrm>
          <a:prstGeom prst="rect">
            <a:avLst/>
          </a:prstGeom>
          <a:noFill/>
        </p:spPr>
        <p:txBody>
          <a:bodyPr wrap="square" anchor="t" lIns="45720" rIns="45720" tIns="27432" bIns="27432">
            <a:spAutoFit/>
          </a:bodyPr>
          <a:lstStyle/>
          <a:p>
            <a:pPr algn="l"/>
            <a:r>
              <a:rPr sz="1200" b="0" i="0">
                <a:solidFill>
                  <a:srgbClr val="6B717A"/>
                </a:solidFill>
                <a:latin typeface="Calibri"/>
              </a:rPr>
              <a:t>dethroned roots</a:t>
            </a:r>
          </a:p>
          <a:p>
            <a:pPr algn="l"/>
            <a:r>
              <a:rPr sz="1200" b="0" i="0">
                <a:solidFill>
                  <a:srgbClr val="6B717A"/>
                </a:solidFill>
                <a:latin typeface="Calibri"/>
              </a:rPr>
              <a:t>→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4984" y="3803903"/>
            <a:ext cx="539496" cy="1106425"/>
          </a:xfrm>
          <a:prstGeom prst="line">
            <a:avLst/>
          </a:prstGeom>
          <a:ln w="15875">
            <a:solidFill>
              <a:srgbClr val="8A8F98"/>
            </a:solidFill>
          </a:ln>
          <a:effectLst/>
        </p:spPr>
      </p:cxnSp>
      <p:cxnSp>
        <p:nvCxnSpPr>
          <p:cNvPr id="16" name="Connector 15"/>
          <p:cNvCxnSpPr/>
          <p:nvPr/>
        </p:nvCxnSpPr>
        <p:spPr>
          <a:xfrm>
            <a:off x="1554480" y="3803903"/>
            <a:ext cx="960120" cy="1106425"/>
          </a:xfrm>
          <a:prstGeom prst="line">
            <a:avLst/>
          </a:prstGeom>
          <a:ln w="15875">
            <a:solidFill>
              <a:srgbClr val="8A8F98"/>
            </a:solidFill>
          </a:ln>
          <a:effectLst/>
        </p:spPr>
      </p:cxnSp>
      <p:cxnSp>
        <p:nvCxnSpPr>
          <p:cNvPr id="17" name="Connector 16"/>
          <p:cNvCxnSpPr/>
          <p:nvPr/>
        </p:nvCxnSpPr>
        <p:spPr>
          <a:xfrm flipH="1">
            <a:off x="1636776" y="3803903"/>
            <a:ext cx="1014984" cy="1106425"/>
          </a:xfrm>
          <a:prstGeom prst="line">
            <a:avLst/>
          </a:prstGeom>
          <a:ln w="15875">
            <a:solidFill>
              <a:srgbClr val="8A8F98"/>
            </a:solidFill>
          </a:ln>
          <a:effectLst/>
        </p:spPr>
      </p:cxnSp>
      <p:cxnSp>
        <p:nvCxnSpPr>
          <p:cNvPr id="18" name="Connector 17"/>
          <p:cNvCxnSpPr/>
          <p:nvPr/>
        </p:nvCxnSpPr>
        <p:spPr>
          <a:xfrm>
            <a:off x="2651760" y="3803903"/>
            <a:ext cx="484632" cy="1106425"/>
          </a:xfrm>
          <a:prstGeom prst="line">
            <a:avLst/>
          </a:prstGeom>
          <a:ln w="15875">
            <a:solidFill>
              <a:srgbClr val="8A8F98"/>
            </a:solidFill>
          </a:ln>
          <a:effectLst/>
        </p:spPr>
      </p:cxnSp>
      <p:cxnSp>
        <p:nvCxnSpPr>
          <p:cNvPr id="19" name="Connector 18"/>
          <p:cNvCxnSpPr/>
          <p:nvPr/>
        </p:nvCxnSpPr>
        <p:spPr>
          <a:xfrm flipH="1">
            <a:off x="5513832" y="3803903"/>
            <a:ext cx="475488" cy="1106425"/>
          </a:xfrm>
          <a:prstGeom prst="line">
            <a:avLst/>
          </a:prstGeom>
          <a:ln w="15875">
            <a:solidFill>
              <a:srgbClr val="8A8F98"/>
            </a:solidFill>
          </a:ln>
          <a:effectLst/>
        </p:spPr>
      </p:cxnSp>
      <p:cxnSp>
        <p:nvCxnSpPr>
          <p:cNvPr id="20" name="Connector 19"/>
          <p:cNvCxnSpPr/>
          <p:nvPr/>
        </p:nvCxnSpPr>
        <p:spPr>
          <a:xfrm>
            <a:off x="5989320" y="3803903"/>
            <a:ext cx="1024128" cy="1106425"/>
          </a:xfrm>
          <a:prstGeom prst="line">
            <a:avLst/>
          </a:prstGeom>
          <a:ln w="15875">
            <a:solidFill>
              <a:srgbClr val="8A8F98"/>
            </a:solidFill>
          </a:ln>
          <a:effectLst/>
        </p:spPr>
      </p:cxnSp>
      <p:cxnSp>
        <p:nvCxnSpPr>
          <p:cNvPr id="21" name="Connector 20"/>
          <p:cNvCxnSpPr/>
          <p:nvPr/>
        </p:nvCxnSpPr>
        <p:spPr>
          <a:xfrm flipH="1">
            <a:off x="6135624" y="3803903"/>
            <a:ext cx="950976" cy="1106425"/>
          </a:xfrm>
          <a:prstGeom prst="line">
            <a:avLst/>
          </a:prstGeom>
          <a:ln w="15875">
            <a:solidFill>
              <a:srgbClr val="8A8F98"/>
            </a:solidFill>
          </a:ln>
          <a:effectLst/>
        </p:spPr>
      </p:cxnSp>
      <p:cxnSp>
        <p:nvCxnSpPr>
          <p:cNvPr id="22" name="Connector 21"/>
          <p:cNvCxnSpPr/>
          <p:nvPr/>
        </p:nvCxnSpPr>
        <p:spPr>
          <a:xfrm>
            <a:off x="7086600" y="3803903"/>
            <a:ext cx="548640" cy="1106425"/>
          </a:xfrm>
          <a:prstGeom prst="line">
            <a:avLst/>
          </a:prstGeom>
          <a:ln w="15875">
            <a:solidFill>
              <a:srgbClr val="8A8F98"/>
            </a:solidFill>
          </a:ln>
          <a:effectLst/>
        </p:spPr>
      </p:cxnSp>
      <p:cxnSp>
        <p:nvCxnSpPr>
          <p:cNvPr id="23" name="Connector 22"/>
          <p:cNvCxnSpPr/>
          <p:nvPr/>
        </p:nvCxnSpPr>
        <p:spPr>
          <a:xfrm>
            <a:off x="3794760" y="2203704"/>
            <a:ext cx="219455" cy="2706624"/>
          </a:xfrm>
          <a:prstGeom prst="line">
            <a:avLst/>
          </a:prstGeom>
          <a:ln w="15875">
            <a:solidFill>
              <a:srgbClr val="8A8F98"/>
            </a:solidFill>
          </a:ln>
          <a:effectLst/>
        </p:spPr>
      </p:cxnSp>
      <p:cxnSp>
        <p:nvCxnSpPr>
          <p:cNvPr id="24" name="Connector 23"/>
          <p:cNvCxnSpPr/>
          <p:nvPr/>
        </p:nvCxnSpPr>
        <p:spPr>
          <a:xfrm flipH="1">
            <a:off x="1554480" y="2203704"/>
            <a:ext cx="2240280" cy="749807"/>
          </a:xfrm>
          <a:prstGeom prst="line">
            <a:avLst/>
          </a:prstGeom>
          <a:ln w="15875">
            <a:solidFill>
              <a:srgbClr val="8A8F98"/>
            </a:solidFill>
          </a:ln>
          <a:effectLst/>
        </p:spPr>
      </p:cxnSp>
      <p:cxnSp>
        <p:nvCxnSpPr>
          <p:cNvPr id="25" name="Connector 24"/>
          <p:cNvCxnSpPr/>
          <p:nvPr/>
        </p:nvCxnSpPr>
        <p:spPr>
          <a:xfrm>
            <a:off x="3794760" y="2203704"/>
            <a:ext cx="2194560" cy="749807"/>
          </a:xfrm>
          <a:prstGeom prst="line">
            <a:avLst/>
          </a:prstGeom>
          <a:ln w="15875">
            <a:solidFill>
              <a:srgbClr val="8A8F98"/>
            </a:solidFill>
          </a:ln>
          <a:effectLst/>
        </p:spPr>
      </p:cxnSp>
      <p:cxnSp>
        <p:nvCxnSpPr>
          <p:cNvPr id="26" name="Connector 25"/>
          <p:cNvCxnSpPr/>
          <p:nvPr/>
        </p:nvCxnSpPr>
        <p:spPr>
          <a:xfrm flipH="1">
            <a:off x="4636008" y="2203704"/>
            <a:ext cx="484632" cy="2706624"/>
          </a:xfrm>
          <a:prstGeom prst="line">
            <a:avLst/>
          </a:prstGeom>
          <a:ln w="15875">
            <a:solidFill>
              <a:srgbClr val="8A8F98"/>
            </a:solidFill>
          </a:ln>
          <a:effectLst/>
        </p:spPr>
      </p:cxnSp>
      <p:cxnSp>
        <p:nvCxnSpPr>
          <p:cNvPr id="27" name="Connector 26"/>
          <p:cNvCxnSpPr/>
          <p:nvPr/>
        </p:nvCxnSpPr>
        <p:spPr>
          <a:xfrm flipH="1">
            <a:off x="2651760" y="2203704"/>
            <a:ext cx="2468880" cy="749807"/>
          </a:xfrm>
          <a:prstGeom prst="line">
            <a:avLst/>
          </a:prstGeom>
          <a:ln w="15875">
            <a:solidFill>
              <a:srgbClr val="8A8F98"/>
            </a:solidFill>
          </a:ln>
          <a:effectLst/>
        </p:spPr>
      </p:cxnSp>
      <p:cxnSp>
        <p:nvCxnSpPr>
          <p:cNvPr id="28" name="Connector 27"/>
          <p:cNvCxnSpPr/>
          <p:nvPr/>
        </p:nvCxnSpPr>
        <p:spPr>
          <a:xfrm>
            <a:off x="5120640" y="2203704"/>
            <a:ext cx="1965960" cy="749807"/>
          </a:xfrm>
          <a:prstGeom prst="line">
            <a:avLst/>
          </a:prstGeom>
          <a:ln w="15875">
            <a:solidFill>
              <a:srgbClr val="8A8F98"/>
            </a:solidFill>
          </a:ln>
          <a:effectLst/>
        </p:spPr>
      </p:cxnSp>
      <p:sp>
        <p:nvSpPr>
          <p:cNvPr id="29" name="Rounded Rectangle 28"/>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9" name="Rounded Rectangle 48"/>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seed round: every compound term</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5" name="Rounded Rectangle 54"/>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7" name="Rounded Rectangle 56"/>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8" name="TextBox 57"/>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dethroned roots: a₂, x₂</a:t>
            </a:r>
          </a:p>
          <a:p>
            <a:pPr marL="274320" indent="-237744">
              <a:spcBef>
                <a:spcPts val="500"/>
              </a:spcBef>
              <a:buClr>
                <a:srgbClr val="6B717A"/>
              </a:buClr>
              <a:buChar char="•"/>
            </a:pPr>
            <a:r>
              <a:rPr sz="1600" b="0" i="0">
                <a:solidFill>
                  <a:srgbClr val="2B2F36"/>
                </a:solidFill>
                <a:latin typeface="Calibri"/>
              </a:rPr>
              <a:t>Work ← {a₂,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3" name="Rounded Rectangle 52"/>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4" name="Rounded Rectangle 53"/>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4" name="Rounded Rectangle 53"/>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all compound terms          on round 0   </a:t>
            </a:r>
            <a:r>
              <a:rPr sz="1350" b="0" i="0">
                <a:solidFill>
                  <a:srgbClr val="6B717A"/>
                </a:solidFill>
                <a:latin typeface="Consolas"/>
              </a:rPr>
              <a:t>▹ seed round</a:t>
            </a:r>
          </a:p>
          <a:p>
            <a:pPr>
              <a:spcAft>
                <a:spcPts val="150"/>
              </a:spcAft>
            </a:pPr>
            <a:r>
              <a:rPr sz="1350" b="0" i="0">
                <a:solidFill>
                  <a:srgbClr val="2B2F36"/>
                </a:solidFill>
                <a:latin typeface="Consolas"/>
              </a:rPr>
              <a:t>        Frontier ← ⋃ Parents[Find(c)] for c ∈ Work   otherwise</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 \ {rep}</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round 0</a:t>
            </a:r>
            <a:r>
              <a:rPr sz="1500" b="0" i="0">
                <a:solidFill>
                  <a:srgbClr val="2B2F36"/>
                </a:solidFill>
                <a:latin typeface="Calibri"/>
              </a:rPr>
              <a:t> examines every compound term</a:t>
            </a:r>
          </a:p>
          <a:p>
            <a:pPr marL="585216" indent="-237744">
              <a:spcBef>
                <a:spcPts val="200"/>
              </a:spcBef>
              <a:buClr>
                <a:srgbClr val="6B717A"/>
              </a:buClr>
              <a:buChar char="–"/>
            </a:pPr>
            <a:r>
              <a:rPr sz="1200" b="0" i="0">
                <a:solidFill>
                  <a:srgbClr val="2B2F36"/>
                </a:solidFill>
                <a:latin typeface="Calibri"/>
              </a:rPr>
              <a:t>terms can be congruent before any union</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term enters Work only when dethroned</a:t>
            </a:r>
          </a:p>
          <a:p>
            <a:pPr marL="274320" indent="-237744">
              <a:spcBef>
                <a:spcPts val="800"/>
              </a:spcBef>
              <a:buClr>
                <a:srgbClr val="6B717A"/>
              </a:buClr>
              <a:buChar char="•"/>
            </a:pPr>
            <a:r>
              <a:rPr sz="1400" b="0" i="0">
                <a:solidFill>
                  <a:srgbClr val="2B2F36"/>
                </a:solidFill>
                <a:latin typeface="Calibri"/>
              </a:rPr>
              <a:t>each term dethroned at most once</a:t>
            </a:r>
          </a:p>
          <a:p>
            <a:pPr marL="274320" indent="-237744">
              <a:spcBef>
                <a:spcPts val="800"/>
              </a:spcBef>
              <a:buClr>
                <a:srgbClr val="6B717A"/>
              </a:buClr>
              <a:buChar char="•"/>
            </a:pPr>
            <a:r>
              <a:rPr sz="1400" b="0" i="0">
                <a:solidFill>
                  <a:srgbClr val="2B2F36"/>
                </a:solidFill>
                <a:latin typeface="Calibri"/>
              </a:rPr>
              <a:t>at most |T| − 1 entries over the whole run</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let Mᵢ ~ Nᵢ for all children; take the round of the last such merge</a:t>
            </a:r>
          </a:p>
          <a:p>
            <a:pPr marL="274320" indent="-237744">
              <a:spcBef>
                <a:spcPts val="800"/>
              </a:spcBef>
              <a:buClr>
                <a:srgbClr val="6B717A"/>
              </a:buClr>
              <a:buChar char="•"/>
            </a:pPr>
            <a:r>
              <a:rPr sz="1400" b="0" i="0">
                <a:solidFill>
                  <a:srgbClr val="2B2F36"/>
                </a:solidFill>
                <a:latin typeface="Calibri"/>
              </a:rPr>
              <a:t>its losers enter Work, so both parents are in the next frontier</a:t>
            </a:r>
          </a:p>
          <a:p>
            <a:pPr marL="274320" indent="-237744">
              <a:spcBef>
                <a:spcPts val="800"/>
              </a:spcBef>
              <a:buClr>
                <a:srgbClr val="6B717A"/>
              </a:buClr>
              <a:buChar char="•"/>
            </a:pPr>
            <a:r>
              <a:rPr sz="1400" b="0" i="0">
                <a:solidFill>
                  <a:srgbClr val="2B2F36"/>
                </a:solidFill>
                <a:latin typeface="Calibri"/>
              </a:rPr>
              <a:t>no such merge exists when the children coincide: the seed round covers that case</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round 0</a:t>
            </a:r>
            <a:r>
              <a:rPr sz="1900" b="0" i="0">
                <a:solidFill>
                  <a:srgbClr val="2B2F36"/>
                </a:solidFill>
                <a:latin typeface="Calibri"/>
              </a:rPr>
              <a:t>: every compound term dirty, as in ParentCC</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5448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54096"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5371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5332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4984" y="3803903"/>
            <a:ext cx="539496" cy="1106425"/>
          </a:xfrm>
          <a:prstGeom prst="line">
            <a:avLst/>
          </a:prstGeom>
          <a:ln w="15875">
            <a:solidFill>
              <a:srgbClr val="8A8F98"/>
            </a:solidFill>
          </a:ln>
          <a:effectLst/>
        </p:spPr>
      </p:cxnSp>
      <p:cxnSp>
        <p:nvCxnSpPr>
          <p:cNvPr id="21" name="Connector 20"/>
          <p:cNvCxnSpPr/>
          <p:nvPr/>
        </p:nvCxnSpPr>
        <p:spPr>
          <a:xfrm>
            <a:off x="1554480" y="3803903"/>
            <a:ext cx="960120" cy="1106425"/>
          </a:xfrm>
          <a:prstGeom prst="line">
            <a:avLst/>
          </a:prstGeom>
          <a:ln w="15875">
            <a:solidFill>
              <a:srgbClr val="8A8F98"/>
            </a:solidFill>
          </a:ln>
          <a:effectLst/>
        </p:spPr>
      </p:cxnSp>
      <p:cxnSp>
        <p:nvCxnSpPr>
          <p:cNvPr id="22" name="Connector 21"/>
          <p:cNvCxnSpPr/>
          <p:nvPr/>
        </p:nvCxnSpPr>
        <p:spPr>
          <a:xfrm flipH="1">
            <a:off x="1636776" y="3803903"/>
            <a:ext cx="1014984" cy="1106425"/>
          </a:xfrm>
          <a:prstGeom prst="line">
            <a:avLst/>
          </a:prstGeom>
          <a:ln w="15875">
            <a:solidFill>
              <a:srgbClr val="8A8F98"/>
            </a:solidFill>
          </a:ln>
          <a:effectLst/>
        </p:spPr>
      </p:cxnSp>
      <p:cxnSp>
        <p:nvCxnSpPr>
          <p:cNvPr id="23" name="Connector 22"/>
          <p:cNvCxnSpPr/>
          <p:nvPr/>
        </p:nvCxnSpPr>
        <p:spPr>
          <a:xfrm>
            <a:off x="2651760" y="3803903"/>
            <a:ext cx="484632" cy="1106425"/>
          </a:xfrm>
          <a:prstGeom prst="line">
            <a:avLst/>
          </a:prstGeom>
          <a:ln w="15875">
            <a:solidFill>
              <a:srgbClr val="8A8F98"/>
            </a:solidFill>
          </a:ln>
          <a:effectLst/>
        </p:spPr>
      </p:cxnSp>
      <p:cxnSp>
        <p:nvCxnSpPr>
          <p:cNvPr id="24" name="Connector 23"/>
          <p:cNvCxnSpPr/>
          <p:nvPr/>
        </p:nvCxnSpPr>
        <p:spPr>
          <a:xfrm flipH="1">
            <a:off x="5513832" y="3803903"/>
            <a:ext cx="475488" cy="1106425"/>
          </a:xfrm>
          <a:prstGeom prst="line">
            <a:avLst/>
          </a:prstGeom>
          <a:ln w="15875">
            <a:solidFill>
              <a:srgbClr val="8A8F98"/>
            </a:solidFill>
          </a:ln>
          <a:effectLst/>
        </p:spPr>
      </p:cxnSp>
      <p:cxnSp>
        <p:nvCxnSpPr>
          <p:cNvPr id="25" name="Connector 24"/>
          <p:cNvCxnSpPr/>
          <p:nvPr/>
        </p:nvCxnSpPr>
        <p:spPr>
          <a:xfrm>
            <a:off x="5989320" y="3803903"/>
            <a:ext cx="1024128" cy="1106425"/>
          </a:xfrm>
          <a:prstGeom prst="line">
            <a:avLst/>
          </a:prstGeom>
          <a:ln w="15875">
            <a:solidFill>
              <a:srgbClr val="8A8F98"/>
            </a:solidFill>
          </a:ln>
          <a:effectLst/>
        </p:spPr>
      </p:cxnSp>
      <p:cxnSp>
        <p:nvCxnSpPr>
          <p:cNvPr id="26" name="Connector 25"/>
          <p:cNvCxnSpPr/>
          <p:nvPr/>
        </p:nvCxnSpPr>
        <p:spPr>
          <a:xfrm flipH="1">
            <a:off x="6135624" y="3803903"/>
            <a:ext cx="950976" cy="1106425"/>
          </a:xfrm>
          <a:prstGeom prst="line">
            <a:avLst/>
          </a:prstGeom>
          <a:ln w="15875">
            <a:solidFill>
              <a:srgbClr val="8A8F98"/>
            </a:solidFill>
          </a:ln>
          <a:effectLst/>
        </p:spPr>
      </p:cxnSp>
      <p:cxnSp>
        <p:nvCxnSpPr>
          <p:cNvPr id="27" name="Connector 26"/>
          <p:cNvCxnSpPr/>
          <p:nvPr/>
        </p:nvCxnSpPr>
        <p:spPr>
          <a:xfrm>
            <a:off x="7086600" y="3803903"/>
            <a:ext cx="548640" cy="1106425"/>
          </a:xfrm>
          <a:prstGeom prst="line">
            <a:avLst/>
          </a:prstGeom>
          <a:ln w="15875">
            <a:solidFill>
              <a:srgbClr val="8A8F98"/>
            </a:solidFill>
          </a:ln>
          <a:effectLst/>
        </p:spPr>
      </p:cxnSp>
      <p:cxnSp>
        <p:nvCxnSpPr>
          <p:cNvPr id="28" name="Connector 27"/>
          <p:cNvCxnSpPr/>
          <p:nvPr/>
        </p:nvCxnSpPr>
        <p:spPr>
          <a:xfrm>
            <a:off x="3794760" y="2203704"/>
            <a:ext cx="219455" cy="2706624"/>
          </a:xfrm>
          <a:prstGeom prst="line">
            <a:avLst/>
          </a:prstGeom>
          <a:ln w="15875">
            <a:solidFill>
              <a:srgbClr val="8A8F98"/>
            </a:solidFill>
          </a:ln>
          <a:effectLst/>
        </p:spPr>
      </p:cxnSp>
      <p:cxnSp>
        <p:nvCxnSpPr>
          <p:cNvPr id="29" name="Connector 28"/>
          <p:cNvCxnSpPr/>
          <p:nvPr/>
        </p:nvCxnSpPr>
        <p:spPr>
          <a:xfrm flipH="1">
            <a:off x="1554480" y="2203704"/>
            <a:ext cx="2240280" cy="749807"/>
          </a:xfrm>
          <a:prstGeom prst="line">
            <a:avLst/>
          </a:prstGeom>
          <a:ln w="15875">
            <a:solidFill>
              <a:srgbClr val="8A8F98"/>
            </a:solidFill>
          </a:ln>
          <a:effectLst/>
        </p:spPr>
      </p:cxnSp>
      <p:cxnSp>
        <p:nvCxnSpPr>
          <p:cNvPr id="30" name="Connector 29"/>
          <p:cNvCxnSpPr/>
          <p:nvPr/>
        </p:nvCxnSpPr>
        <p:spPr>
          <a:xfrm>
            <a:off x="3794760" y="2203704"/>
            <a:ext cx="2194560" cy="749807"/>
          </a:xfrm>
          <a:prstGeom prst="line">
            <a:avLst/>
          </a:prstGeom>
          <a:ln w="15875">
            <a:solidFill>
              <a:srgbClr val="8A8F98"/>
            </a:solidFill>
          </a:ln>
          <a:effectLst/>
        </p:spPr>
      </p:cxnSp>
      <p:cxnSp>
        <p:nvCxnSpPr>
          <p:cNvPr id="31" name="Connector 30"/>
          <p:cNvCxnSpPr/>
          <p:nvPr/>
        </p:nvCxnSpPr>
        <p:spPr>
          <a:xfrm flipH="1">
            <a:off x="4636008" y="2203704"/>
            <a:ext cx="484632" cy="2706624"/>
          </a:xfrm>
          <a:prstGeom prst="line">
            <a:avLst/>
          </a:prstGeom>
          <a:ln w="15875">
            <a:solidFill>
              <a:srgbClr val="8A8F98"/>
            </a:solidFill>
          </a:ln>
          <a:effectLst/>
        </p:spPr>
      </p:cxnSp>
      <p:cxnSp>
        <p:nvCxnSpPr>
          <p:cNvPr id="32" name="Connector 31"/>
          <p:cNvCxnSpPr/>
          <p:nvPr/>
        </p:nvCxnSpPr>
        <p:spPr>
          <a:xfrm flipH="1">
            <a:off x="2651760" y="2203704"/>
            <a:ext cx="2468880" cy="749807"/>
          </a:xfrm>
          <a:prstGeom prst="line">
            <a:avLst/>
          </a:prstGeom>
          <a:ln w="15875">
            <a:solidFill>
              <a:srgbClr val="8A8F98"/>
            </a:solidFill>
          </a:ln>
          <a:effectLst/>
        </p:spPr>
      </p:cxnSp>
      <p:cxnSp>
        <p:nvCxnSpPr>
          <p:cNvPr id="33" name="Connector 32"/>
          <p:cNvCxnSpPr/>
          <p:nvPr/>
        </p:nvCxnSpPr>
        <p:spPr>
          <a:xfrm>
            <a:off x="5120640" y="2203704"/>
            <a:ext cx="1965960" cy="749807"/>
          </a:xfrm>
          <a:prstGeom prst="line">
            <a:avLst/>
          </a:prstGeom>
          <a:ln w="15875">
            <a:solidFill>
              <a:srgbClr val="8A8F98"/>
            </a:solidFill>
          </a:ln>
          <a:effectLst/>
        </p:spPr>
      </p:cxnSp>
      <p:sp>
        <p:nvSpPr>
          <p:cNvPr id="34" name="Rounded Rectangle 33"/>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4" name="Rounded Rectangle 53"/>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seed round: </a:t>
            </a:r>
            <a:r>
              <a:rPr sz="1600" b="1" i="0">
                <a:solidFill>
                  <a:srgbClr val="2B2F36"/>
                </a:solidFill>
                <a:latin typeface="Calibri"/>
              </a:rPr>
              <a:t>every compound term is dirty</a:t>
            </a:r>
          </a:p>
          <a:p>
            <a:pPr marL="274320" indent="-237744">
              <a:spcBef>
                <a:spcPts val="500"/>
              </a:spcBef>
              <a:buClr>
                <a:srgbClr val="6B717A"/>
              </a:buClr>
              <a:buChar char="•"/>
            </a:pPr>
            <a:r>
              <a:rPr sz="1600" b="0" i="0">
                <a:solidFill>
                  <a:srgbClr val="2B2F36"/>
                </a:solidFill>
                <a:latin typeface="Calibri"/>
              </a:rPr>
              <a:t>later rounds filter for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60" name="Rounded Rectangle 5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62" name="Rounded Rectangle 6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63" name="TextBox 6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7479"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32320"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4984" y="3803903"/>
            <a:ext cx="539496" cy="1106425"/>
          </a:xfrm>
          <a:prstGeom prst="line">
            <a:avLst/>
          </a:prstGeom>
          <a:ln w="15875">
            <a:solidFill>
              <a:srgbClr val="8A8F98"/>
            </a:solidFill>
          </a:ln>
          <a:effectLst/>
        </p:spPr>
      </p:cxnSp>
      <p:cxnSp>
        <p:nvCxnSpPr>
          <p:cNvPr id="17" name="Connector 16"/>
          <p:cNvCxnSpPr/>
          <p:nvPr/>
        </p:nvCxnSpPr>
        <p:spPr>
          <a:xfrm>
            <a:off x="1554480" y="3803903"/>
            <a:ext cx="960120" cy="1106425"/>
          </a:xfrm>
          <a:prstGeom prst="line">
            <a:avLst/>
          </a:prstGeom>
          <a:ln w="15875">
            <a:solidFill>
              <a:srgbClr val="8A8F98"/>
            </a:solidFill>
          </a:ln>
          <a:effectLst/>
        </p:spPr>
      </p:cxnSp>
      <p:cxnSp>
        <p:nvCxnSpPr>
          <p:cNvPr id="18" name="Connector 17"/>
          <p:cNvCxnSpPr/>
          <p:nvPr/>
        </p:nvCxnSpPr>
        <p:spPr>
          <a:xfrm flipH="1">
            <a:off x="1636776" y="3803903"/>
            <a:ext cx="1014984" cy="1106425"/>
          </a:xfrm>
          <a:prstGeom prst="line">
            <a:avLst/>
          </a:prstGeom>
          <a:ln w="15875">
            <a:solidFill>
              <a:srgbClr val="8A8F98"/>
            </a:solidFill>
          </a:ln>
          <a:effectLst/>
        </p:spPr>
      </p:cxnSp>
      <p:cxnSp>
        <p:nvCxnSpPr>
          <p:cNvPr id="19" name="Connector 18"/>
          <p:cNvCxnSpPr/>
          <p:nvPr/>
        </p:nvCxnSpPr>
        <p:spPr>
          <a:xfrm>
            <a:off x="2651760" y="3803903"/>
            <a:ext cx="484632" cy="1106425"/>
          </a:xfrm>
          <a:prstGeom prst="line">
            <a:avLst/>
          </a:prstGeom>
          <a:ln w="15875">
            <a:solidFill>
              <a:srgbClr val="8A8F98"/>
            </a:solidFill>
          </a:ln>
          <a:effectLst/>
        </p:spPr>
      </p:cxnSp>
      <p:cxnSp>
        <p:nvCxnSpPr>
          <p:cNvPr id="20" name="Connector 19"/>
          <p:cNvCxnSpPr/>
          <p:nvPr/>
        </p:nvCxnSpPr>
        <p:spPr>
          <a:xfrm flipH="1">
            <a:off x="5513832" y="3803903"/>
            <a:ext cx="475488" cy="1106425"/>
          </a:xfrm>
          <a:prstGeom prst="line">
            <a:avLst/>
          </a:prstGeom>
          <a:ln w="15875">
            <a:solidFill>
              <a:srgbClr val="8A8F98"/>
            </a:solidFill>
          </a:ln>
          <a:effectLst/>
        </p:spPr>
      </p:cxnSp>
      <p:cxnSp>
        <p:nvCxnSpPr>
          <p:cNvPr id="21" name="Connector 20"/>
          <p:cNvCxnSpPr/>
          <p:nvPr/>
        </p:nvCxnSpPr>
        <p:spPr>
          <a:xfrm>
            <a:off x="5989320" y="3803903"/>
            <a:ext cx="1024128" cy="1106425"/>
          </a:xfrm>
          <a:prstGeom prst="line">
            <a:avLst/>
          </a:prstGeom>
          <a:ln w="15875">
            <a:solidFill>
              <a:srgbClr val="8A8F98"/>
            </a:solidFill>
          </a:ln>
          <a:effectLst/>
        </p:spPr>
      </p:cxnSp>
      <p:cxnSp>
        <p:nvCxnSpPr>
          <p:cNvPr id="22" name="Connector 21"/>
          <p:cNvCxnSpPr/>
          <p:nvPr/>
        </p:nvCxnSpPr>
        <p:spPr>
          <a:xfrm flipH="1">
            <a:off x="6135624" y="3803903"/>
            <a:ext cx="950976" cy="1106425"/>
          </a:xfrm>
          <a:prstGeom prst="line">
            <a:avLst/>
          </a:prstGeom>
          <a:ln w="15875">
            <a:solidFill>
              <a:srgbClr val="8A8F98"/>
            </a:solidFill>
          </a:ln>
          <a:effectLst/>
        </p:spPr>
      </p:cxnSp>
      <p:cxnSp>
        <p:nvCxnSpPr>
          <p:cNvPr id="23" name="Connector 22"/>
          <p:cNvCxnSpPr/>
          <p:nvPr/>
        </p:nvCxnSpPr>
        <p:spPr>
          <a:xfrm>
            <a:off x="7086600" y="3803903"/>
            <a:ext cx="548640" cy="1106425"/>
          </a:xfrm>
          <a:prstGeom prst="line">
            <a:avLst/>
          </a:prstGeom>
          <a:ln w="15875">
            <a:solidFill>
              <a:srgbClr val="8A8F98"/>
            </a:solidFill>
          </a:ln>
          <a:effectLst/>
        </p:spPr>
      </p:cxnSp>
      <p:cxnSp>
        <p:nvCxnSpPr>
          <p:cNvPr id="24" name="Connector 23"/>
          <p:cNvCxnSpPr/>
          <p:nvPr/>
        </p:nvCxnSpPr>
        <p:spPr>
          <a:xfrm>
            <a:off x="3794760" y="2203704"/>
            <a:ext cx="219455" cy="2706624"/>
          </a:xfrm>
          <a:prstGeom prst="line">
            <a:avLst/>
          </a:prstGeom>
          <a:ln w="15875">
            <a:solidFill>
              <a:srgbClr val="8A8F98"/>
            </a:solidFill>
          </a:ln>
          <a:effectLst/>
        </p:spPr>
      </p:cxnSp>
      <p:cxnSp>
        <p:nvCxnSpPr>
          <p:cNvPr id="25" name="Connector 24"/>
          <p:cNvCxnSpPr/>
          <p:nvPr/>
        </p:nvCxnSpPr>
        <p:spPr>
          <a:xfrm flipH="1">
            <a:off x="1554480" y="2203704"/>
            <a:ext cx="2240280" cy="749807"/>
          </a:xfrm>
          <a:prstGeom prst="line">
            <a:avLst/>
          </a:prstGeom>
          <a:ln w="15875">
            <a:solidFill>
              <a:srgbClr val="8A8F98"/>
            </a:solidFill>
          </a:ln>
          <a:effectLst/>
        </p:spPr>
      </p:cxnSp>
      <p:cxnSp>
        <p:nvCxnSpPr>
          <p:cNvPr id="26" name="Connector 25"/>
          <p:cNvCxnSpPr/>
          <p:nvPr/>
        </p:nvCxnSpPr>
        <p:spPr>
          <a:xfrm>
            <a:off x="3794760" y="2203704"/>
            <a:ext cx="2194560" cy="749807"/>
          </a:xfrm>
          <a:prstGeom prst="line">
            <a:avLst/>
          </a:prstGeom>
          <a:ln w="15875">
            <a:solidFill>
              <a:srgbClr val="8A8F98"/>
            </a:solidFill>
          </a:ln>
          <a:effectLst/>
        </p:spPr>
      </p:cxnSp>
      <p:cxnSp>
        <p:nvCxnSpPr>
          <p:cNvPr id="27" name="Connector 26"/>
          <p:cNvCxnSpPr/>
          <p:nvPr/>
        </p:nvCxnSpPr>
        <p:spPr>
          <a:xfrm flipH="1">
            <a:off x="4636008" y="2203704"/>
            <a:ext cx="484632" cy="2706624"/>
          </a:xfrm>
          <a:prstGeom prst="line">
            <a:avLst/>
          </a:prstGeom>
          <a:ln w="15875">
            <a:solidFill>
              <a:srgbClr val="8A8F98"/>
            </a:solidFill>
          </a:ln>
          <a:effectLst/>
        </p:spPr>
      </p:cxnSp>
      <p:cxnSp>
        <p:nvCxnSpPr>
          <p:cNvPr id="28" name="Connector 27"/>
          <p:cNvCxnSpPr/>
          <p:nvPr/>
        </p:nvCxnSpPr>
        <p:spPr>
          <a:xfrm flipH="1">
            <a:off x="2651760" y="2203704"/>
            <a:ext cx="2468880" cy="749807"/>
          </a:xfrm>
          <a:prstGeom prst="line">
            <a:avLst/>
          </a:prstGeom>
          <a:ln w="15875">
            <a:solidFill>
              <a:srgbClr val="8A8F98"/>
            </a:solidFill>
          </a:ln>
          <a:effectLst/>
        </p:spPr>
      </p:cxnSp>
      <p:cxnSp>
        <p:nvCxnSpPr>
          <p:cNvPr id="29" name="Connector 28"/>
          <p:cNvCxnSpPr/>
          <p:nvPr/>
        </p:nvCxnSpPr>
        <p:spPr>
          <a:xfrm>
            <a:off x="5120640" y="2203704"/>
            <a:ext cx="1965960" cy="749807"/>
          </a:xfrm>
          <a:prstGeom prst="line">
            <a:avLst/>
          </a:prstGeom>
          <a:ln w="15875">
            <a:solidFill>
              <a:srgbClr val="8A8F98"/>
            </a:solidFill>
          </a:ln>
          <a:effectLst/>
        </p:spPr>
      </p:cxnSp>
      <p:sp>
        <p:nvSpPr>
          <p:cNvPr id="30" name="Rounded Rectangle 2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0" name="Rounded Rectangle 4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6" name="Rounded Rectangle 55"/>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8" name="Rounded Rectangle 57"/>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9" name="TextBox 58"/>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