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Joint work with Amar Shah, equal contribution. I will cover the problem, the two algorithms, and implementation; Amar covers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problem in one sentence and leave it up for the rest of the build. Terms, equalities between them, and we want the smallest equivalence relation that contains those equalities and still respects function symbols.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tiny instance. Three constants and two applications of f. Nothing is equal to anything yet: five terms, five classes.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input equalities: a equals b, and b equals c. This is the set E we are handed.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under equivalence: reflexive, symmetric, transitive. a, b and c land in one class, so a and c are equal even though nobody said so.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part that makes this more than union-find. f(a) and f(c) were never mentioned in the input, but their arguments are now equal, so the two applications are equal too. That is congruence, and it is what forces the closure to be recomputed as classes change.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once, in general form. Equal arguments give equal applications. Everything in the talk is about applying this rule to many terms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Congruence closure sits inside a lot of engines, and hence inside the applications built on them. Decades of engineering have gone into sequential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in these engines it runs a lot: it is called repeatedly over the course of a solver run, so its cost shows up in the total. How much depends on the instance, which is why the evaluation looks at several benchmark families.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things stand. Despite how widely it is used, every implementation we know of is fully sequential, while the machines are wide: our test box has 96 cores. The theory is discouraging too. Congruence closure is P-complete, so we should not expect an algorithm that is fast on every input; in the worst case it really does look inherently sequential. But worst case is not the same as the instances people actually solve, and that is the question we ask.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detail out loud, one line per bullet. One: two parallel algorithms, ParentCC and FilterCC, which replace the sequential worklist with bulk-synchronous rounds of data-parallel primitives over a lock-free concurrent union-find. Two: a workload characterization in terms of congruence depth and width, where width, the number of independent merges available in a round, turns out to be the dominant factor empirically. Three: an evaluation on random, synthetic and circuit-equivalence benchmarks, with near-linear speedup up to 32 cores over a tuned sequential baseline. Everything is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setting our running example comes from, and where the circuit benchmarks come from. Two combinational circuits.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do they compute the same function? Equivalent means they agree on every input, all two to the n of them, so we cannot simply simulate.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construction, a miter. Feed both circuits the same inputs.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XOR the corresponding outputs. The XOR is 1 exactly when the two outputs differ.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XOR output is the single bit p, the miter output.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p is 1 exactly when the circuits disagree on the input we fed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Flip it around and it is a satisfiability question: assert p = 1 and ask whether any input satisfies it. Unsatisfiable means no disagreeing input exists, so the circuits are equivalent. Encoding a miter to CNF destroys the gate structure, so Biere et al. recover the gates and close them under congruence, which often decides the instance outright.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Miter adapted from Biere et al., Clausal Congruence Closure, SAT 2024. Two copies of the same three-gate circuit, side by side. Each copy has its own input wires. Nodes are terms, one per gate; edges point to children. Say out loud that the left half is copy one and the right half is copy two, and that the two ITE gates at the top are the two outputs.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Assert that the two outputs differ. If that is unsatisfiable the circuits are equivalent. The query is the only thing on the slide, sitting between the two output gates.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a single node before the trace starts. The box carries the operator, the name sits alongside, and the three outgoing edges are its children in argument order. Everything else is greyed out so only this term and its children are in view.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relationship the algorithms are built around. An edge goes from a term to the arguments it is applied to. m2 is the parent, its three arguments are the children. Every term is the parent of its arguments and a child of every term that mentions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the given equalities: each input wire of copy one equals the corresponding wire of copy two. These are the only given equalities, and they are what we union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each pair. The dashed boxes are the equivalence classes.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AND gates. Same symbol, and their children are pairwise in the same class, so the congruence rule applies. Yellow means we are looking at them.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Congruence fires, so union the two classes.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XOR gates: same symbol, children pairwise equivalent.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ITE gates. Only now are their children pairwise equivalent, because steps 1 and 2 merged the AND and XOR classes.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 Note that step 3 depended on steps 1 and 2, but 1 and 2 did not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outputs are in one class, so the query m1 differs from m2 is unsatisfiable: the circuits are equivalent.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of the talk. Go back over the trace we just did and ask what forced its order. The ITE merge waited for the AND merge and the XOR merge, and for nothing else. Why: congruence tests the classes of the children, so a term can only become mergeable when one of its children changes class. That is exactly an edge of the diagram, traversed upward. Dependences in congruence closure are not hidden in a data structure, they are the term structure itself, which is what makes the problem tractable to parallelize. Say the caveat out loud rather than putting it on the slide: a child can also change class through a chain of earlier merges, so the dependence is the transitive closure of the parent-child relation.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half. Nothing connects the AND merge to the XOR merge: neither is an ancestor of the other, so neither can change the other’s signature. They can run at the same time, on different cores, in either order, with the same result. That is the parallelism we are after, and the algorithms are built to find all of it at once instead of one merge at a time.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dependences as a schedule. Everything with no unmet dependence goes first, all at once. That is round 0: the input equalities we were handed. Nothing had to happen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Barrier, then everything round 0 just enabled. The inputs changed class, so their parents get retested: the AND merge and the XOR merge. Neither depends on the other, so both go in the same round.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Barrier again, and the gate merges enable the output merge. Round 2, and nothing is left to enable, so we stop. This is Valiant’s bulk-synchronous model, and it falls straight out of the term structure.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names for the evaluation. Depth is the number of rounds, width the merges available in one round. Here both are 2. On the circuit benchmarks width reaches millions while depth stays small, and Amar will show that width is what predicts speedup.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algorithm, at the level of a round. Three phases. First: who might have become congruent? Only a term whose child just changed class, so the parents of whatever merged last round.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 those candidates, who actually is congruent? Group them by signature: the symbol together with the classes of the children.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merge every group, and all the groups in parallel.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while a round merged something. The very first round has no previous merges to look at, so it considers every term; that also catches terms that were congruent before any equality was applied.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input unions, the first round considers every gate. Each gets a key: its symbol and the class of each child, written here in brackets. Equal keys group together: the ANDs match, the XORs match, the ITEs do not yet because a1 and a2 are still in different classes. The grouping is the semisort.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two-member groups merge, concurrently. This is the slide that differs from the hand trace: two unions in one round.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Candidates are the parents of what just merged: the two ITEs. Their keys now agree, so they merge. They have no parents, so round 3 has no candidates and the loop stops. Three rounds instead of eight sequential merges.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each; the paper has the proofs. Sound: every group has equal symbol and equal child classes, so each merge is an instance of the congruence rule. Complete: when the last of a pair’s children merge, both parents are candidates next round. Terminates: a round that merges anything reduces the number of classes.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Parent lists cost allocation: every round appends lists. FilterCC keeps one dirty bit per class instead and recomputes the candidates by filtering all terms for a child in a dirty class. It touches every term each round, but the filter is a cheap parallel scan with no allocation. Which wins depends on how many rounds the input needs; Amar has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round: every gate is a candidate, exactly as in ParentCC. Groups and merges are the same; afterwards the two merged classes are marked dirty.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two gate classes are dirty. Filter every term for a child in a dirty class: the two ITEs. Merge them. The next filter finds nothing, so stop.</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Grouping: ParlayLib integer sort on the signature hashes followed by a bucket pass per hash, which beat the library semisort on the small buckets we see. Merging a group: divide and conquer unions. The baseline is the classical worklist algorithm in the Nieuwenhuis and Oliveras variant, which is what the hand trace did: one merge at a time, each merge re-examining the parents of the losing class. We tried a topological-sort fixpoint and Downey-Sethi-Tarjan as well; the worklist was fastest. It got the same tuning care as the parallel code, so speedups are against a strong baseline.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off to Amar for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three phases, precisely. Work is the set of classes that changed last round; the frontier is their parents; groups come from a semisort on signatures; each group merges by divide and conquer. Barriers separate the phases, so signatures are always computed against a union-find no thread is modifying. This slide is for the record; do not read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Parallelizing Congruence Closure</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400" b="0" i="0">
                <a:solidFill>
                  <a:srgbClr val="FFFFFF"/>
                </a:solidFill>
                <a:latin typeface="Calibri"/>
              </a:rPr>
              <a:t>Zachary Kent*   ·   Amar Shah*</a:t>
            </a:r>
          </a:p>
        </p:txBody>
      </p:sp>
      <p:sp>
        <p:nvSpPr>
          <p:cNvPr id="6" name="TextBox 5"/>
          <p:cNvSpPr txBox="1"/>
          <p:nvPr/>
        </p:nvSpPr>
        <p:spPr>
          <a:xfrm>
            <a:off x="777240" y="3977639"/>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Carnegie Mellon University</a:t>
            </a:r>
          </a:p>
        </p:txBody>
      </p:sp>
      <p:sp>
        <p:nvSpPr>
          <p:cNvPr id="7" name="TextBox 6"/>
          <p:cNvSpPr txBox="1"/>
          <p:nvPr/>
        </p:nvSpPr>
        <p:spPr>
          <a:xfrm>
            <a:off x="777240" y="4572000"/>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FMCAD 2026</a:t>
            </a:r>
          </a:p>
        </p:txBody>
      </p:sp>
      <p:sp>
        <p:nvSpPr>
          <p:cNvPr id="8" name="TextBox 7"/>
          <p:cNvSpPr txBox="1"/>
          <p:nvPr/>
        </p:nvSpPr>
        <p:spPr>
          <a:xfrm>
            <a:off x="777240" y="6035040"/>
            <a:ext cx="5486400" cy="365760"/>
          </a:xfrm>
          <a:prstGeom prst="rect">
            <a:avLst/>
          </a:prstGeom>
          <a:noFill/>
        </p:spPr>
        <p:txBody>
          <a:bodyPr wrap="square" anchor="t" lIns="45720" rIns="45720" tIns="27432" bIns="27432">
            <a:spAutoFit/>
          </a:bodyPr>
          <a:lstStyle/>
          <a:p>
            <a:pPr algn="l"/>
            <a:r>
              <a:rPr sz="1300" b="0" i="0">
                <a:solidFill>
                  <a:srgbClr val="9AA8C4"/>
                </a:solidFill>
                <a:latin typeface="Calibri"/>
              </a:rPr>
              <a:t>* equal contribution</a:t>
            </a:r>
          </a:p>
        </p:txBody>
      </p:sp>
      <p:sp>
        <p:nvSpPr>
          <p:cNvPr id="9" name="TextBox 8"/>
          <p:cNvSpPr txBox="1"/>
          <p:nvPr/>
        </p:nvSpPr>
        <p:spPr>
          <a:xfrm>
            <a:off x="6675120" y="6035040"/>
            <a:ext cx="5120640" cy="365760"/>
          </a:xfrm>
          <a:prstGeom prst="rect">
            <a:avLst/>
          </a:prstGeom>
          <a:noFill/>
        </p:spPr>
        <p:txBody>
          <a:bodyPr wrap="square" anchor="t" lIns="45720" rIns="45720" tIns="27432" bIns="27432">
            <a:spAutoFit/>
          </a:bodyPr>
          <a:lstStyle/>
          <a:p>
            <a:pPr algn="r"/>
            <a:r>
              <a:rPr sz="1300" b="0" i="0">
                <a:solidFill>
                  <a:srgbClr val="9AA8C4"/>
                </a:solidFill>
                <a:latin typeface="Calibri"/>
              </a:rPr>
              <a:t>github.com/amarshah10/ParallelEgraph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TextBox 15"/>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input equalities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TextBox 16"/>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equivalence:  a ≡ b ≡ 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8" name="TextBox 17"/>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congruence:  equal arguments, so  f(a) ≡ f(c)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8" name="Rounded Rectangle 17"/>
          <p:cNvSpPr/>
          <p:nvPr/>
        </p:nvSpPr>
        <p:spPr>
          <a:xfrm>
            <a:off x="3246120" y="5029200"/>
            <a:ext cx="5715000" cy="132588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9" name="TextBox 18"/>
          <p:cNvSpPr txBox="1"/>
          <p:nvPr/>
        </p:nvSpPr>
        <p:spPr>
          <a:xfrm>
            <a:off x="3429000" y="5084064"/>
            <a:ext cx="2743200" cy="292608"/>
          </a:xfrm>
          <a:prstGeom prst="rect">
            <a:avLst/>
          </a:prstGeom>
          <a:noFill/>
        </p:spPr>
        <p:txBody>
          <a:bodyPr wrap="square" anchor="t" lIns="45720" rIns="45720" tIns="27432" bIns="27432">
            <a:spAutoFit/>
          </a:bodyPr>
          <a:lstStyle/>
          <a:p>
            <a:pPr algn="l"/>
            <a:r>
              <a:rPr sz="1300" b="1" i="0">
                <a:solidFill>
                  <a:srgbClr val="6B717A"/>
                </a:solidFill>
                <a:latin typeface="Calibri"/>
              </a:rPr>
              <a:t>Congruence rule</a:t>
            </a:r>
          </a:p>
        </p:txBody>
      </p:sp>
      <p:sp>
        <p:nvSpPr>
          <p:cNvPr id="20" name="TextBox 19"/>
          <p:cNvSpPr txBox="1"/>
          <p:nvPr/>
        </p:nvSpPr>
        <p:spPr>
          <a:xfrm>
            <a:off x="3429000" y="5376672"/>
            <a:ext cx="5349240" cy="384048"/>
          </a:xfrm>
          <a:prstGeom prst="rect">
            <a:avLst/>
          </a:prstGeom>
          <a:noFill/>
        </p:spPr>
        <p:txBody>
          <a:bodyPr wrap="square" anchor="t" lIns="45720" rIns="45720" tIns="27432" bIns="27432">
            <a:spAutoFit/>
          </a:bodyPr>
          <a:lstStyle/>
          <a:p>
            <a:pPr algn="ctr"/>
            <a:r>
              <a:rPr sz="2200" b="0" i="0">
                <a:solidFill>
                  <a:srgbClr val="2B2F36"/>
                </a:solidFill>
                <a:latin typeface="Calibri"/>
              </a:rPr>
              <a:t>s₁ ≡ t₁    …    sₖ ≡ tₖ</a:t>
            </a:r>
          </a:p>
        </p:txBody>
      </p:sp>
      <p:cxnSp>
        <p:nvCxnSpPr>
          <p:cNvPr id="21" name="Connector 20"/>
          <p:cNvCxnSpPr/>
          <p:nvPr/>
        </p:nvCxnSpPr>
        <p:spPr>
          <a:xfrm>
            <a:off x="3886200" y="5815584"/>
            <a:ext cx="4434840" cy="0"/>
          </a:xfrm>
          <a:prstGeom prst="line">
            <a:avLst/>
          </a:prstGeom>
          <a:ln w="22225">
            <a:solidFill>
              <a:srgbClr val="2B2F36"/>
            </a:solidFill>
          </a:ln>
          <a:effectLst/>
        </p:spPr>
      </p:cxnSp>
      <p:sp>
        <p:nvSpPr>
          <p:cNvPr id="22" name="TextBox 21"/>
          <p:cNvSpPr txBox="1"/>
          <p:nvPr/>
        </p:nvSpPr>
        <p:spPr>
          <a:xfrm>
            <a:off x="3429000" y="5870448"/>
            <a:ext cx="5349240" cy="384048"/>
          </a:xfrm>
          <a:prstGeom prst="rect">
            <a:avLst/>
          </a:prstGeom>
          <a:noFill/>
        </p:spPr>
        <p:txBody>
          <a:bodyPr wrap="square" anchor="t" lIns="45720" rIns="45720" tIns="27432" bIns="27432">
            <a:spAutoFit/>
          </a:bodyPr>
          <a:lstStyle/>
          <a:p>
            <a:pPr algn="ctr"/>
            <a:r>
              <a:rPr sz="2200" b="0" i="0">
                <a:solidFill>
                  <a:srgbClr val="2B2F36"/>
                </a:solidFill>
                <a:latin typeface="Calibri"/>
              </a:rPr>
              <a:t>f(s₁, …, sₖ) ≡ f(t₁, …, tₖ)</a:t>
            </a:r>
          </a:p>
        </p:txBody>
      </p:sp>
      <p:sp>
        <p:nvSpPr>
          <p:cNvPr id="23" name="TextBox 22"/>
          <p:cNvSpPr txBox="1"/>
          <p:nvPr/>
        </p:nvSpPr>
        <p:spPr>
          <a:xfrm>
            <a:off x="9052560" y="5029200"/>
            <a:ext cx="2743200" cy="548640"/>
          </a:xfrm>
          <a:prstGeom prst="rect">
            <a:avLst/>
          </a:prstGeom>
          <a:noFill/>
        </p:spPr>
        <p:txBody>
          <a:bodyPr wrap="square" anchor="ctr" lIns="45720" rIns="45720" tIns="27432" bIns="27432">
            <a:spAutoFit/>
          </a:bodyPr>
          <a:lstStyle/>
          <a:p>
            <a:pPr algn="r"/>
            <a:r>
              <a:rPr sz="1100" b="0" i="0">
                <a:solidFill>
                  <a:srgbClr val="6B717A"/>
                </a:solidFill>
                <a:latin typeface="Calibri"/>
              </a:rPr>
              <a:t>Nelson &amp; Oppen 1980   ·   Downey, Sethi &amp; Tarjan 1980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Use in practice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Use in practice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
        <p:nvSpPr>
          <p:cNvPr id="10" name="Rounded Rectangle 9"/>
          <p:cNvSpPr/>
          <p:nvPr/>
        </p:nvSpPr>
        <p:spPr>
          <a:xfrm>
            <a:off x="548640" y="4297680"/>
            <a:ext cx="11064240" cy="914400"/>
          </a:xfrm>
          <a:prstGeom prst="roundRect">
            <a:avLst>
              <a:gd name="adj" fmla="val 15000"/>
            </a:avLst>
          </a:prstGeom>
          <a:solidFill>
            <a:srgbClr val="F4F5F7"/>
          </a:solidFill>
          <a:ln>
            <a:noFill/>
          </a:ln>
          <a:effectLst/>
        </p:spPr>
        <p:txBody>
          <a:bodyPr rtlCol="0" anchor="ctr" lIns="54864" rIns="54864" tIns="27432" bIns="27432" wrap="square"/>
          <a:lstStyle/>
          <a:p>
            <a:pPr algn="ctr"/>
            <a:r>
              <a:rPr sz="2000" b="1" i="0">
                <a:solidFill>
                  <a:srgbClr val="1F2A44"/>
                </a:solidFill>
                <a:latin typeface="Calibri"/>
              </a:rPr>
              <a:t>Called repeatedly over a solver run, so its cost adds 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State of the art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822960" y="1737360"/>
            <a:ext cx="10789920" cy="2743200"/>
          </a:xfrm>
          <a:prstGeom prst="rect">
            <a:avLst/>
          </a:prstGeom>
          <a:noFill/>
        </p:spPr>
        <p:txBody>
          <a:bodyPr wrap="square" lIns="45720" rIns="45720">
            <a:spAutoFit/>
          </a:bodyPr>
          <a:lstStyle/>
          <a:p>
            <a:pPr marL="274320" indent="-237744">
              <a:spcBef>
                <a:spcPts val="1800"/>
              </a:spcBef>
              <a:buClr>
                <a:srgbClr val="6B717A"/>
              </a:buClr>
              <a:buChar char="•"/>
            </a:pPr>
            <a:r>
              <a:rPr sz="2600" b="0" i="0">
                <a:solidFill>
                  <a:srgbClr val="2B2F36"/>
                </a:solidFill>
                <a:latin typeface="Calibri"/>
              </a:rPr>
              <a:t>Despite ubiquity, algorithms used in practice </a:t>
            </a:r>
            <a:r>
              <a:rPr sz="2600" b="1" i="0">
                <a:solidFill>
                  <a:srgbClr val="2B2F36"/>
                </a:solidFill>
                <a:latin typeface="Calibri"/>
              </a:rPr>
              <a:t>fully sequential</a:t>
            </a:r>
          </a:p>
          <a:p>
            <a:pPr marL="274320" indent="-237744">
              <a:spcBef>
                <a:spcPts val="1800"/>
              </a:spcBef>
              <a:buClr>
                <a:srgbClr val="6B717A"/>
              </a:buClr>
              <a:buChar char="•"/>
            </a:pPr>
            <a:r>
              <a:rPr sz="2600" b="0" i="0">
                <a:solidFill>
                  <a:srgbClr val="2B2F36"/>
                </a:solidFill>
                <a:latin typeface="Calibri"/>
              </a:rPr>
              <a:t>Unfortunately, congruence closure is </a:t>
            </a:r>
            <a:r>
              <a:rPr sz="2600" b="1" i="0">
                <a:solidFill>
                  <a:srgbClr val="2B2F36"/>
                </a:solidFill>
                <a:latin typeface="Calibri"/>
              </a:rPr>
              <a:t>P-complete</a:t>
            </a:r>
          </a:p>
          <a:p>
            <a:pPr marL="274320" indent="-237744">
              <a:spcBef>
                <a:spcPts val="1800"/>
              </a:spcBef>
              <a:buClr>
                <a:srgbClr val="6B717A"/>
              </a:buClr>
              <a:buChar char="•"/>
            </a:pPr>
            <a:r>
              <a:rPr sz="2600" b="0" i="0">
                <a:solidFill>
                  <a:srgbClr val="2B2F36"/>
                </a:solidFill>
                <a:latin typeface="Calibri"/>
              </a:rPr>
              <a:t>Likely </a:t>
            </a:r>
            <a:r>
              <a:rPr sz="2600" b="1" i="0">
                <a:solidFill>
                  <a:srgbClr val="2B2F36"/>
                </a:solidFill>
                <a:latin typeface="Calibri"/>
              </a:rPr>
              <a:t>inherently sequential in the worst case</a:t>
            </a:r>
          </a:p>
        </p:txBody>
      </p:sp>
      <p:sp>
        <p:nvSpPr>
          <p:cNvPr id="7" name="TextBox 6"/>
          <p:cNvSpPr txBox="1"/>
          <p:nvPr/>
        </p:nvSpPr>
        <p:spPr>
          <a:xfrm>
            <a:off x="822960" y="4023360"/>
            <a:ext cx="10789920" cy="320040"/>
          </a:xfrm>
          <a:prstGeom prst="rect">
            <a:avLst/>
          </a:prstGeom>
          <a:noFill/>
        </p:spPr>
        <p:txBody>
          <a:bodyPr wrap="square" anchor="t" lIns="45720" rIns="45720" tIns="27432" bIns="27432">
            <a:spAutoFit/>
          </a:bodyPr>
          <a:lstStyle/>
          <a:p>
            <a:pPr algn="l"/>
            <a:r>
              <a:rPr sz="1300" b="0" i="0">
                <a:solidFill>
                  <a:srgbClr val="6B717A"/>
                </a:solidFill>
                <a:latin typeface="Calibri"/>
              </a:rPr>
              <a:t>Kanellakis &amp; Revesz 1989</a:t>
            </a:r>
          </a:p>
        </p:txBody>
      </p:sp>
      <p:sp>
        <p:nvSpPr>
          <p:cNvPr id="8" name="Rounded Rectangle 7"/>
          <p:cNvSpPr/>
          <p:nvPr/>
        </p:nvSpPr>
        <p:spPr>
          <a:xfrm>
            <a:off x="566928" y="4800600"/>
            <a:ext cx="11064240" cy="1097280"/>
          </a:xfrm>
          <a:prstGeom prst="roundRect">
            <a:avLst>
              <a:gd name="adj" fmla="val 15000"/>
            </a:avLst>
          </a:prstGeom>
          <a:solidFill>
            <a:srgbClr val="1F2A44"/>
          </a:solidFill>
          <a:ln>
            <a:noFill/>
          </a:ln>
          <a:effectLst/>
        </p:spPr>
        <p:txBody>
          <a:bodyPr rtlCol="0" anchor="ctr" lIns="54864" rIns="54864" tIns="27432" bIns="27432" wrap="square"/>
          <a:lstStyle/>
          <a:p>
            <a:pPr algn="ctr"/>
            <a:r>
              <a:rPr sz="2400" b="1" i="0">
                <a:solidFill>
                  <a:srgbClr val="FFFFFF"/>
                </a:solidFill>
                <a:latin typeface="Calibri"/>
              </a:rPr>
              <a:t>Question: do practical instances expose enough</a:t>
            </a:r>
          </a:p>
          <a:p>
            <a:pPr algn="ctr"/>
            <a:r>
              <a:rPr sz="2400" b="1" i="0">
                <a:solidFill>
                  <a:srgbClr val="FFFFFF"/>
                </a:solidFill>
                <a:latin typeface="Calibri"/>
              </a:rPr>
              <a:t>independent merges for real speedups?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Contributions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1371600" y="1938528"/>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1</a:t>
            </a:r>
          </a:p>
        </p:txBody>
      </p:sp>
      <p:sp>
        <p:nvSpPr>
          <p:cNvPr id="7" name="TextBox 6"/>
          <p:cNvSpPr txBox="1"/>
          <p:nvPr/>
        </p:nvSpPr>
        <p:spPr>
          <a:xfrm>
            <a:off x="2148840" y="1920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Two bulk-synchronous parallel algorithms: ParentCC and FilterCC</a:t>
            </a:r>
          </a:p>
        </p:txBody>
      </p:sp>
      <p:sp>
        <p:nvSpPr>
          <p:cNvPr id="8" name="Rounded Rectangle 7"/>
          <p:cNvSpPr/>
          <p:nvPr/>
        </p:nvSpPr>
        <p:spPr>
          <a:xfrm>
            <a:off x="1371600" y="3081528"/>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2</a:t>
            </a:r>
          </a:p>
        </p:txBody>
      </p:sp>
      <p:sp>
        <p:nvSpPr>
          <p:cNvPr id="9" name="TextBox 8"/>
          <p:cNvSpPr txBox="1"/>
          <p:nvPr/>
        </p:nvSpPr>
        <p:spPr>
          <a:xfrm>
            <a:off x="2148840" y="3063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Workload characterization for parallelization effectiveness</a:t>
            </a:r>
          </a:p>
        </p:txBody>
      </p:sp>
      <p:sp>
        <p:nvSpPr>
          <p:cNvPr id="10" name="Rounded Rectangle 9"/>
          <p:cNvSpPr/>
          <p:nvPr/>
        </p:nvSpPr>
        <p:spPr>
          <a:xfrm>
            <a:off x="1371600" y="4224527"/>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3</a:t>
            </a:r>
          </a:p>
        </p:txBody>
      </p:sp>
      <p:sp>
        <p:nvSpPr>
          <p:cNvPr id="11" name="TextBox 10"/>
          <p:cNvSpPr txBox="1"/>
          <p:nvPr/>
        </p:nvSpPr>
        <p:spPr>
          <a:xfrm>
            <a:off x="2148840" y="4206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Evaluation demonstrating effective speedup in practice</a:t>
            </a:r>
          </a:p>
        </p:txBody>
      </p:sp>
      <p:sp>
        <p:nvSpPr>
          <p:cNvPr id="12" name="TextBox 11"/>
          <p:cNvSpPr txBox="1"/>
          <p:nvPr/>
        </p:nvSpPr>
        <p:spPr>
          <a:xfrm>
            <a:off x="1371600" y="5760720"/>
            <a:ext cx="9144000" cy="365760"/>
          </a:xfrm>
          <a:prstGeom prst="rect">
            <a:avLst/>
          </a:prstGeom>
          <a:noFill/>
        </p:spPr>
        <p:txBody>
          <a:bodyPr wrap="square" anchor="t" lIns="45720" rIns="45720" tIns="27432" bIns="27432">
            <a:spAutoFit/>
          </a:bodyPr>
          <a:lstStyle/>
          <a:p>
            <a:pPr algn="l"/>
            <a:r>
              <a:rPr sz="1600" b="0" i="0">
                <a:solidFill>
                  <a:srgbClr val="6B717A"/>
                </a:solidFill>
                <a:latin typeface="Calibri"/>
              </a:rPr>
              <a:t>github.com/amarshah10/ParallelEgraph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anchor="t" lIns="45720" rIns="45720" tIns="27432" bIns="27432">
            <a:spAutoFit/>
          </a:bodyPr>
          <a:lstStyle/>
          <a:p>
            <a:pPr algn="l"/>
            <a:r>
              <a:rPr sz="1700" b="1" i="0">
                <a:solidFill>
                  <a:srgbClr val="1F2A44"/>
                </a:solidFill>
                <a:latin typeface="Calibri"/>
              </a:rPr>
              <a:t>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anchor="t" lIns="45720" rIns="45720" tIns="27432" bIns="27432">
            <a:spAutoFit/>
          </a:bodyPr>
          <a:lstStyle/>
          <a:p>
            <a:pPr algn="l"/>
            <a:r>
              <a:rPr sz="1700" b="1" i="0">
                <a:solidFill>
                  <a:srgbClr val="1F2A44"/>
                </a:solidFill>
                <a:latin typeface="Calibri"/>
              </a:rPr>
              <a:t>p</a:t>
            </a:r>
          </a:p>
        </p:txBody>
      </p:sp>
      <p:sp>
        <p:nvSpPr>
          <p:cNvPr id="19" name="TextBox 18"/>
          <p:cNvSpPr txBox="1"/>
          <p:nvPr/>
        </p:nvSpPr>
        <p:spPr>
          <a:xfrm>
            <a:off x="704088" y="1828800"/>
            <a:ext cx="10789920" cy="411480"/>
          </a:xfrm>
          <a:prstGeom prst="rect">
            <a:avLst/>
          </a:prstGeom>
          <a:noFill/>
        </p:spPr>
        <p:txBody>
          <a:bodyPr wrap="square" anchor="t" lIns="45720" rIns="45720" tIns="27432" bIns="27432">
            <a:spAutoFit/>
          </a:bodyPr>
          <a:lstStyle/>
          <a:p>
            <a:pPr algn="ctr"/>
            <a:r>
              <a:rPr sz="2200" b="1" i="0">
                <a:solidFill>
                  <a:srgbClr val="C8501E"/>
                </a:solidFill>
                <a:latin typeface="Calibri"/>
              </a:rPr>
              <a:t>p = 1   ⟺   C₁ and C₂ disagree on this input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anchor="t" lIns="45720" rIns="45720" tIns="27432" bIns="27432">
            <a:spAutoFit/>
          </a:bodyPr>
          <a:lstStyle/>
          <a:p>
            <a:pPr algn="l"/>
            <a:r>
              <a:rPr sz="1700" b="1" i="0">
                <a:solidFill>
                  <a:srgbClr val="1F2A44"/>
                </a:solidFill>
                <a:latin typeface="Calibri"/>
              </a:rPr>
              <a:t>p</a:t>
            </a:r>
          </a:p>
        </p:txBody>
      </p:sp>
      <p:sp>
        <p:nvSpPr>
          <p:cNvPr id="19" name="TextBox 18"/>
          <p:cNvSpPr txBox="1"/>
          <p:nvPr/>
        </p:nvSpPr>
        <p:spPr>
          <a:xfrm>
            <a:off x="704088" y="1828800"/>
            <a:ext cx="10789920" cy="411480"/>
          </a:xfrm>
          <a:prstGeom prst="rect">
            <a:avLst/>
          </a:prstGeom>
          <a:noFill/>
        </p:spPr>
        <p:txBody>
          <a:bodyPr wrap="square" anchor="t" lIns="45720" rIns="45720" tIns="27432" bIns="27432">
            <a:spAutoFit/>
          </a:bodyPr>
          <a:lstStyle/>
          <a:p>
            <a:pPr algn="ctr"/>
            <a:r>
              <a:rPr sz="2200" b="1" i="0">
                <a:solidFill>
                  <a:srgbClr val="C8501E"/>
                </a:solidFill>
                <a:latin typeface="Calibri"/>
              </a:rPr>
              <a:t>p = 1   ⟺   C₁ and C₂ disagree on this input</a:t>
            </a:r>
          </a:p>
        </p:txBody>
      </p:sp>
      <p:sp>
        <p:nvSpPr>
          <p:cNvPr id="20" name="Rounded Rectangle 19"/>
          <p:cNvSpPr/>
          <p:nvPr/>
        </p:nvSpPr>
        <p:spPr>
          <a:xfrm>
            <a:off x="566928" y="5806440"/>
            <a:ext cx="11064240" cy="50292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equivalent   ⟺   p = 1 is unsatisfiable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5586984" y="1207008"/>
            <a:ext cx="1280160" cy="329184"/>
          </a:xfrm>
          <a:prstGeom prst="rect">
            <a:avLst/>
          </a:prstGeom>
          <a:noFill/>
        </p:spPr>
        <p:txBody>
          <a:bodyPr wrap="square" anchor="t" lIns="45720" rIns="45720" tIns="27432" bIns="27432">
            <a:spAutoFit/>
          </a:bodyPr>
          <a:lstStyle/>
          <a:p>
            <a:pPr algn="ctr"/>
            <a:r>
              <a:rPr sz="1600" b="1" i="0">
                <a:solidFill>
                  <a:srgbClr val="6B717A"/>
                </a:solidFill>
                <a:latin typeface="Calibri"/>
              </a:rPr>
              <a:t>Query</a:t>
            </a:r>
          </a:p>
        </p:txBody>
      </p:sp>
      <p:sp>
        <p:nvSpPr>
          <p:cNvPr id="43" name="TextBox 42"/>
          <p:cNvSpPr txBox="1"/>
          <p:nvPr/>
        </p:nvSpPr>
        <p:spPr>
          <a:xfrm>
            <a:off x="5724144" y="1682496"/>
            <a:ext cx="1005840" cy="475488"/>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Rounded Rectangle 41"/>
          <p:cNvSpPr/>
          <p:nvPr/>
        </p:nvSpPr>
        <p:spPr>
          <a:xfrm>
            <a:off x="7575804" y="1115568"/>
            <a:ext cx="2286000" cy="420624"/>
          </a:xfrm>
          <a:prstGeom prst="roundRect">
            <a:avLst>
              <a:gd name="adj" fmla="val 15000"/>
            </a:avLst>
          </a:prstGeom>
          <a:solidFill>
            <a:srgbClr val="FFF3CC"/>
          </a:solidFill>
          <a:ln w="19050">
            <a:solidFill>
              <a:srgbClr val="E0A300"/>
            </a:solidFill>
          </a:ln>
          <a:effectLst/>
        </p:spPr>
        <p:txBody>
          <a:bodyPr rtlCol="0" anchor="ctr" lIns="54864" rIns="54864" tIns="27432" bIns="27432" wrap="square"/>
          <a:lstStyle/>
          <a:p>
            <a:pPr algn="ctr"/>
            <a:r>
              <a:rPr sz="1500" b="1" i="0">
                <a:solidFill>
                  <a:srgbClr val="2B2F36"/>
                </a:solidFill>
                <a:latin typeface="Calibri"/>
              </a:rPr>
              <a:t>m₂ = ITE(c′, a₂, x₂)</a:t>
            </a:r>
          </a:p>
        </p:txBody>
      </p:sp>
      <p:cxnSp>
        <p:nvCxnSpPr>
          <p:cNvPr id="43" name="Connector 42"/>
          <p:cNvCxnSpPr/>
          <p:nvPr/>
        </p:nvCxnSpPr>
        <p:spPr>
          <a:xfrm flipH="1">
            <a:off x="7091172" y="1325880"/>
            <a:ext cx="484632" cy="292608"/>
          </a:xfrm>
          <a:prstGeom prst="line">
            <a:avLst/>
          </a:prstGeom>
          <a:ln w="28575">
            <a:solidFill>
              <a:srgbClr val="E0A300"/>
            </a:solidFill>
            <a:tailEnd type="triangle" w="med" len="med"/>
          </a:ln>
          <a:effectLst/>
        </p:spPr>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7712964" y="1764792"/>
            <a:ext cx="822960" cy="310896"/>
          </a:xfrm>
          <a:prstGeom prst="rect">
            <a:avLst/>
          </a:prstGeom>
          <a:noFill/>
        </p:spPr>
        <p:txBody>
          <a:bodyPr wrap="square" anchor="ctr" lIns="45720" rIns="45720" tIns="27432" bIns="27432">
            <a:spAutoFit/>
          </a:bodyPr>
          <a:lstStyle/>
          <a:p>
            <a:pPr algn="ctr"/>
            <a:r>
              <a:rPr sz="1700" b="1" i="0">
                <a:solidFill>
                  <a:srgbClr val="C8501E"/>
                </a:solidFill>
                <a:latin typeface="Calibri"/>
              </a:rPr>
              <a:t>parent</a:t>
            </a:r>
          </a:p>
        </p:txBody>
      </p:sp>
      <p:sp>
        <p:nvSpPr>
          <p:cNvPr id="43" name="TextBox 42"/>
          <p:cNvSpPr txBox="1"/>
          <p:nvPr/>
        </p:nvSpPr>
        <p:spPr>
          <a:xfrm>
            <a:off x="5993892" y="5358383"/>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4" name="TextBox 43"/>
          <p:cNvSpPr txBox="1"/>
          <p:nvPr/>
        </p:nvSpPr>
        <p:spPr>
          <a:xfrm>
            <a:off x="481431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5" name="TextBox 44"/>
          <p:cNvSpPr txBox="1"/>
          <p:nvPr/>
        </p:nvSpPr>
        <p:spPr>
          <a:xfrm>
            <a:off x="924915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2775203"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3" name="TextBox 42"/>
          <p:cNvSpPr txBox="1"/>
          <p:nvPr/>
        </p:nvSpPr>
        <p:spPr>
          <a:xfrm>
            <a:off x="4274820"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4" name="TextBox 43"/>
          <p:cNvSpPr txBox="1"/>
          <p:nvPr/>
        </p:nvSpPr>
        <p:spPr>
          <a:xfrm>
            <a:off x="5774436"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5" name="TextBox 44"/>
          <p:cNvSpPr txBox="1"/>
          <p:nvPr/>
        </p:nvSpPr>
        <p:spPr>
          <a:xfrm>
            <a:off x="7274052"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6" name="TextBox 45"/>
          <p:cNvSpPr txBox="1"/>
          <p:nvPr/>
        </p:nvSpPr>
        <p:spPr>
          <a:xfrm>
            <a:off x="8773668"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2775203"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8" name="TextBox 47"/>
          <p:cNvSpPr txBox="1"/>
          <p:nvPr/>
        </p:nvSpPr>
        <p:spPr>
          <a:xfrm>
            <a:off x="4274820"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9" name="TextBox 48"/>
          <p:cNvSpPr txBox="1"/>
          <p:nvPr/>
        </p:nvSpPr>
        <p:spPr>
          <a:xfrm>
            <a:off x="5774436"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0" name="TextBox 49"/>
          <p:cNvSpPr txBox="1"/>
          <p:nvPr/>
        </p:nvSpPr>
        <p:spPr>
          <a:xfrm>
            <a:off x="7274052"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1" name="TextBox 50"/>
          <p:cNvSpPr txBox="1"/>
          <p:nvPr/>
        </p:nvSpPr>
        <p:spPr>
          <a:xfrm>
            <a:off x="8773668"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8" name="TextBox 47"/>
          <p:cNvSpPr txBox="1"/>
          <p:nvPr/>
        </p:nvSpPr>
        <p:spPr>
          <a:xfrm>
            <a:off x="350672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794156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861304" y="16459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586984" y="1207008"/>
            <a:ext cx="1280160" cy="329184"/>
          </a:xfrm>
          <a:prstGeom prst="rect">
            <a:avLst/>
          </a:prstGeom>
          <a:noFill/>
        </p:spPr>
        <p:txBody>
          <a:bodyPr wrap="square" anchor="t" lIns="45720" rIns="45720" tIns="27432" bIns="27432">
            <a:spAutoFit/>
          </a:bodyPr>
          <a:lstStyle/>
          <a:p>
            <a:pPr algn="ctr"/>
            <a:r>
              <a:rPr sz="1600" b="1" i="0">
                <a:solidFill>
                  <a:srgbClr val="6B717A"/>
                </a:solidFill>
                <a:latin typeface="Calibri"/>
              </a:rPr>
              <a:t>Query</a:t>
            </a:r>
          </a:p>
        </p:txBody>
      </p:sp>
      <p:sp>
        <p:nvSpPr>
          <p:cNvPr id="51" name="TextBox 50"/>
          <p:cNvSpPr txBox="1"/>
          <p:nvPr/>
        </p:nvSpPr>
        <p:spPr>
          <a:xfrm>
            <a:off x="5724144" y="1682496"/>
            <a:ext cx="1005840" cy="475488"/>
          </a:xfrm>
          <a:prstGeom prst="rect">
            <a:avLst/>
          </a:prstGeom>
          <a:noFill/>
        </p:spPr>
        <p:txBody>
          <a:bodyPr wrap="square" anchor="ctr" lIns="45720" rIns="45720" tIns="27432" bIns="27432">
            <a:spAutoFit/>
          </a:bodyPr>
          <a:lstStyle/>
          <a:p>
            <a:pPr algn="ctr"/>
            <a:r>
              <a:rPr sz="2400" b="1" i="0">
                <a:solidFill>
                  <a:srgbClr val="3A9A5B"/>
                </a:solidFill>
                <a:latin typeface="Calibri"/>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31750">
            <a:solidFill>
              <a:srgbClr val="C8501E"/>
            </a:solidFill>
            <a:tailEnd type="triangle" w="med" len="med"/>
          </a:ln>
          <a:effectLst/>
        </p:spPr>
      </p:cxnSp>
      <p:cxnSp>
        <p:nvCxnSpPr>
          <p:cNvPr id="25" name="Connector 24"/>
          <p:cNvCxnSpPr/>
          <p:nvPr/>
        </p:nvCxnSpPr>
        <p:spPr>
          <a:xfrm>
            <a:off x="5564124" y="2203704"/>
            <a:ext cx="2194559" cy="749807"/>
          </a:xfrm>
          <a:prstGeom prst="line">
            <a:avLst/>
          </a:prstGeom>
          <a:ln w="31750">
            <a:solidFill>
              <a:srgbClr val="C8501E"/>
            </a:solidFill>
            <a:tailEnd type="triangle" w="med" len="med"/>
          </a:ln>
          <a:effectLst/>
        </p:spPr>
      </p:cxnSp>
      <p:cxnSp>
        <p:nvCxnSpPr>
          <p:cNvPr id="26" name="Connector 25"/>
          <p:cNvCxnSpPr/>
          <p:nvPr/>
        </p:nvCxnSpPr>
        <p:spPr>
          <a:xfrm flipH="1">
            <a:off x="4421124" y="2203704"/>
            <a:ext cx="2468880" cy="749807"/>
          </a:xfrm>
          <a:prstGeom prst="line">
            <a:avLst/>
          </a:prstGeom>
          <a:ln w="31750">
            <a:solidFill>
              <a:srgbClr val="C8501E"/>
            </a:solidFill>
            <a:tailEnd type="triangle" w="med" len="med"/>
          </a:ln>
          <a:effectLst/>
        </p:spPr>
      </p:cxnSp>
      <p:cxnSp>
        <p:nvCxnSpPr>
          <p:cNvPr id="27" name="Connector 26"/>
          <p:cNvCxnSpPr/>
          <p:nvPr/>
        </p:nvCxnSpPr>
        <p:spPr>
          <a:xfrm>
            <a:off x="6890004" y="2203704"/>
            <a:ext cx="1965959" cy="749807"/>
          </a:xfrm>
          <a:prstGeom prst="line">
            <a:avLst/>
          </a:prstGeom>
          <a:ln w="31750">
            <a:solidFill>
              <a:srgbClr val="C8501E"/>
            </a:solidFill>
            <a:tailEnd type="triangle" w="med" len="med"/>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Data dependences are parent–child edges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678423" y="3136391"/>
            <a:ext cx="822960" cy="566928"/>
          </a:xfrm>
          <a:prstGeom prst="rect">
            <a:avLst/>
          </a:prstGeom>
          <a:noFill/>
        </p:spPr>
        <p:txBody>
          <a:bodyPr wrap="square" anchor="ctr" lIns="45720" rIns="45720" tIns="27432" bIns="27432">
            <a:spAutoFit/>
          </a:bodyPr>
          <a:lstStyle/>
          <a:p>
            <a:pPr algn="ctr"/>
            <a:r>
              <a:rPr sz="4000" b="1" i="0">
                <a:solidFill>
                  <a:srgbClr val="C8501E"/>
                </a:solidFill>
                <a:latin typeface="Calibri"/>
              </a:rPr>
              <a:t>∥</a:t>
            </a:r>
          </a:p>
        </p:txBody>
      </p:sp>
      <p:sp>
        <p:nvSpPr>
          <p:cNvPr id="51" name="TextBox 50"/>
          <p:cNvSpPr txBox="1"/>
          <p:nvPr/>
        </p:nvSpPr>
        <p:spPr>
          <a:xfrm>
            <a:off x="5404103" y="3739896"/>
            <a:ext cx="1371600" cy="274320"/>
          </a:xfrm>
          <a:prstGeom prst="rect">
            <a:avLst/>
          </a:prstGeom>
          <a:noFill/>
        </p:spPr>
        <p:txBody>
          <a:bodyPr wrap="square" anchor="t" lIns="45720" rIns="45720" tIns="27432" bIns="27432">
            <a:spAutoFit/>
          </a:bodyPr>
          <a:lstStyle/>
          <a:p>
            <a:pPr algn="ctr"/>
            <a:r>
              <a:rPr sz="1300" b="1" i="0">
                <a:solidFill>
                  <a:srgbClr val="C8501E"/>
                </a:solidFill>
                <a:latin typeface="Calibri"/>
              </a:rPr>
              <a:t>independent</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Unrelated merges run in parallel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depth: number of rounds        width: merges per round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cxnSp>
        <p:nvCxnSpPr>
          <p:cNvPr id="14" name="Connector 13"/>
          <p:cNvCxnSpPr/>
          <p:nvPr/>
        </p:nvCxnSpPr>
        <p:spPr>
          <a:xfrm>
            <a:off x="3977639" y="2926080"/>
            <a:ext cx="475489" cy="0"/>
          </a:xfrm>
          <a:prstGeom prst="line">
            <a:avLst/>
          </a:prstGeom>
          <a:ln w="25400">
            <a:solidFill>
              <a:srgbClr val="2B2F36"/>
            </a:solidFill>
            <a:tailEnd type="triangle" w="med" len="med"/>
          </a:ln>
          <a:effectLst/>
        </p:spPr>
      </p:cxn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cxnSp>
        <p:nvCxnSpPr>
          <p:cNvPr id="14" name="Connector 13"/>
          <p:cNvCxnSpPr/>
          <p:nvPr/>
        </p:nvCxnSpPr>
        <p:spPr>
          <a:xfrm>
            <a:off x="3977639" y="2926080"/>
            <a:ext cx="475489" cy="0"/>
          </a:xfrm>
          <a:prstGeom prst="line">
            <a:avLst/>
          </a:prstGeom>
          <a:ln w="25400">
            <a:solidFill>
              <a:srgbClr val="2B2F36"/>
            </a:solidFill>
            <a:tailEnd type="triangle" w="med" len="med"/>
          </a:ln>
          <a:effectLst/>
        </p:spPr>
      </p:cxnSp>
      <p:sp>
        <p:nvSpPr>
          <p:cNvPr id="15" name="Rounded Rectangle 14"/>
          <p:cNvSpPr/>
          <p:nvPr/>
        </p:nvSpPr>
        <p:spPr>
          <a:xfrm>
            <a:off x="8220456" y="1691640"/>
            <a:ext cx="3291840" cy="246888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p>
        </p:txBody>
      </p:sp>
      <p:sp>
        <p:nvSpPr>
          <p:cNvPr id="16" name="Rounded Rectangle 15"/>
          <p:cNvSpPr/>
          <p:nvPr/>
        </p:nvSpPr>
        <p:spPr>
          <a:xfrm>
            <a:off x="8403336" y="1874520"/>
            <a:ext cx="457200" cy="457200"/>
          </a:xfrm>
          <a:prstGeom prst="roundRect">
            <a:avLst>
              <a:gd name="adj" fmla="val 50000"/>
            </a:avLst>
          </a:prstGeom>
          <a:solidFill>
            <a:srgbClr val="C8501E"/>
          </a:solidFill>
          <a:ln>
            <a:noFill/>
          </a:ln>
          <a:effectLst/>
        </p:spPr>
        <p:txBody>
          <a:bodyPr rtlCol="0" anchor="ctr" lIns="54864" rIns="54864" tIns="27432" bIns="27432" wrap="square"/>
          <a:lstStyle/>
          <a:p>
            <a:pPr algn="ctr"/>
            <a:r>
              <a:rPr sz="1600" b="1" i="0">
                <a:solidFill>
                  <a:srgbClr val="FFFFFF"/>
                </a:solidFill>
                <a:latin typeface="Calibri"/>
              </a:rPr>
              <a:t>3</a:t>
            </a:r>
          </a:p>
        </p:txBody>
      </p:sp>
      <p:sp>
        <p:nvSpPr>
          <p:cNvPr id="17" name="TextBox 16"/>
          <p:cNvSpPr txBox="1"/>
          <p:nvPr/>
        </p:nvSpPr>
        <p:spPr>
          <a:xfrm>
            <a:off x="8403336"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Merge</a:t>
            </a:r>
          </a:p>
        </p:txBody>
      </p:sp>
      <p:sp>
        <p:nvSpPr>
          <p:cNvPr id="18" name="TextBox 17"/>
          <p:cNvSpPr txBox="1"/>
          <p:nvPr/>
        </p:nvSpPr>
        <p:spPr>
          <a:xfrm>
            <a:off x="8403336"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every group, in parallel</a:t>
            </a:r>
          </a:p>
        </p:txBody>
      </p:sp>
      <p:cxnSp>
        <p:nvCxnSpPr>
          <p:cNvPr id="19" name="Connector 18"/>
          <p:cNvCxnSpPr/>
          <p:nvPr/>
        </p:nvCxnSpPr>
        <p:spPr>
          <a:xfrm>
            <a:off x="7744968" y="2926080"/>
            <a:ext cx="475488" cy="0"/>
          </a:xfrm>
          <a:prstGeom prst="line">
            <a:avLst/>
          </a:prstGeom>
          <a:ln w="25400">
            <a:solidFill>
              <a:srgbClr val="2B2F36"/>
            </a:solidFill>
            <a:tailEnd type="triangle" w="med" len="med"/>
          </a:ln>
          <a:effectLst/>
        </p:spPr>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cxnSp>
        <p:nvCxnSpPr>
          <p:cNvPr id="14" name="Connector 13"/>
          <p:cNvCxnSpPr/>
          <p:nvPr/>
        </p:nvCxnSpPr>
        <p:spPr>
          <a:xfrm>
            <a:off x="3977639" y="2926080"/>
            <a:ext cx="475489" cy="0"/>
          </a:xfrm>
          <a:prstGeom prst="line">
            <a:avLst/>
          </a:prstGeom>
          <a:ln w="25400">
            <a:solidFill>
              <a:srgbClr val="2B2F36"/>
            </a:solidFill>
            <a:tailEnd type="triangle" w="med" len="med"/>
          </a:ln>
          <a:effectLst/>
        </p:spPr>
      </p:cxnSp>
      <p:sp>
        <p:nvSpPr>
          <p:cNvPr id="15" name="Rounded Rectangle 14"/>
          <p:cNvSpPr/>
          <p:nvPr/>
        </p:nvSpPr>
        <p:spPr>
          <a:xfrm>
            <a:off x="8220456" y="1691640"/>
            <a:ext cx="3291840" cy="246888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p>
        </p:txBody>
      </p:sp>
      <p:sp>
        <p:nvSpPr>
          <p:cNvPr id="16" name="Rounded Rectangle 15"/>
          <p:cNvSpPr/>
          <p:nvPr/>
        </p:nvSpPr>
        <p:spPr>
          <a:xfrm>
            <a:off x="8403336" y="1874520"/>
            <a:ext cx="457200" cy="457200"/>
          </a:xfrm>
          <a:prstGeom prst="roundRect">
            <a:avLst>
              <a:gd name="adj" fmla="val 50000"/>
            </a:avLst>
          </a:prstGeom>
          <a:solidFill>
            <a:srgbClr val="C8501E"/>
          </a:solidFill>
          <a:ln>
            <a:noFill/>
          </a:ln>
          <a:effectLst/>
        </p:spPr>
        <p:txBody>
          <a:bodyPr rtlCol="0" anchor="ctr" lIns="54864" rIns="54864" tIns="27432" bIns="27432" wrap="square"/>
          <a:lstStyle/>
          <a:p>
            <a:pPr algn="ctr"/>
            <a:r>
              <a:rPr sz="1600" b="1" i="0">
                <a:solidFill>
                  <a:srgbClr val="FFFFFF"/>
                </a:solidFill>
                <a:latin typeface="Calibri"/>
              </a:rPr>
              <a:t>3</a:t>
            </a:r>
          </a:p>
        </p:txBody>
      </p:sp>
      <p:sp>
        <p:nvSpPr>
          <p:cNvPr id="17" name="TextBox 16"/>
          <p:cNvSpPr txBox="1"/>
          <p:nvPr/>
        </p:nvSpPr>
        <p:spPr>
          <a:xfrm>
            <a:off x="8403336"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Merge</a:t>
            </a:r>
          </a:p>
        </p:txBody>
      </p:sp>
      <p:sp>
        <p:nvSpPr>
          <p:cNvPr id="18" name="TextBox 17"/>
          <p:cNvSpPr txBox="1"/>
          <p:nvPr/>
        </p:nvSpPr>
        <p:spPr>
          <a:xfrm>
            <a:off x="8403336"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every group, in parallel</a:t>
            </a:r>
          </a:p>
        </p:txBody>
      </p:sp>
      <p:cxnSp>
        <p:nvCxnSpPr>
          <p:cNvPr id="19" name="Connector 18"/>
          <p:cNvCxnSpPr/>
          <p:nvPr/>
        </p:nvCxnSpPr>
        <p:spPr>
          <a:xfrm>
            <a:off x="7744968" y="2926080"/>
            <a:ext cx="475488" cy="0"/>
          </a:xfrm>
          <a:prstGeom prst="line">
            <a:avLst/>
          </a:prstGeom>
          <a:ln w="25400">
            <a:solidFill>
              <a:srgbClr val="2B2F36"/>
            </a:solidFill>
            <a:tailEnd type="triangle" w="med" len="med"/>
          </a:ln>
          <a:effectLst/>
        </p:spPr>
      </p:cxnSp>
      <p:cxnSp>
        <p:nvCxnSpPr>
          <p:cNvPr id="20" name="Connector 19"/>
          <p:cNvCxnSpPr/>
          <p:nvPr/>
        </p:nvCxnSpPr>
        <p:spPr>
          <a:xfrm>
            <a:off x="9866376" y="4160520"/>
            <a:ext cx="0" cy="502920"/>
          </a:xfrm>
          <a:prstGeom prst="line">
            <a:avLst/>
          </a:prstGeom>
          <a:ln w="25400">
            <a:solidFill>
              <a:srgbClr val="2B2F36"/>
            </a:solidFill>
          </a:ln>
          <a:effectLst/>
        </p:spPr>
      </p:cxnSp>
      <p:cxnSp>
        <p:nvCxnSpPr>
          <p:cNvPr id="21" name="Connector 20"/>
          <p:cNvCxnSpPr/>
          <p:nvPr/>
        </p:nvCxnSpPr>
        <p:spPr>
          <a:xfrm flipH="1">
            <a:off x="2331720" y="4663440"/>
            <a:ext cx="7534656" cy="0"/>
          </a:xfrm>
          <a:prstGeom prst="line">
            <a:avLst/>
          </a:prstGeom>
          <a:ln w="25400">
            <a:solidFill>
              <a:srgbClr val="2B2F36"/>
            </a:solidFill>
          </a:ln>
          <a:effectLst/>
        </p:spPr>
      </p:cxnSp>
      <p:cxnSp>
        <p:nvCxnSpPr>
          <p:cNvPr id="22" name="Connector 21"/>
          <p:cNvCxnSpPr/>
          <p:nvPr/>
        </p:nvCxnSpPr>
        <p:spPr>
          <a:xfrm flipV="1">
            <a:off x="2331720" y="4160520"/>
            <a:ext cx="0" cy="502920"/>
          </a:xfrm>
          <a:prstGeom prst="line">
            <a:avLst/>
          </a:prstGeom>
          <a:ln w="25400">
            <a:solidFill>
              <a:srgbClr val="2B2F36"/>
            </a:solidFill>
            <a:tailEnd type="triangle" w="med" len="med"/>
          </a:ln>
          <a:effectLst/>
        </p:spPr>
      </p:cxnSp>
      <p:sp>
        <p:nvSpPr>
          <p:cNvPr id="23" name="TextBox 22"/>
          <p:cNvSpPr txBox="1"/>
          <p:nvPr/>
        </p:nvSpPr>
        <p:spPr>
          <a:xfrm>
            <a:off x="3291840" y="4709160"/>
            <a:ext cx="5577840" cy="365760"/>
          </a:xfrm>
          <a:prstGeom prst="rect">
            <a:avLst/>
          </a:prstGeom>
          <a:noFill/>
        </p:spPr>
        <p:txBody>
          <a:bodyPr wrap="square" anchor="t" lIns="45720" rIns="45720" tIns="27432" bIns="27432">
            <a:spAutoFit/>
          </a:bodyPr>
          <a:lstStyle/>
          <a:p>
            <a:pPr algn="ctr"/>
            <a:r>
              <a:rPr sz="1600" b="1" i="0">
                <a:solidFill>
                  <a:srgbClr val="1F2A44"/>
                </a:solidFill>
                <a:latin typeface="Calibri"/>
              </a:rPr>
              <a:t>repeat while a round merged something</a:t>
            </a:r>
          </a:p>
        </p:txBody>
      </p:sp>
      <p:sp>
        <p:nvSpPr>
          <p:cNvPr id="24" name="TextBox 23"/>
          <p:cNvSpPr txBox="1"/>
          <p:nvPr/>
        </p:nvSpPr>
        <p:spPr>
          <a:xfrm>
            <a:off x="685800" y="5166360"/>
            <a:ext cx="10789920" cy="365760"/>
          </a:xfrm>
          <a:prstGeom prst="rect">
            <a:avLst/>
          </a:prstGeom>
          <a:noFill/>
        </p:spPr>
        <p:txBody>
          <a:bodyPr wrap="square" anchor="t" lIns="45720" rIns="45720" tIns="27432" bIns="27432">
            <a:spAutoFit/>
          </a:bodyPr>
          <a:lstStyle/>
          <a:p>
            <a:pPr algn="ctr"/>
            <a:r>
              <a:rPr sz="1500" b="0" i="0">
                <a:solidFill>
                  <a:srgbClr val="6B717A"/>
                </a:solidFill>
                <a:latin typeface="Calibri"/>
              </a:rPr>
              <a:t>first round: consider every term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66644"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2" name="Rounded Rectangle 11"/>
          <p:cNvSpPr/>
          <p:nvPr/>
        </p:nvSpPr>
        <p:spPr>
          <a:xfrm>
            <a:off x="7301483"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3" name="Rounded Rectangle 12"/>
          <p:cNvSpPr/>
          <p:nvPr/>
        </p:nvSpPr>
        <p:spPr>
          <a:xfrm>
            <a:off x="4768596"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4" name="Rounded Rectangle 13"/>
          <p:cNvSpPr/>
          <p:nvPr/>
        </p:nvSpPr>
        <p:spPr>
          <a:xfrm>
            <a:off x="6432804"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5" name="Connector 14"/>
          <p:cNvCxnSpPr/>
          <p:nvPr/>
        </p:nvCxnSpPr>
        <p:spPr>
          <a:xfrm flipH="1">
            <a:off x="2784348" y="3803903"/>
            <a:ext cx="539496" cy="1106425"/>
          </a:xfrm>
          <a:prstGeom prst="line">
            <a:avLst/>
          </a:prstGeom>
          <a:ln w="15875">
            <a:solidFill>
              <a:srgbClr val="8A8F98"/>
            </a:solidFill>
          </a:ln>
          <a:effectLst/>
        </p:spPr>
      </p:cxnSp>
      <p:cxnSp>
        <p:nvCxnSpPr>
          <p:cNvPr id="16" name="Connector 15"/>
          <p:cNvCxnSpPr/>
          <p:nvPr/>
        </p:nvCxnSpPr>
        <p:spPr>
          <a:xfrm>
            <a:off x="3323844" y="3803903"/>
            <a:ext cx="960120" cy="1106425"/>
          </a:xfrm>
          <a:prstGeom prst="line">
            <a:avLst/>
          </a:prstGeom>
          <a:ln w="15875">
            <a:solidFill>
              <a:srgbClr val="8A8F98"/>
            </a:solidFill>
          </a:ln>
          <a:effectLst/>
        </p:spPr>
      </p:cxnSp>
      <p:cxnSp>
        <p:nvCxnSpPr>
          <p:cNvPr id="17" name="Connector 16"/>
          <p:cNvCxnSpPr/>
          <p:nvPr/>
        </p:nvCxnSpPr>
        <p:spPr>
          <a:xfrm flipH="1">
            <a:off x="3406139" y="3803903"/>
            <a:ext cx="1014985" cy="1106425"/>
          </a:xfrm>
          <a:prstGeom prst="line">
            <a:avLst/>
          </a:prstGeom>
          <a:ln w="15875">
            <a:solidFill>
              <a:srgbClr val="8A8F98"/>
            </a:solidFill>
          </a:ln>
          <a:effectLst/>
        </p:spPr>
      </p:cxnSp>
      <p:cxnSp>
        <p:nvCxnSpPr>
          <p:cNvPr id="18" name="Connector 17"/>
          <p:cNvCxnSpPr/>
          <p:nvPr/>
        </p:nvCxnSpPr>
        <p:spPr>
          <a:xfrm>
            <a:off x="4421124" y="3803903"/>
            <a:ext cx="484632" cy="1106425"/>
          </a:xfrm>
          <a:prstGeom prst="line">
            <a:avLst/>
          </a:prstGeom>
          <a:ln w="15875">
            <a:solidFill>
              <a:srgbClr val="8A8F98"/>
            </a:solidFill>
          </a:ln>
          <a:effectLst/>
        </p:spPr>
      </p:cxnSp>
      <p:cxnSp>
        <p:nvCxnSpPr>
          <p:cNvPr id="19" name="Connector 18"/>
          <p:cNvCxnSpPr/>
          <p:nvPr/>
        </p:nvCxnSpPr>
        <p:spPr>
          <a:xfrm flipH="1">
            <a:off x="7283196" y="3803903"/>
            <a:ext cx="475487" cy="1106425"/>
          </a:xfrm>
          <a:prstGeom prst="line">
            <a:avLst/>
          </a:prstGeom>
          <a:ln w="15875">
            <a:solidFill>
              <a:srgbClr val="8A8F98"/>
            </a:solidFill>
          </a:ln>
          <a:effectLst/>
        </p:spPr>
      </p:cxnSp>
      <p:cxnSp>
        <p:nvCxnSpPr>
          <p:cNvPr id="20" name="Connector 19"/>
          <p:cNvCxnSpPr/>
          <p:nvPr/>
        </p:nvCxnSpPr>
        <p:spPr>
          <a:xfrm>
            <a:off x="7758683" y="3803903"/>
            <a:ext cx="1024129" cy="1106425"/>
          </a:xfrm>
          <a:prstGeom prst="line">
            <a:avLst/>
          </a:prstGeom>
          <a:ln w="15875">
            <a:solidFill>
              <a:srgbClr val="8A8F98"/>
            </a:solidFill>
          </a:ln>
          <a:effectLst/>
        </p:spPr>
      </p:cxnSp>
      <p:cxnSp>
        <p:nvCxnSpPr>
          <p:cNvPr id="21" name="Connector 20"/>
          <p:cNvCxnSpPr/>
          <p:nvPr/>
        </p:nvCxnSpPr>
        <p:spPr>
          <a:xfrm flipH="1">
            <a:off x="7904988" y="3803903"/>
            <a:ext cx="950975" cy="1106425"/>
          </a:xfrm>
          <a:prstGeom prst="line">
            <a:avLst/>
          </a:prstGeom>
          <a:ln w="15875">
            <a:solidFill>
              <a:srgbClr val="8A8F98"/>
            </a:solidFill>
          </a:ln>
          <a:effectLst/>
        </p:spPr>
      </p:cxnSp>
      <p:cxnSp>
        <p:nvCxnSpPr>
          <p:cNvPr id="22" name="Connector 21"/>
          <p:cNvCxnSpPr/>
          <p:nvPr/>
        </p:nvCxnSpPr>
        <p:spPr>
          <a:xfrm>
            <a:off x="8855963" y="3803903"/>
            <a:ext cx="548641" cy="1106425"/>
          </a:xfrm>
          <a:prstGeom prst="line">
            <a:avLst/>
          </a:prstGeom>
          <a:ln w="15875">
            <a:solidFill>
              <a:srgbClr val="8A8F98"/>
            </a:solidFill>
          </a:ln>
          <a:effectLst/>
        </p:spPr>
      </p:cxnSp>
      <p:cxnSp>
        <p:nvCxnSpPr>
          <p:cNvPr id="23" name="Connector 22"/>
          <p:cNvCxnSpPr/>
          <p:nvPr/>
        </p:nvCxnSpPr>
        <p:spPr>
          <a:xfrm>
            <a:off x="5564124" y="2203704"/>
            <a:ext cx="219455"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15875">
            <a:solidFill>
              <a:srgbClr val="8A8F98"/>
            </a:solidFill>
          </a:ln>
          <a:effectLst/>
        </p:spPr>
      </p:cxnSp>
      <p:cxnSp>
        <p:nvCxnSpPr>
          <p:cNvPr id="25" name="Connector 24"/>
          <p:cNvCxnSpPr/>
          <p:nvPr/>
        </p:nvCxnSpPr>
        <p:spPr>
          <a:xfrm>
            <a:off x="5564124" y="2203704"/>
            <a:ext cx="2194559" cy="749807"/>
          </a:xfrm>
          <a:prstGeom prst="line">
            <a:avLst/>
          </a:prstGeom>
          <a:ln w="15875">
            <a:solidFill>
              <a:srgbClr val="8A8F98"/>
            </a:solidFill>
          </a:ln>
          <a:effectLst/>
        </p:spPr>
      </p:cxnSp>
      <p:cxnSp>
        <p:nvCxnSpPr>
          <p:cNvPr id="26" name="Connector 25"/>
          <p:cNvCxnSpPr/>
          <p:nvPr/>
        </p:nvCxnSpPr>
        <p:spPr>
          <a:xfrm flipH="1">
            <a:off x="6405372" y="2203704"/>
            <a:ext cx="484632" cy="2706624"/>
          </a:xfrm>
          <a:prstGeom prst="line">
            <a:avLst/>
          </a:prstGeom>
          <a:ln w="15875">
            <a:solidFill>
              <a:srgbClr val="8A8F98"/>
            </a:solidFill>
          </a:ln>
          <a:effectLst/>
        </p:spPr>
      </p:cxnSp>
      <p:cxnSp>
        <p:nvCxnSpPr>
          <p:cNvPr id="27" name="Connector 26"/>
          <p:cNvCxnSpPr/>
          <p:nvPr/>
        </p:nvCxnSpPr>
        <p:spPr>
          <a:xfrm flipH="1">
            <a:off x="4421124" y="2203704"/>
            <a:ext cx="2468880" cy="749807"/>
          </a:xfrm>
          <a:prstGeom prst="line">
            <a:avLst/>
          </a:prstGeom>
          <a:ln w="15875">
            <a:solidFill>
              <a:srgbClr val="8A8F98"/>
            </a:solidFill>
          </a:ln>
          <a:effectLst/>
        </p:spPr>
      </p:cxnSp>
      <p:cxnSp>
        <p:nvCxnSpPr>
          <p:cNvPr id="28" name="Connector 27"/>
          <p:cNvCxnSpPr/>
          <p:nvPr/>
        </p:nvCxnSpPr>
        <p:spPr>
          <a:xfrm>
            <a:off x="6890004" y="2203704"/>
            <a:ext cx="1965959" cy="749807"/>
          </a:xfrm>
          <a:prstGeom prst="line">
            <a:avLst/>
          </a:prstGeom>
          <a:ln w="15875">
            <a:solidFill>
              <a:srgbClr val="8A8F98"/>
            </a:solidFill>
          </a:ln>
          <a:effectLst/>
        </p:spPr>
      </p:cxnSp>
      <p:sp>
        <p:nvSpPr>
          <p:cNvPr id="29" name="Rounded Rectangle 28"/>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1" name="Rounded Rectangle 40"/>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3" name="Rounded Rectangle 42"/>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5" name="Rounded Rectangle 44"/>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7" name="Rounded Rectangle 46"/>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9" name="Rounded Rectangle 48"/>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1" name="TextBox 50"/>
          <p:cNvSpPr txBox="1"/>
          <p:nvPr/>
        </p:nvSpPr>
        <p:spPr>
          <a:xfrm>
            <a:off x="2775203" y="263347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AND([r], [s])</a:t>
            </a:r>
          </a:p>
        </p:txBody>
      </p:sp>
      <p:sp>
        <p:nvSpPr>
          <p:cNvPr id="52" name="TextBox 51"/>
          <p:cNvSpPr txBox="1"/>
          <p:nvPr/>
        </p:nvSpPr>
        <p:spPr>
          <a:xfrm>
            <a:off x="7210044" y="263347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XOR([u], [v])</a:t>
            </a:r>
          </a:p>
        </p:txBody>
      </p:sp>
      <p:sp>
        <p:nvSpPr>
          <p:cNvPr id="53" name="TextBox 52"/>
          <p:cNvSpPr txBox="1"/>
          <p:nvPr/>
        </p:nvSpPr>
        <p:spPr>
          <a:xfrm>
            <a:off x="4297680" y="130759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[a₁], [x₁])</a:t>
            </a:r>
          </a:p>
        </p:txBody>
      </p:sp>
      <p:sp>
        <p:nvSpPr>
          <p:cNvPr id="54" name="TextBox 53"/>
          <p:cNvSpPr txBox="1"/>
          <p:nvPr/>
        </p:nvSpPr>
        <p:spPr>
          <a:xfrm>
            <a:off x="5961888" y="130759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[a₂], [x₂])</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350672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
        <p:nvSpPr>
          <p:cNvPr id="50" name="TextBox 49"/>
          <p:cNvSpPr txBox="1"/>
          <p:nvPr/>
        </p:nvSpPr>
        <p:spPr>
          <a:xfrm>
            <a:off x="794156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sp>
        <p:nvSpPr>
          <p:cNvPr id="14" name="Rounded Rectangle 13"/>
          <p:cNvSpPr/>
          <p:nvPr/>
        </p:nvSpPr>
        <p:spPr>
          <a:xfrm>
            <a:off x="4768596" y="1581912"/>
            <a:ext cx="2916936"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5" name="Connector 14"/>
          <p:cNvCxnSpPr/>
          <p:nvPr/>
        </p:nvCxnSpPr>
        <p:spPr>
          <a:xfrm flipH="1">
            <a:off x="2784348" y="3803903"/>
            <a:ext cx="539496" cy="1106425"/>
          </a:xfrm>
          <a:prstGeom prst="line">
            <a:avLst/>
          </a:prstGeom>
          <a:ln w="15875">
            <a:solidFill>
              <a:srgbClr val="8A8F98"/>
            </a:solidFill>
          </a:ln>
          <a:effectLst/>
        </p:spPr>
      </p:cxnSp>
      <p:cxnSp>
        <p:nvCxnSpPr>
          <p:cNvPr id="16" name="Connector 15"/>
          <p:cNvCxnSpPr/>
          <p:nvPr/>
        </p:nvCxnSpPr>
        <p:spPr>
          <a:xfrm>
            <a:off x="3323844" y="3803903"/>
            <a:ext cx="960120" cy="1106425"/>
          </a:xfrm>
          <a:prstGeom prst="line">
            <a:avLst/>
          </a:prstGeom>
          <a:ln w="15875">
            <a:solidFill>
              <a:srgbClr val="8A8F98"/>
            </a:solidFill>
          </a:ln>
          <a:effectLst/>
        </p:spPr>
      </p:cxnSp>
      <p:cxnSp>
        <p:nvCxnSpPr>
          <p:cNvPr id="17" name="Connector 16"/>
          <p:cNvCxnSpPr/>
          <p:nvPr/>
        </p:nvCxnSpPr>
        <p:spPr>
          <a:xfrm flipH="1">
            <a:off x="3406139" y="3803903"/>
            <a:ext cx="1014985" cy="1106425"/>
          </a:xfrm>
          <a:prstGeom prst="line">
            <a:avLst/>
          </a:prstGeom>
          <a:ln w="15875">
            <a:solidFill>
              <a:srgbClr val="8A8F98"/>
            </a:solidFill>
          </a:ln>
          <a:effectLst/>
        </p:spPr>
      </p:cxnSp>
      <p:cxnSp>
        <p:nvCxnSpPr>
          <p:cNvPr id="18" name="Connector 17"/>
          <p:cNvCxnSpPr/>
          <p:nvPr/>
        </p:nvCxnSpPr>
        <p:spPr>
          <a:xfrm>
            <a:off x="4421124" y="3803903"/>
            <a:ext cx="484632" cy="1106425"/>
          </a:xfrm>
          <a:prstGeom prst="line">
            <a:avLst/>
          </a:prstGeom>
          <a:ln w="15875">
            <a:solidFill>
              <a:srgbClr val="8A8F98"/>
            </a:solidFill>
          </a:ln>
          <a:effectLst/>
        </p:spPr>
      </p:cxnSp>
      <p:cxnSp>
        <p:nvCxnSpPr>
          <p:cNvPr id="19" name="Connector 18"/>
          <p:cNvCxnSpPr/>
          <p:nvPr/>
        </p:nvCxnSpPr>
        <p:spPr>
          <a:xfrm flipH="1">
            <a:off x="7283196" y="3803903"/>
            <a:ext cx="475487" cy="1106425"/>
          </a:xfrm>
          <a:prstGeom prst="line">
            <a:avLst/>
          </a:prstGeom>
          <a:ln w="15875">
            <a:solidFill>
              <a:srgbClr val="8A8F98"/>
            </a:solidFill>
          </a:ln>
          <a:effectLst/>
        </p:spPr>
      </p:cxnSp>
      <p:cxnSp>
        <p:nvCxnSpPr>
          <p:cNvPr id="20" name="Connector 19"/>
          <p:cNvCxnSpPr/>
          <p:nvPr/>
        </p:nvCxnSpPr>
        <p:spPr>
          <a:xfrm>
            <a:off x="7758683" y="3803903"/>
            <a:ext cx="1024129" cy="1106425"/>
          </a:xfrm>
          <a:prstGeom prst="line">
            <a:avLst/>
          </a:prstGeom>
          <a:ln w="15875">
            <a:solidFill>
              <a:srgbClr val="8A8F98"/>
            </a:solidFill>
          </a:ln>
          <a:effectLst/>
        </p:spPr>
      </p:cxnSp>
      <p:cxnSp>
        <p:nvCxnSpPr>
          <p:cNvPr id="21" name="Connector 20"/>
          <p:cNvCxnSpPr/>
          <p:nvPr/>
        </p:nvCxnSpPr>
        <p:spPr>
          <a:xfrm flipH="1">
            <a:off x="7904988" y="3803903"/>
            <a:ext cx="950975" cy="1106425"/>
          </a:xfrm>
          <a:prstGeom prst="line">
            <a:avLst/>
          </a:prstGeom>
          <a:ln w="15875">
            <a:solidFill>
              <a:srgbClr val="8A8F98"/>
            </a:solidFill>
          </a:ln>
          <a:effectLst/>
        </p:spPr>
      </p:cxnSp>
      <p:cxnSp>
        <p:nvCxnSpPr>
          <p:cNvPr id="22" name="Connector 21"/>
          <p:cNvCxnSpPr/>
          <p:nvPr/>
        </p:nvCxnSpPr>
        <p:spPr>
          <a:xfrm>
            <a:off x="8855963" y="3803903"/>
            <a:ext cx="548641" cy="1106425"/>
          </a:xfrm>
          <a:prstGeom prst="line">
            <a:avLst/>
          </a:prstGeom>
          <a:ln w="15875">
            <a:solidFill>
              <a:srgbClr val="8A8F98"/>
            </a:solidFill>
          </a:ln>
          <a:effectLst/>
        </p:spPr>
      </p:cxnSp>
      <p:cxnSp>
        <p:nvCxnSpPr>
          <p:cNvPr id="23" name="Connector 22"/>
          <p:cNvCxnSpPr/>
          <p:nvPr/>
        </p:nvCxnSpPr>
        <p:spPr>
          <a:xfrm>
            <a:off x="5564124" y="2203704"/>
            <a:ext cx="219455"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15875">
            <a:solidFill>
              <a:srgbClr val="8A8F98"/>
            </a:solidFill>
          </a:ln>
          <a:effectLst/>
        </p:spPr>
      </p:cxnSp>
      <p:cxnSp>
        <p:nvCxnSpPr>
          <p:cNvPr id="25" name="Connector 24"/>
          <p:cNvCxnSpPr/>
          <p:nvPr/>
        </p:nvCxnSpPr>
        <p:spPr>
          <a:xfrm>
            <a:off x="5564124" y="2203704"/>
            <a:ext cx="2194559" cy="749807"/>
          </a:xfrm>
          <a:prstGeom prst="line">
            <a:avLst/>
          </a:prstGeom>
          <a:ln w="15875">
            <a:solidFill>
              <a:srgbClr val="8A8F98"/>
            </a:solidFill>
          </a:ln>
          <a:effectLst/>
        </p:spPr>
      </p:cxnSp>
      <p:cxnSp>
        <p:nvCxnSpPr>
          <p:cNvPr id="26" name="Connector 25"/>
          <p:cNvCxnSpPr/>
          <p:nvPr/>
        </p:nvCxnSpPr>
        <p:spPr>
          <a:xfrm flipH="1">
            <a:off x="6405372" y="2203704"/>
            <a:ext cx="484632" cy="2706624"/>
          </a:xfrm>
          <a:prstGeom prst="line">
            <a:avLst/>
          </a:prstGeom>
          <a:ln w="15875">
            <a:solidFill>
              <a:srgbClr val="8A8F98"/>
            </a:solidFill>
          </a:ln>
          <a:effectLst/>
        </p:spPr>
      </p:cxnSp>
      <p:cxnSp>
        <p:nvCxnSpPr>
          <p:cNvPr id="27" name="Connector 26"/>
          <p:cNvCxnSpPr/>
          <p:nvPr/>
        </p:nvCxnSpPr>
        <p:spPr>
          <a:xfrm flipH="1">
            <a:off x="4421124" y="2203704"/>
            <a:ext cx="2468880" cy="749807"/>
          </a:xfrm>
          <a:prstGeom prst="line">
            <a:avLst/>
          </a:prstGeom>
          <a:ln w="15875">
            <a:solidFill>
              <a:srgbClr val="8A8F98"/>
            </a:solidFill>
          </a:ln>
          <a:effectLst/>
        </p:spPr>
      </p:cxnSp>
      <p:cxnSp>
        <p:nvCxnSpPr>
          <p:cNvPr id="28" name="Connector 27"/>
          <p:cNvCxnSpPr/>
          <p:nvPr/>
        </p:nvCxnSpPr>
        <p:spPr>
          <a:xfrm>
            <a:off x="6890004" y="2203704"/>
            <a:ext cx="1965959" cy="749807"/>
          </a:xfrm>
          <a:prstGeom prst="line">
            <a:avLst/>
          </a:prstGeom>
          <a:ln w="15875">
            <a:solidFill>
              <a:srgbClr val="8A8F98"/>
            </a:solidFill>
          </a:ln>
          <a:effectLst/>
        </p:spPr>
      </p:cxnSp>
      <p:sp>
        <p:nvSpPr>
          <p:cNvPr id="29" name="Rounded Rectangle 28"/>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1" name="Rounded Rectangle 40"/>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3" name="Rounded Rectangle 42"/>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5" name="Rounded Rectangle 44"/>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7" name="Rounded Rectangle 46"/>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9" name="Rounded Rectangle 48"/>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1" name="TextBox 50"/>
          <p:cNvSpPr txBox="1"/>
          <p:nvPr/>
        </p:nvSpPr>
        <p:spPr>
          <a:xfrm>
            <a:off x="5129784" y="112471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[a₁], [x₁])</a:t>
            </a:r>
          </a:p>
        </p:txBody>
      </p:sp>
      <p:sp>
        <p:nvSpPr>
          <p:cNvPr id="52" name="TextBox 51"/>
          <p:cNvSpPr txBox="1"/>
          <p:nvPr/>
        </p:nvSpPr>
        <p:spPr>
          <a:xfrm>
            <a:off x="5861304" y="16459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Correctness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731520" y="2148840"/>
            <a:ext cx="3108960" cy="914400"/>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Soundness</a:t>
            </a:r>
          </a:p>
        </p:txBody>
      </p:sp>
      <p:sp>
        <p:nvSpPr>
          <p:cNvPr id="7" name="Rectangle 6"/>
          <p:cNvSpPr/>
          <p:nvPr/>
        </p:nvSpPr>
        <p:spPr>
          <a:xfrm>
            <a:off x="3840480" y="2148840"/>
            <a:ext cx="7589520" cy="91440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each merge is an instance of the congruence rule</a:t>
            </a:r>
          </a:p>
        </p:txBody>
      </p:sp>
      <p:sp>
        <p:nvSpPr>
          <p:cNvPr id="8" name="Rounded Rectangle 7"/>
          <p:cNvSpPr/>
          <p:nvPr/>
        </p:nvSpPr>
        <p:spPr>
          <a:xfrm>
            <a:off x="731520" y="3337560"/>
            <a:ext cx="3108960" cy="914400"/>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Completeness</a:t>
            </a:r>
          </a:p>
        </p:txBody>
      </p:sp>
      <p:sp>
        <p:nvSpPr>
          <p:cNvPr id="9" name="Rectangle 8"/>
          <p:cNvSpPr/>
          <p:nvPr/>
        </p:nvSpPr>
        <p:spPr>
          <a:xfrm>
            <a:off x="3840480" y="3337560"/>
            <a:ext cx="7589520" cy="91440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a newly congruent pair is a candidate next round</a:t>
            </a:r>
          </a:p>
        </p:txBody>
      </p:sp>
      <p:sp>
        <p:nvSpPr>
          <p:cNvPr id="10" name="Rounded Rectangle 9"/>
          <p:cNvSpPr/>
          <p:nvPr/>
        </p:nvSpPr>
        <p:spPr>
          <a:xfrm>
            <a:off x="731520" y="4526280"/>
            <a:ext cx="3108960" cy="914400"/>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Termination</a:t>
            </a:r>
          </a:p>
        </p:txBody>
      </p:sp>
      <p:sp>
        <p:nvSpPr>
          <p:cNvPr id="11" name="Rectangle 10"/>
          <p:cNvSpPr/>
          <p:nvPr/>
        </p:nvSpPr>
        <p:spPr>
          <a:xfrm>
            <a:off x="3840480" y="4526280"/>
            <a:ext cx="7589520" cy="91440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every productive round removes a class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731520" y="1417320"/>
            <a:ext cx="10972800" cy="457200"/>
          </a:xfrm>
          <a:prstGeom prst="rect">
            <a:avLst/>
          </a:prstGeom>
          <a:noFill/>
        </p:spPr>
        <p:txBody>
          <a:bodyPr wrap="square" anchor="t" lIns="45720" rIns="45720" tIns="27432" bIns="27432">
            <a:spAutoFit/>
          </a:bodyPr>
          <a:lstStyle/>
          <a:p>
            <a:pPr algn="l"/>
            <a:r>
              <a:rPr sz="2200" b="1" i="0">
                <a:solidFill>
                  <a:srgbClr val="1F2A44"/>
                </a:solidFill>
                <a:latin typeface="Calibri"/>
              </a:rPr>
              <a:t>Same rounds, different way to find the candidates</a:t>
            </a:r>
          </a:p>
        </p:txBody>
      </p:sp>
      <p:sp>
        <p:nvSpPr>
          <p:cNvPr id="7" name="Rectangle 6"/>
          <p:cNvSpPr/>
          <p:nvPr/>
        </p:nvSpPr>
        <p:spPr>
          <a:xfrm>
            <a:off x="731520" y="2194560"/>
            <a:ext cx="2322576" cy="548640"/>
          </a:xfrm>
          <a:prstGeom prst="rect">
            <a:avLst/>
          </a:prstGeom>
          <a:solidFill>
            <a:srgbClr val="1F2A44"/>
          </a:solidFill>
          <a:ln>
            <a:noFill/>
          </a:ln>
          <a:effectLst/>
        </p:spPr>
        <p:txBody>
          <a:bodyPr rtlCol="0" anchor="ctr" lIns="54864" rIns="54864" tIns="27432" bIns="27432" wrap="square"/>
          <a:lstStyle/>
          <a:p>
            <a:pPr algn="ctr"/>
          </a:p>
        </p:txBody>
      </p:sp>
      <p:sp>
        <p:nvSpPr>
          <p:cNvPr id="8" name="Rectangle 7"/>
          <p:cNvSpPr/>
          <p:nvPr/>
        </p:nvSpPr>
        <p:spPr>
          <a:xfrm>
            <a:off x="3108960" y="2194560"/>
            <a:ext cx="4151376" cy="548640"/>
          </a:xfrm>
          <a:prstGeom prst="rect">
            <a:avLst/>
          </a:prstGeom>
          <a:solidFill>
            <a:srgbClr val="1F2A44"/>
          </a:solidFill>
          <a:ln>
            <a:noFill/>
          </a:ln>
          <a:effectLst/>
        </p:spPr>
        <p:txBody>
          <a:bodyPr rtlCol="0" anchor="ctr" lIns="54864" rIns="54864" tIns="27432" bIns="27432" wrap="square"/>
          <a:lstStyle/>
          <a:p>
            <a:pPr algn="ctr"/>
            <a:r>
              <a:rPr sz="1800" b="1" i="0">
                <a:solidFill>
                  <a:srgbClr val="FFFFFF"/>
                </a:solidFill>
                <a:latin typeface="Calibri"/>
              </a:rPr>
              <a:t>ParentCC</a:t>
            </a:r>
          </a:p>
        </p:txBody>
      </p:sp>
      <p:sp>
        <p:nvSpPr>
          <p:cNvPr id="9" name="Rectangle 8"/>
          <p:cNvSpPr/>
          <p:nvPr/>
        </p:nvSpPr>
        <p:spPr>
          <a:xfrm>
            <a:off x="7315200" y="2194560"/>
            <a:ext cx="4151376" cy="548640"/>
          </a:xfrm>
          <a:prstGeom prst="rect">
            <a:avLst/>
          </a:prstGeom>
          <a:solidFill>
            <a:srgbClr val="1F2A44"/>
          </a:solidFill>
          <a:ln>
            <a:noFill/>
          </a:ln>
          <a:effectLst/>
        </p:spPr>
        <p:txBody>
          <a:bodyPr rtlCol="0" anchor="ctr" lIns="54864" rIns="54864" tIns="27432" bIns="27432" wrap="square"/>
          <a:lstStyle/>
          <a:p>
            <a:pPr algn="ctr"/>
            <a:r>
              <a:rPr sz="1800" b="1" i="0">
                <a:solidFill>
                  <a:srgbClr val="FFFFFF"/>
                </a:solidFill>
                <a:latin typeface="Calibri"/>
              </a:rPr>
              <a:t>FilterCC</a:t>
            </a:r>
          </a:p>
        </p:txBody>
      </p:sp>
      <p:sp>
        <p:nvSpPr>
          <p:cNvPr id="10" name="Rectangle 9"/>
          <p:cNvSpPr/>
          <p:nvPr/>
        </p:nvSpPr>
        <p:spPr>
          <a:xfrm>
            <a:off x="731520" y="2798064"/>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remember</a:t>
            </a:r>
          </a:p>
        </p:txBody>
      </p:sp>
      <p:sp>
        <p:nvSpPr>
          <p:cNvPr id="11" name="Rectangle 10"/>
          <p:cNvSpPr/>
          <p:nvPr/>
        </p:nvSpPr>
        <p:spPr>
          <a:xfrm>
            <a:off x="3108960" y="2798064"/>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parent list per class</a:t>
            </a:r>
          </a:p>
        </p:txBody>
      </p:sp>
      <p:sp>
        <p:nvSpPr>
          <p:cNvPr id="12" name="Rectangle 11"/>
          <p:cNvSpPr/>
          <p:nvPr/>
        </p:nvSpPr>
        <p:spPr>
          <a:xfrm>
            <a:off x="7315200" y="2798064"/>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one dirty bit per class</a:t>
            </a:r>
          </a:p>
        </p:txBody>
      </p:sp>
      <p:sp>
        <p:nvSpPr>
          <p:cNvPr id="13" name="Rectangle 12"/>
          <p:cNvSpPr/>
          <p:nvPr/>
        </p:nvSpPr>
        <p:spPr>
          <a:xfrm>
            <a:off x="731520" y="3511296"/>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candidates</a:t>
            </a:r>
          </a:p>
        </p:txBody>
      </p:sp>
      <p:sp>
        <p:nvSpPr>
          <p:cNvPr id="14" name="Rectangle 13"/>
          <p:cNvSpPr/>
          <p:nvPr/>
        </p:nvSpPr>
        <p:spPr>
          <a:xfrm>
            <a:off x="3108960" y="3511296"/>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parents of last round’s merges</a:t>
            </a:r>
          </a:p>
        </p:txBody>
      </p:sp>
      <p:sp>
        <p:nvSpPr>
          <p:cNvPr id="15" name="Rectangle 14"/>
          <p:cNvSpPr/>
          <p:nvPr/>
        </p:nvSpPr>
        <p:spPr>
          <a:xfrm>
            <a:off x="7315200" y="3511296"/>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filter all terms for a dirty child</a:t>
            </a:r>
          </a:p>
        </p:txBody>
      </p:sp>
      <p:sp>
        <p:nvSpPr>
          <p:cNvPr id="16" name="Rectangle 15"/>
          <p:cNvSpPr/>
          <p:nvPr/>
        </p:nvSpPr>
        <p:spPr>
          <a:xfrm>
            <a:off x="731520" y="4224528"/>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cost per round</a:t>
            </a:r>
          </a:p>
        </p:txBody>
      </p:sp>
      <p:sp>
        <p:nvSpPr>
          <p:cNvPr id="17" name="Rectangle 16"/>
          <p:cNvSpPr/>
          <p:nvPr/>
        </p:nvSpPr>
        <p:spPr>
          <a:xfrm>
            <a:off x="3108960" y="4224528"/>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 candidates, plus allocation</a:t>
            </a:r>
          </a:p>
        </p:txBody>
      </p:sp>
      <p:sp>
        <p:nvSpPr>
          <p:cNvPr id="18" name="Rectangle 17"/>
          <p:cNvSpPr/>
          <p:nvPr/>
        </p:nvSpPr>
        <p:spPr>
          <a:xfrm>
            <a:off x="7315200" y="4224528"/>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 all terms, no allocation</a:t>
            </a:r>
          </a:p>
        </p:txBody>
      </p:sp>
      <p:sp>
        <p:nvSpPr>
          <p:cNvPr id="19" name="Rectangle 18"/>
          <p:cNvSpPr/>
          <p:nvPr/>
        </p:nvSpPr>
        <p:spPr>
          <a:xfrm>
            <a:off x="731520" y="4937760"/>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wins when</a:t>
            </a:r>
          </a:p>
        </p:txBody>
      </p:sp>
      <p:sp>
        <p:nvSpPr>
          <p:cNvPr id="20" name="Rectangle 19"/>
          <p:cNvSpPr/>
          <p:nvPr/>
        </p:nvSpPr>
        <p:spPr>
          <a:xfrm>
            <a:off x="3108960" y="4937760"/>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many rounds</a:t>
            </a:r>
          </a:p>
        </p:txBody>
      </p:sp>
      <p:sp>
        <p:nvSpPr>
          <p:cNvPr id="21" name="Rectangle 20"/>
          <p:cNvSpPr/>
          <p:nvPr/>
        </p:nvSpPr>
        <p:spPr>
          <a:xfrm>
            <a:off x="7315200" y="4937760"/>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few rounds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323843"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8" name="Rounded Rectangle 7"/>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4823459"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0" name="Rounded Rectangle 9"/>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6323075"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2" name="Rounded Rectangle 11"/>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3" name="Rounded Rectangle 12"/>
          <p:cNvSpPr/>
          <p:nvPr/>
        </p:nvSpPr>
        <p:spPr>
          <a:xfrm>
            <a:off x="7822692"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4" name="Rounded Rectangle 13"/>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5" name="Rounded Rectangle 14"/>
          <p:cNvSpPr/>
          <p:nvPr/>
        </p:nvSpPr>
        <p:spPr>
          <a:xfrm>
            <a:off x="9322308"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6" name="Rounded Rectangle 15"/>
          <p:cNvSpPr/>
          <p:nvPr/>
        </p:nvSpPr>
        <p:spPr>
          <a:xfrm>
            <a:off x="2866644"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7" name="Rounded Rectangle 16"/>
          <p:cNvSpPr/>
          <p:nvPr/>
        </p:nvSpPr>
        <p:spPr>
          <a:xfrm>
            <a:off x="7301483"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8" name="Rounded Rectangle 17"/>
          <p:cNvSpPr/>
          <p:nvPr/>
        </p:nvSpPr>
        <p:spPr>
          <a:xfrm>
            <a:off x="4768596"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9" name="Rounded Rectangle 18"/>
          <p:cNvSpPr/>
          <p:nvPr/>
        </p:nvSpPr>
        <p:spPr>
          <a:xfrm>
            <a:off x="6432804"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20" name="Connector 19"/>
          <p:cNvCxnSpPr/>
          <p:nvPr/>
        </p:nvCxnSpPr>
        <p:spPr>
          <a:xfrm flipH="1">
            <a:off x="2784348" y="3803903"/>
            <a:ext cx="539496" cy="1106425"/>
          </a:xfrm>
          <a:prstGeom prst="line">
            <a:avLst/>
          </a:prstGeom>
          <a:ln w="15875">
            <a:solidFill>
              <a:srgbClr val="8A8F98"/>
            </a:solidFill>
          </a:ln>
          <a:effectLst/>
        </p:spPr>
      </p:cxnSp>
      <p:cxnSp>
        <p:nvCxnSpPr>
          <p:cNvPr id="21" name="Connector 20"/>
          <p:cNvCxnSpPr/>
          <p:nvPr/>
        </p:nvCxnSpPr>
        <p:spPr>
          <a:xfrm>
            <a:off x="3323844" y="3803903"/>
            <a:ext cx="960120" cy="1106425"/>
          </a:xfrm>
          <a:prstGeom prst="line">
            <a:avLst/>
          </a:prstGeom>
          <a:ln w="15875">
            <a:solidFill>
              <a:srgbClr val="8A8F98"/>
            </a:solidFill>
          </a:ln>
          <a:effectLst/>
        </p:spPr>
      </p:cxnSp>
      <p:cxnSp>
        <p:nvCxnSpPr>
          <p:cNvPr id="22" name="Connector 21"/>
          <p:cNvCxnSpPr/>
          <p:nvPr/>
        </p:nvCxnSpPr>
        <p:spPr>
          <a:xfrm flipH="1">
            <a:off x="3406139" y="3803903"/>
            <a:ext cx="1014985" cy="1106425"/>
          </a:xfrm>
          <a:prstGeom prst="line">
            <a:avLst/>
          </a:prstGeom>
          <a:ln w="15875">
            <a:solidFill>
              <a:srgbClr val="8A8F98"/>
            </a:solidFill>
          </a:ln>
          <a:effectLst/>
        </p:spPr>
      </p:cxnSp>
      <p:cxnSp>
        <p:nvCxnSpPr>
          <p:cNvPr id="23" name="Connector 22"/>
          <p:cNvCxnSpPr/>
          <p:nvPr/>
        </p:nvCxnSpPr>
        <p:spPr>
          <a:xfrm>
            <a:off x="4421124" y="3803903"/>
            <a:ext cx="484632" cy="1106425"/>
          </a:xfrm>
          <a:prstGeom prst="line">
            <a:avLst/>
          </a:prstGeom>
          <a:ln w="15875">
            <a:solidFill>
              <a:srgbClr val="8A8F98"/>
            </a:solidFill>
          </a:ln>
          <a:effectLst/>
        </p:spPr>
      </p:cxnSp>
      <p:cxnSp>
        <p:nvCxnSpPr>
          <p:cNvPr id="24" name="Connector 23"/>
          <p:cNvCxnSpPr/>
          <p:nvPr/>
        </p:nvCxnSpPr>
        <p:spPr>
          <a:xfrm flipH="1">
            <a:off x="7283196" y="3803903"/>
            <a:ext cx="475487" cy="1106425"/>
          </a:xfrm>
          <a:prstGeom prst="line">
            <a:avLst/>
          </a:prstGeom>
          <a:ln w="15875">
            <a:solidFill>
              <a:srgbClr val="8A8F98"/>
            </a:solidFill>
          </a:ln>
          <a:effectLst/>
        </p:spPr>
      </p:cxnSp>
      <p:cxnSp>
        <p:nvCxnSpPr>
          <p:cNvPr id="25" name="Connector 24"/>
          <p:cNvCxnSpPr/>
          <p:nvPr/>
        </p:nvCxnSpPr>
        <p:spPr>
          <a:xfrm>
            <a:off x="7758683" y="3803903"/>
            <a:ext cx="1024129" cy="1106425"/>
          </a:xfrm>
          <a:prstGeom prst="line">
            <a:avLst/>
          </a:prstGeom>
          <a:ln w="15875">
            <a:solidFill>
              <a:srgbClr val="8A8F98"/>
            </a:solidFill>
          </a:ln>
          <a:effectLst/>
        </p:spPr>
      </p:cxnSp>
      <p:cxnSp>
        <p:nvCxnSpPr>
          <p:cNvPr id="26" name="Connector 25"/>
          <p:cNvCxnSpPr/>
          <p:nvPr/>
        </p:nvCxnSpPr>
        <p:spPr>
          <a:xfrm flipH="1">
            <a:off x="7904988" y="3803903"/>
            <a:ext cx="950975" cy="1106425"/>
          </a:xfrm>
          <a:prstGeom prst="line">
            <a:avLst/>
          </a:prstGeom>
          <a:ln w="15875">
            <a:solidFill>
              <a:srgbClr val="8A8F98"/>
            </a:solidFill>
          </a:ln>
          <a:effectLst/>
        </p:spPr>
      </p:cxnSp>
      <p:cxnSp>
        <p:nvCxnSpPr>
          <p:cNvPr id="27" name="Connector 26"/>
          <p:cNvCxnSpPr/>
          <p:nvPr/>
        </p:nvCxnSpPr>
        <p:spPr>
          <a:xfrm>
            <a:off x="8855963" y="3803903"/>
            <a:ext cx="548641" cy="1106425"/>
          </a:xfrm>
          <a:prstGeom prst="line">
            <a:avLst/>
          </a:prstGeom>
          <a:ln w="15875">
            <a:solidFill>
              <a:srgbClr val="8A8F98"/>
            </a:solidFill>
          </a:ln>
          <a:effectLst/>
        </p:spPr>
      </p:cxnSp>
      <p:cxnSp>
        <p:nvCxnSpPr>
          <p:cNvPr id="28" name="Connector 27"/>
          <p:cNvCxnSpPr/>
          <p:nvPr/>
        </p:nvCxnSpPr>
        <p:spPr>
          <a:xfrm>
            <a:off x="5564124" y="2203704"/>
            <a:ext cx="219455" cy="2706624"/>
          </a:xfrm>
          <a:prstGeom prst="line">
            <a:avLst/>
          </a:prstGeom>
          <a:ln w="15875">
            <a:solidFill>
              <a:srgbClr val="8A8F98"/>
            </a:solidFill>
          </a:ln>
          <a:effectLst/>
        </p:spPr>
      </p:cxnSp>
      <p:cxnSp>
        <p:nvCxnSpPr>
          <p:cNvPr id="29" name="Connector 28"/>
          <p:cNvCxnSpPr/>
          <p:nvPr/>
        </p:nvCxnSpPr>
        <p:spPr>
          <a:xfrm flipH="1">
            <a:off x="3323844" y="2203704"/>
            <a:ext cx="2240280" cy="749807"/>
          </a:xfrm>
          <a:prstGeom prst="line">
            <a:avLst/>
          </a:prstGeom>
          <a:ln w="15875">
            <a:solidFill>
              <a:srgbClr val="8A8F98"/>
            </a:solidFill>
          </a:ln>
          <a:effectLst/>
        </p:spPr>
      </p:cxnSp>
      <p:cxnSp>
        <p:nvCxnSpPr>
          <p:cNvPr id="30" name="Connector 29"/>
          <p:cNvCxnSpPr/>
          <p:nvPr/>
        </p:nvCxnSpPr>
        <p:spPr>
          <a:xfrm>
            <a:off x="5564124" y="2203704"/>
            <a:ext cx="2194559" cy="749807"/>
          </a:xfrm>
          <a:prstGeom prst="line">
            <a:avLst/>
          </a:prstGeom>
          <a:ln w="15875">
            <a:solidFill>
              <a:srgbClr val="8A8F98"/>
            </a:solidFill>
          </a:ln>
          <a:effectLst/>
        </p:spPr>
      </p:cxnSp>
      <p:cxnSp>
        <p:nvCxnSpPr>
          <p:cNvPr id="31" name="Connector 30"/>
          <p:cNvCxnSpPr/>
          <p:nvPr/>
        </p:nvCxnSpPr>
        <p:spPr>
          <a:xfrm flipH="1">
            <a:off x="6405372" y="2203704"/>
            <a:ext cx="484632" cy="2706624"/>
          </a:xfrm>
          <a:prstGeom prst="line">
            <a:avLst/>
          </a:prstGeom>
          <a:ln w="15875">
            <a:solidFill>
              <a:srgbClr val="8A8F98"/>
            </a:solidFill>
          </a:ln>
          <a:effectLst/>
        </p:spPr>
      </p:cxnSp>
      <p:cxnSp>
        <p:nvCxnSpPr>
          <p:cNvPr id="32" name="Connector 31"/>
          <p:cNvCxnSpPr/>
          <p:nvPr/>
        </p:nvCxnSpPr>
        <p:spPr>
          <a:xfrm flipH="1">
            <a:off x="4421124" y="2203704"/>
            <a:ext cx="2468880" cy="749807"/>
          </a:xfrm>
          <a:prstGeom prst="line">
            <a:avLst/>
          </a:prstGeom>
          <a:ln w="15875">
            <a:solidFill>
              <a:srgbClr val="8A8F98"/>
            </a:solidFill>
          </a:ln>
          <a:effectLst/>
        </p:spPr>
      </p:cxnSp>
      <p:cxnSp>
        <p:nvCxnSpPr>
          <p:cNvPr id="33" name="Connector 32"/>
          <p:cNvCxnSpPr/>
          <p:nvPr/>
        </p:nvCxnSpPr>
        <p:spPr>
          <a:xfrm>
            <a:off x="6890004" y="2203704"/>
            <a:ext cx="1965959" cy="749807"/>
          </a:xfrm>
          <a:prstGeom prst="line">
            <a:avLst/>
          </a:prstGeom>
          <a:ln w="15875">
            <a:solidFill>
              <a:srgbClr val="8A8F98"/>
            </a:solidFill>
          </a:ln>
          <a:effectLst/>
        </p:spPr>
      </p:cxnSp>
      <p:sp>
        <p:nvSpPr>
          <p:cNvPr id="34" name="Rounded Rectangle 33"/>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5" name="Rounded Rectangle 34"/>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6" name="Rounded Rectangle 35"/>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7" name="Rounded Rectangle 36"/>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8" name="Rounded Rectangle 37"/>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9" name="Rounded Rectangle 38"/>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40" name="Rounded Rectangle 39"/>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1" name="Rounded Rectangle 40"/>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2" name="Rounded Rectangle 41"/>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3" name="Rounded Rectangle 42"/>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4" name="Rounded Rectangle 43"/>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5" name="TextBox 44"/>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6" name="Rounded Rectangle 45"/>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7" name="TextBox 46"/>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8" name="Rounded Rectangle 47"/>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9" name="TextBox 48"/>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50" name="Rounded Rectangle 49"/>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51" name="TextBox 50"/>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52" name="Rounded Rectangle 51"/>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3" name="TextBox 52"/>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54" name="Rounded Rectangle 53"/>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5" name="TextBox 54"/>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4466844"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3" name="Rounded Rectangle 12"/>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4" name="Rounded Rectangle 13"/>
          <p:cNvSpPr/>
          <p:nvPr/>
        </p:nvSpPr>
        <p:spPr>
          <a:xfrm>
            <a:off x="8901684"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5" name="Rounded Rectangle 14"/>
          <p:cNvSpPr/>
          <p:nvPr/>
        </p:nvSpPr>
        <p:spPr>
          <a:xfrm>
            <a:off x="4768596" y="1581912"/>
            <a:ext cx="2916936"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6" name="Connector 15"/>
          <p:cNvCxnSpPr/>
          <p:nvPr/>
        </p:nvCxnSpPr>
        <p:spPr>
          <a:xfrm flipH="1">
            <a:off x="2784348" y="3803903"/>
            <a:ext cx="539496" cy="1106425"/>
          </a:xfrm>
          <a:prstGeom prst="line">
            <a:avLst/>
          </a:prstGeom>
          <a:ln w="15875">
            <a:solidFill>
              <a:srgbClr val="8A8F98"/>
            </a:solidFill>
          </a:ln>
          <a:effectLst/>
        </p:spPr>
      </p:cxnSp>
      <p:cxnSp>
        <p:nvCxnSpPr>
          <p:cNvPr id="17" name="Connector 16"/>
          <p:cNvCxnSpPr/>
          <p:nvPr/>
        </p:nvCxnSpPr>
        <p:spPr>
          <a:xfrm>
            <a:off x="3323844" y="3803903"/>
            <a:ext cx="960120" cy="1106425"/>
          </a:xfrm>
          <a:prstGeom prst="line">
            <a:avLst/>
          </a:prstGeom>
          <a:ln w="15875">
            <a:solidFill>
              <a:srgbClr val="8A8F98"/>
            </a:solidFill>
          </a:ln>
          <a:effectLst/>
        </p:spPr>
      </p:cxnSp>
      <p:cxnSp>
        <p:nvCxnSpPr>
          <p:cNvPr id="18" name="Connector 17"/>
          <p:cNvCxnSpPr/>
          <p:nvPr/>
        </p:nvCxnSpPr>
        <p:spPr>
          <a:xfrm flipH="1">
            <a:off x="3406139" y="3803903"/>
            <a:ext cx="1014985" cy="1106425"/>
          </a:xfrm>
          <a:prstGeom prst="line">
            <a:avLst/>
          </a:prstGeom>
          <a:ln w="15875">
            <a:solidFill>
              <a:srgbClr val="8A8F98"/>
            </a:solidFill>
          </a:ln>
          <a:effectLst/>
        </p:spPr>
      </p:cxnSp>
      <p:cxnSp>
        <p:nvCxnSpPr>
          <p:cNvPr id="19" name="Connector 18"/>
          <p:cNvCxnSpPr/>
          <p:nvPr/>
        </p:nvCxnSpPr>
        <p:spPr>
          <a:xfrm>
            <a:off x="4421124" y="3803903"/>
            <a:ext cx="484632" cy="1106425"/>
          </a:xfrm>
          <a:prstGeom prst="line">
            <a:avLst/>
          </a:prstGeom>
          <a:ln w="15875">
            <a:solidFill>
              <a:srgbClr val="8A8F98"/>
            </a:solidFill>
          </a:ln>
          <a:effectLst/>
        </p:spPr>
      </p:cxnSp>
      <p:cxnSp>
        <p:nvCxnSpPr>
          <p:cNvPr id="20" name="Connector 19"/>
          <p:cNvCxnSpPr/>
          <p:nvPr/>
        </p:nvCxnSpPr>
        <p:spPr>
          <a:xfrm flipH="1">
            <a:off x="7283196" y="3803903"/>
            <a:ext cx="475487" cy="1106425"/>
          </a:xfrm>
          <a:prstGeom prst="line">
            <a:avLst/>
          </a:prstGeom>
          <a:ln w="15875">
            <a:solidFill>
              <a:srgbClr val="8A8F98"/>
            </a:solidFill>
          </a:ln>
          <a:effectLst/>
        </p:spPr>
      </p:cxnSp>
      <p:cxnSp>
        <p:nvCxnSpPr>
          <p:cNvPr id="21" name="Connector 20"/>
          <p:cNvCxnSpPr/>
          <p:nvPr/>
        </p:nvCxnSpPr>
        <p:spPr>
          <a:xfrm>
            <a:off x="7758683" y="3803903"/>
            <a:ext cx="1024129" cy="1106425"/>
          </a:xfrm>
          <a:prstGeom prst="line">
            <a:avLst/>
          </a:prstGeom>
          <a:ln w="15875">
            <a:solidFill>
              <a:srgbClr val="8A8F98"/>
            </a:solidFill>
          </a:ln>
          <a:effectLst/>
        </p:spPr>
      </p:cxnSp>
      <p:cxnSp>
        <p:nvCxnSpPr>
          <p:cNvPr id="22" name="Connector 21"/>
          <p:cNvCxnSpPr/>
          <p:nvPr/>
        </p:nvCxnSpPr>
        <p:spPr>
          <a:xfrm flipH="1">
            <a:off x="7904988" y="3803903"/>
            <a:ext cx="950975" cy="1106425"/>
          </a:xfrm>
          <a:prstGeom prst="line">
            <a:avLst/>
          </a:prstGeom>
          <a:ln w="15875">
            <a:solidFill>
              <a:srgbClr val="8A8F98"/>
            </a:solidFill>
          </a:ln>
          <a:effectLst/>
        </p:spPr>
      </p:cxnSp>
      <p:cxnSp>
        <p:nvCxnSpPr>
          <p:cNvPr id="23" name="Connector 22"/>
          <p:cNvCxnSpPr/>
          <p:nvPr/>
        </p:nvCxnSpPr>
        <p:spPr>
          <a:xfrm>
            <a:off x="8855963" y="3803903"/>
            <a:ext cx="548641" cy="1106425"/>
          </a:xfrm>
          <a:prstGeom prst="line">
            <a:avLst/>
          </a:prstGeom>
          <a:ln w="15875">
            <a:solidFill>
              <a:srgbClr val="8A8F98"/>
            </a:solidFill>
          </a:ln>
          <a:effectLst/>
        </p:spPr>
      </p:cxnSp>
      <p:cxnSp>
        <p:nvCxnSpPr>
          <p:cNvPr id="24" name="Connector 23"/>
          <p:cNvCxnSpPr/>
          <p:nvPr/>
        </p:nvCxnSpPr>
        <p:spPr>
          <a:xfrm>
            <a:off x="5564124" y="2203704"/>
            <a:ext cx="219455" cy="2706624"/>
          </a:xfrm>
          <a:prstGeom prst="line">
            <a:avLst/>
          </a:prstGeom>
          <a:ln w="15875">
            <a:solidFill>
              <a:srgbClr val="8A8F98"/>
            </a:solidFill>
          </a:ln>
          <a:effectLst/>
        </p:spPr>
      </p:cxnSp>
      <p:cxnSp>
        <p:nvCxnSpPr>
          <p:cNvPr id="25" name="Connector 24"/>
          <p:cNvCxnSpPr/>
          <p:nvPr/>
        </p:nvCxnSpPr>
        <p:spPr>
          <a:xfrm flipH="1">
            <a:off x="3323844" y="2203704"/>
            <a:ext cx="2240280" cy="749807"/>
          </a:xfrm>
          <a:prstGeom prst="line">
            <a:avLst/>
          </a:prstGeom>
          <a:ln w="15875">
            <a:solidFill>
              <a:srgbClr val="8A8F98"/>
            </a:solidFill>
          </a:ln>
          <a:effectLst/>
        </p:spPr>
      </p:cxnSp>
      <p:cxnSp>
        <p:nvCxnSpPr>
          <p:cNvPr id="26" name="Connector 25"/>
          <p:cNvCxnSpPr/>
          <p:nvPr/>
        </p:nvCxnSpPr>
        <p:spPr>
          <a:xfrm>
            <a:off x="5564124" y="2203704"/>
            <a:ext cx="2194559" cy="749807"/>
          </a:xfrm>
          <a:prstGeom prst="line">
            <a:avLst/>
          </a:prstGeom>
          <a:ln w="15875">
            <a:solidFill>
              <a:srgbClr val="8A8F98"/>
            </a:solidFill>
          </a:ln>
          <a:effectLst/>
        </p:spPr>
      </p:cxnSp>
      <p:cxnSp>
        <p:nvCxnSpPr>
          <p:cNvPr id="27" name="Connector 26"/>
          <p:cNvCxnSpPr/>
          <p:nvPr/>
        </p:nvCxnSpPr>
        <p:spPr>
          <a:xfrm flipH="1">
            <a:off x="6405372" y="2203704"/>
            <a:ext cx="484632" cy="2706624"/>
          </a:xfrm>
          <a:prstGeom prst="line">
            <a:avLst/>
          </a:prstGeom>
          <a:ln w="15875">
            <a:solidFill>
              <a:srgbClr val="8A8F98"/>
            </a:solidFill>
          </a:ln>
          <a:effectLst/>
        </p:spPr>
      </p:cxnSp>
      <p:cxnSp>
        <p:nvCxnSpPr>
          <p:cNvPr id="28" name="Connector 27"/>
          <p:cNvCxnSpPr/>
          <p:nvPr/>
        </p:nvCxnSpPr>
        <p:spPr>
          <a:xfrm flipH="1">
            <a:off x="4421124" y="2203704"/>
            <a:ext cx="2468880" cy="749807"/>
          </a:xfrm>
          <a:prstGeom prst="line">
            <a:avLst/>
          </a:prstGeom>
          <a:ln w="15875">
            <a:solidFill>
              <a:srgbClr val="8A8F98"/>
            </a:solidFill>
          </a:ln>
          <a:effectLst/>
        </p:spPr>
      </p:cxnSp>
      <p:cxnSp>
        <p:nvCxnSpPr>
          <p:cNvPr id="29" name="Connector 28"/>
          <p:cNvCxnSpPr/>
          <p:nvPr/>
        </p:nvCxnSpPr>
        <p:spPr>
          <a:xfrm>
            <a:off x="6890004" y="2203704"/>
            <a:ext cx="1965959" cy="749807"/>
          </a:xfrm>
          <a:prstGeom prst="line">
            <a:avLst/>
          </a:prstGeom>
          <a:ln w="15875">
            <a:solidFill>
              <a:srgbClr val="8A8F98"/>
            </a:solidFill>
          </a:ln>
          <a:effectLst/>
        </p:spPr>
      </p:cxnSp>
      <p:sp>
        <p:nvSpPr>
          <p:cNvPr id="30" name="Rounded Rectangle 2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2" name="Rounded Rectangle 3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4" name="Rounded Rectangle 3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6" name="Rounded Rectangle 3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8" name="Rounded Rectangle 3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0" name="Rounded Rectangle 3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2" name="Rounded Rectangle 4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3" name="TextBox 4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4" name="Rounded Rectangle 4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6" name="Rounded Rectangle 4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7" name="TextBox 4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8" name="Rounded Rectangle 47"/>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50" name="Rounded Rectangle 4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1" name="TextBox 5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Implementation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Parallel algorithms</a:t>
            </a:r>
          </a:p>
        </p:txBody>
      </p:sp>
      <p:sp>
        <p:nvSpPr>
          <p:cNvPr id="8" name="TextBox 7"/>
          <p:cNvSpPr txBox="1"/>
          <p:nvPr/>
        </p:nvSpPr>
        <p:spPr>
          <a:xfrm>
            <a:off x="640080" y="2057400"/>
            <a:ext cx="530352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grouping</a:t>
            </a:r>
            <a:r>
              <a:rPr sz="1800" b="0" i="0">
                <a:solidFill>
                  <a:srgbClr val="2B2F36"/>
                </a:solidFill>
                <a:latin typeface="Calibri"/>
              </a:rPr>
              <a:t>: integer sort on signature hashes</a:t>
            </a:r>
          </a:p>
          <a:p>
            <a:pPr marL="274320" indent="-237744">
              <a:spcBef>
                <a:spcPts val="1000"/>
              </a:spcBef>
              <a:buClr>
                <a:srgbClr val="6B717A"/>
              </a:buClr>
              <a:buChar char="•"/>
            </a:pPr>
            <a:r>
              <a:rPr sz="1800" b="1" i="0">
                <a:solidFill>
                  <a:srgbClr val="2B2F36"/>
                </a:solidFill>
                <a:latin typeface="Calibri"/>
              </a:rPr>
              <a:t>merging a group</a:t>
            </a:r>
            <a:r>
              <a:rPr sz="1800" b="0" i="0">
                <a:solidFill>
                  <a:srgbClr val="2B2F36"/>
                </a:solidFill>
                <a:latin typeface="Calibri"/>
              </a:rPr>
              <a:t>: divide-and-conquer unions</a:t>
            </a:r>
          </a:p>
          <a:p>
            <a:pPr marL="274320" indent="-237744">
              <a:spcBef>
                <a:spcPts val="1000"/>
              </a:spcBef>
              <a:buClr>
                <a:srgbClr val="6B717A"/>
              </a:buClr>
              <a:buChar char="•"/>
            </a:pPr>
            <a:r>
              <a:rPr sz="1800" b="1" i="0">
                <a:solidFill>
                  <a:srgbClr val="2B2F36"/>
                </a:solidFill>
                <a:latin typeface="Calibri"/>
              </a:rPr>
              <a:t>ParlayLib</a:t>
            </a:r>
            <a:r>
              <a:rPr sz="1800" b="0" i="0">
                <a:solidFill>
                  <a:srgbClr val="2B2F36"/>
                </a:solidFill>
                <a:latin typeface="Calibri"/>
              </a:rPr>
              <a:t> for scheduling and primitives</a:t>
            </a:r>
          </a:p>
        </p:txBody>
      </p:sp>
      <p:sp>
        <p:nvSpPr>
          <p:cNvPr id="9" name="Rounded Rectangle 8"/>
          <p:cNvSpPr/>
          <p:nvPr/>
        </p:nvSpPr>
        <p:spPr>
          <a:xfrm>
            <a:off x="6263640" y="1371600"/>
            <a:ext cx="539496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Sequential baseline, tuned</a:t>
            </a:r>
          </a:p>
        </p:txBody>
      </p:sp>
      <p:sp>
        <p:nvSpPr>
          <p:cNvPr id="11" name="TextBox 10"/>
          <p:cNvSpPr txBox="1"/>
          <p:nvPr/>
        </p:nvSpPr>
        <p:spPr>
          <a:xfrm>
            <a:off x="6355080" y="2057400"/>
            <a:ext cx="521208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worklist algorithm</a:t>
            </a:r>
            <a:r>
              <a:rPr sz="1800" b="0" i="0">
                <a:solidFill>
                  <a:srgbClr val="2B2F36"/>
                </a:solidFill>
                <a:latin typeface="Calibri"/>
              </a:rPr>
              <a:t> of Nieuwenhuis &amp; Oliveras, fastest of three variants</a:t>
            </a:r>
          </a:p>
          <a:p>
            <a:pPr marL="274320" indent="-237744">
              <a:spcBef>
                <a:spcPts val="1000"/>
              </a:spcBef>
              <a:buClr>
                <a:srgbClr val="6B717A"/>
              </a:buClr>
              <a:buChar char="•"/>
            </a:pPr>
            <a:r>
              <a:rPr sz="1800" b="1" i="0">
                <a:solidFill>
                  <a:srgbClr val="2B2F36"/>
                </a:solidFill>
                <a:latin typeface="Calibri"/>
              </a:rPr>
              <a:t>signature tables specialized by arity</a:t>
            </a:r>
          </a:p>
          <a:p>
            <a:pPr marL="274320" indent="-237744">
              <a:spcBef>
                <a:spcPts val="1000"/>
              </a:spcBef>
              <a:buClr>
                <a:srgbClr val="6B717A"/>
              </a:buClr>
              <a:buChar char="•"/>
            </a:pPr>
            <a:r>
              <a:rPr sz="1800" b="1" i="0">
                <a:solidFill>
                  <a:srgbClr val="2B2F36"/>
                </a:solidFill>
                <a:latin typeface="Calibri"/>
              </a:rPr>
              <a:t>bump allocator</a:t>
            </a:r>
          </a:p>
        </p:txBody>
      </p:sp>
      <p:sp>
        <p:nvSpPr>
          <p:cNvPr id="12" name="TextBox 11"/>
          <p:cNvSpPr txBox="1"/>
          <p:nvPr/>
        </p:nvSpPr>
        <p:spPr>
          <a:xfrm>
            <a:off x="548640" y="3858768"/>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semisort: Gu, Shun, Sun &amp; Blelloch, SPAA 2015   ·   concurrent union-find: Alistarh, Fedorov &amp; Koval, OPODIS 2019</a:t>
            </a:r>
          </a:p>
        </p:txBody>
      </p:sp>
      <p:sp>
        <p:nvSpPr>
          <p:cNvPr id="13" name="TextBox 12"/>
          <p:cNvSpPr txBox="1"/>
          <p:nvPr/>
        </p:nvSpPr>
        <p:spPr>
          <a:xfrm>
            <a:off x="548640" y="4224528"/>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C++ with g++ -O3.  Code and benchmarks: github.com/amarshah10/ParallelEgraph</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Evaluation</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200" b="0" i="0">
                <a:solidFill>
                  <a:srgbClr val="C9D3E6"/>
                </a:solidFill>
                <a:latin typeface="Calibri"/>
              </a:rPr>
              <a:t>random, synthetic, and circuit-equivalence benchmarks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Backup: ParentCC pseudocode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Rounded Rectangle 3"/>
          <p:cNvSpPr/>
          <p:nvPr/>
        </p:nvSpPr>
        <p:spPr>
          <a:xfrm>
            <a:off x="1463040" y="1325880"/>
            <a:ext cx="9235440" cy="4892040"/>
          </a:xfrm>
          <a:prstGeom prst="roundRect">
            <a:avLst>
              <a:gd name="adj" fmla="val 5000"/>
            </a:avLst>
          </a:prstGeom>
          <a:solidFill>
            <a:srgbClr val="F7F7F9"/>
          </a:solidFill>
          <a:ln>
            <a:noFill/>
          </a:ln>
          <a:effectLst/>
        </p:spPr>
        <p:txBody>
          <a:bodyPr rtlCol="0" anchor="ctr" lIns="54864" rIns="54864" tIns="27432" bIns="27432" wrap="square"/>
          <a:lstStyle/>
          <a:p>
            <a:pPr algn="ctr"/>
          </a:p>
        </p:txBody>
      </p:sp>
      <p:sp>
        <p:nvSpPr>
          <p:cNvPr id="5" name="TextBox 4"/>
          <p:cNvSpPr txBox="1"/>
          <p:nvPr/>
        </p:nvSpPr>
        <p:spPr>
          <a:xfrm>
            <a:off x="1737360" y="1417320"/>
            <a:ext cx="8778240" cy="4754880"/>
          </a:xfrm>
          <a:prstGeom prst="rect">
            <a:avLst/>
          </a:prstGeom>
          <a:noFill/>
        </p:spPr>
        <p:txBody>
          <a:bodyPr wrap="none">
            <a:spAutoFit/>
          </a:bodyPr>
          <a:lstStyle/>
          <a:p>
            <a:pPr>
              <a:spcAft>
                <a:spcPts val="150"/>
              </a:spcAft>
            </a:pPr>
            <a:r>
              <a:rPr sz="1400" b="1" i="0">
                <a:solidFill>
                  <a:srgbClr val="2B2F36"/>
                </a:solidFill>
                <a:latin typeface="Consolas"/>
              </a:rPr>
              <a:t>ParentCC(E):</a:t>
            </a:r>
          </a:p>
          <a:p>
            <a:pPr>
              <a:spcAft>
                <a:spcPts val="150"/>
              </a:spcAft>
            </a:pPr>
            <a:r>
              <a:rPr sz="1400" b="0" i="0">
                <a:solidFill>
                  <a:srgbClr val="2B2F36"/>
                </a:solidFill>
                <a:latin typeface="Consolas"/>
              </a:rPr>
              <a:t>    parfor (u = v) ∈ E:  Union(u, v)</a:t>
            </a:r>
          </a:p>
          <a:p>
            <a:pPr>
              <a:spcAft>
                <a:spcPts val="150"/>
              </a:spcAft>
            </a:pPr>
            <a:r>
              <a:rPr sz="1400" b="0" i="0">
                <a:solidFill>
                  <a:srgbClr val="2B2F36"/>
                </a:solidFill>
                <a:latin typeface="Consolas"/>
              </a:rPr>
              <a:t>    Work ← terms of E</a:t>
            </a:r>
          </a:p>
          <a:p>
            <a:pPr>
              <a:spcAft>
                <a:spcPts val="150"/>
              </a:spcAft>
            </a:pPr>
            <a:r>
              <a:rPr sz="1400" b="0" i="0">
                <a:solidFill>
                  <a:srgbClr val="2B2F36"/>
                </a:solidFill>
                <a:latin typeface="Consolas"/>
              </a:rPr>
              <a:t>    while Work ≠ ∅:</a:t>
            </a:r>
          </a:p>
          <a:p>
            <a:pPr>
              <a:spcAft>
                <a:spcPts val="150"/>
              </a:spcAft>
            </a:pPr>
            <a:r>
              <a:rPr sz="1400" b="0" i="0">
                <a:solidFill>
                  <a:srgbClr val="2B2F36"/>
                </a:solidFill>
                <a:latin typeface="Consolas"/>
              </a:rPr>
              <a:t>        parfor c ∈ Work with c ≠ Find(c):                 </a:t>
            </a:r>
            <a:r>
              <a:rPr sz="1400" b="0" i="0">
                <a:solidFill>
                  <a:srgbClr val="6B717A"/>
                </a:solidFill>
                <a:latin typeface="Consolas"/>
              </a:rPr>
              <a:t>▹ fold parent lists</a:t>
            </a:r>
          </a:p>
          <a:p>
            <a:pPr>
              <a:spcAft>
                <a:spcPts val="150"/>
              </a:spcAft>
            </a:pPr>
            <a:r>
              <a:rPr sz="1400" b="0" i="0">
                <a:solidFill>
                  <a:srgbClr val="2B2F36"/>
                </a:solidFill>
                <a:latin typeface="Consolas"/>
              </a:rPr>
              <a:t>            Parents[Find(c)] ← Parents[Find(c)] ∪ Parents[c]</a:t>
            </a:r>
          </a:p>
          <a:p>
            <a:pPr>
              <a:spcAft>
                <a:spcPts val="150"/>
              </a:spcAft>
            </a:pPr>
            <a:r>
              <a:rPr sz="1400" b="0" i="0">
                <a:solidFill>
                  <a:srgbClr val="2B2F36"/>
                </a:solidFill>
                <a:latin typeface="Consolas"/>
              </a:rPr>
              <a:t>        Frontier ← all compound terms          on round 0   </a:t>
            </a:r>
            <a:r>
              <a:rPr sz="1400" b="0" i="0">
                <a:solidFill>
                  <a:srgbClr val="6B717A"/>
                </a:solidFill>
                <a:latin typeface="Consolas"/>
              </a:rPr>
              <a:t>▹ seed round</a:t>
            </a:r>
          </a:p>
          <a:p>
            <a:pPr>
              <a:spcAft>
                <a:spcPts val="150"/>
              </a:spcAft>
            </a:pPr>
            <a:r>
              <a:rPr sz="1400" b="0" i="0">
                <a:solidFill>
                  <a:srgbClr val="2B2F36"/>
                </a:solidFill>
                <a:latin typeface="Consolas"/>
              </a:rPr>
              <a:t>        Frontier ← ⋃ Parents[Find(c)] for c ∈ Work   otherwise</a:t>
            </a:r>
          </a:p>
          <a:p>
            <a:pPr>
              <a:spcAft>
                <a:spcPts val="150"/>
              </a:spcAft>
            </a:pPr>
            <a:r>
              <a:rPr sz="1400" b="0" i="0">
                <a:solidFill>
                  <a:srgbClr val="2B2F36"/>
                </a:solidFill>
                <a:latin typeface="Consolas"/>
              </a:rPr>
              <a:t>        groups ← GroupBy(Congruent, Frontier)          </a:t>
            </a:r>
            <a:r>
              <a:rPr sz="1400" b="0" i="0">
                <a:solidFill>
                  <a:srgbClr val="6B717A"/>
                </a:solidFill>
                <a:latin typeface="Consolas"/>
              </a:rPr>
              <a:t>▹ semisort on sigs</a:t>
            </a:r>
          </a:p>
          <a:p>
            <a:pPr>
              <a:spcAft>
                <a:spcPts val="150"/>
              </a:spcAft>
            </a:pPr>
            <a:r>
              <a:rPr sz="1400" b="0" i="0">
                <a:solidFill>
                  <a:srgbClr val="2B2F36"/>
                </a:solidFill>
                <a:latin typeface="Consolas"/>
              </a:rPr>
              <a:t>        Work ← ∅</a:t>
            </a:r>
          </a:p>
          <a:p>
            <a:pPr>
              <a:spcAft>
                <a:spcPts val="150"/>
              </a:spcAft>
            </a:pPr>
            <a:r>
              <a:rPr sz="1400" b="0" i="0">
                <a:solidFill>
                  <a:srgbClr val="2B2F36"/>
                </a:solidFill>
                <a:latin typeface="Consolas"/>
              </a:rPr>
              <a:t>        parfor g ∈ groups spanning &gt; 1 class:</a:t>
            </a:r>
          </a:p>
          <a:p>
            <a:pPr>
              <a:spcAft>
                <a:spcPts val="150"/>
              </a:spcAft>
            </a:pPr>
            <a:r>
              <a:rPr sz="1400" b="0" i="0">
                <a:solidFill>
                  <a:srgbClr val="2B2F36"/>
                </a:solidFill>
                <a:latin typeface="Consolas"/>
              </a:rPr>
              <a:t>            MergeCongruenceClass(g)                          </a:t>
            </a:r>
            <a:r>
              <a:rPr sz="1400" b="0" i="0">
                <a:solidFill>
                  <a:srgbClr val="6B717A"/>
                </a:solidFill>
                <a:latin typeface="Consolas"/>
              </a:rPr>
              <a:t>▹ parallel unions</a:t>
            </a:r>
          </a:p>
          <a:p>
            <a:pPr>
              <a:spcAft>
                <a:spcPts val="150"/>
              </a:spcAft>
            </a:pPr>
            <a:r>
              <a:rPr sz="1400" b="0" i="0">
                <a:solidFill>
                  <a:srgbClr val="2B2F36"/>
                </a:solidFill>
                <a:latin typeface="Consolas"/>
              </a:rPr>
              <a:t>            Work ← Work ∪ pre-merge roots of g</a:t>
            </a:r>
          </a:p>
          <a:p>
            <a:pPr>
              <a:spcAft>
                <a:spcPts val="150"/>
              </a:spcAft>
            </a:pPr>
          </a:p>
          <a:p>
            <a:pPr>
              <a:spcAft>
                <a:spcPts val="150"/>
              </a:spcAft>
            </a:pPr>
            <a:r>
              <a:rPr sz="1400" b="0" i="0">
                <a:solidFill>
                  <a:srgbClr val="2B2F36"/>
                </a:solidFill>
                <a:latin typeface="Consolas"/>
              </a:rPr>
              <a:t>MergeCongruenceClass(S):                             </a:t>
            </a:r>
            <a:r>
              <a:rPr sz="1400" b="0" i="0">
                <a:solidFill>
                  <a:srgbClr val="6B717A"/>
                </a:solidFill>
                <a:latin typeface="Consolas"/>
              </a:rPr>
              <a:t>▹ divide and conquer</a:t>
            </a:r>
          </a:p>
          <a:p>
            <a:pPr>
              <a:spcAft>
                <a:spcPts val="150"/>
              </a:spcAft>
            </a:pPr>
            <a:r>
              <a:rPr sz="1400" b="0" i="0">
                <a:solidFill>
                  <a:srgbClr val="2B2F36"/>
                </a:solidFill>
                <a:latin typeface="Consolas"/>
              </a:rPr>
              <a:t>    if |S| = 1: return the element</a:t>
            </a:r>
          </a:p>
          <a:p>
            <a:pPr>
              <a:spcAft>
                <a:spcPts val="150"/>
              </a:spcAft>
            </a:pPr>
            <a:r>
              <a:rPr sz="1400" b="0" i="0">
                <a:solidFill>
                  <a:srgbClr val="2B2F36"/>
                </a:solidFill>
                <a:latin typeface="Consolas"/>
              </a:rPr>
              <a:t>    l, r ← MergeCongruenceClass(S[0..n/2]) ∥ MergeCongruenceClass(S[n/2..n])</a:t>
            </a:r>
          </a:p>
          <a:p>
            <a:pPr>
              <a:spcAft>
                <a:spcPts val="150"/>
              </a:spcAft>
            </a:pPr>
            <a:r>
              <a:rPr sz="1400" b="0" i="0">
                <a:solidFill>
                  <a:srgbClr val="2B2F36"/>
                </a:solidFill>
                <a:latin typeface="Consolas"/>
              </a:rPr>
              <a:t>    return Union(l, 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