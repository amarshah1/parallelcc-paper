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construction, a miter. Feed both circuits the same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XOR the corresponding outputs. The XOR is 1 exactly when the two outputs differ.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 is 1 exactly when the circuits disagree on the input we fed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 circuit becomes a congruence-closure instance. Input wires are leaves; every gate is a function symbol applied to its input wires. Two gates are congruent when they have the same symbol and their inputs are already known equal, which is exactly what makes congruence closure decide many of these instances.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equalities tie the two copies together: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rounds, width the merges available in one round. Here both are 2. On the circuit benchmarks width reaches millions while depth stays small, and Amar will show that width is what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Who might have become congruent? Only a term whose child just changed class, so: the parents of whatever merged last round. Of those, who actually is congruent? Group them by signature. Then merge every group, in parallel. 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first round considers every gate. Each gets a key: its symbol and the class of each child, written here in brackets. Equal keys group together: the ANDs match, the XORs match, the ITEs do not yet because a1 and a2 are still in different classes. The grouping is the semisort.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two-member groups merge, concurrently. This is the slide that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Candidates are the parents of what just merged: the two ITEs. Their keys now agree, so they merge. They have no parents, so round 3 has no candidates and the loop stops. Three rounds instead of eight sequential merges.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Deterministic: the union-find is linearizable and a set of unions yields the same partition in any order. Terminates: a round that merges anything reduces the number of classes. Sound: every group has equal symbol and equal child classes, so each merge is an instance of the congruence rule. Complete: when the last of a pair’s children merge, both parents are candidates next round.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 every round appends lists. FilterCC keeps one dirty bit per class instead and recomputes the candidates by filtering all terms for a child in a dirty class. It touches every term each round, but the filter is a cheap parallel scan with no allocation. Which wins depends on how many rounds the input needs;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every gate is a candidate, exactly as in ParentCC. Groups and merges are the same; afterwards the two merged classes are marked dirty.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gate classes are dirty. Filter every term for a child in a dirty class: the two ITEs. Merge them. The next filter finds nothing, so stop.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Called repeatedly over a solver run, so its cost adds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Despite ubiquity, algorithms used in practice </a:t>
            </a:r>
            <a:r>
              <a:rPr sz="2600" b="1" i="0">
                <a:solidFill>
                  <a:srgbClr val="2B2F36"/>
                </a:solidFill>
                <a:latin typeface="Calibri"/>
              </a:rPr>
              <a:t>fully sequential</a:t>
            </a:r>
          </a:p>
          <a:p>
            <a:pPr marL="274320" indent="-237744">
              <a:spcBef>
                <a:spcPts val="1800"/>
              </a:spcBef>
              <a:buClr>
                <a:srgbClr val="6B717A"/>
              </a:buClr>
              <a:buChar char="•"/>
            </a:pPr>
            <a:r>
              <a:rPr sz="2600" b="0" i="0">
                <a:solidFill>
                  <a:srgbClr val="2B2F36"/>
                </a:solidFill>
                <a:latin typeface="Calibri"/>
              </a:rPr>
              <a:t>Unfortunately,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Likely </a:t>
            </a:r>
            <a:r>
              <a:rPr sz="2600" b="1" i="0">
                <a:solidFill>
                  <a:srgbClr val="2B2F36"/>
                </a:solidFill>
                <a:latin typeface="Calibri"/>
              </a:rPr>
              <a:t>inherently sequential in the worst case</a:t>
            </a:r>
          </a:p>
        </p:txBody>
      </p:sp>
      <p:sp>
        <p:nvSpPr>
          <p:cNvPr id="7" name="TextBox 6"/>
          <p:cNvSpPr txBox="1"/>
          <p:nvPr/>
        </p:nvSpPr>
        <p:spPr>
          <a:xfrm>
            <a:off x="822960" y="4023360"/>
            <a:ext cx="10789920" cy="320040"/>
          </a:xfrm>
          <a:prstGeom prst="rect">
            <a:avLst/>
          </a:prstGeom>
          <a:noFill/>
        </p:spPr>
        <p:txBody>
          <a:bodyPr wrap="square" anchor="t" lIns="45720" rIns="45720" tIns="27432" bIns="27432">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Question: do practical instances expose enough</a:t>
            </a:r>
          </a:p>
          <a:p>
            <a:pPr algn="ctr"/>
            <a:r>
              <a:rPr sz="2400" b="1" i="0">
                <a:solidFill>
                  <a:srgbClr val="FFFFFF"/>
                </a:solidFill>
                <a:latin typeface="Calibri"/>
              </a:rPr>
              <a:t>independent merges for real speedups?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4617720"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7580375"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4617720"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7580375"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31520"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4617720"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7580375"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31520"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5321808" y="534924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5532120" y="4846320"/>
            <a:ext cx="0" cy="502920"/>
          </a:xfrm>
          <a:prstGeom prst="line">
            <a:avLst/>
          </a:prstGeom>
          <a:ln w="15875">
            <a:solidFill>
              <a:srgbClr val="8A8F98"/>
            </a:solidFill>
            <a:tailEnd type="triangle" w="med" len="med"/>
          </a:ln>
          <a:effectLst/>
        </p:spPr>
      </p:cxnSp>
      <p:cxnSp>
        <p:nvCxnSpPr>
          <p:cNvPr id="11" name="Connector 10"/>
          <p:cNvCxnSpPr/>
          <p:nvPr/>
        </p:nvCxnSpPr>
        <p:spPr>
          <a:xfrm flipV="1">
            <a:off x="8494776" y="4846320"/>
            <a:ext cx="0" cy="502920"/>
          </a:xfrm>
          <a:prstGeom prst="line">
            <a:avLst/>
          </a:prstGeom>
          <a:ln w="15875">
            <a:solidFill>
              <a:srgbClr val="8A8F98"/>
            </a:solidFill>
            <a:tailEnd type="triangle" w="med" len="med"/>
          </a:ln>
          <a:effectLst/>
        </p:spPr>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4617720"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7580375"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31520"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5321808" y="534924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5532120" y="4846320"/>
            <a:ext cx="0" cy="502920"/>
          </a:xfrm>
          <a:prstGeom prst="line">
            <a:avLst/>
          </a:prstGeom>
          <a:ln w="15875">
            <a:solidFill>
              <a:srgbClr val="8A8F98"/>
            </a:solidFill>
            <a:tailEnd type="triangle" w="med" len="med"/>
          </a:ln>
          <a:effectLst/>
        </p:spPr>
      </p:cxnSp>
      <p:cxnSp>
        <p:nvCxnSpPr>
          <p:cNvPr id="11" name="Connector 10"/>
          <p:cNvCxnSpPr/>
          <p:nvPr/>
        </p:nvCxnSpPr>
        <p:spPr>
          <a:xfrm flipV="1">
            <a:off x="8494776" y="4846320"/>
            <a:ext cx="0" cy="502920"/>
          </a:xfrm>
          <a:prstGeom prst="line">
            <a:avLst/>
          </a:prstGeom>
          <a:ln w="15875">
            <a:solidFill>
              <a:srgbClr val="8A8F98"/>
            </a:solidFill>
            <a:tailEnd type="triangle" w="med" len="med"/>
          </a:ln>
          <a:effectLst/>
        </p:spPr>
      </p:cxnSp>
      <p:sp>
        <p:nvSpPr>
          <p:cNvPr id="12" name="Rounded Rectangle 11"/>
          <p:cNvSpPr/>
          <p:nvPr/>
        </p:nvSpPr>
        <p:spPr>
          <a:xfrm>
            <a:off x="6236208" y="2697480"/>
            <a:ext cx="1554480" cy="713232"/>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5532120" y="3410712"/>
            <a:ext cx="1069848" cy="521208"/>
          </a:xfrm>
          <a:prstGeom prst="line">
            <a:avLst/>
          </a:prstGeom>
          <a:ln w="15875">
            <a:solidFill>
              <a:srgbClr val="8A8F98"/>
            </a:solidFill>
            <a:tailEnd type="triangle" w="med" len="med"/>
          </a:ln>
          <a:effectLst/>
        </p:spPr>
      </p:cxnSp>
      <p:cxnSp>
        <p:nvCxnSpPr>
          <p:cNvPr id="14" name="Connector 13"/>
          <p:cNvCxnSpPr/>
          <p:nvPr/>
        </p:nvCxnSpPr>
        <p:spPr>
          <a:xfrm flipH="1" flipV="1">
            <a:off x="7424927" y="3410712"/>
            <a:ext cx="1069849" cy="521208"/>
          </a:xfrm>
          <a:prstGeom prst="line">
            <a:avLst/>
          </a:prstGeom>
          <a:ln w="15875">
            <a:solidFill>
              <a:srgbClr val="8A8F98"/>
            </a:solidFill>
            <a:tailEnd type="triangle" w="med" len="med"/>
          </a:ln>
          <a:effectLst/>
        </p:spPr>
      </p:cxnSp>
      <p:sp>
        <p:nvSpPr>
          <p:cNvPr id="15" name="TextBox 14"/>
          <p:cNvSpPr txBox="1"/>
          <p:nvPr/>
        </p:nvSpPr>
        <p:spPr>
          <a:xfrm>
            <a:off x="5577840" y="3547872"/>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8083296" y="3547872"/>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4617720"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7580375"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31520"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5321808" y="534924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5532120" y="4846320"/>
            <a:ext cx="0" cy="502920"/>
          </a:xfrm>
          <a:prstGeom prst="line">
            <a:avLst/>
          </a:prstGeom>
          <a:ln w="15875">
            <a:solidFill>
              <a:srgbClr val="8A8F98"/>
            </a:solidFill>
            <a:tailEnd type="triangle" w="med" len="med"/>
          </a:ln>
          <a:effectLst/>
        </p:spPr>
      </p:cxnSp>
      <p:cxnSp>
        <p:nvCxnSpPr>
          <p:cNvPr id="11" name="Connector 10"/>
          <p:cNvCxnSpPr/>
          <p:nvPr/>
        </p:nvCxnSpPr>
        <p:spPr>
          <a:xfrm flipV="1">
            <a:off x="8494776" y="4846320"/>
            <a:ext cx="0" cy="502920"/>
          </a:xfrm>
          <a:prstGeom prst="line">
            <a:avLst/>
          </a:prstGeom>
          <a:ln w="15875">
            <a:solidFill>
              <a:srgbClr val="8A8F98"/>
            </a:solidFill>
            <a:tailEnd type="triangle" w="med" len="med"/>
          </a:ln>
          <a:effectLst/>
        </p:spPr>
      </p:cxnSp>
      <p:sp>
        <p:nvSpPr>
          <p:cNvPr id="12" name="Rounded Rectangle 11"/>
          <p:cNvSpPr/>
          <p:nvPr/>
        </p:nvSpPr>
        <p:spPr>
          <a:xfrm>
            <a:off x="6236208" y="2697480"/>
            <a:ext cx="1554480" cy="713232"/>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5532120" y="3410712"/>
            <a:ext cx="1069848" cy="521208"/>
          </a:xfrm>
          <a:prstGeom prst="line">
            <a:avLst/>
          </a:prstGeom>
          <a:ln w="15875">
            <a:solidFill>
              <a:srgbClr val="8A8F98"/>
            </a:solidFill>
            <a:tailEnd type="triangle" w="med" len="med"/>
          </a:ln>
          <a:effectLst/>
        </p:spPr>
      </p:cxnSp>
      <p:cxnSp>
        <p:nvCxnSpPr>
          <p:cNvPr id="14" name="Connector 13"/>
          <p:cNvCxnSpPr/>
          <p:nvPr/>
        </p:nvCxnSpPr>
        <p:spPr>
          <a:xfrm flipH="1" flipV="1">
            <a:off x="7424927" y="3410712"/>
            <a:ext cx="1069849" cy="521208"/>
          </a:xfrm>
          <a:prstGeom prst="line">
            <a:avLst/>
          </a:prstGeom>
          <a:ln w="15875">
            <a:solidFill>
              <a:srgbClr val="8A8F98"/>
            </a:solidFill>
            <a:tailEnd type="triangle" w="med" len="med"/>
          </a:ln>
          <a:effectLst/>
        </p:spPr>
      </p:cxnSp>
      <p:sp>
        <p:nvSpPr>
          <p:cNvPr id="15" name="TextBox 14"/>
          <p:cNvSpPr txBox="1"/>
          <p:nvPr/>
        </p:nvSpPr>
        <p:spPr>
          <a:xfrm>
            <a:off x="5577840" y="3547872"/>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8083296" y="3547872"/>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7013448" y="2212848"/>
            <a:ext cx="0" cy="484632"/>
          </a:xfrm>
          <a:prstGeom prst="line">
            <a:avLst/>
          </a:prstGeom>
          <a:ln w="15875">
            <a:solidFill>
              <a:srgbClr val="8A8F98"/>
            </a:solidFill>
            <a:tailEnd type="triangle" w="med" len="med"/>
          </a:ln>
          <a:effectLst/>
        </p:spPr>
      </p:cxnSp>
      <p:sp>
        <p:nvSpPr>
          <p:cNvPr id="18" name="TextBox 17"/>
          <p:cNvSpPr txBox="1"/>
          <p:nvPr/>
        </p:nvSpPr>
        <p:spPr>
          <a:xfrm>
            <a:off x="7123176" y="2240280"/>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31520" y="1847088"/>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4617720"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7580375" y="3931920"/>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31520"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5321808" y="534924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5532120" y="4846320"/>
            <a:ext cx="0" cy="502920"/>
          </a:xfrm>
          <a:prstGeom prst="line">
            <a:avLst/>
          </a:prstGeom>
          <a:ln w="15875">
            <a:solidFill>
              <a:srgbClr val="8A8F98"/>
            </a:solidFill>
            <a:tailEnd type="triangle" w="med" len="med"/>
          </a:ln>
          <a:effectLst/>
        </p:spPr>
      </p:cxnSp>
      <p:cxnSp>
        <p:nvCxnSpPr>
          <p:cNvPr id="11" name="Connector 10"/>
          <p:cNvCxnSpPr/>
          <p:nvPr/>
        </p:nvCxnSpPr>
        <p:spPr>
          <a:xfrm flipV="1">
            <a:off x="8494776" y="4846320"/>
            <a:ext cx="0" cy="502920"/>
          </a:xfrm>
          <a:prstGeom prst="line">
            <a:avLst/>
          </a:prstGeom>
          <a:ln w="15875">
            <a:solidFill>
              <a:srgbClr val="8A8F98"/>
            </a:solidFill>
            <a:tailEnd type="triangle" w="med" len="med"/>
          </a:ln>
          <a:effectLst/>
        </p:spPr>
      </p:cxnSp>
      <p:sp>
        <p:nvSpPr>
          <p:cNvPr id="12" name="Rounded Rectangle 11"/>
          <p:cNvSpPr/>
          <p:nvPr/>
        </p:nvSpPr>
        <p:spPr>
          <a:xfrm>
            <a:off x="6236208" y="2697480"/>
            <a:ext cx="1554480" cy="713232"/>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5532120" y="3410712"/>
            <a:ext cx="1069848" cy="521208"/>
          </a:xfrm>
          <a:prstGeom prst="line">
            <a:avLst/>
          </a:prstGeom>
          <a:ln w="15875">
            <a:solidFill>
              <a:srgbClr val="8A8F98"/>
            </a:solidFill>
            <a:tailEnd type="triangle" w="med" len="med"/>
          </a:ln>
          <a:effectLst/>
        </p:spPr>
      </p:cxnSp>
      <p:cxnSp>
        <p:nvCxnSpPr>
          <p:cNvPr id="14" name="Connector 13"/>
          <p:cNvCxnSpPr/>
          <p:nvPr/>
        </p:nvCxnSpPr>
        <p:spPr>
          <a:xfrm flipH="1" flipV="1">
            <a:off x="7424927" y="3410712"/>
            <a:ext cx="1069849" cy="521208"/>
          </a:xfrm>
          <a:prstGeom prst="line">
            <a:avLst/>
          </a:prstGeom>
          <a:ln w="15875">
            <a:solidFill>
              <a:srgbClr val="8A8F98"/>
            </a:solidFill>
            <a:tailEnd type="triangle" w="med" len="med"/>
          </a:ln>
          <a:effectLst/>
        </p:spPr>
      </p:cxnSp>
      <p:sp>
        <p:nvSpPr>
          <p:cNvPr id="15" name="TextBox 14"/>
          <p:cNvSpPr txBox="1"/>
          <p:nvPr/>
        </p:nvSpPr>
        <p:spPr>
          <a:xfrm>
            <a:off x="5577840" y="3547872"/>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8083296" y="3547872"/>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7013448" y="2212848"/>
            <a:ext cx="0" cy="484632"/>
          </a:xfrm>
          <a:prstGeom prst="line">
            <a:avLst/>
          </a:prstGeom>
          <a:ln w="15875">
            <a:solidFill>
              <a:srgbClr val="8A8F98"/>
            </a:solidFill>
            <a:tailEnd type="triangle" w="med" len="med"/>
          </a:ln>
          <a:effectLst/>
        </p:spPr>
      </p:cxnSp>
      <p:sp>
        <p:nvSpPr>
          <p:cNvPr id="18" name="TextBox 17"/>
          <p:cNvSpPr txBox="1"/>
          <p:nvPr/>
        </p:nvSpPr>
        <p:spPr>
          <a:xfrm>
            <a:off x="7123176" y="2240280"/>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31520" y="1847088"/>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70448"/>
            <a:ext cx="11064240" cy="512064"/>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equivalent   ⟺   p = 1 is unsatisfiable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Gates as terms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77440" y="1920240"/>
            <a:ext cx="7406640" cy="18288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2743200" y="2240280"/>
            <a:ext cx="6949440" cy="1280160"/>
          </a:xfrm>
          <a:prstGeom prst="rect">
            <a:avLst/>
          </a:prstGeom>
          <a:noFill/>
        </p:spPr>
        <p:txBody>
          <a:bodyPr wrap="none">
            <a:spAutoFit/>
          </a:bodyPr>
          <a:lstStyle/>
          <a:p>
            <a:pPr>
              <a:spcAft>
                <a:spcPts val="600"/>
              </a:spcAft>
            </a:pPr>
            <a:r>
              <a:rPr sz="1800" b="0" i="0">
                <a:solidFill>
                  <a:srgbClr val="2B2F36"/>
                </a:solidFill>
                <a:latin typeface="Consolas"/>
              </a:rPr>
              <a:t>t  ::=  x               </a:t>
            </a:r>
            <a:r>
              <a:rPr sz="1600" b="0" i="0">
                <a:solidFill>
                  <a:srgbClr val="6B717A"/>
                </a:solidFill>
                <a:latin typeface="Calibri"/>
              </a:rPr>
              <a:t>leaf: an input wire</a:t>
            </a:r>
          </a:p>
          <a:p>
            <a:pPr>
              <a:spcAft>
                <a:spcPts val="600"/>
              </a:spcAft>
            </a:pPr>
            <a:r>
              <a:rPr sz="1800" b="0" i="0">
                <a:solidFill>
                  <a:srgbClr val="2B2F36"/>
                </a:solidFill>
                <a:latin typeface="Consolas"/>
              </a:rPr>
              <a:t>   |   f(t₁, …, tₖ)     </a:t>
            </a:r>
            <a:r>
              <a:rPr sz="1600" b="0" i="0">
                <a:solidFill>
                  <a:srgbClr val="6B717A"/>
                </a:solidFill>
                <a:latin typeface="Calibri"/>
              </a:rPr>
              <a:t>gate: f ∈ F,  arity k</a:t>
            </a:r>
          </a:p>
          <a:p>
            <a:pPr>
              <a:spcAft>
                <a:spcPts val="600"/>
              </a:spcAft>
            </a:pPr>
            <a:r>
              <a:rPr sz="1800" b="0" i="0">
                <a:solidFill>
                  <a:srgbClr val="2B2F36"/>
                </a:solidFill>
                <a:latin typeface="Consolas"/>
              </a:rPr>
              <a:t>F = {AND, OR, XOR, ITE, …}</a:t>
            </a:r>
          </a:p>
        </p:txBody>
      </p:sp>
      <p:sp>
        <p:nvSpPr>
          <p:cNvPr id="8" name="TextBox 7"/>
          <p:cNvSpPr txBox="1"/>
          <p:nvPr/>
        </p:nvSpPr>
        <p:spPr>
          <a:xfrm>
            <a:off x="731520" y="4069080"/>
            <a:ext cx="10789920" cy="411480"/>
          </a:xfrm>
          <a:prstGeom prst="rect">
            <a:avLst/>
          </a:prstGeom>
          <a:noFill/>
        </p:spPr>
        <p:txBody>
          <a:bodyPr wrap="square" anchor="t" lIns="45720" rIns="45720" tIns="27432" bIns="27432">
            <a:spAutoFit/>
          </a:bodyPr>
          <a:lstStyle/>
          <a:p>
            <a:pPr algn="ctr"/>
            <a:r>
              <a:rPr sz="1700" b="0" i="0">
                <a:solidFill>
                  <a:srgbClr val="6B717A"/>
                </a:solidFill>
                <a:latin typeface="Calibri"/>
              </a:rPr>
              <a:t>a gate over input wires r, s:   AND(r, s)        a gate over gates:   ITE(c, AND(r, s), XOR(u, v))</a:t>
            </a:r>
          </a:p>
        </p:txBody>
      </p:sp>
      <p:sp>
        <p:nvSpPr>
          <p:cNvPr id="9" name="Rounded Rectangle 8"/>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Same symbol, equal inputs  ⟹  equal gates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number of rounds        width: merges per round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sp>
        <p:nvSpPr>
          <p:cNvPr id="14" name="Rounded Rectangle 13"/>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5" name="Rounded Rectangle 14"/>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6" name="TextBox 15"/>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7" name="TextBox 16"/>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8" name="Connector 17"/>
          <p:cNvCxnSpPr/>
          <p:nvPr/>
        </p:nvCxnSpPr>
        <p:spPr>
          <a:xfrm>
            <a:off x="3977639" y="2926080"/>
            <a:ext cx="475489" cy="0"/>
          </a:xfrm>
          <a:prstGeom prst="line">
            <a:avLst/>
          </a:prstGeom>
          <a:ln w="25400">
            <a:solidFill>
              <a:srgbClr val="2B2F36"/>
            </a:solidFill>
            <a:tailEnd type="triangle" w="med" len="med"/>
          </a:ln>
          <a:effectLst/>
        </p:spPr>
      </p:cxn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2775203"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2" name="TextBox 51"/>
          <p:cNvSpPr txBox="1"/>
          <p:nvPr/>
        </p:nvSpPr>
        <p:spPr>
          <a:xfrm>
            <a:off x="7210044"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3" name="TextBox 52"/>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4" name="TextBox 53"/>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0" name="TextBox 49"/>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4" name="Rounded Rectangle 13"/>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5129784" y="112471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2" name="TextBox 51"/>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Correctness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Deterministic</a:t>
            </a:r>
          </a:p>
        </p:txBody>
      </p:sp>
      <p:sp>
        <p:nvSpPr>
          <p:cNvPr id="7" name="Rectangle 6"/>
          <p:cNvSpPr/>
          <p:nvPr/>
        </p:nvSpPr>
        <p:spPr>
          <a:xfrm>
            <a:off x="3657600" y="1554480"/>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same classes whatever the thread order</a:t>
            </a:r>
          </a:p>
        </p:txBody>
      </p:sp>
      <p:sp>
        <p:nvSpPr>
          <p:cNvPr id="8" name="Rounded Rectangle 7"/>
          <p:cNvSpPr/>
          <p:nvPr/>
        </p:nvSpPr>
        <p:spPr>
          <a:xfrm>
            <a:off x="731520" y="260603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Terminates</a:t>
            </a:r>
          </a:p>
        </p:txBody>
      </p:sp>
      <p:sp>
        <p:nvSpPr>
          <p:cNvPr id="9" name="Rectangle 8"/>
          <p:cNvSpPr/>
          <p:nvPr/>
        </p:nvSpPr>
        <p:spPr>
          <a:xfrm>
            <a:off x="3657600" y="260603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
        <p:nvSpPr>
          <p:cNvPr id="10" name="Rounded Rectangle 9"/>
          <p:cNvSpPr/>
          <p:nvPr/>
        </p:nvSpPr>
        <p:spPr>
          <a:xfrm>
            <a:off x="731520" y="365759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Sound</a:t>
            </a:r>
          </a:p>
        </p:txBody>
      </p:sp>
      <p:sp>
        <p:nvSpPr>
          <p:cNvPr id="11" name="Rectangle 10"/>
          <p:cNvSpPr/>
          <p:nvPr/>
        </p:nvSpPr>
        <p:spPr>
          <a:xfrm>
            <a:off x="3657600" y="365759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12" name="Rounded Rectangle 11"/>
          <p:cNvSpPr/>
          <p:nvPr/>
        </p:nvSpPr>
        <p:spPr>
          <a:xfrm>
            <a:off x="731520" y="470915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Complete</a:t>
            </a:r>
          </a:p>
        </p:txBody>
      </p:sp>
      <p:sp>
        <p:nvSpPr>
          <p:cNvPr id="13" name="Rectangle 12"/>
          <p:cNvSpPr/>
          <p:nvPr/>
        </p:nvSpPr>
        <p:spPr>
          <a:xfrm>
            <a:off x="3657600" y="470915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972800" cy="457200"/>
          </a:xfrm>
          <a:prstGeom prst="rect">
            <a:avLst/>
          </a:prstGeom>
          <a:noFill/>
        </p:spPr>
        <p:txBody>
          <a:bodyPr wrap="square" anchor="t" lIns="45720" rIns="45720" tIns="27432" bIns="27432">
            <a:spAutoFit/>
          </a:bodyPr>
          <a:lstStyle/>
          <a:p>
            <a:pPr algn="l"/>
            <a:r>
              <a:rPr sz="2200" b="1" i="0">
                <a:solidFill>
                  <a:srgbClr val="1F2A44"/>
                </a:solidFill>
                <a:latin typeface="Calibri"/>
              </a:rPr>
              <a:t>Same rounds, different way to find the candidates</a:t>
            </a:r>
          </a:p>
        </p:txBody>
      </p:sp>
      <p:sp>
        <p:nvSpPr>
          <p:cNvPr id="7" name="Rectangle 6"/>
          <p:cNvSpPr/>
          <p:nvPr/>
        </p:nvSpPr>
        <p:spPr>
          <a:xfrm>
            <a:off x="731520" y="2194560"/>
            <a:ext cx="2322576" cy="54864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310896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ParentCC</a:t>
            </a:r>
          </a:p>
        </p:txBody>
      </p:sp>
      <p:sp>
        <p:nvSpPr>
          <p:cNvPr id="9" name="Rectangle 8"/>
          <p:cNvSpPr/>
          <p:nvPr/>
        </p:nvSpPr>
        <p:spPr>
          <a:xfrm>
            <a:off x="731520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FilterCC</a:t>
            </a:r>
          </a:p>
        </p:txBody>
      </p:sp>
      <p:sp>
        <p:nvSpPr>
          <p:cNvPr id="10" name="Rectangle 9"/>
          <p:cNvSpPr/>
          <p:nvPr/>
        </p:nvSpPr>
        <p:spPr>
          <a:xfrm>
            <a:off x="731520" y="2798064"/>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remember</a:t>
            </a:r>
          </a:p>
        </p:txBody>
      </p:sp>
      <p:sp>
        <p:nvSpPr>
          <p:cNvPr id="11" name="Rectangle 10"/>
          <p:cNvSpPr/>
          <p:nvPr/>
        </p:nvSpPr>
        <p:spPr>
          <a:xfrm>
            <a:off x="310896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 list per class</a:t>
            </a:r>
          </a:p>
        </p:txBody>
      </p:sp>
      <p:sp>
        <p:nvSpPr>
          <p:cNvPr id="12" name="Rectangle 11"/>
          <p:cNvSpPr/>
          <p:nvPr/>
        </p:nvSpPr>
        <p:spPr>
          <a:xfrm>
            <a:off x="731520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one dirty bit per class</a:t>
            </a:r>
          </a:p>
        </p:txBody>
      </p:sp>
      <p:sp>
        <p:nvSpPr>
          <p:cNvPr id="13" name="Rectangle 12"/>
          <p:cNvSpPr/>
          <p:nvPr/>
        </p:nvSpPr>
        <p:spPr>
          <a:xfrm>
            <a:off x="731520" y="3511296"/>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candidates</a:t>
            </a:r>
          </a:p>
        </p:txBody>
      </p:sp>
      <p:sp>
        <p:nvSpPr>
          <p:cNvPr id="14" name="Rectangle 13"/>
          <p:cNvSpPr/>
          <p:nvPr/>
        </p:nvSpPr>
        <p:spPr>
          <a:xfrm>
            <a:off x="310896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parents of last round’s merges</a:t>
            </a:r>
          </a:p>
        </p:txBody>
      </p:sp>
      <p:sp>
        <p:nvSpPr>
          <p:cNvPr id="15" name="Rectangle 14"/>
          <p:cNvSpPr/>
          <p:nvPr/>
        </p:nvSpPr>
        <p:spPr>
          <a:xfrm>
            <a:off x="731520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filter all terms for a dirty child</a:t>
            </a:r>
          </a:p>
        </p:txBody>
      </p:sp>
      <p:sp>
        <p:nvSpPr>
          <p:cNvPr id="16" name="Rectangle 15"/>
          <p:cNvSpPr/>
          <p:nvPr/>
        </p:nvSpPr>
        <p:spPr>
          <a:xfrm>
            <a:off x="731520" y="4224528"/>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cost per round</a:t>
            </a:r>
          </a:p>
        </p:txBody>
      </p:sp>
      <p:sp>
        <p:nvSpPr>
          <p:cNvPr id="17" name="Rectangle 16"/>
          <p:cNvSpPr/>
          <p:nvPr/>
        </p:nvSpPr>
        <p:spPr>
          <a:xfrm>
            <a:off x="310896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candidates, plus allocation</a:t>
            </a:r>
          </a:p>
        </p:txBody>
      </p:sp>
      <p:sp>
        <p:nvSpPr>
          <p:cNvPr id="18" name="Rectangle 17"/>
          <p:cNvSpPr/>
          <p:nvPr/>
        </p:nvSpPr>
        <p:spPr>
          <a:xfrm>
            <a:off x="731520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all terms, no allocation</a:t>
            </a:r>
          </a:p>
        </p:txBody>
      </p:sp>
      <p:sp>
        <p:nvSpPr>
          <p:cNvPr id="19" name="Rectangle 18"/>
          <p:cNvSpPr/>
          <p:nvPr/>
        </p:nvSpPr>
        <p:spPr>
          <a:xfrm>
            <a:off x="731520" y="4937760"/>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wins when</a:t>
            </a:r>
          </a:p>
        </p:txBody>
      </p:sp>
      <p:sp>
        <p:nvSpPr>
          <p:cNvPr id="20" name="Rectangle 19"/>
          <p:cNvSpPr/>
          <p:nvPr/>
        </p:nvSpPr>
        <p:spPr>
          <a:xfrm>
            <a:off x="310896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many rounds</a:t>
            </a:r>
          </a:p>
        </p:txBody>
      </p:sp>
      <p:sp>
        <p:nvSpPr>
          <p:cNvPr id="21" name="Rectangle 20"/>
          <p:cNvSpPr/>
          <p:nvPr/>
        </p:nvSpPr>
        <p:spPr>
          <a:xfrm>
            <a:off x="731520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few rounds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323843"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4823459"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6323075"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782269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9322308"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2784348" y="3803903"/>
            <a:ext cx="539496" cy="1106425"/>
          </a:xfrm>
          <a:prstGeom prst="line">
            <a:avLst/>
          </a:prstGeom>
          <a:ln w="15875">
            <a:solidFill>
              <a:srgbClr val="8A8F98"/>
            </a:solidFill>
          </a:ln>
          <a:effectLst/>
        </p:spPr>
      </p:cxnSp>
      <p:cxnSp>
        <p:nvCxnSpPr>
          <p:cNvPr id="21" name="Connector 20"/>
          <p:cNvCxnSpPr/>
          <p:nvPr/>
        </p:nvCxnSpPr>
        <p:spPr>
          <a:xfrm>
            <a:off x="3323844" y="3803903"/>
            <a:ext cx="960120" cy="1106425"/>
          </a:xfrm>
          <a:prstGeom prst="line">
            <a:avLst/>
          </a:prstGeom>
          <a:ln w="15875">
            <a:solidFill>
              <a:srgbClr val="8A8F98"/>
            </a:solidFill>
          </a:ln>
          <a:effectLst/>
        </p:spPr>
      </p:cxnSp>
      <p:cxnSp>
        <p:nvCxnSpPr>
          <p:cNvPr id="22" name="Connector 21"/>
          <p:cNvCxnSpPr/>
          <p:nvPr/>
        </p:nvCxnSpPr>
        <p:spPr>
          <a:xfrm flipH="1">
            <a:off x="3406139" y="3803903"/>
            <a:ext cx="1014985" cy="1106425"/>
          </a:xfrm>
          <a:prstGeom prst="line">
            <a:avLst/>
          </a:prstGeom>
          <a:ln w="15875">
            <a:solidFill>
              <a:srgbClr val="8A8F98"/>
            </a:solidFill>
          </a:ln>
          <a:effectLst/>
        </p:spPr>
      </p:cxnSp>
      <p:cxnSp>
        <p:nvCxnSpPr>
          <p:cNvPr id="23" name="Connector 22"/>
          <p:cNvCxnSpPr/>
          <p:nvPr/>
        </p:nvCxnSpPr>
        <p:spPr>
          <a:xfrm>
            <a:off x="4421124" y="3803903"/>
            <a:ext cx="484632" cy="1106425"/>
          </a:xfrm>
          <a:prstGeom prst="line">
            <a:avLst/>
          </a:prstGeom>
          <a:ln w="15875">
            <a:solidFill>
              <a:srgbClr val="8A8F98"/>
            </a:solidFill>
          </a:ln>
          <a:effectLst/>
        </p:spPr>
      </p:cxnSp>
      <p:cxnSp>
        <p:nvCxnSpPr>
          <p:cNvPr id="24" name="Connector 23"/>
          <p:cNvCxnSpPr/>
          <p:nvPr/>
        </p:nvCxnSpPr>
        <p:spPr>
          <a:xfrm flipH="1">
            <a:off x="7283196" y="3803903"/>
            <a:ext cx="475487" cy="1106425"/>
          </a:xfrm>
          <a:prstGeom prst="line">
            <a:avLst/>
          </a:prstGeom>
          <a:ln w="15875">
            <a:solidFill>
              <a:srgbClr val="8A8F98"/>
            </a:solidFill>
          </a:ln>
          <a:effectLst/>
        </p:spPr>
      </p:cxnSp>
      <p:cxnSp>
        <p:nvCxnSpPr>
          <p:cNvPr id="25" name="Connector 24"/>
          <p:cNvCxnSpPr/>
          <p:nvPr/>
        </p:nvCxnSpPr>
        <p:spPr>
          <a:xfrm>
            <a:off x="7758683" y="3803903"/>
            <a:ext cx="1024129" cy="1106425"/>
          </a:xfrm>
          <a:prstGeom prst="line">
            <a:avLst/>
          </a:prstGeom>
          <a:ln w="15875">
            <a:solidFill>
              <a:srgbClr val="8A8F98"/>
            </a:solidFill>
          </a:ln>
          <a:effectLst/>
        </p:spPr>
      </p:cxnSp>
      <p:cxnSp>
        <p:nvCxnSpPr>
          <p:cNvPr id="26" name="Connector 25"/>
          <p:cNvCxnSpPr/>
          <p:nvPr/>
        </p:nvCxnSpPr>
        <p:spPr>
          <a:xfrm flipH="1">
            <a:off x="7904988" y="3803903"/>
            <a:ext cx="950975" cy="1106425"/>
          </a:xfrm>
          <a:prstGeom prst="line">
            <a:avLst/>
          </a:prstGeom>
          <a:ln w="15875">
            <a:solidFill>
              <a:srgbClr val="8A8F98"/>
            </a:solidFill>
          </a:ln>
          <a:effectLst/>
        </p:spPr>
      </p:cxnSp>
      <p:cxnSp>
        <p:nvCxnSpPr>
          <p:cNvPr id="27" name="Connector 26"/>
          <p:cNvCxnSpPr/>
          <p:nvPr/>
        </p:nvCxnSpPr>
        <p:spPr>
          <a:xfrm>
            <a:off x="8855963" y="3803903"/>
            <a:ext cx="548641" cy="1106425"/>
          </a:xfrm>
          <a:prstGeom prst="line">
            <a:avLst/>
          </a:prstGeom>
          <a:ln w="15875">
            <a:solidFill>
              <a:srgbClr val="8A8F98"/>
            </a:solidFill>
          </a:ln>
          <a:effectLst/>
        </p:spPr>
      </p:cxnSp>
      <p:cxnSp>
        <p:nvCxnSpPr>
          <p:cNvPr id="28" name="Connector 27"/>
          <p:cNvCxnSpPr/>
          <p:nvPr/>
        </p:nvCxnSpPr>
        <p:spPr>
          <a:xfrm>
            <a:off x="5564124" y="2203704"/>
            <a:ext cx="219455" cy="2706624"/>
          </a:xfrm>
          <a:prstGeom prst="line">
            <a:avLst/>
          </a:prstGeom>
          <a:ln w="15875">
            <a:solidFill>
              <a:srgbClr val="8A8F98"/>
            </a:solidFill>
          </a:ln>
          <a:effectLst/>
        </p:spPr>
      </p:cxnSp>
      <p:cxnSp>
        <p:nvCxnSpPr>
          <p:cNvPr id="29" name="Connector 28"/>
          <p:cNvCxnSpPr/>
          <p:nvPr/>
        </p:nvCxnSpPr>
        <p:spPr>
          <a:xfrm flipH="1">
            <a:off x="3323844" y="2203704"/>
            <a:ext cx="2240280" cy="749807"/>
          </a:xfrm>
          <a:prstGeom prst="line">
            <a:avLst/>
          </a:prstGeom>
          <a:ln w="15875">
            <a:solidFill>
              <a:srgbClr val="8A8F98"/>
            </a:solidFill>
          </a:ln>
          <a:effectLst/>
        </p:spPr>
      </p:cxnSp>
      <p:cxnSp>
        <p:nvCxnSpPr>
          <p:cNvPr id="30" name="Connector 29"/>
          <p:cNvCxnSpPr/>
          <p:nvPr/>
        </p:nvCxnSpPr>
        <p:spPr>
          <a:xfrm>
            <a:off x="5564124" y="2203704"/>
            <a:ext cx="2194559" cy="749807"/>
          </a:xfrm>
          <a:prstGeom prst="line">
            <a:avLst/>
          </a:prstGeom>
          <a:ln w="15875">
            <a:solidFill>
              <a:srgbClr val="8A8F98"/>
            </a:solidFill>
          </a:ln>
          <a:effectLst/>
        </p:spPr>
      </p:cxnSp>
      <p:cxnSp>
        <p:nvCxnSpPr>
          <p:cNvPr id="31" name="Connector 30"/>
          <p:cNvCxnSpPr/>
          <p:nvPr/>
        </p:nvCxnSpPr>
        <p:spPr>
          <a:xfrm flipH="1">
            <a:off x="6405372" y="2203704"/>
            <a:ext cx="484632" cy="2706624"/>
          </a:xfrm>
          <a:prstGeom prst="line">
            <a:avLst/>
          </a:prstGeom>
          <a:ln w="15875">
            <a:solidFill>
              <a:srgbClr val="8A8F98"/>
            </a:solidFill>
          </a:ln>
          <a:effectLst/>
        </p:spPr>
      </p:cxnSp>
      <p:cxnSp>
        <p:nvCxnSpPr>
          <p:cNvPr id="32" name="Connector 31"/>
          <p:cNvCxnSpPr/>
          <p:nvPr/>
        </p:nvCxnSpPr>
        <p:spPr>
          <a:xfrm flipH="1">
            <a:off x="4421124" y="2203704"/>
            <a:ext cx="2468880" cy="749807"/>
          </a:xfrm>
          <a:prstGeom prst="line">
            <a:avLst/>
          </a:prstGeom>
          <a:ln w="15875">
            <a:solidFill>
              <a:srgbClr val="8A8F98"/>
            </a:solidFill>
          </a:ln>
          <a:effectLst/>
        </p:spPr>
      </p:cxnSp>
      <p:cxnSp>
        <p:nvCxnSpPr>
          <p:cNvPr id="33" name="Connector 32"/>
          <p:cNvCxnSpPr/>
          <p:nvPr/>
        </p:nvCxnSpPr>
        <p:spPr>
          <a:xfrm>
            <a:off x="6890004" y="2203704"/>
            <a:ext cx="1965959" cy="749807"/>
          </a:xfrm>
          <a:prstGeom prst="line">
            <a:avLst/>
          </a:prstGeom>
          <a:ln w="15875">
            <a:solidFill>
              <a:srgbClr val="8A8F98"/>
            </a:solidFill>
          </a:ln>
          <a:effectLst/>
        </p:spPr>
      </p:cxnSp>
      <p:sp>
        <p:nvSpPr>
          <p:cNvPr id="34" name="Rounded Rectangle 33"/>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4" name="Rounded Rectangle 53"/>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446684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890168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2784348" y="3803903"/>
            <a:ext cx="539496" cy="1106425"/>
          </a:xfrm>
          <a:prstGeom prst="line">
            <a:avLst/>
          </a:prstGeom>
          <a:ln w="15875">
            <a:solidFill>
              <a:srgbClr val="8A8F98"/>
            </a:solidFill>
          </a:ln>
          <a:effectLst/>
        </p:spPr>
      </p:cxnSp>
      <p:cxnSp>
        <p:nvCxnSpPr>
          <p:cNvPr id="17" name="Connector 16"/>
          <p:cNvCxnSpPr/>
          <p:nvPr/>
        </p:nvCxnSpPr>
        <p:spPr>
          <a:xfrm>
            <a:off x="3323844" y="3803903"/>
            <a:ext cx="960120" cy="1106425"/>
          </a:xfrm>
          <a:prstGeom prst="line">
            <a:avLst/>
          </a:prstGeom>
          <a:ln w="15875">
            <a:solidFill>
              <a:srgbClr val="8A8F98"/>
            </a:solidFill>
          </a:ln>
          <a:effectLst/>
        </p:spPr>
      </p:cxnSp>
      <p:cxnSp>
        <p:nvCxnSpPr>
          <p:cNvPr id="18" name="Connector 17"/>
          <p:cNvCxnSpPr/>
          <p:nvPr/>
        </p:nvCxnSpPr>
        <p:spPr>
          <a:xfrm flipH="1">
            <a:off x="3406139" y="3803903"/>
            <a:ext cx="1014985" cy="1106425"/>
          </a:xfrm>
          <a:prstGeom prst="line">
            <a:avLst/>
          </a:prstGeom>
          <a:ln w="15875">
            <a:solidFill>
              <a:srgbClr val="8A8F98"/>
            </a:solidFill>
          </a:ln>
          <a:effectLst/>
        </p:spPr>
      </p:cxnSp>
      <p:cxnSp>
        <p:nvCxnSpPr>
          <p:cNvPr id="19" name="Connector 18"/>
          <p:cNvCxnSpPr/>
          <p:nvPr/>
        </p:nvCxnSpPr>
        <p:spPr>
          <a:xfrm>
            <a:off x="4421124" y="3803903"/>
            <a:ext cx="484632" cy="1106425"/>
          </a:xfrm>
          <a:prstGeom prst="line">
            <a:avLst/>
          </a:prstGeom>
          <a:ln w="15875">
            <a:solidFill>
              <a:srgbClr val="8A8F98"/>
            </a:solidFill>
          </a:ln>
          <a:effectLst/>
        </p:spPr>
      </p:cxnSp>
      <p:cxnSp>
        <p:nvCxnSpPr>
          <p:cNvPr id="20" name="Connector 19"/>
          <p:cNvCxnSpPr/>
          <p:nvPr/>
        </p:nvCxnSpPr>
        <p:spPr>
          <a:xfrm flipH="1">
            <a:off x="7283196" y="3803903"/>
            <a:ext cx="475487" cy="1106425"/>
          </a:xfrm>
          <a:prstGeom prst="line">
            <a:avLst/>
          </a:prstGeom>
          <a:ln w="15875">
            <a:solidFill>
              <a:srgbClr val="8A8F98"/>
            </a:solidFill>
          </a:ln>
          <a:effectLst/>
        </p:spPr>
      </p:cxnSp>
      <p:cxnSp>
        <p:nvCxnSpPr>
          <p:cNvPr id="21" name="Connector 20"/>
          <p:cNvCxnSpPr/>
          <p:nvPr/>
        </p:nvCxnSpPr>
        <p:spPr>
          <a:xfrm>
            <a:off x="7758683" y="3803903"/>
            <a:ext cx="1024129" cy="1106425"/>
          </a:xfrm>
          <a:prstGeom prst="line">
            <a:avLst/>
          </a:prstGeom>
          <a:ln w="15875">
            <a:solidFill>
              <a:srgbClr val="8A8F98"/>
            </a:solidFill>
          </a:ln>
          <a:effectLst/>
        </p:spPr>
      </p:cxnSp>
      <p:cxnSp>
        <p:nvCxnSpPr>
          <p:cNvPr id="22" name="Connector 21"/>
          <p:cNvCxnSpPr/>
          <p:nvPr/>
        </p:nvCxnSpPr>
        <p:spPr>
          <a:xfrm flipH="1">
            <a:off x="7904988" y="3803903"/>
            <a:ext cx="950975" cy="1106425"/>
          </a:xfrm>
          <a:prstGeom prst="line">
            <a:avLst/>
          </a:prstGeom>
          <a:ln w="15875">
            <a:solidFill>
              <a:srgbClr val="8A8F98"/>
            </a:solidFill>
          </a:ln>
          <a:effectLst/>
        </p:spPr>
      </p:cxnSp>
      <p:cxnSp>
        <p:nvCxnSpPr>
          <p:cNvPr id="23" name="Connector 22"/>
          <p:cNvCxnSpPr/>
          <p:nvPr/>
        </p:nvCxnSpPr>
        <p:spPr>
          <a:xfrm>
            <a:off x="8855963" y="3803903"/>
            <a:ext cx="548641" cy="1106425"/>
          </a:xfrm>
          <a:prstGeom prst="line">
            <a:avLst/>
          </a:prstGeom>
          <a:ln w="15875">
            <a:solidFill>
              <a:srgbClr val="8A8F98"/>
            </a:solidFill>
          </a:ln>
          <a:effectLst/>
        </p:spPr>
      </p:cxnSp>
      <p:cxnSp>
        <p:nvCxnSpPr>
          <p:cNvPr id="24" name="Connector 23"/>
          <p:cNvCxnSpPr/>
          <p:nvPr/>
        </p:nvCxnSpPr>
        <p:spPr>
          <a:xfrm>
            <a:off x="5564124" y="2203704"/>
            <a:ext cx="219455" cy="2706624"/>
          </a:xfrm>
          <a:prstGeom prst="line">
            <a:avLst/>
          </a:prstGeom>
          <a:ln w="15875">
            <a:solidFill>
              <a:srgbClr val="8A8F98"/>
            </a:solidFill>
          </a:ln>
          <a:effectLst/>
        </p:spPr>
      </p:cxnSp>
      <p:cxnSp>
        <p:nvCxnSpPr>
          <p:cNvPr id="25" name="Connector 24"/>
          <p:cNvCxnSpPr/>
          <p:nvPr/>
        </p:nvCxnSpPr>
        <p:spPr>
          <a:xfrm flipH="1">
            <a:off x="3323844" y="2203704"/>
            <a:ext cx="2240280" cy="749807"/>
          </a:xfrm>
          <a:prstGeom prst="line">
            <a:avLst/>
          </a:prstGeom>
          <a:ln w="15875">
            <a:solidFill>
              <a:srgbClr val="8A8F98"/>
            </a:solidFill>
          </a:ln>
          <a:effectLst/>
        </p:spPr>
      </p:cxnSp>
      <p:cxnSp>
        <p:nvCxnSpPr>
          <p:cNvPr id="26" name="Connector 25"/>
          <p:cNvCxnSpPr/>
          <p:nvPr/>
        </p:nvCxnSpPr>
        <p:spPr>
          <a:xfrm>
            <a:off x="5564124" y="2203704"/>
            <a:ext cx="2194559" cy="749807"/>
          </a:xfrm>
          <a:prstGeom prst="line">
            <a:avLst/>
          </a:prstGeom>
          <a:ln w="15875">
            <a:solidFill>
              <a:srgbClr val="8A8F98"/>
            </a:solidFill>
          </a:ln>
          <a:effectLst/>
        </p:spPr>
      </p:cxnSp>
      <p:cxnSp>
        <p:nvCxnSpPr>
          <p:cNvPr id="27" name="Connector 26"/>
          <p:cNvCxnSpPr/>
          <p:nvPr/>
        </p:nvCxnSpPr>
        <p:spPr>
          <a:xfrm flipH="1">
            <a:off x="6405372" y="2203704"/>
            <a:ext cx="484632" cy="2706624"/>
          </a:xfrm>
          <a:prstGeom prst="line">
            <a:avLst/>
          </a:prstGeom>
          <a:ln w="15875">
            <a:solidFill>
              <a:srgbClr val="8A8F98"/>
            </a:solidFill>
          </a:ln>
          <a:effectLst/>
        </p:spPr>
      </p:cxnSp>
      <p:cxnSp>
        <p:nvCxnSpPr>
          <p:cNvPr id="28" name="Connector 27"/>
          <p:cNvCxnSpPr/>
          <p:nvPr/>
        </p:nvCxnSpPr>
        <p:spPr>
          <a:xfrm flipH="1">
            <a:off x="4421124" y="2203704"/>
            <a:ext cx="2468880" cy="749807"/>
          </a:xfrm>
          <a:prstGeom prst="line">
            <a:avLst/>
          </a:prstGeom>
          <a:ln w="15875">
            <a:solidFill>
              <a:srgbClr val="8A8F98"/>
            </a:solidFill>
          </a:ln>
          <a:effectLst/>
        </p:spPr>
      </p:cxnSp>
      <p:cxnSp>
        <p:nvCxnSpPr>
          <p:cNvPr id="29" name="Connector 28"/>
          <p:cNvCxnSpPr/>
          <p:nvPr/>
        </p:nvCxnSpPr>
        <p:spPr>
          <a:xfrm>
            <a:off x="6890004" y="2203704"/>
            <a:ext cx="1965959" cy="749807"/>
          </a:xfrm>
          <a:prstGeom prst="line">
            <a:avLst/>
          </a:prstGeom>
          <a:ln w="15875">
            <a:solidFill>
              <a:srgbClr val="8A8F98"/>
            </a:solidFill>
          </a:ln>
          <a:effectLst/>
        </p:spPr>
      </p:cxnSp>
      <p:sp>
        <p:nvSpPr>
          <p:cNvPr id="30" name="Rounded Rectangle 2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0" name="Rounded Rectangle 4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