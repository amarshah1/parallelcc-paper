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XOR output is the single bit p, the miter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merge every group, and all the groups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while a round merged something. The very first round has no previous merges to look at, so it considers every term; that also catches terms that were congruent before any equality was applied. The barrier between phases is what makes the parallelism safe: while we compute signatures nobody is merging, so every thread reads the same classes, and while we merge nobody is reading signatures.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example, same rings as the schedule. Round 0 is the input: union each pair of equated wires, all five at once. No congruence yet, just the equalities we were handed.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Phase one, candidates: the first round considers every gate, in amber. Phase two, group them by signature: symbol plus the class of each child, written in brackets above each purple group. The ANDs share a key, the XORs share a key, the ITEs do not yet because a1 and a2 are still in different classes. The grouping is a semisort. This is the step that changes: the sequential algorithm looks each signature up in a hash table, one at a time; here all the signatures of the round are sorted together, in one data-parallel step.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merge: both two-member groups merge, concurrently. This is where the parallel run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Candidates are the parents of what just merged: the two ITEs. Their keys now agree, so they form one group.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them. One union.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ITEs have no parents, so round 3 has no candidates and the loop stops. Eight merges in three rounds, and the rings are exactly the bulk-synchronous schedule from before: ParentCC found all of the available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the second algorithm. ParentCC finds candidates through parent lists, one per class, and every merge appends to them: allocation on the hot path. FilterCC drops the lists. A merge just sets a dirty bit on its classes, and the next round filters all terms for a child in a dirty class. Threads racing to set the same bit is harmless, setting a bit is idempotent. The price is a scan of every term each round, so FilterCC wins when rounds are few and ParentCC when they are many;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per solver run: the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4" name="Rounded Rectangle 4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Often decided by congruence closure alone   (Biere et al., SAT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Equivalent.  8 merges, one at a time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
        <p:nvSpPr>
          <p:cNvPr id="25" name="TextBox 24"/>
          <p:cNvSpPr txBox="1"/>
          <p:nvPr/>
        </p:nvSpPr>
        <p:spPr>
          <a:xfrm>
            <a:off x="685800" y="548640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barrier between phases: signatures read a union-find nobody is writing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Rounded Rectangle 46"/>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48" name="TextBox 47"/>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49" name="TextBox 48"/>
          <p:cNvSpPr txBox="1"/>
          <p:nvPr/>
        </p:nvSpPr>
        <p:spPr>
          <a:xfrm>
            <a:off x="2775203"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4274820"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5774436"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2" name="TextBox 51"/>
          <p:cNvSpPr txBox="1"/>
          <p:nvPr/>
        </p:nvSpPr>
        <p:spPr>
          <a:xfrm>
            <a:off x="7274052"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3" name="TextBox 52"/>
          <p:cNvSpPr txBox="1"/>
          <p:nvPr/>
        </p:nvSpPr>
        <p:spPr>
          <a:xfrm>
            <a:off x="8773668"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4" name="Rounded Rectangle 53"/>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6" name="Rounded Rectangle 55"/>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7" name="TextBox 56"/>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Rounded Rectangle 50"/>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2" name="TextBox 51"/>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3" name="Rounded Rectangle 52"/>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4" name="TextBox 53"/>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5" name="Rounded Rectangle 54"/>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grouping by signature = a semisort: one parallel step, no table lookups</a:t>
            </a:r>
          </a:p>
        </p:txBody>
      </p:sp>
      <p:sp>
        <p:nvSpPr>
          <p:cNvPr id="56" name="TextBox 55"/>
          <p:cNvSpPr txBox="1"/>
          <p:nvPr/>
        </p:nvSpPr>
        <p:spPr>
          <a:xfrm>
            <a:off x="2775203" y="234086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7" name="TextBox 56"/>
          <p:cNvSpPr txBox="1"/>
          <p:nvPr/>
        </p:nvSpPr>
        <p:spPr>
          <a:xfrm>
            <a:off x="7210044" y="234086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8" name="TextBox 57"/>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9" name="TextBox 58"/>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
        <p:nvSpPr>
          <p:cNvPr id="60" name="Rounded Rectangle 59"/>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61" name="TextBox 60"/>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62" name="Rounded Rectangle 61"/>
          <p:cNvSpPr/>
          <p:nvPr/>
        </p:nvSpPr>
        <p:spPr>
          <a:xfrm>
            <a:off x="502920" y="2066543"/>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3" name="TextBox 62"/>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signature group</a:t>
            </a:r>
          </a:p>
        </p:txBody>
      </p:sp>
      <p:sp>
        <p:nvSpPr>
          <p:cNvPr id="64" name="Rounded Rectangle 63"/>
          <p:cNvSpPr/>
          <p:nvPr/>
        </p:nvSpPr>
        <p:spPr>
          <a:xfrm>
            <a:off x="502920" y="2487168"/>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5" name="TextBox 64"/>
          <p:cNvSpPr txBox="1"/>
          <p:nvPr/>
        </p:nvSpPr>
        <p:spPr>
          <a:xfrm>
            <a:off x="905256" y="2441448"/>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Rounded Rectangle 48"/>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0" name="TextBox 49"/>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1" name="Rounded Rectangle 50"/>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2" name="TextBox 51"/>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3" name="TextBox 52"/>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4" name="TextBox 53"/>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5" name="Rounded Rectangle 54"/>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6" name="TextBox 55"/>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7" name="Rounded Rectangle 56"/>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8" name="TextBox 57"/>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TextBox 55"/>
          <p:cNvSpPr txBox="1"/>
          <p:nvPr/>
        </p:nvSpPr>
        <p:spPr>
          <a:xfrm>
            <a:off x="5129784" y="101498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7" name="Rounded Rectangle 56"/>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8" name="TextBox 5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59" name="Rounded Rectangle 58"/>
          <p:cNvSpPr/>
          <p:nvPr/>
        </p:nvSpPr>
        <p:spPr>
          <a:xfrm>
            <a:off x="502920" y="2066543"/>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0" name="TextBox 5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signature group</a:t>
            </a:r>
          </a:p>
        </p:txBody>
      </p:sp>
      <p:sp>
        <p:nvSpPr>
          <p:cNvPr id="61" name="Rounded Rectangle 60"/>
          <p:cNvSpPr/>
          <p:nvPr/>
        </p:nvSpPr>
        <p:spPr>
          <a:xfrm>
            <a:off x="502920" y="2487168"/>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2" name="TextBox 61"/>
          <p:cNvSpPr txBox="1"/>
          <p:nvPr/>
        </p:nvSpPr>
        <p:spPr>
          <a:xfrm>
            <a:off x="905256" y="2441448"/>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TextBox 55"/>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7" name="Rounded Rectangle 56"/>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8" name="TextBox 5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9" name="Rounded Rectangle 58"/>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0" name="TextBox 5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Done: 8 merges in 3 rounds, the schedule from before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214884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Soundness</a:t>
            </a:r>
          </a:p>
        </p:txBody>
      </p:sp>
      <p:sp>
        <p:nvSpPr>
          <p:cNvPr id="7" name="Rectangle 6"/>
          <p:cNvSpPr/>
          <p:nvPr/>
        </p:nvSpPr>
        <p:spPr>
          <a:xfrm>
            <a:off x="3840480" y="214884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8" name="Rounded Rectangle 7"/>
          <p:cNvSpPr/>
          <p:nvPr/>
        </p:nvSpPr>
        <p:spPr>
          <a:xfrm>
            <a:off x="731520" y="333756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Completeness</a:t>
            </a:r>
          </a:p>
        </p:txBody>
      </p:sp>
      <p:sp>
        <p:nvSpPr>
          <p:cNvPr id="9" name="Rectangle 8"/>
          <p:cNvSpPr/>
          <p:nvPr/>
        </p:nvSpPr>
        <p:spPr>
          <a:xfrm>
            <a:off x="3840480" y="333756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
        <p:nvSpPr>
          <p:cNvPr id="10" name="Rounded Rectangle 9"/>
          <p:cNvSpPr/>
          <p:nvPr/>
        </p:nvSpPr>
        <p:spPr>
          <a:xfrm>
            <a:off x="731520" y="452628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Termination</a:t>
            </a:r>
          </a:p>
        </p:txBody>
      </p:sp>
      <p:sp>
        <p:nvSpPr>
          <p:cNvPr id="11" name="Rectangle 10"/>
          <p:cNvSpPr/>
          <p:nvPr/>
        </p:nvSpPr>
        <p:spPr>
          <a:xfrm>
            <a:off x="3840480" y="452628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same rounds, no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ParentCC</a:t>
            </a:r>
          </a:p>
        </p:txBody>
      </p:sp>
      <p:sp>
        <p:nvSpPr>
          <p:cNvPr id="8" name="TextBox 7"/>
          <p:cNvSpPr txBox="1"/>
          <p:nvPr/>
        </p:nvSpPr>
        <p:spPr>
          <a:xfrm>
            <a:off x="640080" y="2057400"/>
            <a:ext cx="530352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parent list per class</a:t>
            </a:r>
          </a:p>
          <a:p>
            <a:pPr marL="274320" indent="-237744">
              <a:spcBef>
                <a:spcPts val="1000"/>
              </a:spcBef>
              <a:buClr>
                <a:srgbClr val="6B717A"/>
              </a:buClr>
              <a:buChar char="•"/>
            </a:pPr>
            <a:r>
              <a:rPr sz="1800" b="0" i="0">
                <a:solidFill>
                  <a:srgbClr val="2B2F36"/>
                </a:solidFill>
                <a:latin typeface="Calibri"/>
              </a:rPr>
              <a:t>every merge appends: allocation</a:t>
            </a:r>
          </a:p>
          <a:p>
            <a:pPr marL="274320" indent="-237744">
              <a:spcBef>
                <a:spcPts val="1000"/>
              </a:spcBef>
              <a:buClr>
                <a:srgbClr val="6B717A"/>
              </a:buClr>
              <a:buChar char="•"/>
            </a:pPr>
            <a:r>
              <a:rPr sz="1800" b="0" i="0">
                <a:solidFill>
                  <a:srgbClr val="2B2F36"/>
                </a:solidFill>
                <a:latin typeface="Calibri"/>
              </a:rPr>
              <a:t>candidates: parents of merged classes</a:t>
            </a:r>
          </a:p>
        </p:txBody>
      </p:sp>
      <p:sp>
        <p:nvSpPr>
          <p:cNvPr id="9" name="Rounded Rectangle 8"/>
          <p:cNvSpPr/>
          <p:nvPr/>
        </p:nvSpPr>
        <p:spPr>
          <a:xfrm>
            <a:off x="6263640" y="1371600"/>
            <a:ext cx="539496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FilterCC</a:t>
            </a:r>
          </a:p>
        </p:txBody>
      </p:sp>
      <p:sp>
        <p:nvSpPr>
          <p:cNvPr id="11" name="TextBox 10"/>
          <p:cNvSpPr txBox="1"/>
          <p:nvPr/>
        </p:nvSpPr>
        <p:spPr>
          <a:xfrm>
            <a:off x="6355080" y="2057400"/>
            <a:ext cx="521208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one dirty bit per class</a:t>
            </a:r>
          </a:p>
          <a:p>
            <a:pPr marL="274320" indent="-237744">
              <a:spcBef>
                <a:spcPts val="1000"/>
              </a:spcBef>
              <a:buClr>
                <a:srgbClr val="6B717A"/>
              </a:buClr>
              <a:buChar char="•"/>
            </a:pPr>
            <a:r>
              <a:rPr sz="1800" b="0" i="0">
                <a:solidFill>
                  <a:srgbClr val="2B2F36"/>
                </a:solidFill>
                <a:latin typeface="Calibri"/>
              </a:rPr>
              <a:t>a merge marks its classes dirty</a:t>
            </a:r>
          </a:p>
          <a:p>
            <a:pPr marL="274320" indent="-237744">
              <a:spcBef>
                <a:spcPts val="1000"/>
              </a:spcBef>
              <a:buClr>
                <a:srgbClr val="6B717A"/>
              </a:buClr>
              <a:buChar char="•"/>
            </a:pPr>
            <a:r>
              <a:rPr sz="1800" b="0" i="0">
                <a:solidFill>
                  <a:srgbClr val="2B2F36"/>
                </a:solidFill>
                <a:latin typeface="Calibri"/>
              </a:rPr>
              <a:t>candidates: filter all terms for a dirty child</a:t>
            </a:r>
          </a:p>
          <a:p>
            <a:pPr marL="274320" indent="-237744">
              <a:spcBef>
                <a:spcPts val="1000"/>
              </a:spcBef>
              <a:buClr>
                <a:srgbClr val="6B717A"/>
              </a:buClr>
              <a:buChar char="•"/>
            </a:pPr>
            <a:r>
              <a:rPr sz="1800" b="0" i="0">
                <a:solidFill>
                  <a:srgbClr val="2B2F36"/>
                </a:solidFill>
                <a:latin typeface="Calibri"/>
              </a:rPr>
              <a:t>racing marks are fine: setting a bit is idempotent</a:t>
            </a:r>
          </a:p>
        </p:txBody>
      </p:sp>
      <p:sp>
        <p:nvSpPr>
          <p:cNvPr id="12" name="TextBox 11"/>
          <p:cNvSpPr txBox="1"/>
          <p:nvPr/>
        </p:nvSpPr>
        <p:spPr>
          <a:xfrm>
            <a:off x="548640" y="4114800"/>
            <a:ext cx="11155680" cy="411480"/>
          </a:xfrm>
          <a:prstGeom prst="rect">
            <a:avLst/>
          </a:prstGeom>
          <a:noFill/>
        </p:spPr>
        <p:txBody>
          <a:bodyPr wrap="square" anchor="t" lIns="45720" rIns="45720" tIns="27432" bIns="27432">
            <a:spAutoFit/>
          </a:bodyPr>
          <a:lstStyle/>
          <a:p>
            <a:pPr algn="l"/>
            <a:r>
              <a:rPr sz="1800" b="0" i="0">
                <a:solidFill>
                  <a:srgbClr val="6B717A"/>
                </a:solidFill>
                <a:latin typeface="Calibri"/>
              </a:rPr>
              <a:t>Same candidates every round, same merges, same proofs</a:t>
            </a:r>
          </a:p>
        </p:txBody>
      </p:sp>
      <p:sp>
        <p:nvSpPr>
          <p:cNvPr id="13" name="Rounded Rectangle 12"/>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no allocation, but a scan of every term per round: wins when rounds are few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600" b="1" i="0">
                <a:solidFill>
                  <a:srgbClr val="FFFFFF"/>
                </a:solidFill>
                <a:latin typeface="Calibri"/>
              </a:rPr>
              <a:t>Do real instances have width?</a:t>
            </a:r>
          </a:p>
        </p:txBody>
      </p:sp>
      <p:sp>
        <p:nvSpPr>
          <p:cNvPr id="6" name="TextBox 5"/>
          <p:cNvSpPr txBox="1"/>
          <p:nvPr/>
        </p:nvSpPr>
        <p:spPr>
          <a:xfrm>
            <a:off x="777240" y="402336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