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problem: given ground equalities over uninterpreted function terms, compute the smallest equivalence relation containing them that is closed under congruence. The tiny example shows transitivity followed by congruence refuting a disequality. Standard implementation: union-find plus a signature table, i.e. an e-graph.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Machines are wide. Theory is discouraging: congruence closure is P-complete, so a polylog-span algorithm is unlikely. The question we ask is whether practical instances still parallelize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plus open-source code. Emphasize that the algorithms replace the sequential worklist with bulk-synchronous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a three-gate circuit. Each copy has its own input wires; the equalities tie them together. Assert the outputs differ. Unsat means the circuits are equivalent. In the diagram, nodes are terms (gates), edges point to children.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outgoing edges are its children in argument order. Everything else on the slide is greyed out so only this term and its three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trace, state the procedure. Put every input equality into the union-find, then repeatedly look for two terms with the same operator whose children are pairwise in the same class, merge them, and re-examine the parents of whatever just merged. Stop when no pair matches. That fixpoint is the congruence closure. The next four slides run exactly this loop on the miter, one merge per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record the input equalities. The dashed boxes are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and a2 have the same symbol and pairwise-equivalent children, so they merge.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for the XOR gates.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ITE gates have pairwise-equivalent children, so they merge, refuting the query.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just did by hand is the classical worklist algorithm, in the variant of Nieuwenhuis and Oliveras. The signature table detects congruences in O(1). Each merge pushes the loser's parents back onto the worklist. We compared three sequential variants and this was the fastest, so it is our baseline.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did not depend on each other; they could be done concurrently, as one round. Step 3 forms a second round. Depth is the number of rounds; width is the max number of merges in a round. Here both are 2. On real benchmarks width reaches millions, and that is the parallelism we exploit.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Concurrent union-find from Alistarh et al.: simple CAS-based variant, since fancier ones did not perform better in their study. Semisort from Gu et al. groups by key without a total order, linear expected work. Both come via ParlayLib.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the worklist with rounds. Work holds the representatives dethroned by the previous round. Fold their parent lists into the new roots, take the parents as the frontier, group the frontier by signature with semisort, merge every group that spans more than one class, and the dethroned roots form the next Work. Stop when Work is empty.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input unions run in parallel. Work is seeded with the terms of the equalities.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 lists of the dethroned leaves into their new roots. The frontier is every parent of a changed class, which includes the ITE gates because c changed. Semisort groups by signature: the ANDs match, the XORs match, but the ITEs do not yet because a1 and a2 are still in different classes.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spanning groups merge concurrently. The losing representatives become the next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parents of a2 and x2 into a1 and x1. The frontier is the two ITEs, and now their signatures agree.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union; m2 is dethroned.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m2 has no parents, so the frontier is empty and Work becomes empty. Three rounds instead of eight sequential merges, and the query is refuted.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loop. Phases are separated by barriers, so signatures are computed against a union-find that no thread is modifying. MergeCongruenceClass unions a group by divide and conquer,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short arguments. Determinism per round follows from linearizability plus order-independence of the partition generated by a set of unions. Termination: each term is dethroned at most once. Soundness by the invariant that union-find classes sit inside congruence classes. Completeness: the last merge among child pairs puts both parents on the next frontier.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allocations: every fold appends lists. FilterCC keeps one dirty bit per class instead and recomputes the frontier by filtering all terms for a dirty child. It scans everything each round, but the scan is a cheap parallel filter with no allocation. On most workloads that tradeoff wins; Amar will show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five leaf classes are dirty. Filter all 16 terms: keep those with a child in a dirty class. That is the same frontier ParentCC computed, found by a scan instead of parent lists.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merged gate classes are dirty. The filter keeps the ITEs. After merging them, the next filter finds nothing, so the algorithm stops.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hashes followed by a sequential bucket pass per hash, which beats the library semisort on the small buckets we see. The sequential baseline got the same care: arity-specialized signature tables and a bump allocator, so the speedups are measured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400800" cy="4114800"/>
          </a:xfrm>
          <a:prstGeom prst="rect">
            <a:avLst/>
          </a:prstGeom>
          <a:noFill/>
        </p:spPr>
        <p:txBody>
          <a:bodyPr wrap="square" lIns="45720" rIns="45720">
            <a:spAutoFit/>
          </a:bodyPr>
          <a:lstStyle/>
          <a:p>
            <a:pPr marL="274320" indent="-237744">
              <a:spcBef>
                <a:spcPts val="600"/>
              </a:spcBef>
              <a:buClr>
                <a:srgbClr val="6B717A"/>
              </a:buClr>
              <a:buChar char="•"/>
            </a:pPr>
            <a:r>
              <a:rPr sz="2000" b="1" i="0">
                <a:solidFill>
                  <a:srgbClr val="2B2F36"/>
                </a:solidFill>
                <a:latin typeface="Calibri"/>
              </a:rPr>
              <a:t>Input:</a:t>
            </a:r>
            <a:r>
              <a:rPr sz="2000" b="0" i="0">
                <a:solidFill>
                  <a:srgbClr val="2B2F36"/>
                </a:solidFill>
                <a:latin typeface="Calibri"/>
              </a:rPr>
              <a:t> terms over uninterpreted functions, equalities E</a:t>
            </a:r>
          </a:p>
          <a:p>
            <a:pPr marL="274320" indent="-237744">
              <a:spcBef>
                <a:spcPts val="600"/>
              </a:spcBef>
              <a:buClr>
                <a:srgbClr val="6B717A"/>
              </a:buClr>
              <a:buChar char="•"/>
            </a:pPr>
            <a:r>
              <a:rPr sz="2000" b="1" i="0">
                <a:solidFill>
                  <a:srgbClr val="2B2F36"/>
                </a:solidFill>
                <a:latin typeface="Calibri"/>
              </a:rPr>
              <a:t>Output:</a:t>
            </a:r>
            <a:r>
              <a:rPr sz="2000" b="0" i="0">
                <a:solidFill>
                  <a:srgbClr val="2B2F36"/>
                </a:solidFill>
                <a:latin typeface="Calibri"/>
              </a:rPr>
              <a:t> smallest equivalence relation ⊇ E closed under congruence</a:t>
            </a:r>
          </a:p>
          <a:p>
            <a:pPr marL="274320" indent="-237744">
              <a:spcBef>
                <a:spcPts val="600"/>
              </a:spcBef>
              <a:buClr>
                <a:srgbClr val="6B717A"/>
              </a:buClr>
              <a:buChar char="•"/>
            </a:pPr>
            <a:r>
              <a:rPr sz="2000" b="1" i="0">
                <a:solidFill>
                  <a:srgbClr val="2B2F36"/>
                </a:solidFill>
                <a:latin typeface="Calibri"/>
              </a:rPr>
              <a:t>Deciding a query</a:t>
            </a:r>
            <a:r>
              <a:rPr sz="2000" b="0" i="0">
                <a:solidFill>
                  <a:srgbClr val="2B2F36"/>
                </a:solidFill>
                <a:latin typeface="Calibri"/>
              </a:rPr>
              <a:t> s ≠ t: unsatisfiable iff s ≡ t</a:t>
            </a:r>
          </a:p>
          <a:p>
            <a:pPr marL="274320" indent="-237744">
              <a:spcBef>
                <a:spcPts val="600"/>
              </a:spcBef>
              <a:buClr>
                <a:srgbClr val="6B717A"/>
              </a:buClr>
              <a:buChar char="•"/>
            </a:pPr>
            <a:r>
              <a:rPr sz="2000" b="1" i="0">
                <a:solidFill>
                  <a:srgbClr val="2B2F36"/>
                </a:solidFill>
                <a:latin typeface="Calibri"/>
              </a:rPr>
              <a:t>Standard engine:</a:t>
            </a:r>
            <a:r>
              <a:rPr sz="2000" b="0" i="0">
                <a:solidFill>
                  <a:srgbClr val="2B2F36"/>
                </a:solidFill>
                <a:latin typeface="Calibri"/>
              </a:rPr>
              <a:t> union-find + signature table (an e-graph)</a:t>
            </a:r>
          </a:p>
          <a:p>
            <a:pPr marL="585216" indent="-237744">
              <a:spcBef>
                <a:spcPts val="200"/>
              </a:spcBef>
              <a:buClr>
                <a:srgbClr val="6B717A"/>
              </a:buClr>
              <a:buChar char="–"/>
            </a:pPr>
            <a:r>
              <a:rPr sz="1700" b="0" i="0">
                <a:solidFill>
                  <a:srgbClr val="2B2F36"/>
                </a:solidFill>
                <a:latin typeface="Calibri"/>
              </a:rPr>
              <a:t>Nelson &amp; Oppen 1980, Downey, Sethi &amp; Tarjan 1980, Nieuwenhuis &amp; Oliveras 2007</a:t>
            </a:r>
          </a:p>
        </p:txBody>
      </p:sp>
      <p:sp>
        <p:nvSpPr>
          <p:cNvPr id="7" name="Rounded Rectangle 6"/>
          <p:cNvSpPr/>
          <p:nvPr/>
        </p:nvSpPr>
        <p:spPr>
          <a:xfrm>
            <a:off x="822960" y="4709160"/>
            <a:ext cx="5669280" cy="1234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960120" y="4754880"/>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9" name="TextBox 8"/>
          <p:cNvSpPr txBox="1"/>
          <p:nvPr/>
        </p:nvSpPr>
        <p:spPr>
          <a:xfrm>
            <a:off x="960120" y="50292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s₁ ≡ t₁    …    sₖ ≡ tₖ</a:t>
            </a:r>
          </a:p>
        </p:txBody>
      </p:sp>
      <p:cxnSp>
        <p:nvCxnSpPr>
          <p:cNvPr id="10" name="Connector 9"/>
          <p:cNvCxnSpPr/>
          <p:nvPr/>
        </p:nvCxnSpPr>
        <p:spPr>
          <a:xfrm>
            <a:off x="1554480" y="5440680"/>
            <a:ext cx="4297680" cy="0"/>
          </a:xfrm>
          <a:prstGeom prst="line">
            <a:avLst/>
          </a:prstGeom>
          <a:ln w="19050">
            <a:solidFill>
              <a:srgbClr val="2B2F36"/>
            </a:solidFill>
          </a:ln>
          <a:effectLst/>
        </p:spPr>
      </p:cxnSp>
      <p:sp>
        <p:nvSpPr>
          <p:cNvPr id="11" name="TextBox 10"/>
          <p:cNvSpPr txBox="1"/>
          <p:nvPr/>
        </p:nvSpPr>
        <p:spPr>
          <a:xfrm>
            <a:off x="960120" y="54864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f(s₁, …, sₖ) ≡ f(t₁, …, tₖ)</a:t>
            </a:r>
          </a:p>
        </p:txBody>
      </p:sp>
      <p:sp>
        <p:nvSpPr>
          <p:cNvPr id="12" name="Rounded Rectangle 11"/>
          <p:cNvSpPr/>
          <p:nvPr/>
        </p:nvSpPr>
        <p:spPr>
          <a:xfrm>
            <a:off x="7223760" y="1463040"/>
            <a:ext cx="4480560" cy="32004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7406640" y="1554480"/>
            <a:ext cx="2743200" cy="365760"/>
          </a:xfrm>
          <a:prstGeom prst="rect">
            <a:avLst/>
          </a:prstGeom>
          <a:noFill/>
        </p:spPr>
        <p:txBody>
          <a:bodyPr wrap="square" anchor="t" lIns="45720" rIns="45720" tIns="27432" bIns="27432">
            <a:spAutoFit/>
          </a:bodyPr>
          <a:lstStyle/>
          <a:p>
            <a:pPr algn="l"/>
            <a:r>
              <a:rPr sz="1600" b="1" i="0">
                <a:solidFill>
                  <a:srgbClr val="1F2A44"/>
                </a:solidFill>
                <a:latin typeface="Calibri"/>
              </a:rPr>
              <a:t>Example</a:t>
            </a:r>
          </a:p>
        </p:txBody>
      </p:sp>
      <p:sp>
        <p:nvSpPr>
          <p:cNvPr id="14" name="TextBox 13"/>
          <p:cNvSpPr txBox="1"/>
          <p:nvPr/>
        </p:nvSpPr>
        <p:spPr>
          <a:xfrm>
            <a:off x="7406640" y="2011680"/>
            <a:ext cx="4114800" cy="457200"/>
          </a:xfrm>
          <a:prstGeom prst="rect">
            <a:avLst/>
          </a:prstGeom>
          <a:noFill/>
        </p:spPr>
        <p:txBody>
          <a:bodyPr wrap="square" anchor="t" lIns="45720" rIns="45720" tIns="27432" bIns="27432">
            <a:spAutoFit/>
          </a:bodyPr>
          <a:lstStyle/>
          <a:p>
            <a:pPr algn="l"/>
            <a:r>
              <a:rPr sz="2200" b="1" i="0">
                <a:solidFill>
                  <a:srgbClr val="2B2F36"/>
                </a:solidFill>
                <a:latin typeface="Calibri"/>
              </a:rPr>
              <a:t>a = b        b = c        f(a) ≠ f(c)</a:t>
            </a:r>
          </a:p>
        </p:txBody>
      </p:sp>
      <p:sp>
        <p:nvSpPr>
          <p:cNvPr id="15" name="TextBox 14"/>
          <p:cNvSpPr txBox="1"/>
          <p:nvPr/>
        </p:nvSpPr>
        <p:spPr>
          <a:xfrm>
            <a:off x="7406640" y="2651760"/>
            <a:ext cx="4114800" cy="2743200"/>
          </a:xfrm>
          <a:prstGeom prst="rect">
            <a:avLst/>
          </a:prstGeom>
          <a:noFill/>
        </p:spPr>
        <p:txBody>
          <a:bodyPr wrap="square" lIns="45720" rIns="45720">
            <a:spAutoFit/>
          </a:bodyPr>
          <a:lstStyle/>
          <a:p>
            <a:pPr marL="274320" indent="-237744">
              <a:spcBef>
                <a:spcPts val="1000"/>
              </a:spcBef>
              <a:buClr>
                <a:srgbClr val="6B717A"/>
              </a:buClr>
              <a:buChar char="•"/>
            </a:pPr>
            <a:r>
              <a:rPr sz="1900" b="0" i="0">
                <a:solidFill>
                  <a:srgbClr val="2B2F36"/>
                </a:solidFill>
                <a:latin typeface="Calibri"/>
              </a:rPr>
              <a:t>transitivity:   a ≡ c</a:t>
            </a:r>
          </a:p>
          <a:p>
            <a:pPr marL="274320" indent="-237744">
              <a:spcBef>
                <a:spcPts val="1000"/>
              </a:spcBef>
              <a:buClr>
                <a:srgbClr val="6B717A"/>
              </a:buClr>
              <a:buChar char="•"/>
            </a:pPr>
            <a:r>
              <a:rPr sz="1900" b="0" i="0">
                <a:solidFill>
                  <a:srgbClr val="2B2F36"/>
                </a:solidFill>
                <a:latin typeface="Calibri"/>
              </a:rPr>
              <a:t>congruence:   f(a) ≡ f(c)</a:t>
            </a:r>
          </a:p>
          <a:p>
            <a:pPr marL="274320" indent="-237744">
              <a:spcBef>
                <a:spcPts val="1000"/>
              </a:spcBef>
              <a:buClr>
                <a:srgbClr val="6B717A"/>
              </a:buClr>
              <a:buChar char="•"/>
            </a:pPr>
            <a:r>
              <a:rPr sz="1900" b="0" i="0">
                <a:solidFill>
                  <a:srgbClr val="2B2F36"/>
                </a:solidFill>
                <a:latin typeface="Calibri"/>
              </a:rPr>
              <a:t>contradicts f(a) ≠ f(c)</a:t>
            </a:r>
          </a:p>
          <a:p>
            <a:pPr marL="274320" indent="-237744">
              <a:spcBef>
                <a:spcPts val="1000"/>
              </a:spcBef>
              <a:buClr>
                <a:srgbClr val="6B717A"/>
              </a:buClr>
              <a:buChar char="•"/>
            </a:pPr>
            <a:r>
              <a:rPr sz="1900" b="1" i="0">
                <a:solidFill>
                  <a:srgbClr val="2B2F36"/>
                </a:solidFill>
                <a:latin typeface="Calibri"/>
              </a:rPr>
              <a:t>⇒ unsatisfiable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10972800" cy="3657600"/>
          </a:xfrm>
          <a:prstGeom prst="rect">
            <a:avLst/>
          </a:prstGeom>
          <a:noFill/>
        </p:spPr>
        <p:txBody>
          <a:bodyPr wrap="square" lIns="45720" rIns="45720">
            <a:spAutoFit/>
          </a:bodyPr>
          <a:lstStyle/>
          <a:p>
            <a:pPr marL="274320" indent="-237744">
              <a:spcBef>
                <a:spcPts val="1000"/>
              </a:spcBef>
              <a:buClr>
                <a:srgbClr val="6B717A"/>
              </a:buClr>
              <a:buChar char="•"/>
            </a:pPr>
            <a:r>
              <a:rPr sz="2100" b="1" i="0">
                <a:solidFill>
                  <a:srgbClr val="2B2F36"/>
                </a:solidFill>
                <a:latin typeface="Calibri"/>
              </a:rPr>
              <a:t>All existing congruence closure implementations are sequential</a:t>
            </a:r>
          </a:p>
          <a:p>
            <a:pPr marL="585216" indent="-237744">
              <a:spcBef>
                <a:spcPts val="200"/>
              </a:spcBef>
              <a:buClr>
                <a:srgbClr val="6B717A"/>
              </a:buClr>
              <a:buChar char="–"/>
            </a:pPr>
            <a:r>
              <a:rPr sz="1800" b="0" i="0">
                <a:solidFill>
                  <a:srgbClr val="2B2F36"/>
                </a:solidFill>
                <a:latin typeface="Calibri"/>
              </a:rPr>
              <a:t>worklist algorithms in the style of Nelson &amp; Oppen</a:t>
            </a:r>
          </a:p>
          <a:p>
            <a:pPr marL="274320" indent="-237744">
              <a:spcBef>
                <a:spcPts val="1000"/>
              </a:spcBef>
              <a:buClr>
                <a:srgbClr val="6B717A"/>
              </a:buClr>
              <a:buChar char="•"/>
            </a:pPr>
            <a:r>
              <a:rPr sz="2100" b="1" i="0">
                <a:solidFill>
                  <a:srgbClr val="2B2F36"/>
                </a:solidFill>
                <a:latin typeface="Calibri"/>
              </a:rPr>
              <a:t>Multicore is the default</a:t>
            </a:r>
            <a:r>
              <a:rPr sz="2100" b="0" i="0">
                <a:solidFill>
                  <a:srgbClr val="2B2F36"/>
                </a:solidFill>
                <a:latin typeface="Calibri"/>
              </a:rPr>
              <a:t>: our test machine has 96 cores, 192 hardware threads</a:t>
            </a:r>
          </a:p>
          <a:p>
            <a:pPr marL="274320" indent="-237744">
              <a:spcBef>
                <a:spcPts val="1000"/>
              </a:spcBef>
              <a:buClr>
                <a:srgbClr val="6B717A"/>
              </a:buClr>
              <a:buChar char="•"/>
            </a:pPr>
            <a:r>
              <a:rPr sz="2100" b="1" i="0">
                <a:solidFill>
                  <a:srgbClr val="2B2F36"/>
                </a:solidFill>
                <a:latin typeface="Calibri"/>
              </a:rPr>
              <a:t>P-complete</a:t>
            </a:r>
            <a:r>
              <a:rPr sz="2100" b="0" i="0">
                <a:solidFill>
                  <a:srgbClr val="2B2F36"/>
                </a:solidFill>
                <a:latin typeface="Calibri"/>
              </a:rPr>
              <a:t> (Kanellakis &amp; Revesz 1989)</a:t>
            </a:r>
          </a:p>
          <a:p>
            <a:pPr marL="585216" indent="-237744">
              <a:spcBef>
                <a:spcPts val="200"/>
              </a:spcBef>
              <a:buClr>
                <a:srgbClr val="6B717A"/>
              </a:buClr>
              <a:buChar char="–"/>
            </a:pPr>
            <a:r>
              <a:rPr sz="1800" b="0" i="0">
                <a:solidFill>
                  <a:srgbClr val="2B2F36"/>
                </a:solidFill>
                <a:latin typeface="Calibri"/>
              </a:rPr>
              <a:t>polylogarithmic span with polynomial work is not expected</a:t>
            </a:r>
          </a:p>
          <a:p>
            <a:pPr marL="585216" indent="-237744">
              <a:spcBef>
                <a:spcPts val="200"/>
              </a:spcBef>
              <a:buClr>
                <a:srgbClr val="6B717A"/>
              </a:buClr>
              <a:buChar char="–"/>
            </a:pPr>
            <a:r>
              <a:rPr sz="1800" b="0" i="0">
                <a:solidFill>
                  <a:srgbClr val="2B2F36"/>
                </a:solidFill>
                <a:latin typeface="Calibri"/>
              </a:rPr>
              <a:t>worst-case instances force a long chain of dependent merges</a:t>
            </a:r>
          </a:p>
        </p:txBody>
      </p:sp>
      <p:sp>
        <p:nvSpPr>
          <p:cNvPr id="7" name="Rounded Rectangle 6"/>
          <p:cNvSpPr/>
          <p:nvPr/>
        </p:nvSpPr>
        <p:spPr>
          <a:xfrm>
            <a:off x="548640" y="45720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Question: do practical instances expose enough independent merges for real speedups?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6304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1417320" y="139903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Two parallel algorithms: ParentCC and FilterCC</a:t>
            </a:r>
          </a:p>
        </p:txBody>
      </p:sp>
      <p:sp>
        <p:nvSpPr>
          <p:cNvPr id="8" name="TextBox 7"/>
          <p:cNvSpPr txBox="1"/>
          <p:nvPr/>
        </p:nvSpPr>
        <p:spPr>
          <a:xfrm>
            <a:off x="1417320" y="182880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bulk-synchronous rounds of data-parallel primitives over a lock-free concurrent union-find</a:t>
            </a:r>
          </a:p>
        </p:txBody>
      </p:sp>
      <p:sp>
        <p:nvSpPr>
          <p:cNvPr id="9" name="Rounded Rectangle 8"/>
          <p:cNvSpPr/>
          <p:nvPr/>
        </p:nvSpPr>
        <p:spPr>
          <a:xfrm>
            <a:off x="640080" y="265176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10" name="TextBox 9"/>
          <p:cNvSpPr txBox="1"/>
          <p:nvPr/>
        </p:nvSpPr>
        <p:spPr>
          <a:xfrm>
            <a:off x="1417320" y="258775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Workload characterization: congruence depth and width</a:t>
            </a:r>
          </a:p>
        </p:txBody>
      </p:sp>
      <p:sp>
        <p:nvSpPr>
          <p:cNvPr id="11" name="TextBox 10"/>
          <p:cNvSpPr txBox="1"/>
          <p:nvPr/>
        </p:nvSpPr>
        <p:spPr>
          <a:xfrm>
            <a:off x="1417320" y="301752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width, the number of independent merges per round, is the dominant factor empirically</a:t>
            </a:r>
          </a:p>
        </p:txBody>
      </p:sp>
      <p:sp>
        <p:nvSpPr>
          <p:cNvPr id="12" name="Rounded Rectangle 11"/>
          <p:cNvSpPr/>
          <p:nvPr/>
        </p:nvSpPr>
        <p:spPr>
          <a:xfrm>
            <a:off x="640080" y="384048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3" name="TextBox 12"/>
          <p:cNvSpPr txBox="1"/>
          <p:nvPr/>
        </p:nvSpPr>
        <p:spPr>
          <a:xfrm>
            <a:off x="1417320" y="377647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Evaluation on random, synthetic, and circuit-equivalence benchmarks</a:t>
            </a:r>
          </a:p>
        </p:txBody>
      </p:sp>
      <p:sp>
        <p:nvSpPr>
          <p:cNvPr id="14" name="TextBox 13"/>
          <p:cNvSpPr txBox="1"/>
          <p:nvPr/>
        </p:nvSpPr>
        <p:spPr>
          <a:xfrm>
            <a:off x="1417320" y="420624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near-linear speedup up to 32 cores over a tuned sequential baseline</a:t>
            </a:r>
          </a:p>
        </p:txBody>
      </p:sp>
      <p:sp>
        <p:nvSpPr>
          <p:cNvPr id="15" name="Rounded Rectangle 14"/>
          <p:cNvSpPr/>
          <p:nvPr/>
        </p:nvSpPr>
        <p:spPr>
          <a:xfrm>
            <a:off x="640080" y="502920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4</a:t>
            </a:r>
          </a:p>
        </p:txBody>
      </p:sp>
      <p:sp>
        <p:nvSpPr>
          <p:cNvPr id="16" name="TextBox 15"/>
          <p:cNvSpPr txBox="1"/>
          <p:nvPr/>
        </p:nvSpPr>
        <p:spPr>
          <a:xfrm>
            <a:off x="1417320" y="496519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Open source implementation and benchmarks</a:t>
            </a:r>
          </a:p>
        </p:txBody>
      </p:sp>
      <p:sp>
        <p:nvSpPr>
          <p:cNvPr id="17" name="TextBox 16"/>
          <p:cNvSpPr txBox="1"/>
          <p:nvPr/>
        </p:nvSpPr>
        <p:spPr>
          <a:xfrm>
            <a:off x="1417320" y="539496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github.com/amarshah10/ParallelEgraph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circuit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1014984" y="3803903"/>
            <a:ext cx="539496" cy="1106425"/>
          </a:xfrm>
          <a:prstGeom prst="line">
            <a:avLst/>
          </a:prstGeom>
          <a:ln w="15875">
            <a:solidFill>
              <a:srgbClr val="8A8F98"/>
            </a:solidFill>
          </a:ln>
          <a:effectLst/>
        </p:spPr>
      </p:cxnSp>
      <p:cxnSp>
        <p:nvCxnSpPr>
          <p:cNvPr id="7" name="Connector 6"/>
          <p:cNvCxnSpPr/>
          <p:nvPr/>
        </p:nvCxnSpPr>
        <p:spPr>
          <a:xfrm>
            <a:off x="1554480" y="3803903"/>
            <a:ext cx="960120" cy="1106425"/>
          </a:xfrm>
          <a:prstGeom prst="line">
            <a:avLst/>
          </a:prstGeom>
          <a:ln w="15875">
            <a:solidFill>
              <a:srgbClr val="8A8F98"/>
            </a:solidFill>
          </a:ln>
          <a:effectLst/>
        </p:spPr>
      </p:cxnSp>
      <p:cxnSp>
        <p:nvCxnSpPr>
          <p:cNvPr id="8" name="Connector 7"/>
          <p:cNvCxnSpPr/>
          <p:nvPr/>
        </p:nvCxnSpPr>
        <p:spPr>
          <a:xfrm flipH="1">
            <a:off x="1636776" y="3803903"/>
            <a:ext cx="1014984" cy="1106425"/>
          </a:xfrm>
          <a:prstGeom prst="line">
            <a:avLst/>
          </a:prstGeom>
          <a:ln w="15875">
            <a:solidFill>
              <a:srgbClr val="8A8F98"/>
            </a:solidFill>
          </a:ln>
          <a:effectLst/>
        </p:spPr>
      </p:cxnSp>
      <p:cxnSp>
        <p:nvCxnSpPr>
          <p:cNvPr id="9" name="Connector 8"/>
          <p:cNvCxnSpPr/>
          <p:nvPr/>
        </p:nvCxnSpPr>
        <p:spPr>
          <a:xfrm>
            <a:off x="2651760" y="3803903"/>
            <a:ext cx="484632" cy="1106425"/>
          </a:xfrm>
          <a:prstGeom prst="line">
            <a:avLst/>
          </a:prstGeom>
          <a:ln w="15875">
            <a:solidFill>
              <a:srgbClr val="8A8F98"/>
            </a:solidFill>
          </a:ln>
          <a:effectLst/>
        </p:spPr>
      </p:cxnSp>
      <p:cxnSp>
        <p:nvCxnSpPr>
          <p:cNvPr id="10" name="Connector 9"/>
          <p:cNvCxnSpPr/>
          <p:nvPr/>
        </p:nvCxnSpPr>
        <p:spPr>
          <a:xfrm flipH="1">
            <a:off x="5513832" y="3803903"/>
            <a:ext cx="475488" cy="1106425"/>
          </a:xfrm>
          <a:prstGeom prst="line">
            <a:avLst/>
          </a:prstGeom>
          <a:ln w="15875">
            <a:solidFill>
              <a:srgbClr val="8A8F98"/>
            </a:solidFill>
          </a:ln>
          <a:effectLst/>
        </p:spPr>
      </p:cxnSp>
      <p:cxnSp>
        <p:nvCxnSpPr>
          <p:cNvPr id="11" name="Connector 10"/>
          <p:cNvCxnSpPr/>
          <p:nvPr/>
        </p:nvCxnSpPr>
        <p:spPr>
          <a:xfrm>
            <a:off x="5989320" y="3803903"/>
            <a:ext cx="1024128" cy="1106425"/>
          </a:xfrm>
          <a:prstGeom prst="line">
            <a:avLst/>
          </a:prstGeom>
          <a:ln w="15875">
            <a:solidFill>
              <a:srgbClr val="8A8F98"/>
            </a:solidFill>
          </a:ln>
          <a:effectLst/>
        </p:spPr>
      </p:cxnSp>
      <p:cxnSp>
        <p:nvCxnSpPr>
          <p:cNvPr id="12" name="Connector 11"/>
          <p:cNvCxnSpPr/>
          <p:nvPr/>
        </p:nvCxnSpPr>
        <p:spPr>
          <a:xfrm flipH="1">
            <a:off x="6135624" y="3803903"/>
            <a:ext cx="950976" cy="1106425"/>
          </a:xfrm>
          <a:prstGeom prst="line">
            <a:avLst/>
          </a:prstGeom>
          <a:ln w="15875">
            <a:solidFill>
              <a:srgbClr val="8A8F98"/>
            </a:solidFill>
          </a:ln>
          <a:effectLst/>
        </p:spPr>
      </p:cxnSp>
      <p:cxnSp>
        <p:nvCxnSpPr>
          <p:cNvPr id="13" name="Connector 12"/>
          <p:cNvCxnSpPr/>
          <p:nvPr/>
        </p:nvCxnSpPr>
        <p:spPr>
          <a:xfrm>
            <a:off x="7086600" y="3803903"/>
            <a:ext cx="548640" cy="1106425"/>
          </a:xfrm>
          <a:prstGeom prst="line">
            <a:avLst/>
          </a:prstGeom>
          <a:ln w="15875">
            <a:solidFill>
              <a:srgbClr val="8A8F98"/>
            </a:solidFill>
          </a:ln>
          <a:effectLst/>
        </p:spPr>
      </p:cxnSp>
      <p:cxnSp>
        <p:nvCxnSpPr>
          <p:cNvPr id="14" name="Connector 13"/>
          <p:cNvCxnSpPr/>
          <p:nvPr/>
        </p:nvCxnSpPr>
        <p:spPr>
          <a:xfrm>
            <a:off x="3794760" y="2203704"/>
            <a:ext cx="219455" cy="2706624"/>
          </a:xfrm>
          <a:prstGeom prst="line">
            <a:avLst/>
          </a:prstGeom>
          <a:ln w="15875">
            <a:solidFill>
              <a:srgbClr val="8A8F98"/>
            </a:solidFill>
          </a:ln>
          <a:effectLst/>
        </p:spPr>
      </p:cxnSp>
      <p:cxnSp>
        <p:nvCxnSpPr>
          <p:cNvPr id="15" name="Connector 14"/>
          <p:cNvCxnSpPr/>
          <p:nvPr/>
        </p:nvCxnSpPr>
        <p:spPr>
          <a:xfrm flipH="1">
            <a:off x="1554480" y="2203704"/>
            <a:ext cx="2240280" cy="749807"/>
          </a:xfrm>
          <a:prstGeom prst="line">
            <a:avLst/>
          </a:prstGeom>
          <a:ln w="15875">
            <a:solidFill>
              <a:srgbClr val="8A8F98"/>
            </a:solidFill>
          </a:ln>
          <a:effectLst/>
        </p:spPr>
      </p:cxnSp>
      <p:cxnSp>
        <p:nvCxnSpPr>
          <p:cNvPr id="16" name="Connector 15"/>
          <p:cNvCxnSpPr/>
          <p:nvPr/>
        </p:nvCxnSpPr>
        <p:spPr>
          <a:xfrm>
            <a:off x="3794760" y="2203704"/>
            <a:ext cx="2194560" cy="749807"/>
          </a:xfrm>
          <a:prstGeom prst="line">
            <a:avLst/>
          </a:prstGeom>
          <a:ln w="15875">
            <a:solidFill>
              <a:srgbClr val="8A8F98"/>
            </a:solidFill>
          </a:ln>
          <a:effectLst/>
        </p:spPr>
      </p:cxnSp>
      <p:cxnSp>
        <p:nvCxnSpPr>
          <p:cNvPr id="17" name="Connector 16"/>
          <p:cNvCxnSpPr/>
          <p:nvPr/>
        </p:nvCxnSpPr>
        <p:spPr>
          <a:xfrm flipH="1">
            <a:off x="4636008" y="2203704"/>
            <a:ext cx="484632" cy="2706624"/>
          </a:xfrm>
          <a:prstGeom prst="line">
            <a:avLst/>
          </a:prstGeom>
          <a:ln w="15875">
            <a:solidFill>
              <a:srgbClr val="8A8F98"/>
            </a:solidFill>
          </a:ln>
          <a:effectLst/>
        </p:spPr>
      </p:cxnSp>
      <p:cxnSp>
        <p:nvCxnSpPr>
          <p:cNvPr id="18" name="Connector 17"/>
          <p:cNvCxnSpPr/>
          <p:nvPr/>
        </p:nvCxnSpPr>
        <p:spPr>
          <a:xfrm flipH="1">
            <a:off x="2651760" y="2203704"/>
            <a:ext cx="2468880" cy="749807"/>
          </a:xfrm>
          <a:prstGeom prst="line">
            <a:avLst/>
          </a:prstGeom>
          <a:ln w="15875">
            <a:solidFill>
              <a:srgbClr val="8A8F98"/>
            </a:solidFill>
          </a:ln>
          <a:effectLst/>
        </p:spPr>
      </p:cxnSp>
      <p:cxnSp>
        <p:nvCxnSpPr>
          <p:cNvPr id="19" name="Connector 18"/>
          <p:cNvCxnSpPr/>
          <p:nvPr/>
        </p:nvCxnSpPr>
        <p:spPr>
          <a:xfrm>
            <a:off x="5120640" y="2203704"/>
            <a:ext cx="1965960" cy="749807"/>
          </a:xfrm>
          <a:prstGeom prst="line">
            <a:avLst/>
          </a:prstGeom>
          <a:ln w="15875">
            <a:solidFill>
              <a:srgbClr val="8A8F98"/>
            </a:solidFill>
          </a:ln>
          <a:effectLst/>
        </p:spPr>
      </p:cxnSp>
      <p:sp>
        <p:nvSpPr>
          <p:cNvPr id="20" name="Rounded Rectangle 1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0" name="Rounded Rectangle 39"/>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Miter of two copies of a circuit</a:t>
            </a:r>
          </a:p>
        </p:txBody>
      </p:sp>
      <p:sp>
        <p:nvSpPr>
          <p:cNvPr id="43" name="TextBox 4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x₁ = XOR(u, v)</a:t>
            </a:r>
          </a:p>
          <a:p>
            <a:pPr marL="274320" indent="-237744">
              <a:spcBef>
                <a:spcPts val="500"/>
              </a:spcBef>
              <a:buClr>
                <a:srgbClr val="6B717A"/>
              </a:buClr>
              <a:buChar char="•"/>
            </a:pPr>
            <a:r>
              <a:rPr sz="1600" b="0" i="0">
                <a:solidFill>
                  <a:srgbClr val="2B2F36"/>
                </a:solidFill>
                <a:latin typeface="Calibri"/>
              </a:rPr>
              <a:t>m₁ = ITE(c, a₁, x₁)</a:t>
            </a:r>
          </a:p>
          <a:p>
            <a:pPr marL="274320" indent="-237744">
              <a:spcBef>
                <a:spcPts val="500"/>
              </a:spcBef>
              <a:buClr>
                <a:srgbClr val="6B717A"/>
              </a:buClr>
              <a:buChar char="•"/>
            </a:pPr>
            <a:r>
              <a:rPr sz="1600" b="0" i="0">
                <a:solidFill>
                  <a:srgbClr val="2B2F36"/>
                </a:solidFill>
                <a:latin typeface="Calibri"/>
              </a:rPr>
              <a:t>copy 2 identical over r′, s′, u′, v′, c′</a:t>
            </a:r>
          </a:p>
          <a:p>
            <a:pPr>
              <a:spcBef>
                <a:spcPts val="1100"/>
              </a:spcBef>
              <a:spcAft>
                <a:spcPts val="200"/>
              </a:spcAft>
            </a:pPr>
            <a:r>
              <a:rPr sz="1600" b="1" i="0">
                <a:solidFill>
                  <a:srgbClr val="1F2A44"/>
                </a:solidFill>
                <a:latin typeface="Calibri"/>
              </a:rPr>
              <a:t>Equalities E</a:t>
            </a:r>
          </a:p>
          <a:p>
            <a:pPr marL="274320" indent="-237744">
              <a:spcBef>
                <a:spcPts val="500"/>
              </a:spcBef>
              <a:buClr>
                <a:srgbClr val="6B717A"/>
              </a:buClr>
              <a:buChar char="•"/>
            </a:pPr>
            <a:r>
              <a:rPr sz="1600" b="0" i="0">
                <a:solidFill>
                  <a:srgbClr val="2B2F36"/>
                </a:solidFill>
                <a:latin typeface="Calibri"/>
              </a:rPr>
              <a:t>r = r′,  s = s′,  u = u′,  v = v′,  c = c′</a:t>
            </a:r>
          </a:p>
          <a:p>
            <a:pPr>
              <a:spcBef>
                <a:spcPts val="1100"/>
              </a:spcBef>
              <a:spcAft>
                <a:spcPts val="200"/>
              </a:spcAft>
            </a:pPr>
            <a:r>
              <a:rPr sz="1600" b="1" i="0">
                <a:solidFill>
                  <a:srgbClr val="1F2A44"/>
                </a:solidFill>
                <a:latin typeface="Calibri"/>
              </a:rPr>
              <a:t>Query</a:t>
            </a:r>
          </a:p>
          <a:p>
            <a:pPr marL="274320" indent="-237744">
              <a:spcBef>
                <a:spcPts val="500"/>
              </a:spcBef>
              <a:buClr>
                <a:srgbClr val="6B717A"/>
              </a:buClr>
              <a:buChar char="•"/>
            </a:pPr>
            <a:r>
              <a:rPr sz="1600" b="0" i="0">
                <a:solidFill>
                  <a:srgbClr val="2B2F36"/>
                </a:solidFill>
                <a:latin typeface="Calibri"/>
              </a:rPr>
              <a:t>m₁ ≠ m₂  (outputs differ)</a:t>
            </a:r>
          </a:p>
          <a:p>
            <a:pPr marL="274320" indent="-237744">
              <a:spcBef>
                <a:spcPts val="500"/>
              </a:spcBef>
              <a:buClr>
                <a:srgbClr val="6B717A"/>
              </a:buClr>
              <a:buChar char="•"/>
            </a:pPr>
            <a:r>
              <a:rPr sz="1600" b="0" i="0">
                <a:solidFill>
                  <a:srgbClr val="2B2F36"/>
                </a:solidFill>
                <a:latin typeface="Calibri"/>
              </a:rPr>
              <a:t>unsatisfiable  ⟺  circuits equivalent</a:t>
            </a:r>
          </a:p>
        </p:txBody>
      </p:sp>
      <p:sp>
        <p:nvSpPr>
          <p:cNvPr id="44" name="TextBox 43"/>
          <p:cNvSpPr txBox="1"/>
          <p:nvPr/>
        </p:nvSpPr>
        <p:spPr>
          <a:xfrm>
            <a:off x="457200" y="5897880"/>
            <a:ext cx="7589520" cy="320040"/>
          </a:xfrm>
          <a:prstGeom prst="rect">
            <a:avLst/>
          </a:prstGeom>
          <a:noFill/>
        </p:spPr>
        <p:txBody>
          <a:bodyPr wrap="square" anchor="t" lIns="45720" rIns="45720" tIns="27432" bIns="27432">
            <a:spAutoFit/>
          </a:bodyPr>
          <a:lstStyle/>
          <a:p>
            <a:pPr algn="l"/>
            <a:r>
              <a:rPr sz="1200" b="0" i="0">
                <a:solidFill>
                  <a:srgbClr val="6B717A"/>
                </a:solidFill>
                <a:latin typeface="Calibri"/>
              </a:rPr>
              <a:t>nodes: terms (gates)   ·   edges: parent → child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 one node, one term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1014984" y="3803903"/>
            <a:ext cx="539496" cy="1106425"/>
          </a:xfrm>
          <a:prstGeom prst="line">
            <a:avLst/>
          </a:prstGeom>
          <a:ln w="15875">
            <a:solidFill>
              <a:srgbClr val="C9CDD3"/>
            </a:solidFill>
          </a:ln>
          <a:effectLst/>
        </p:spPr>
      </p:cxnSp>
      <p:cxnSp>
        <p:nvCxnSpPr>
          <p:cNvPr id="7" name="Connector 6"/>
          <p:cNvCxnSpPr/>
          <p:nvPr/>
        </p:nvCxnSpPr>
        <p:spPr>
          <a:xfrm>
            <a:off x="1554480" y="3803903"/>
            <a:ext cx="960120" cy="1106425"/>
          </a:xfrm>
          <a:prstGeom prst="line">
            <a:avLst/>
          </a:prstGeom>
          <a:ln w="15875">
            <a:solidFill>
              <a:srgbClr val="C9CDD3"/>
            </a:solidFill>
          </a:ln>
          <a:effectLst/>
        </p:spPr>
      </p:cxnSp>
      <p:cxnSp>
        <p:nvCxnSpPr>
          <p:cNvPr id="8" name="Connector 7"/>
          <p:cNvCxnSpPr/>
          <p:nvPr/>
        </p:nvCxnSpPr>
        <p:spPr>
          <a:xfrm flipH="1">
            <a:off x="1636776" y="3803903"/>
            <a:ext cx="1014984" cy="1106425"/>
          </a:xfrm>
          <a:prstGeom prst="line">
            <a:avLst/>
          </a:prstGeom>
          <a:ln w="15875">
            <a:solidFill>
              <a:srgbClr val="C9CDD3"/>
            </a:solidFill>
          </a:ln>
          <a:effectLst/>
        </p:spPr>
      </p:cxnSp>
      <p:cxnSp>
        <p:nvCxnSpPr>
          <p:cNvPr id="9" name="Connector 8"/>
          <p:cNvCxnSpPr/>
          <p:nvPr/>
        </p:nvCxnSpPr>
        <p:spPr>
          <a:xfrm>
            <a:off x="2651760" y="3803903"/>
            <a:ext cx="484632" cy="1106425"/>
          </a:xfrm>
          <a:prstGeom prst="line">
            <a:avLst/>
          </a:prstGeom>
          <a:ln w="15875">
            <a:solidFill>
              <a:srgbClr val="C9CDD3"/>
            </a:solidFill>
          </a:ln>
          <a:effectLst/>
        </p:spPr>
      </p:cxnSp>
      <p:cxnSp>
        <p:nvCxnSpPr>
          <p:cNvPr id="10" name="Connector 9"/>
          <p:cNvCxnSpPr/>
          <p:nvPr/>
        </p:nvCxnSpPr>
        <p:spPr>
          <a:xfrm flipH="1">
            <a:off x="5513832" y="3803903"/>
            <a:ext cx="475488" cy="1106425"/>
          </a:xfrm>
          <a:prstGeom prst="line">
            <a:avLst/>
          </a:prstGeom>
          <a:ln w="15875">
            <a:solidFill>
              <a:srgbClr val="C9CDD3"/>
            </a:solidFill>
          </a:ln>
          <a:effectLst/>
        </p:spPr>
      </p:cxnSp>
      <p:cxnSp>
        <p:nvCxnSpPr>
          <p:cNvPr id="11" name="Connector 10"/>
          <p:cNvCxnSpPr/>
          <p:nvPr/>
        </p:nvCxnSpPr>
        <p:spPr>
          <a:xfrm>
            <a:off x="5989320" y="3803903"/>
            <a:ext cx="1024128" cy="1106425"/>
          </a:xfrm>
          <a:prstGeom prst="line">
            <a:avLst/>
          </a:prstGeom>
          <a:ln w="15875">
            <a:solidFill>
              <a:srgbClr val="C9CDD3"/>
            </a:solidFill>
          </a:ln>
          <a:effectLst/>
        </p:spPr>
      </p:cxnSp>
      <p:cxnSp>
        <p:nvCxnSpPr>
          <p:cNvPr id="12" name="Connector 11"/>
          <p:cNvCxnSpPr/>
          <p:nvPr/>
        </p:nvCxnSpPr>
        <p:spPr>
          <a:xfrm flipH="1">
            <a:off x="6135624" y="3803903"/>
            <a:ext cx="950976" cy="1106425"/>
          </a:xfrm>
          <a:prstGeom prst="line">
            <a:avLst/>
          </a:prstGeom>
          <a:ln w="15875">
            <a:solidFill>
              <a:srgbClr val="C9CDD3"/>
            </a:solidFill>
          </a:ln>
          <a:effectLst/>
        </p:spPr>
      </p:cxnSp>
      <p:cxnSp>
        <p:nvCxnSpPr>
          <p:cNvPr id="13" name="Connector 12"/>
          <p:cNvCxnSpPr/>
          <p:nvPr/>
        </p:nvCxnSpPr>
        <p:spPr>
          <a:xfrm>
            <a:off x="7086600" y="3803903"/>
            <a:ext cx="548640" cy="1106425"/>
          </a:xfrm>
          <a:prstGeom prst="line">
            <a:avLst/>
          </a:prstGeom>
          <a:ln w="15875">
            <a:solidFill>
              <a:srgbClr val="C9CDD3"/>
            </a:solidFill>
          </a:ln>
          <a:effectLst/>
        </p:spPr>
      </p:cxnSp>
      <p:cxnSp>
        <p:nvCxnSpPr>
          <p:cNvPr id="14" name="Connector 13"/>
          <p:cNvCxnSpPr/>
          <p:nvPr/>
        </p:nvCxnSpPr>
        <p:spPr>
          <a:xfrm>
            <a:off x="3794760" y="2203704"/>
            <a:ext cx="219455" cy="2706624"/>
          </a:xfrm>
          <a:prstGeom prst="line">
            <a:avLst/>
          </a:prstGeom>
          <a:ln w="15875">
            <a:solidFill>
              <a:srgbClr val="C9CDD3"/>
            </a:solidFill>
          </a:ln>
          <a:effectLst/>
        </p:spPr>
      </p:cxnSp>
      <p:cxnSp>
        <p:nvCxnSpPr>
          <p:cNvPr id="15" name="Connector 14"/>
          <p:cNvCxnSpPr/>
          <p:nvPr/>
        </p:nvCxnSpPr>
        <p:spPr>
          <a:xfrm flipH="1">
            <a:off x="1554480" y="2203704"/>
            <a:ext cx="2240280" cy="749807"/>
          </a:xfrm>
          <a:prstGeom prst="line">
            <a:avLst/>
          </a:prstGeom>
          <a:ln w="15875">
            <a:solidFill>
              <a:srgbClr val="C9CDD3"/>
            </a:solidFill>
          </a:ln>
          <a:effectLst/>
        </p:spPr>
      </p:cxnSp>
      <p:cxnSp>
        <p:nvCxnSpPr>
          <p:cNvPr id="16" name="Connector 15"/>
          <p:cNvCxnSpPr/>
          <p:nvPr/>
        </p:nvCxnSpPr>
        <p:spPr>
          <a:xfrm>
            <a:off x="3794760" y="2203704"/>
            <a:ext cx="2194560" cy="749807"/>
          </a:xfrm>
          <a:prstGeom prst="line">
            <a:avLst/>
          </a:prstGeom>
          <a:ln w="15875">
            <a:solidFill>
              <a:srgbClr val="C9CDD3"/>
            </a:solidFill>
          </a:ln>
          <a:effectLst/>
        </p:spPr>
      </p:cxnSp>
      <p:cxnSp>
        <p:nvCxnSpPr>
          <p:cNvPr id="17" name="Connector 16"/>
          <p:cNvCxnSpPr/>
          <p:nvPr/>
        </p:nvCxnSpPr>
        <p:spPr>
          <a:xfrm flipH="1">
            <a:off x="4636008"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2651760"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5120640" y="2203704"/>
            <a:ext cx="1965960" cy="749807"/>
          </a:xfrm>
          <a:prstGeom prst="line">
            <a:avLst/>
          </a:prstGeom>
          <a:ln w="31750">
            <a:solidFill>
              <a:srgbClr val="C8501E"/>
            </a:solidFill>
            <a:tailEnd type="triangle" w="med" len="med"/>
          </a:ln>
          <a:effectLst/>
        </p:spPr>
      </p:cxnSp>
      <p:sp>
        <p:nvSpPr>
          <p:cNvPr id="20" name="Rounded Rectangle 1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C9CDD3"/>
                </a:solidFill>
                <a:latin typeface="Calibri"/>
              </a:rPr>
              <a:t>m₁</a:t>
            </a:r>
          </a:p>
        </p:txBody>
      </p:sp>
      <p:sp>
        <p:nvSpPr>
          <p:cNvPr id="40" name="Rounded Rectangle 39"/>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5989320" y="1170432"/>
            <a:ext cx="2103120" cy="676656"/>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p>
        </p:txBody>
      </p:sp>
      <p:sp>
        <p:nvSpPr>
          <p:cNvPr id="43" name="TextBox 42"/>
          <p:cNvSpPr txBox="1"/>
          <p:nvPr/>
        </p:nvSpPr>
        <p:spPr>
          <a:xfrm>
            <a:off x="6016752" y="1216152"/>
            <a:ext cx="2048256" cy="292608"/>
          </a:xfrm>
          <a:prstGeom prst="rect">
            <a:avLst/>
          </a:prstGeom>
          <a:noFill/>
        </p:spPr>
        <p:txBody>
          <a:bodyPr wrap="square" anchor="t" lIns="45720" rIns="45720" tIns="27432" bIns="27432">
            <a:spAutoFit/>
          </a:bodyPr>
          <a:lstStyle/>
          <a:p>
            <a:pPr algn="ctr"/>
            <a:r>
              <a:rPr sz="1450" b="1" i="0">
                <a:solidFill>
                  <a:srgbClr val="2B2F36"/>
                </a:solidFill>
                <a:latin typeface="Calibri"/>
              </a:rPr>
              <a:t>m₂ = ITE(c′, a₂, x₂)</a:t>
            </a:r>
          </a:p>
        </p:txBody>
      </p:sp>
      <p:sp>
        <p:nvSpPr>
          <p:cNvPr id="44" name="TextBox 43"/>
          <p:cNvSpPr txBox="1"/>
          <p:nvPr/>
        </p:nvSpPr>
        <p:spPr>
          <a:xfrm>
            <a:off x="6016752" y="1508760"/>
            <a:ext cx="2048256" cy="274320"/>
          </a:xfrm>
          <a:prstGeom prst="rect">
            <a:avLst/>
          </a:prstGeom>
          <a:noFill/>
        </p:spPr>
        <p:txBody>
          <a:bodyPr wrap="square" anchor="t" lIns="45720" rIns="45720" tIns="27432" bIns="27432">
            <a:spAutoFit/>
          </a:bodyPr>
          <a:lstStyle/>
          <a:p>
            <a:pPr algn="ctr"/>
            <a:r>
              <a:rPr sz="1150" b="0" i="0">
                <a:solidFill>
                  <a:srgbClr val="6B717A"/>
                </a:solidFill>
                <a:latin typeface="Calibri"/>
              </a:rPr>
              <a:t>orange arrows: its 3 children</a:t>
            </a:r>
          </a:p>
        </p:txBody>
      </p:sp>
      <p:cxnSp>
        <p:nvCxnSpPr>
          <p:cNvPr id="45" name="Connector 44"/>
          <p:cNvCxnSpPr/>
          <p:nvPr/>
        </p:nvCxnSpPr>
        <p:spPr>
          <a:xfrm flipH="1">
            <a:off x="5303520" y="1481328"/>
            <a:ext cx="685800" cy="137160"/>
          </a:xfrm>
          <a:prstGeom prst="line">
            <a:avLst/>
          </a:prstGeom>
          <a:ln w="28575">
            <a:solidFill>
              <a:srgbClr val="E0A300"/>
            </a:solidFill>
            <a:tailEnd type="triangle" w="med" len="med"/>
          </a:ln>
          <a:effectLst/>
        </p:spPr>
      </p:cxnSp>
      <p:sp>
        <p:nvSpPr>
          <p:cNvPr id="46" name="TextBox 4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Notation</a:t>
            </a:r>
          </a:p>
        </p:txBody>
      </p:sp>
      <p:sp>
        <p:nvSpPr>
          <p:cNvPr id="47" name="TextBox 4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operator</a:t>
            </a:r>
            <a:r>
              <a:rPr sz="1600" b="0" i="0">
                <a:solidFill>
                  <a:srgbClr val="2B2F36"/>
                </a:solidFill>
                <a:latin typeface="Calibri"/>
              </a:rPr>
              <a:t> inside the node</a:t>
            </a:r>
          </a:p>
          <a:p>
            <a:pPr marL="274320" indent="-237744">
              <a:spcBef>
                <a:spcPts val="500"/>
              </a:spcBef>
              <a:buClr>
                <a:srgbClr val="6B717A"/>
              </a:buClr>
              <a:buChar char="•"/>
            </a:pPr>
            <a:r>
              <a:rPr sz="1600" b="1" i="0">
                <a:solidFill>
                  <a:srgbClr val="2B2F36"/>
                </a:solidFill>
                <a:latin typeface="Calibri"/>
              </a:rPr>
              <a:t>term name</a:t>
            </a:r>
            <a:r>
              <a:rPr sz="1600" b="0" i="0">
                <a:solidFill>
                  <a:srgbClr val="2B2F36"/>
                </a:solidFill>
                <a:latin typeface="Calibri"/>
              </a:rPr>
              <a:t> alongside it</a:t>
            </a:r>
          </a:p>
          <a:p>
            <a:pPr marL="274320" indent="-237744">
              <a:spcBef>
                <a:spcPts val="500"/>
              </a:spcBef>
              <a:buClr>
                <a:srgbClr val="6B717A"/>
              </a:buClr>
              <a:buChar char="•"/>
            </a:pPr>
            <a:r>
              <a:rPr sz="1600" b="1" i="0">
                <a:solidFill>
                  <a:srgbClr val="2B2F36"/>
                </a:solidFill>
                <a:latin typeface="Calibri"/>
              </a:rPr>
              <a:t>one edge per child</a:t>
            </a:r>
            <a:r>
              <a:rPr sz="1600" b="0" i="0">
                <a:solidFill>
                  <a:srgbClr val="2B2F36"/>
                </a:solidFill>
                <a:latin typeface="Calibri"/>
              </a:rPr>
              <a:t>, in argument order</a:t>
            </a:r>
          </a:p>
          <a:p>
            <a:pPr marL="274320" indent="-237744">
              <a:spcBef>
                <a:spcPts val="500"/>
              </a:spcBef>
              <a:buClr>
                <a:srgbClr val="6B717A"/>
              </a:buClr>
              <a:buChar char="•"/>
            </a:pPr>
            <a:r>
              <a:rPr sz="1600" b="0" i="0">
                <a:solidFill>
                  <a:srgbClr val="2B2F36"/>
                </a:solidFill>
                <a:latin typeface="Calibri"/>
              </a:rPr>
              <a:t>leaves: circuit inputs, no children</a:t>
            </a:r>
          </a:p>
          <a:p>
            <a:pPr>
              <a:spcBef>
                <a:spcPts val="1100"/>
              </a:spcBef>
              <a:spcAft>
                <a:spcPts val="200"/>
              </a:spcAft>
            </a:pPr>
            <a:r>
              <a:rPr sz="1600" b="1" i="0">
                <a:solidFill>
                  <a:srgbClr val="1F2A44"/>
                </a:solidFill>
                <a:latin typeface="Calibri"/>
              </a:rPr>
              <a:t>Same term, three ways</a:t>
            </a:r>
          </a:p>
          <a:p>
            <a:pPr marL="274320" indent="-237744">
              <a:spcBef>
                <a:spcPts val="500"/>
              </a:spcBef>
              <a:buClr>
                <a:srgbClr val="6B717A"/>
              </a:buClr>
              <a:buChar char="•"/>
            </a:pPr>
            <a:r>
              <a:rPr sz="1600" b="0" i="0">
                <a:solidFill>
                  <a:srgbClr val="2B2F36"/>
                </a:solidFill>
                <a:latin typeface="Calibri"/>
              </a:rPr>
              <a:t>gate m₂ in the circuit</a:t>
            </a:r>
          </a:p>
          <a:p>
            <a:pPr marL="274320" indent="-237744">
              <a:spcBef>
                <a:spcPts val="500"/>
              </a:spcBef>
              <a:buClr>
                <a:srgbClr val="6B717A"/>
              </a:buClr>
              <a:buChar char="•"/>
            </a:pPr>
            <a:r>
              <a:rPr sz="1600" b="0" i="0">
                <a:solidFill>
                  <a:srgbClr val="2B2F36"/>
                </a:solidFill>
                <a:latin typeface="Calibri"/>
              </a:rPr>
              <a:t>term ITE(c′, a₂, x₂)</a:t>
            </a:r>
          </a:p>
          <a:p>
            <a:pPr marL="274320" indent="-237744">
              <a:spcBef>
                <a:spcPts val="500"/>
              </a:spcBef>
              <a:buClr>
                <a:srgbClr val="6B717A"/>
              </a:buClr>
              <a:buChar char="•"/>
            </a:pPr>
            <a:r>
              <a:rPr sz="1600" b="0" i="0">
                <a:solidFill>
                  <a:srgbClr val="2B2F36"/>
                </a:solidFill>
                <a:latin typeface="Calibri"/>
              </a:rPr>
              <a:t>node with 3 outgoing edges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What we do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35608"/>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1</a:t>
            </a:r>
          </a:p>
        </p:txBody>
      </p:sp>
      <p:sp>
        <p:nvSpPr>
          <p:cNvPr id="7" name="TextBox 6"/>
          <p:cNvSpPr txBox="1"/>
          <p:nvPr/>
        </p:nvSpPr>
        <p:spPr>
          <a:xfrm>
            <a:off x="1325880" y="1380744"/>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Union every input equality</a:t>
            </a:r>
          </a:p>
        </p:txBody>
      </p:sp>
      <p:sp>
        <p:nvSpPr>
          <p:cNvPr id="8" name="TextBox 7"/>
          <p:cNvSpPr txBox="1"/>
          <p:nvPr/>
        </p:nvSpPr>
        <p:spPr>
          <a:xfrm>
            <a:off x="1325880" y="1764792"/>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r ≡ r′,  s ≡ s′,  u ≡ u′,  v ≡ v′,  c ≡ c′</a:t>
            </a:r>
          </a:p>
        </p:txBody>
      </p:sp>
      <p:sp>
        <p:nvSpPr>
          <p:cNvPr id="9" name="Rounded Rectangle 8"/>
          <p:cNvSpPr/>
          <p:nvPr/>
        </p:nvSpPr>
        <p:spPr>
          <a:xfrm>
            <a:off x="640080" y="2322576"/>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2</a:t>
            </a:r>
          </a:p>
        </p:txBody>
      </p:sp>
      <p:sp>
        <p:nvSpPr>
          <p:cNvPr id="10" name="TextBox 9"/>
          <p:cNvSpPr txBox="1"/>
          <p:nvPr/>
        </p:nvSpPr>
        <p:spPr>
          <a:xfrm>
            <a:off x="1325880" y="2267712"/>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Look for a congruent pair</a:t>
            </a:r>
          </a:p>
        </p:txBody>
      </p:sp>
      <p:sp>
        <p:nvSpPr>
          <p:cNvPr id="11" name="TextBox 10"/>
          <p:cNvSpPr txBox="1"/>
          <p:nvPr/>
        </p:nvSpPr>
        <p:spPr>
          <a:xfrm>
            <a:off x="1325880" y="2651760"/>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same operator, children pairwise equivalent</a:t>
            </a:r>
          </a:p>
        </p:txBody>
      </p:sp>
      <p:sp>
        <p:nvSpPr>
          <p:cNvPr id="12" name="Rounded Rectangle 11"/>
          <p:cNvSpPr/>
          <p:nvPr/>
        </p:nvSpPr>
        <p:spPr>
          <a:xfrm>
            <a:off x="640080" y="3209544"/>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3</a:t>
            </a:r>
          </a:p>
        </p:txBody>
      </p:sp>
      <p:sp>
        <p:nvSpPr>
          <p:cNvPr id="13" name="TextBox 12"/>
          <p:cNvSpPr txBox="1"/>
          <p:nvPr/>
        </p:nvSpPr>
        <p:spPr>
          <a:xfrm>
            <a:off x="1325880" y="3154680"/>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Merge their two classes</a:t>
            </a:r>
          </a:p>
        </p:txBody>
      </p:sp>
      <p:sp>
        <p:nvSpPr>
          <p:cNvPr id="14" name="TextBox 13"/>
          <p:cNvSpPr txBox="1"/>
          <p:nvPr/>
        </p:nvSpPr>
        <p:spPr>
          <a:xfrm>
            <a:off x="1325880" y="3538728"/>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one merge at a time, in whatever order we pick</a:t>
            </a:r>
          </a:p>
        </p:txBody>
      </p:sp>
      <p:sp>
        <p:nvSpPr>
          <p:cNvPr id="15" name="Rounded Rectangle 14"/>
          <p:cNvSpPr/>
          <p:nvPr/>
        </p:nvSpPr>
        <p:spPr>
          <a:xfrm>
            <a:off x="640080" y="4096511"/>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4</a:t>
            </a:r>
          </a:p>
        </p:txBody>
      </p:sp>
      <p:sp>
        <p:nvSpPr>
          <p:cNvPr id="16" name="TextBox 15"/>
          <p:cNvSpPr txBox="1"/>
          <p:nvPr/>
        </p:nvSpPr>
        <p:spPr>
          <a:xfrm>
            <a:off x="1325880" y="4041648"/>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Re-examine the parents of what just merged</a:t>
            </a:r>
          </a:p>
        </p:txBody>
      </p:sp>
      <p:sp>
        <p:nvSpPr>
          <p:cNvPr id="17" name="TextBox 16"/>
          <p:cNvSpPr txBox="1"/>
          <p:nvPr/>
        </p:nvSpPr>
        <p:spPr>
          <a:xfrm>
            <a:off x="1325880" y="4425696"/>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a merge can make new pairs congruent</a:t>
            </a:r>
          </a:p>
        </p:txBody>
      </p:sp>
      <p:sp>
        <p:nvSpPr>
          <p:cNvPr id="18" name="Rounded Rectangle 17"/>
          <p:cNvSpPr/>
          <p:nvPr/>
        </p:nvSpPr>
        <p:spPr>
          <a:xfrm>
            <a:off x="640080" y="4983479"/>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5</a:t>
            </a:r>
          </a:p>
        </p:txBody>
      </p:sp>
      <p:sp>
        <p:nvSpPr>
          <p:cNvPr id="19" name="TextBox 18"/>
          <p:cNvSpPr txBox="1"/>
          <p:nvPr/>
        </p:nvSpPr>
        <p:spPr>
          <a:xfrm>
            <a:off x="1325880" y="4928616"/>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Stop when no pair matches</a:t>
            </a:r>
          </a:p>
        </p:txBody>
      </p:sp>
      <p:sp>
        <p:nvSpPr>
          <p:cNvPr id="20" name="TextBox 19"/>
          <p:cNvSpPr txBox="1"/>
          <p:nvPr/>
        </p:nvSpPr>
        <p:spPr>
          <a:xfrm>
            <a:off x="1325880" y="5312664"/>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that fixpoint is the congruence closure</a:t>
            </a:r>
          </a:p>
        </p:txBody>
      </p:sp>
      <p:sp>
        <p:nvSpPr>
          <p:cNvPr id="21" name="Rounded Rectangle 20"/>
          <p:cNvSpPr/>
          <p:nvPr/>
        </p:nvSpPr>
        <p:spPr>
          <a:xfrm>
            <a:off x="7635240" y="1417320"/>
            <a:ext cx="3977639" cy="28803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2" name="TextBox 21"/>
          <p:cNvSpPr txBox="1"/>
          <p:nvPr/>
        </p:nvSpPr>
        <p:spPr>
          <a:xfrm>
            <a:off x="7818120" y="1508760"/>
            <a:ext cx="3657600" cy="365760"/>
          </a:xfrm>
          <a:prstGeom prst="rect">
            <a:avLst/>
          </a:prstGeom>
          <a:noFill/>
        </p:spPr>
        <p:txBody>
          <a:bodyPr wrap="square" anchor="t" lIns="45720" rIns="45720" tIns="27432" bIns="27432">
            <a:spAutoFit/>
          </a:bodyPr>
          <a:lstStyle/>
          <a:p>
            <a:pPr algn="l"/>
            <a:r>
              <a:rPr sz="1700" b="1" i="0">
                <a:solidFill>
                  <a:srgbClr val="1F2A44"/>
                </a:solidFill>
                <a:latin typeface="Calibri"/>
              </a:rPr>
              <a:t>Test in step 2</a:t>
            </a:r>
          </a:p>
        </p:txBody>
      </p:sp>
      <p:sp>
        <p:nvSpPr>
          <p:cNvPr id="23" name="TextBox 22"/>
          <p:cNvSpPr txBox="1"/>
          <p:nvPr/>
        </p:nvSpPr>
        <p:spPr>
          <a:xfrm>
            <a:off x="7772400" y="1920240"/>
            <a:ext cx="3703320" cy="365760"/>
          </a:xfrm>
          <a:prstGeom prst="rect">
            <a:avLst/>
          </a:prstGeom>
          <a:noFill/>
        </p:spPr>
        <p:txBody>
          <a:bodyPr wrap="square" anchor="t" lIns="45720" rIns="45720" tIns="27432" bIns="27432">
            <a:spAutoFit/>
          </a:bodyPr>
          <a:lstStyle/>
          <a:p>
            <a:pPr algn="ctr"/>
            <a:r>
              <a:rPr sz="1600" b="0" i="0">
                <a:solidFill>
                  <a:srgbClr val="2B2F36"/>
                </a:solidFill>
                <a:latin typeface="Calibri"/>
              </a:rPr>
              <a:t>f(M₁, …, Mₙ)   and   f(N₁, …, Nₙ)</a:t>
            </a:r>
          </a:p>
        </p:txBody>
      </p:sp>
      <p:sp>
        <p:nvSpPr>
          <p:cNvPr id="24" name="TextBox 23"/>
          <p:cNvSpPr txBox="1"/>
          <p:nvPr/>
        </p:nvSpPr>
        <p:spPr>
          <a:xfrm>
            <a:off x="7772400" y="2304288"/>
            <a:ext cx="3703320" cy="292608"/>
          </a:xfrm>
          <a:prstGeom prst="rect">
            <a:avLst/>
          </a:prstGeom>
          <a:noFill/>
        </p:spPr>
        <p:txBody>
          <a:bodyPr wrap="square" anchor="t" lIns="45720" rIns="45720" tIns="27432" bIns="27432">
            <a:spAutoFit/>
          </a:bodyPr>
          <a:lstStyle/>
          <a:p>
            <a:pPr algn="ctr"/>
            <a:r>
              <a:rPr sz="1300" b="0" i="0">
                <a:solidFill>
                  <a:srgbClr val="6B717A"/>
                </a:solidFill>
                <a:latin typeface="Calibri"/>
              </a:rPr>
              <a:t>congruent when</a:t>
            </a:r>
          </a:p>
        </p:txBody>
      </p:sp>
      <p:sp>
        <p:nvSpPr>
          <p:cNvPr id="25" name="TextBox 24"/>
          <p:cNvSpPr txBox="1"/>
          <p:nvPr/>
        </p:nvSpPr>
        <p:spPr>
          <a:xfrm>
            <a:off x="7772400" y="2615184"/>
            <a:ext cx="3703320" cy="365760"/>
          </a:xfrm>
          <a:prstGeom prst="rect">
            <a:avLst/>
          </a:prstGeom>
          <a:noFill/>
        </p:spPr>
        <p:txBody>
          <a:bodyPr wrap="square" anchor="t" lIns="45720" rIns="45720" tIns="27432" bIns="27432">
            <a:spAutoFit/>
          </a:bodyPr>
          <a:lstStyle/>
          <a:p>
            <a:pPr algn="ctr"/>
            <a:r>
              <a:rPr sz="1600" b="0" i="0">
                <a:solidFill>
                  <a:srgbClr val="2B2F36"/>
                </a:solidFill>
                <a:latin typeface="Calibri"/>
              </a:rPr>
              <a:t>Find(Mᵢ) = Find(Nᵢ)  for every i</a:t>
            </a:r>
          </a:p>
        </p:txBody>
      </p:sp>
      <p:sp>
        <p:nvSpPr>
          <p:cNvPr id="26" name="TextBox 25"/>
          <p:cNvSpPr txBox="1"/>
          <p:nvPr/>
        </p:nvSpPr>
        <p:spPr>
          <a:xfrm>
            <a:off x="7726679" y="3108960"/>
            <a:ext cx="3794760" cy="1097280"/>
          </a:xfrm>
          <a:prstGeom prst="rect">
            <a:avLst/>
          </a:prstGeom>
          <a:noFill/>
        </p:spPr>
        <p:txBody>
          <a:bodyPr wrap="square" lIns="45720" rIns="45720">
            <a:spAutoFit/>
          </a:bodyPr>
          <a:lstStyle/>
          <a:p>
            <a:pPr marL="274320" indent="-237744">
              <a:spcBef>
                <a:spcPts val="600"/>
              </a:spcBef>
              <a:buClr>
                <a:srgbClr val="6B717A"/>
              </a:buClr>
              <a:buChar char="•"/>
            </a:pPr>
            <a:r>
              <a:rPr sz="1500" b="0" i="0">
                <a:solidFill>
                  <a:srgbClr val="2B2F36"/>
                </a:solidFill>
                <a:latin typeface="Calibri"/>
              </a:rPr>
              <a:t>classes live in a union-find</a:t>
            </a:r>
          </a:p>
          <a:p>
            <a:pPr marL="274320" indent="-237744">
              <a:spcBef>
                <a:spcPts val="600"/>
              </a:spcBef>
              <a:buClr>
                <a:srgbClr val="6B717A"/>
              </a:buClr>
              <a:buChar char="•"/>
            </a:pPr>
            <a:r>
              <a:rPr sz="1500" b="0" i="0">
                <a:solidFill>
                  <a:srgbClr val="2B2F36"/>
                </a:solidFill>
                <a:latin typeface="Calibri"/>
              </a:rPr>
              <a:t>Find(t) = representative of t</a:t>
            </a:r>
          </a:p>
        </p:txBody>
      </p:sp>
      <p:sp>
        <p:nvSpPr>
          <p:cNvPr id="27" name="Rounded Rectangle 26"/>
          <p:cNvSpPr/>
          <p:nvPr/>
        </p:nvSpPr>
        <p:spPr>
          <a:xfrm>
            <a:off x="7635240" y="4526280"/>
            <a:ext cx="3977639" cy="1234440"/>
          </a:xfrm>
          <a:prstGeom prst="roundRect">
            <a:avLst>
              <a:gd name="adj" fmla="val 15000"/>
            </a:avLst>
          </a:prstGeom>
          <a:solidFill>
            <a:srgbClr val="1F2A44"/>
          </a:solidFill>
          <a:ln>
            <a:noFill/>
          </a:ln>
          <a:effectLst/>
        </p:spPr>
        <p:txBody>
          <a:bodyPr rtlCol="0" anchor="ctr" lIns="54864" rIns="54864" tIns="27432" bIns="27432" wrap="square"/>
          <a:lstStyle/>
          <a:p>
            <a:pPr algn="ctr"/>
            <a:r>
              <a:rPr sz="1700" b="1" i="0">
                <a:solidFill>
                  <a:srgbClr val="FFFFFF"/>
                </a:solidFill>
                <a:latin typeface="Calibri"/>
              </a:rPr>
              <a:t>Next: this loop on the miter,</a:t>
            </a:r>
          </a:p>
          <a:p>
            <a:pPr algn="ctr"/>
            <a:r>
              <a:rPr sz="1700" b="1" i="0">
                <a:solidFill>
                  <a:srgbClr val="FFFFFF"/>
                </a:solidFill>
                <a:latin typeface="Calibri"/>
              </a:rPr>
              <a:t>one merge per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4984" y="3803903"/>
            <a:ext cx="539496" cy="1106425"/>
          </a:xfrm>
          <a:prstGeom prst="line">
            <a:avLst/>
          </a:prstGeom>
          <a:ln w="15875">
            <a:solidFill>
              <a:srgbClr val="8A8F98"/>
            </a:solidFill>
          </a:ln>
          <a:effectLst/>
        </p:spPr>
      </p:cxnSp>
      <p:cxnSp>
        <p:nvCxnSpPr>
          <p:cNvPr id="12" name="Connector 11"/>
          <p:cNvCxnSpPr/>
          <p:nvPr/>
        </p:nvCxnSpPr>
        <p:spPr>
          <a:xfrm>
            <a:off x="1554480" y="3803903"/>
            <a:ext cx="960120" cy="1106425"/>
          </a:xfrm>
          <a:prstGeom prst="line">
            <a:avLst/>
          </a:prstGeom>
          <a:ln w="15875">
            <a:solidFill>
              <a:srgbClr val="8A8F98"/>
            </a:solidFill>
          </a:ln>
          <a:effectLst/>
        </p:spPr>
      </p:cxnSp>
      <p:cxnSp>
        <p:nvCxnSpPr>
          <p:cNvPr id="13" name="Connector 12"/>
          <p:cNvCxnSpPr/>
          <p:nvPr/>
        </p:nvCxnSpPr>
        <p:spPr>
          <a:xfrm flipH="1">
            <a:off x="1636776" y="3803903"/>
            <a:ext cx="1014984" cy="1106425"/>
          </a:xfrm>
          <a:prstGeom prst="line">
            <a:avLst/>
          </a:prstGeom>
          <a:ln w="15875">
            <a:solidFill>
              <a:srgbClr val="8A8F98"/>
            </a:solidFill>
          </a:ln>
          <a:effectLst/>
        </p:spPr>
      </p:cxnSp>
      <p:cxnSp>
        <p:nvCxnSpPr>
          <p:cNvPr id="14" name="Connector 13"/>
          <p:cNvCxnSpPr/>
          <p:nvPr/>
        </p:nvCxnSpPr>
        <p:spPr>
          <a:xfrm>
            <a:off x="2651760" y="3803903"/>
            <a:ext cx="484632" cy="1106425"/>
          </a:xfrm>
          <a:prstGeom prst="line">
            <a:avLst/>
          </a:prstGeom>
          <a:ln w="15875">
            <a:solidFill>
              <a:srgbClr val="8A8F98"/>
            </a:solidFill>
          </a:ln>
          <a:effectLst/>
        </p:spPr>
      </p:cxnSp>
      <p:cxnSp>
        <p:nvCxnSpPr>
          <p:cNvPr id="15" name="Connector 14"/>
          <p:cNvCxnSpPr/>
          <p:nvPr/>
        </p:nvCxnSpPr>
        <p:spPr>
          <a:xfrm flipH="1">
            <a:off x="5513832" y="3803903"/>
            <a:ext cx="475488" cy="1106425"/>
          </a:xfrm>
          <a:prstGeom prst="line">
            <a:avLst/>
          </a:prstGeom>
          <a:ln w="15875">
            <a:solidFill>
              <a:srgbClr val="8A8F98"/>
            </a:solidFill>
          </a:ln>
          <a:effectLst/>
        </p:spPr>
      </p:cxnSp>
      <p:cxnSp>
        <p:nvCxnSpPr>
          <p:cNvPr id="16" name="Connector 15"/>
          <p:cNvCxnSpPr/>
          <p:nvPr/>
        </p:nvCxnSpPr>
        <p:spPr>
          <a:xfrm>
            <a:off x="5989320" y="3803903"/>
            <a:ext cx="1024128" cy="1106425"/>
          </a:xfrm>
          <a:prstGeom prst="line">
            <a:avLst/>
          </a:prstGeom>
          <a:ln w="15875">
            <a:solidFill>
              <a:srgbClr val="8A8F98"/>
            </a:solidFill>
          </a:ln>
          <a:effectLst/>
        </p:spPr>
      </p:cxnSp>
      <p:cxnSp>
        <p:nvCxnSpPr>
          <p:cNvPr id="17" name="Connector 16"/>
          <p:cNvCxnSpPr/>
          <p:nvPr/>
        </p:nvCxnSpPr>
        <p:spPr>
          <a:xfrm flipH="1">
            <a:off x="6135624" y="3803903"/>
            <a:ext cx="950976" cy="1106425"/>
          </a:xfrm>
          <a:prstGeom prst="line">
            <a:avLst/>
          </a:prstGeom>
          <a:ln w="15875">
            <a:solidFill>
              <a:srgbClr val="8A8F98"/>
            </a:solidFill>
          </a:ln>
          <a:effectLst/>
        </p:spPr>
      </p:cxnSp>
      <p:cxnSp>
        <p:nvCxnSpPr>
          <p:cNvPr id="18" name="Connector 17"/>
          <p:cNvCxnSpPr/>
          <p:nvPr/>
        </p:nvCxnSpPr>
        <p:spPr>
          <a:xfrm>
            <a:off x="7086600" y="3803903"/>
            <a:ext cx="548640" cy="1106425"/>
          </a:xfrm>
          <a:prstGeom prst="line">
            <a:avLst/>
          </a:prstGeom>
          <a:ln w="15875">
            <a:solidFill>
              <a:srgbClr val="8A8F98"/>
            </a:solidFill>
          </a:ln>
          <a:effectLst/>
        </p:spPr>
      </p:cxnSp>
      <p:cxnSp>
        <p:nvCxnSpPr>
          <p:cNvPr id="19" name="Connector 18"/>
          <p:cNvCxnSpPr/>
          <p:nvPr/>
        </p:nvCxnSpPr>
        <p:spPr>
          <a:xfrm>
            <a:off x="3794760" y="2203704"/>
            <a:ext cx="219455" cy="2706624"/>
          </a:xfrm>
          <a:prstGeom prst="line">
            <a:avLst/>
          </a:prstGeom>
          <a:ln w="15875">
            <a:solidFill>
              <a:srgbClr val="8A8F98"/>
            </a:solidFill>
          </a:ln>
          <a:effectLst/>
        </p:spPr>
      </p:cxnSp>
      <p:cxnSp>
        <p:nvCxnSpPr>
          <p:cNvPr id="20" name="Connector 19"/>
          <p:cNvCxnSpPr/>
          <p:nvPr/>
        </p:nvCxnSpPr>
        <p:spPr>
          <a:xfrm flipH="1">
            <a:off x="1554480" y="2203704"/>
            <a:ext cx="2240280" cy="749807"/>
          </a:xfrm>
          <a:prstGeom prst="line">
            <a:avLst/>
          </a:prstGeom>
          <a:ln w="15875">
            <a:solidFill>
              <a:srgbClr val="8A8F98"/>
            </a:solidFill>
          </a:ln>
          <a:effectLst/>
        </p:spPr>
      </p:cxnSp>
      <p:cxnSp>
        <p:nvCxnSpPr>
          <p:cNvPr id="21" name="Connector 20"/>
          <p:cNvCxnSpPr/>
          <p:nvPr/>
        </p:nvCxnSpPr>
        <p:spPr>
          <a:xfrm>
            <a:off x="3794760" y="2203704"/>
            <a:ext cx="2194560" cy="749807"/>
          </a:xfrm>
          <a:prstGeom prst="line">
            <a:avLst/>
          </a:prstGeom>
          <a:ln w="15875">
            <a:solidFill>
              <a:srgbClr val="8A8F98"/>
            </a:solidFill>
          </a:ln>
          <a:effectLst/>
        </p:spPr>
      </p:cxnSp>
      <p:cxnSp>
        <p:nvCxnSpPr>
          <p:cNvPr id="22" name="Connector 21"/>
          <p:cNvCxnSpPr/>
          <p:nvPr/>
        </p:nvCxnSpPr>
        <p:spPr>
          <a:xfrm flipH="1">
            <a:off x="4636008" y="2203704"/>
            <a:ext cx="484632" cy="2706624"/>
          </a:xfrm>
          <a:prstGeom prst="line">
            <a:avLst/>
          </a:prstGeom>
          <a:ln w="15875">
            <a:solidFill>
              <a:srgbClr val="8A8F98"/>
            </a:solidFill>
          </a:ln>
          <a:effectLst/>
        </p:spPr>
      </p:cxnSp>
      <p:cxnSp>
        <p:nvCxnSpPr>
          <p:cNvPr id="23" name="Connector 22"/>
          <p:cNvCxnSpPr/>
          <p:nvPr/>
        </p:nvCxnSpPr>
        <p:spPr>
          <a:xfrm flipH="1">
            <a:off x="2651760" y="2203704"/>
            <a:ext cx="2468880" cy="749807"/>
          </a:xfrm>
          <a:prstGeom prst="line">
            <a:avLst/>
          </a:prstGeom>
          <a:ln w="15875">
            <a:solidFill>
              <a:srgbClr val="8A8F98"/>
            </a:solidFill>
          </a:ln>
          <a:effectLst/>
        </p:spPr>
      </p:cxnSp>
      <p:cxnSp>
        <p:nvCxnSpPr>
          <p:cNvPr id="24" name="Connector 23"/>
          <p:cNvCxnSpPr/>
          <p:nvPr/>
        </p:nvCxnSpPr>
        <p:spPr>
          <a:xfrm>
            <a:off x="5120640" y="2203704"/>
            <a:ext cx="1965960" cy="749807"/>
          </a:xfrm>
          <a:prstGeom prst="line">
            <a:avLst/>
          </a:prstGeom>
          <a:ln w="15875">
            <a:solidFill>
              <a:srgbClr val="8A8F98"/>
            </a:solidFill>
          </a:ln>
          <a:effectLst/>
        </p:spPr>
      </p:cxnSp>
      <p:sp>
        <p:nvSpPr>
          <p:cNvPr id="25" name="Rounded Rectangle 24"/>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5" name="Rounded Rectangle 44"/>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0: input equalities</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Union(r, r′), Union(s, s′), Union(u, u′), Union(v, v′), Union(c, c′)</a:t>
            </a:r>
          </a:p>
          <a:p>
            <a:pPr marL="274320" indent="-237744">
              <a:spcBef>
                <a:spcPts val="500"/>
              </a:spcBef>
              <a:buClr>
                <a:srgbClr val="6B717A"/>
              </a:buClr>
              <a:buChar char="•"/>
            </a:pPr>
            <a:r>
              <a:rPr sz="1600" b="0" i="0">
                <a:solidFill>
                  <a:srgbClr val="2B2F36"/>
                </a:solidFill>
                <a:latin typeface="Calibri"/>
              </a:rPr>
              <a:t>dashed box = equivalence class</a:t>
            </a:r>
          </a:p>
          <a:p>
            <a:pPr marL="274320" indent="-237744">
              <a:spcBef>
                <a:spcPts val="500"/>
              </a:spcBef>
              <a:buClr>
                <a:srgbClr val="6B717A"/>
              </a:buClr>
              <a:buChar char="•"/>
            </a:pPr>
            <a:r>
              <a:rPr sz="1600" b="0" i="0">
                <a:solidFill>
                  <a:srgbClr val="2B2F36"/>
                </a:solidFill>
                <a:latin typeface="Calibri"/>
              </a:rPr>
              <a:t>every gate still in its own class</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1014984" y="3803903"/>
            <a:ext cx="539496" cy="1106425"/>
          </a:xfrm>
          <a:prstGeom prst="line">
            <a:avLst/>
          </a:prstGeom>
          <a:ln w="15875">
            <a:solidFill>
              <a:srgbClr val="8A8F98"/>
            </a:solidFill>
          </a:ln>
          <a:effectLst/>
        </p:spPr>
      </p:cxnSp>
      <p:cxnSp>
        <p:nvCxnSpPr>
          <p:cNvPr id="13" name="Connector 12"/>
          <p:cNvCxnSpPr/>
          <p:nvPr/>
        </p:nvCxnSpPr>
        <p:spPr>
          <a:xfrm>
            <a:off x="1554480" y="3803903"/>
            <a:ext cx="960120" cy="1106425"/>
          </a:xfrm>
          <a:prstGeom prst="line">
            <a:avLst/>
          </a:prstGeom>
          <a:ln w="15875">
            <a:solidFill>
              <a:srgbClr val="8A8F98"/>
            </a:solidFill>
          </a:ln>
          <a:effectLst/>
        </p:spPr>
      </p:cxnSp>
      <p:cxnSp>
        <p:nvCxnSpPr>
          <p:cNvPr id="14" name="Connector 13"/>
          <p:cNvCxnSpPr/>
          <p:nvPr/>
        </p:nvCxnSpPr>
        <p:spPr>
          <a:xfrm flipH="1">
            <a:off x="1636776" y="3803903"/>
            <a:ext cx="1014984" cy="1106425"/>
          </a:xfrm>
          <a:prstGeom prst="line">
            <a:avLst/>
          </a:prstGeom>
          <a:ln w="15875">
            <a:solidFill>
              <a:srgbClr val="8A8F98"/>
            </a:solidFill>
          </a:ln>
          <a:effectLst/>
        </p:spPr>
      </p:cxnSp>
      <p:cxnSp>
        <p:nvCxnSpPr>
          <p:cNvPr id="15" name="Connector 14"/>
          <p:cNvCxnSpPr/>
          <p:nvPr/>
        </p:nvCxnSpPr>
        <p:spPr>
          <a:xfrm>
            <a:off x="2651760" y="3803903"/>
            <a:ext cx="484632" cy="1106425"/>
          </a:xfrm>
          <a:prstGeom prst="line">
            <a:avLst/>
          </a:prstGeom>
          <a:ln w="15875">
            <a:solidFill>
              <a:srgbClr val="8A8F98"/>
            </a:solidFill>
          </a:ln>
          <a:effectLst/>
        </p:spPr>
      </p:cxnSp>
      <p:cxnSp>
        <p:nvCxnSpPr>
          <p:cNvPr id="16" name="Connector 15"/>
          <p:cNvCxnSpPr/>
          <p:nvPr/>
        </p:nvCxnSpPr>
        <p:spPr>
          <a:xfrm flipH="1">
            <a:off x="5513832" y="3803903"/>
            <a:ext cx="475488" cy="1106425"/>
          </a:xfrm>
          <a:prstGeom prst="line">
            <a:avLst/>
          </a:prstGeom>
          <a:ln w="15875">
            <a:solidFill>
              <a:srgbClr val="8A8F98"/>
            </a:solidFill>
          </a:ln>
          <a:effectLst/>
        </p:spPr>
      </p:cxnSp>
      <p:cxnSp>
        <p:nvCxnSpPr>
          <p:cNvPr id="17" name="Connector 16"/>
          <p:cNvCxnSpPr/>
          <p:nvPr/>
        </p:nvCxnSpPr>
        <p:spPr>
          <a:xfrm>
            <a:off x="5989320" y="3803903"/>
            <a:ext cx="1024128" cy="1106425"/>
          </a:xfrm>
          <a:prstGeom prst="line">
            <a:avLst/>
          </a:prstGeom>
          <a:ln w="15875">
            <a:solidFill>
              <a:srgbClr val="8A8F98"/>
            </a:solidFill>
          </a:ln>
          <a:effectLst/>
        </p:spPr>
      </p:cxnSp>
      <p:cxnSp>
        <p:nvCxnSpPr>
          <p:cNvPr id="18" name="Connector 17"/>
          <p:cNvCxnSpPr/>
          <p:nvPr/>
        </p:nvCxnSpPr>
        <p:spPr>
          <a:xfrm flipH="1">
            <a:off x="6135624" y="3803903"/>
            <a:ext cx="950976" cy="1106425"/>
          </a:xfrm>
          <a:prstGeom prst="line">
            <a:avLst/>
          </a:prstGeom>
          <a:ln w="15875">
            <a:solidFill>
              <a:srgbClr val="8A8F98"/>
            </a:solidFill>
          </a:ln>
          <a:effectLst/>
        </p:spPr>
      </p:cxnSp>
      <p:cxnSp>
        <p:nvCxnSpPr>
          <p:cNvPr id="19" name="Connector 18"/>
          <p:cNvCxnSpPr/>
          <p:nvPr/>
        </p:nvCxnSpPr>
        <p:spPr>
          <a:xfrm>
            <a:off x="7086600" y="3803903"/>
            <a:ext cx="548640" cy="1106425"/>
          </a:xfrm>
          <a:prstGeom prst="line">
            <a:avLst/>
          </a:prstGeom>
          <a:ln w="15875">
            <a:solidFill>
              <a:srgbClr val="8A8F98"/>
            </a:solidFill>
          </a:ln>
          <a:effectLst/>
        </p:spPr>
      </p:cxnSp>
      <p:cxnSp>
        <p:nvCxnSpPr>
          <p:cNvPr id="20" name="Connector 19"/>
          <p:cNvCxnSpPr/>
          <p:nvPr/>
        </p:nvCxnSpPr>
        <p:spPr>
          <a:xfrm>
            <a:off x="3794760" y="2203704"/>
            <a:ext cx="219455" cy="2706624"/>
          </a:xfrm>
          <a:prstGeom prst="line">
            <a:avLst/>
          </a:prstGeom>
          <a:ln w="15875">
            <a:solidFill>
              <a:srgbClr val="8A8F98"/>
            </a:solidFill>
          </a:ln>
          <a:effectLst/>
        </p:spPr>
      </p:cxnSp>
      <p:cxnSp>
        <p:nvCxnSpPr>
          <p:cNvPr id="21" name="Connector 20"/>
          <p:cNvCxnSpPr/>
          <p:nvPr/>
        </p:nvCxnSpPr>
        <p:spPr>
          <a:xfrm flipH="1">
            <a:off x="1554480" y="2203704"/>
            <a:ext cx="2240280" cy="749807"/>
          </a:xfrm>
          <a:prstGeom prst="line">
            <a:avLst/>
          </a:prstGeom>
          <a:ln w="15875">
            <a:solidFill>
              <a:srgbClr val="8A8F98"/>
            </a:solidFill>
          </a:ln>
          <a:effectLst/>
        </p:spPr>
      </p:cxnSp>
      <p:cxnSp>
        <p:nvCxnSpPr>
          <p:cNvPr id="22" name="Connector 21"/>
          <p:cNvCxnSpPr/>
          <p:nvPr/>
        </p:nvCxnSpPr>
        <p:spPr>
          <a:xfrm>
            <a:off x="3794760" y="2203704"/>
            <a:ext cx="2194560" cy="749807"/>
          </a:xfrm>
          <a:prstGeom prst="line">
            <a:avLst/>
          </a:prstGeom>
          <a:ln w="15875">
            <a:solidFill>
              <a:srgbClr val="8A8F98"/>
            </a:solidFill>
          </a:ln>
          <a:effectLst/>
        </p:spPr>
      </p:cxnSp>
      <p:cxnSp>
        <p:nvCxnSpPr>
          <p:cNvPr id="23" name="Connector 22"/>
          <p:cNvCxnSpPr/>
          <p:nvPr/>
        </p:nvCxnSpPr>
        <p:spPr>
          <a:xfrm flipH="1">
            <a:off x="4636008" y="2203704"/>
            <a:ext cx="484632" cy="2706624"/>
          </a:xfrm>
          <a:prstGeom prst="line">
            <a:avLst/>
          </a:prstGeom>
          <a:ln w="15875">
            <a:solidFill>
              <a:srgbClr val="8A8F98"/>
            </a:solidFill>
          </a:ln>
          <a:effectLst/>
        </p:spPr>
      </p:cxnSp>
      <p:cxnSp>
        <p:nvCxnSpPr>
          <p:cNvPr id="24" name="Connector 23"/>
          <p:cNvCxnSpPr/>
          <p:nvPr/>
        </p:nvCxnSpPr>
        <p:spPr>
          <a:xfrm flipH="1">
            <a:off x="2651760" y="2203704"/>
            <a:ext cx="2468880" cy="749807"/>
          </a:xfrm>
          <a:prstGeom prst="line">
            <a:avLst/>
          </a:prstGeom>
          <a:ln w="15875">
            <a:solidFill>
              <a:srgbClr val="8A8F98"/>
            </a:solidFill>
          </a:ln>
          <a:effectLst/>
        </p:spPr>
      </p:cxnSp>
      <p:cxnSp>
        <p:nvCxnSpPr>
          <p:cNvPr id="25" name="Connector 24"/>
          <p:cNvCxnSpPr/>
          <p:nvPr/>
        </p:nvCxnSpPr>
        <p:spPr>
          <a:xfrm>
            <a:off x="5120640" y="2203704"/>
            <a:ext cx="1965960" cy="749807"/>
          </a:xfrm>
          <a:prstGeom prst="line">
            <a:avLst/>
          </a:prstGeom>
          <a:ln w="15875">
            <a:solidFill>
              <a:srgbClr val="8A8F98"/>
            </a:solidFill>
          </a:ln>
          <a:effectLst/>
        </p:spPr>
      </p:cxnSp>
      <p:sp>
        <p:nvSpPr>
          <p:cNvPr id="26" name="Rounded Rectangle 25"/>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6" name="Rounded Rectangle 45"/>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1: the AND gates</a:t>
            </a:r>
          </a:p>
        </p:txBody>
      </p:sp>
      <p:sp>
        <p:nvSpPr>
          <p:cNvPr id="49" name="TextBox 48"/>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a₂ = AND(r′, s′)</a:t>
            </a:r>
          </a:p>
          <a:p>
            <a:pPr marL="274320" indent="-237744">
              <a:spcBef>
                <a:spcPts val="500"/>
              </a:spcBef>
              <a:buClr>
                <a:srgbClr val="6B717A"/>
              </a:buClr>
              <a:buChar char="•"/>
            </a:pPr>
            <a:r>
              <a:rPr sz="1600" b="0" i="0">
                <a:solidFill>
                  <a:srgbClr val="2B2F36"/>
                </a:solidFill>
                <a:latin typeface="Calibri"/>
              </a:rPr>
              <a:t>same symbol, children pairwise equivalent</a:t>
            </a:r>
          </a:p>
          <a:p>
            <a:pPr marL="274320" indent="-237744">
              <a:spcBef>
                <a:spcPts val="500"/>
              </a:spcBef>
              <a:buClr>
                <a:srgbClr val="6B717A"/>
              </a:buClr>
              <a:buChar char="•"/>
            </a:pPr>
            <a:r>
              <a:rPr sz="1600" b="1" i="0">
                <a:solidFill>
                  <a:srgbClr val="2B2F36"/>
                </a:solidFill>
                <a:latin typeface="Calibri"/>
              </a:rPr>
              <a:t>congruence ⇒ a₁ ≡ a₂</a:t>
            </a:r>
          </a:p>
          <a:p>
            <a:pPr marL="274320" indent="-237744">
              <a:spcBef>
                <a:spcPts val="500"/>
              </a:spcBef>
              <a:buClr>
                <a:srgbClr val="6B717A"/>
              </a:buClr>
              <a:buChar char="•"/>
            </a:pPr>
            <a:r>
              <a:rPr sz="1600" b="0" i="0">
                <a:solidFill>
                  <a:srgbClr val="2B2F36"/>
                </a:solidFill>
                <a:latin typeface="Calibri"/>
              </a:rPr>
              <a:t>Union(a₁, a₂)</a:t>
            </a:r>
          </a:p>
        </p:txBody>
      </p:sp>
      <p:sp>
        <p:nvSpPr>
          <p:cNvPr id="50" name="Rounded Rectangle 49"/>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1" name="TextBox 50"/>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2" name="Rounded Rectangle 51"/>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4984" y="3803903"/>
            <a:ext cx="539496" cy="1106425"/>
          </a:xfrm>
          <a:prstGeom prst="line">
            <a:avLst/>
          </a:prstGeom>
          <a:ln w="15875">
            <a:solidFill>
              <a:srgbClr val="8A8F98"/>
            </a:solidFill>
          </a:ln>
          <a:effectLst/>
        </p:spPr>
      </p:cxnSp>
      <p:cxnSp>
        <p:nvCxnSpPr>
          <p:cNvPr id="14" name="Connector 13"/>
          <p:cNvCxnSpPr/>
          <p:nvPr/>
        </p:nvCxnSpPr>
        <p:spPr>
          <a:xfrm>
            <a:off x="1554480" y="3803903"/>
            <a:ext cx="960120" cy="1106425"/>
          </a:xfrm>
          <a:prstGeom prst="line">
            <a:avLst/>
          </a:prstGeom>
          <a:ln w="15875">
            <a:solidFill>
              <a:srgbClr val="8A8F98"/>
            </a:solidFill>
          </a:ln>
          <a:effectLst/>
        </p:spPr>
      </p:cxnSp>
      <p:cxnSp>
        <p:nvCxnSpPr>
          <p:cNvPr id="15" name="Connector 14"/>
          <p:cNvCxnSpPr/>
          <p:nvPr/>
        </p:nvCxnSpPr>
        <p:spPr>
          <a:xfrm flipH="1">
            <a:off x="1636776" y="3803903"/>
            <a:ext cx="1014984" cy="1106425"/>
          </a:xfrm>
          <a:prstGeom prst="line">
            <a:avLst/>
          </a:prstGeom>
          <a:ln w="15875">
            <a:solidFill>
              <a:srgbClr val="8A8F98"/>
            </a:solidFill>
          </a:ln>
          <a:effectLst/>
        </p:spPr>
      </p:cxnSp>
      <p:cxnSp>
        <p:nvCxnSpPr>
          <p:cNvPr id="16" name="Connector 15"/>
          <p:cNvCxnSpPr/>
          <p:nvPr/>
        </p:nvCxnSpPr>
        <p:spPr>
          <a:xfrm>
            <a:off x="2651760" y="3803903"/>
            <a:ext cx="484632" cy="1106425"/>
          </a:xfrm>
          <a:prstGeom prst="line">
            <a:avLst/>
          </a:prstGeom>
          <a:ln w="15875">
            <a:solidFill>
              <a:srgbClr val="8A8F98"/>
            </a:solidFill>
          </a:ln>
          <a:effectLst/>
        </p:spPr>
      </p:cxnSp>
      <p:cxnSp>
        <p:nvCxnSpPr>
          <p:cNvPr id="17" name="Connector 16"/>
          <p:cNvCxnSpPr/>
          <p:nvPr/>
        </p:nvCxnSpPr>
        <p:spPr>
          <a:xfrm flipH="1">
            <a:off x="5513832" y="3803903"/>
            <a:ext cx="475488" cy="1106425"/>
          </a:xfrm>
          <a:prstGeom prst="line">
            <a:avLst/>
          </a:prstGeom>
          <a:ln w="15875">
            <a:solidFill>
              <a:srgbClr val="8A8F98"/>
            </a:solidFill>
          </a:ln>
          <a:effectLst/>
        </p:spPr>
      </p:cxnSp>
      <p:cxnSp>
        <p:nvCxnSpPr>
          <p:cNvPr id="18" name="Connector 17"/>
          <p:cNvCxnSpPr/>
          <p:nvPr/>
        </p:nvCxnSpPr>
        <p:spPr>
          <a:xfrm>
            <a:off x="5989320" y="3803903"/>
            <a:ext cx="1024128" cy="1106425"/>
          </a:xfrm>
          <a:prstGeom prst="line">
            <a:avLst/>
          </a:prstGeom>
          <a:ln w="15875">
            <a:solidFill>
              <a:srgbClr val="8A8F98"/>
            </a:solidFill>
          </a:ln>
          <a:effectLst/>
        </p:spPr>
      </p:cxnSp>
      <p:cxnSp>
        <p:nvCxnSpPr>
          <p:cNvPr id="19" name="Connector 18"/>
          <p:cNvCxnSpPr/>
          <p:nvPr/>
        </p:nvCxnSpPr>
        <p:spPr>
          <a:xfrm flipH="1">
            <a:off x="6135624" y="3803903"/>
            <a:ext cx="950976" cy="1106425"/>
          </a:xfrm>
          <a:prstGeom prst="line">
            <a:avLst/>
          </a:prstGeom>
          <a:ln w="15875">
            <a:solidFill>
              <a:srgbClr val="8A8F98"/>
            </a:solidFill>
          </a:ln>
          <a:effectLst/>
        </p:spPr>
      </p:cxnSp>
      <p:cxnSp>
        <p:nvCxnSpPr>
          <p:cNvPr id="20" name="Connector 19"/>
          <p:cNvCxnSpPr/>
          <p:nvPr/>
        </p:nvCxnSpPr>
        <p:spPr>
          <a:xfrm>
            <a:off x="7086600" y="3803903"/>
            <a:ext cx="548640" cy="1106425"/>
          </a:xfrm>
          <a:prstGeom prst="line">
            <a:avLst/>
          </a:prstGeom>
          <a:ln w="15875">
            <a:solidFill>
              <a:srgbClr val="8A8F98"/>
            </a:solidFill>
          </a:ln>
          <a:effectLst/>
        </p:spPr>
      </p:cxnSp>
      <p:cxnSp>
        <p:nvCxnSpPr>
          <p:cNvPr id="21" name="Connector 20"/>
          <p:cNvCxnSpPr/>
          <p:nvPr/>
        </p:nvCxnSpPr>
        <p:spPr>
          <a:xfrm>
            <a:off x="3794760" y="2203704"/>
            <a:ext cx="219455" cy="2706624"/>
          </a:xfrm>
          <a:prstGeom prst="line">
            <a:avLst/>
          </a:prstGeom>
          <a:ln w="15875">
            <a:solidFill>
              <a:srgbClr val="8A8F98"/>
            </a:solidFill>
          </a:ln>
          <a:effectLst/>
        </p:spPr>
      </p:cxnSp>
      <p:cxnSp>
        <p:nvCxnSpPr>
          <p:cNvPr id="22" name="Connector 21"/>
          <p:cNvCxnSpPr/>
          <p:nvPr/>
        </p:nvCxnSpPr>
        <p:spPr>
          <a:xfrm flipH="1">
            <a:off x="1554480" y="2203704"/>
            <a:ext cx="2240280" cy="749807"/>
          </a:xfrm>
          <a:prstGeom prst="line">
            <a:avLst/>
          </a:prstGeom>
          <a:ln w="15875">
            <a:solidFill>
              <a:srgbClr val="8A8F98"/>
            </a:solidFill>
          </a:ln>
          <a:effectLst/>
        </p:spPr>
      </p:cxnSp>
      <p:cxnSp>
        <p:nvCxnSpPr>
          <p:cNvPr id="23" name="Connector 22"/>
          <p:cNvCxnSpPr/>
          <p:nvPr/>
        </p:nvCxnSpPr>
        <p:spPr>
          <a:xfrm>
            <a:off x="3794760" y="2203704"/>
            <a:ext cx="2194560" cy="749807"/>
          </a:xfrm>
          <a:prstGeom prst="line">
            <a:avLst/>
          </a:prstGeom>
          <a:ln w="15875">
            <a:solidFill>
              <a:srgbClr val="8A8F98"/>
            </a:solidFill>
          </a:ln>
          <a:effectLst/>
        </p:spPr>
      </p:cxnSp>
      <p:cxnSp>
        <p:nvCxnSpPr>
          <p:cNvPr id="24" name="Connector 23"/>
          <p:cNvCxnSpPr/>
          <p:nvPr/>
        </p:nvCxnSpPr>
        <p:spPr>
          <a:xfrm flipH="1">
            <a:off x="4636008" y="2203704"/>
            <a:ext cx="484632" cy="2706624"/>
          </a:xfrm>
          <a:prstGeom prst="line">
            <a:avLst/>
          </a:prstGeom>
          <a:ln w="15875">
            <a:solidFill>
              <a:srgbClr val="8A8F98"/>
            </a:solidFill>
          </a:ln>
          <a:effectLst/>
        </p:spPr>
      </p:cxnSp>
      <p:cxnSp>
        <p:nvCxnSpPr>
          <p:cNvPr id="25" name="Connector 24"/>
          <p:cNvCxnSpPr/>
          <p:nvPr/>
        </p:nvCxnSpPr>
        <p:spPr>
          <a:xfrm flipH="1">
            <a:off x="2651760" y="2203704"/>
            <a:ext cx="2468880" cy="749807"/>
          </a:xfrm>
          <a:prstGeom prst="line">
            <a:avLst/>
          </a:prstGeom>
          <a:ln w="15875">
            <a:solidFill>
              <a:srgbClr val="8A8F98"/>
            </a:solidFill>
          </a:ln>
          <a:effectLst/>
        </p:spPr>
      </p:cxnSp>
      <p:cxnSp>
        <p:nvCxnSpPr>
          <p:cNvPr id="26" name="Connector 25"/>
          <p:cNvCxnSpPr/>
          <p:nvPr/>
        </p:nvCxnSpPr>
        <p:spPr>
          <a:xfrm>
            <a:off x="5120640" y="2203704"/>
            <a:ext cx="1965960" cy="749807"/>
          </a:xfrm>
          <a:prstGeom prst="line">
            <a:avLst/>
          </a:prstGeom>
          <a:ln w="15875">
            <a:solidFill>
              <a:srgbClr val="8A8F98"/>
            </a:solidFill>
          </a:ln>
          <a:effectLst/>
        </p:spPr>
      </p:cxnSp>
      <p:sp>
        <p:nvSpPr>
          <p:cNvPr id="27" name="Rounded Rectangle 26"/>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7" name="Rounded Rectangle 46"/>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2: the XOR gates</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x₁ = XOR(u, v)     x₂ = XOR(u′, v′)</a:t>
            </a:r>
          </a:p>
          <a:p>
            <a:pPr marL="274320" indent="-237744">
              <a:spcBef>
                <a:spcPts val="500"/>
              </a:spcBef>
              <a:buClr>
                <a:srgbClr val="6B717A"/>
              </a:buClr>
              <a:buChar char="•"/>
            </a:pPr>
            <a:r>
              <a:rPr sz="1600" b="1" i="0">
                <a:solidFill>
                  <a:srgbClr val="2B2F36"/>
                </a:solidFill>
                <a:latin typeface="Calibri"/>
              </a:rPr>
              <a:t>congruence ⇒ x₁ ≡ x₂</a:t>
            </a:r>
          </a:p>
          <a:p>
            <a:pPr marL="274320" indent="-237744">
              <a:spcBef>
                <a:spcPts val="500"/>
              </a:spcBef>
              <a:buClr>
                <a:srgbClr val="6B717A"/>
              </a:buClr>
              <a:buChar char="•"/>
            </a:pPr>
            <a:r>
              <a:rPr sz="1600" b="0" i="0">
                <a:solidFill>
                  <a:srgbClr val="2B2F36"/>
                </a:solidFill>
                <a:latin typeface="Calibri"/>
              </a:rPr>
              <a:t>Union(x₁,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3" name="Rounded Rectangle 52"/>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4" name="TextBox 53"/>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3</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3: the ITE gates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m₁ = ITE(c, a₁, x₁)     m₂ = ITE(c′, a₂, x₂)</a:t>
            </a:r>
          </a:p>
          <a:p>
            <a:pPr marL="274320" indent="-237744">
              <a:spcBef>
                <a:spcPts val="500"/>
              </a:spcBef>
              <a:buClr>
                <a:srgbClr val="6B717A"/>
              </a:buClr>
              <a:buChar char="•"/>
            </a:pPr>
            <a:r>
              <a:rPr sz="1600" b="0" i="0">
                <a:solidFill>
                  <a:srgbClr val="2B2F36"/>
                </a:solidFill>
                <a:latin typeface="Calibri"/>
              </a:rPr>
              <a:t>children now pairwise equivalent</a:t>
            </a:r>
          </a:p>
          <a:p>
            <a:pPr marL="274320" indent="-237744">
              <a:spcBef>
                <a:spcPts val="500"/>
              </a:spcBef>
              <a:buClr>
                <a:srgbClr val="6B717A"/>
              </a:buClr>
              <a:buChar char="•"/>
            </a:pPr>
            <a:r>
              <a:rPr sz="1600" b="1" i="0">
                <a:solidFill>
                  <a:srgbClr val="2B2F36"/>
                </a:solidFill>
                <a:latin typeface="Calibri"/>
              </a:rPr>
              <a:t>congruence ⇒ m₁ ≡ m₂</a:t>
            </a:r>
          </a:p>
          <a:p>
            <a:pPr marL="274320" indent="-237744">
              <a:spcBef>
                <a:spcPts val="500"/>
              </a:spcBef>
              <a:buClr>
                <a:srgbClr val="6B717A"/>
              </a:buClr>
              <a:buChar char="•"/>
            </a:pPr>
            <a:r>
              <a:rPr sz="1600" b="0" i="0">
                <a:solidFill>
                  <a:srgbClr val="2B2F36"/>
                </a:solidFill>
                <a:latin typeface="Calibri"/>
              </a:rPr>
              <a:t>contradicts query m₁ ≠ m₂</a:t>
            </a:r>
          </a:p>
          <a:p>
            <a:pPr marL="274320" indent="-237744">
              <a:spcBef>
                <a:spcPts val="500"/>
              </a:spcBef>
              <a:buClr>
                <a:srgbClr val="6B717A"/>
              </a:buClr>
              <a:buChar char="•"/>
            </a:pPr>
            <a:r>
              <a:rPr sz="1600" b="1" i="0">
                <a:solidFill>
                  <a:srgbClr val="2B2F36"/>
                </a:solidFill>
                <a:latin typeface="Calibri"/>
              </a:rPr>
              <a:t>⇒ circuits equivalent</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4" name="Rounded Rectangle 53"/>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5" name="TextBox 54"/>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baseline: the worklist algorithm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949440" cy="457200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Union-find</a:t>
            </a:r>
            <a:r>
              <a:rPr sz="1900" b="0" i="0">
                <a:solidFill>
                  <a:srgbClr val="2B2F36"/>
                </a:solidFill>
                <a:latin typeface="Calibri"/>
              </a:rPr>
              <a:t> over all terms</a:t>
            </a:r>
          </a:p>
          <a:p>
            <a:pPr marL="274320" indent="-237744">
              <a:spcBef>
                <a:spcPts val="800"/>
              </a:spcBef>
              <a:buClr>
                <a:srgbClr val="6B717A"/>
              </a:buClr>
              <a:buChar char="•"/>
            </a:pPr>
            <a:r>
              <a:rPr sz="1900" b="1" i="0">
                <a:solidFill>
                  <a:srgbClr val="2B2F36"/>
                </a:solidFill>
                <a:latin typeface="Calibri"/>
              </a:rPr>
              <a:t>Signature table</a:t>
            </a:r>
            <a:r>
              <a:rPr sz="1900" b="0" i="0">
                <a:solidFill>
                  <a:srgbClr val="2B2F36"/>
                </a:solidFill>
                <a:latin typeface="Calibri"/>
              </a:rPr>
              <a:t>: hash of (symbol, Find(child₁), …, Find(childₖ)) → representative</a:t>
            </a:r>
          </a:p>
          <a:p>
            <a:pPr marL="274320" indent="-237744">
              <a:spcBef>
                <a:spcPts val="800"/>
              </a:spcBef>
              <a:buClr>
                <a:srgbClr val="6B717A"/>
              </a:buClr>
              <a:buChar char="•"/>
            </a:pPr>
            <a:r>
              <a:rPr sz="1900" b="1" i="0">
                <a:solidFill>
                  <a:srgbClr val="2B2F36"/>
                </a:solidFill>
                <a:latin typeface="Calibri"/>
              </a:rPr>
              <a:t>Parents[class]</a:t>
            </a:r>
            <a:r>
              <a:rPr sz="1900" b="0" i="0">
                <a:solidFill>
                  <a:srgbClr val="2B2F36"/>
                </a:solidFill>
                <a:latin typeface="Calibri"/>
              </a:rPr>
              <a:t>: terms with a child in the class</a:t>
            </a:r>
          </a:p>
          <a:p>
            <a:pPr marL="274320" indent="-237744">
              <a:spcBef>
                <a:spcPts val="800"/>
              </a:spcBef>
              <a:buClr>
                <a:srgbClr val="6B717A"/>
              </a:buClr>
              <a:buChar char="•"/>
            </a:pPr>
            <a:r>
              <a:rPr sz="1900" b="1" i="0">
                <a:solidFill>
                  <a:srgbClr val="2B2F36"/>
                </a:solidFill>
                <a:latin typeface="Calibri"/>
              </a:rPr>
              <a:t>FIFO worklist</a:t>
            </a:r>
            <a:r>
              <a:rPr sz="1900" b="0" i="0">
                <a:solidFill>
                  <a:srgbClr val="2B2F36"/>
                </a:solidFill>
                <a:latin typeface="Calibri"/>
              </a:rPr>
              <a:t> of compound terms, seeded in reverse-topological order</a:t>
            </a:r>
          </a:p>
          <a:p>
            <a:pPr marL="274320" indent="-237744">
              <a:spcBef>
                <a:spcPts val="800"/>
              </a:spcBef>
              <a:buClr>
                <a:srgbClr val="6B717A"/>
              </a:buClr>
              <a:buChar char="•"/>
            </a:pPr>
            <a:r>
              <a:rPr sz="1900" b="1" i="0">
                <a:solidFill>
                  <a:srgbClr val="2B2F36"/>
                </a:solidFill>
                <a:latin typeface="Calibri"/>
              </a:rPr>
              <a:t>Loop</a:t>
            </a:r>
            <a:r>
              <a:rPr sz="1900" b="0" i="0">
                <a:solidFill>
                  <a:srgbClr val="2B2F36"/>
                </a:solidFill>
                <a:latin typeface="Calibri"/>
              </a:rPr>
              <a:t>: pop e; on a signature collision with e′, Union(e, e′); push Parents[loser]</a:t>
            </a:r>
          </a:p>
          <a:p>
            <a:pPr marL="274320" indent="-237744">
              <a:spcBef>
                <a:spcPts val="800"/>
              </a:spcBef>
              <a:buClr>
                <a:srgbClr val="6B717A"/>
              </a:buClr>
              <a:buChar char="•"/>
            </a:pPr>
            <a:r>
              <a:rPr sz="1900" b="0" i="0">
                <a:solidFill>
                  <a:srgbClr val="2B2F36"/>
                </a:solidFill>
                <a:latin typeface="Calibri"/>
              </a:rPr>
              <a:t>one merge at a time; each merge re-examines the parents of the losing class</a:t>
            </a:r>
          </a:p>
        </p:txBody>
      </p:sp>
      <p:sp>
        <p:nvSpPr>
          <p:cNvPr id="7" name="Rounded Rectangle 6"/>
          <p:cNvSpPr/>
          <p:nvPr/>
        </p:nvSpPr>
        <p:spPr>
          <a:xfrm>
            <a:off x="7863840" y="1463040"/>
            <a:ext cx="3840480" cy="31089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8046720" y="1554480"/>
            <a:ext cx="3566160" cy="365760"/>
          </a:xfrm>
          <a:prstGeom prst="rect">
            <a:avLst/>
          </a:prstGeom>
          <a:noFill/>
        </p:spPr>
        <p:txBody>
          <a:bodyPr wrap="square" anchor="t" lIns="45720" rIns="45720" tIns="27432" bIns="27432">
            <a:spAutoFit/>
          </a:bodyPr>
          <a:lstStyle/>
          <a:p>
            <a:pPr algn="l"/>
            <a:r>
              <a:rPr sz="1500" b="1" i="0">
                <a:solidFill>
                  <a:srgbClr val="1F2A44"/>
                </a:solidFill>
                <a:latin typeface="Calibri"/>
              </a:rPr>
              <a:t>Sequential variants we tried</a:t>
            </a:r>
          </a:p>
        </p:txBody>
      </p:sp>
      <p:sp>
        <p:nvSpPr>
          <p:cNvPr id="9" name="TextBox 8"/>
          <p:cNvSpPr txBox="1"/>
          <p:nvPr/>
        </p:nvSpPr>
        <p:spPr>
          <a:xfrm>
            <a:off x="7909560" y="1965960"/>
            <a:ext cx="3749039" cy="36576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Worklist</a:t>
            </a:r>
            <a:r>
              <a:rPr sz="1500" b="0" i="0">
                <a:solidFill>
                  <a:srgbClr val="2B2F36"/>
                </a:solidFill>
                <a:latin typeface="Calibri"/>
              </a:rPr>
              <a:t> (Nieuwenhuis &amp; Oliveras): fastest, used as baseline</a:t>
            </a:r>
          </a:p>
          <a:p>
            <a:pPr marL="274320" indent="-237744">
              <a:spcBef>
                <a:spcPts val="800"/>
              </a:spcBef>
              <a:buClr>
                <a:srgbClr val="6B717A"/>
              </a:buClr>
              <a:buChar char="•"/>
            </a:pPr>
            <a:r>
              <a:rPr sz="1500" b="1" i="0">
                <a:solidFill>
                  <a:srgbClr val="2B2F36"/>
                </a:solidFill>
                <a:latin typeface="Calibri"/>
              </a:rPr>
              <a:t>Topological-sort fixpoint</a:t>
            </a:r>
            <a:r>
              <a:rPr sz="1500" b="0" i="0">
                <a:solidFill>
                  <a:srgbClr val="2B2F36"/>
                </a:solidFill>
                <a:latin typeface="Calibri"/>
              </a:rPr>
              <a:t>: repeated full passes</a:t>
            </a:r>
          </a:p>
          <a:p>
            <a:pPr marL="274320" indent="-237744">
              <a:spcBef>
                <a:spcPts val="800"/>
              </a:spcBef>
              <a:buClr>
                <a:srgbClr val="6B717A"/>
              </a:buClr>
              <a:buChar char="•"/>
            </a:pPr>
            <a:r>
              <a:rPr sz="1500" b="1" i="0">
                <a:solidFill>
                  <a:srgbClr val="2B2F36"/>
                </a:solidFill>
                <a:latin typeface="Calibri"/>
              </a:rPr>
              <a:t>Downey–Sethi–Tarjan</a:t>
            </a:r>
            <a:r>
              <a:rPr sz="1500" b="0" i="0">
                <a:solidFill>
                  <a:srgbClr val="2B2F36"/>
                </a:solidFill>
                <a:latin typeface="Calibri"/>
              </a:rPr>
              <a:t>: O(n log n) work, hashtable instead of trie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 independent merges form rounds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TextBox 11"/>
          <p:cNvSpPr txBox="1"/>
          <p:nvPr/>
        </p:nvSpPr>
        <p:spPr>
          <a:xfrm>
            <a:off x="987552" y="2514599"/>
            <a:ext cx="2505456" cy="292608"/>
          </a:xfrm>
          <a:prstGeom prst="rect">
            <a:avLst/>
          </a:prstGeom>
          <a:noFill/>
        </p:spPr>
        <p:txBody>
          <a:bodyPr wrap="square" anchor="t" lIns="45720" rIns="45720" tIns="27432" bIns="27432">
            <a:spAutoFit/>
          </a:bodyPr>
          <a:lstStyle/>
          <a:p>
            <a:pPr algn="l"/>
            <a:r>
              <a:rPr sz="1200" b="1" i="0">
                <a:solidFill>
                  <a:srgbClr val="2E6FB0"/>
                </a:solidFill>
                <a:latin typeface="Calibri"/>
              </a:rPr>
              <a:t>round 1</a:t>
            </a:r>
          </a:p>
        </p:txBody>
      </p:sp>
      <p:sp>
        <p:nvSpPr>
          <p:cNvPr id="13" name="Rounded Rectangle 12"/>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TextBox 13"/>
          <p:cNvSpPr txBox="1"/>
          <p:nvPr/>
        </p:nvSpPr>
        <p:spPr>
          <a:xfrm>
            <a:off x="5422392" y="2514599"/>
            <a:ext cx="2505456" cy="292608"/>
          </a:xfrm>
          <a:prstGeom prst="rect">
            <a:avLst/>
          </a:prstGeom>
          <a:noFill/>
        </p:spPr>
        <p:txBody>
          <a:bodyPr wrap="square" anchor="t" lIns="45720" rIns="45720" tIns="27432" bIns="27432">
            <a:spAutoFit/>
          </a:bodyPr>
          <a:lstStyle/>
          <a:p>
            <a:pPr algn="l"/>
            <a:r>
              <a:rPr sz="1200" b="1" i="0">
                <a:solidFill>
                  <a:srgbClr val="3A9A5B"/>
                </a:solidFill>
                <a:latin typeface="Calibri"/>
              </a:rPr>
              <a:t>round 1</a:t>
            </a:r>
          </a:p>
        </p:txBody>
      </p:sp>
      <p:sp>
        <p:nvSpPr>
          <p:cNvPr id="15" name="Rounded Rectangle 14"/>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6" name="TextBox 15"/>
          <p:cNvSpPr txBox="1"/>
          <p:nvPr/>
        </p:nvSpPr>
        <p:spPr>
          <a:xfrm>
            <a:off x="3227832" y="1188720"/>
            <a:ext cx="3072384" cy="292608"/>
          </a:xfrm>
          <a:prstGeom prst="rect">
            <a:avLst/>
          </a:prstGeom>
          <a:noFill/>
        </p:spPr>
        <p:txBody>
          <a:bodyPr wrap="square" anchor="t" lIns="45720" rIns="45720" tIns="27432" bIns="27432">
            <a:spAutoFit/>
          </a:bodyPr>
          <a:lstStyle/>
          <a:p>
            <a:pPr algn="l"/>
            <a:r>
              <a:rPr sz="1200" b="1" i="0">
                <a:solidFill>
                  <a:srgbClr val="C8501E"/>
                </a:solidFill>
                <a:latin typeface="Calibri"/>
              </a:rPr>
              <a:t>round 2</a:t>
            </a:r>
          </a:p>
        </p:txBody>
      </p:sp>
      <p:cxnSp>
        <p:nvCxnSpPr>
          <p:cNvPr id="17" name="Connector 16"/>
          <p:cNvCxnSpPr/>
          <p:nvPr/>
        </p:nvCxnSpPr>
        <p:spPr>
          <a:xfrm flipH="1">
            <a:off x="1014984" y="3803903"/>
            <a:ext cx="539496" cy="1106425"/>
          </a:xfrm>
          <a:prstGeom prst="line">
            <a:avLst/>
          </a:prstGeom>
          <a:ln w="15875">
            <a:solidFill>
              <a:srgbClr val="8A8F98"/>
            </a:solidFill>
          </a:ln>
          <a:effectLst/>
        </p:spPr>
      </p:cxnSp>
      <p:cxnSp>
        <p:nvCxnSpPr>
          <p:cNvPr id="18" name="Connector 17"/>
          <p:cNvCxnSpPr/>
          <p:nvPr/>
        </p:nvCxnSpPr>
        <p:spPr>
          <a:xfrm>
            <a:off x="1554480" y="3803903"/>
            <a:ext cx="960120" cy="1106425"/>
          </a:xfrm>
          <a:prstGeom prst="line">
            <a:avLst/>
          </a:prstGeom>
          <a:ln w="15875">
            <a:solidFill>
              <a:srgbClr val="8A8F98"/>
            </a:solidFill>
          </a:ln>
          <a:effectLst/>
        </p:spPr>
      </p:cxnSp>
      <p:cxnSp>
        <p:nvCxnSpPr>
          <p:cNvPr id="19" name="Connector 18"/>
          <p:cNvCxnSpPr/>
          <p:nvPr/>
        </p:nvCxnSpPr>
        <p:spPr>
          <a:xfrm flipH="1">
            <a:off x="1636776" y="3803903"/>
            <a:ext cx="1014984" cy="1106425"/>
          </a:xfrm>
          <a:prstGeom prst="line">
            <a:avLst/>
          </a:prstGeom>
          <a:ln w="15875">
            <a:solidFill>
              <a:srgbClr val="8A8F98"/>
            </a:solidFill>
          </a:ln>
          <a:effectLst/>
        </p:spPr>
      </p:cxnSp>
      <p:cxnSp>
        <p:nvCxnSpPr>
          <p:cNvPr id="20" name="Connector 19"/>
          <p:cNvCxnSpPr/>
          <p:nvPr/>
        </p:nvCxnSpPr>
        <p:spPr>
          <a:xfrm>
            <a:off x="2651760" y="3803903"/>
            <a:ext cx="484632" cy="1106425"/>
          </a:xfrm>
          <a:prstGeom prst="line">
            <a:avLst/>
          </a:prstGeom>
          <a:ln w="15875">
            <a:solidFill>
              <a:srgbClr val="8A8F98"/>
            </a:solidFill>
          </a:ln>
          <a:effectLst/>
        </p:spPr>
      </p:cxnSp>
      <p:cxnSp>
        <p:nvCxnSpPr>
          <p:cNvPr id="21" name="Connector 20"/>
          <p:cNvCxnSpPr/>
          <p:nvPr/>
        </p:nvCxnSpPr>
        <p:spPr>
          <a:xfrm flipH="1">
            <a:off x="5513832" y="3803903"/>
            <a:ext cx="475488" cy="1106425"/>
          </a:xfrm>
          <a:prstGeom prst="line">
            <a:avLst/>
          </a:prstGeom>
          <a:ln w="15875">
            <a:solidFill>
              <a:srgbClr val="8A8F98"/>
            </a:solidFill>
          </a:ln>
          <a:effectLst/>
        </p:spPr>
      </p:cxnSp>
      <p:cxnSp>
        <p:nvCxnSpPr>
          <p:cNvPr id="22" name="Connector 21"/>
          <p:cNvCxnSpPr/>
          <p:nvPr/>
        </p:nvCxnSpPr>
        <p:spPr>
          <a:xfrm>
            <a:off x="5989320" y="3803903"/>
            <a:ext cx="1024128" cy="1106425"/>
          </a:xfrm>
          <a:prstGeom prst="line">
            <a:avLst/>
          </a:prstGeom>
          <a:ln w="15875">
            <a:solidFill>
              <a:srgbClr val="8A8F98"/>
            </a:solidFill>
          </a:ln>
          <a:effectLst/>
        </p:spPr>
      </p:cxnSp>
      <p:cxnSp>
        <p:nvCxnSpPr>
          <p:cNvPr id="23" name="Connector 22"/>
          <p:cNvCxnSpPr/>
          <p:nvPr/>
        </p:nvCxnSpPr>
        <p:spPr>
          <a:xfrm flipH="1">
            <a:off x="6135624" y="3803903"/>
            <a:ext cx="950976" cy="1106425"/>
          </a:xfrm>
          <a:prstGeom prst="line">
            <a:avLst/>
          </a:prstGeom>
          <a:ln w="15875">
            <a:solidFill>
              <a:srgbClr val="8A8F98"/>
            </a:solidFill>
          </a:ln>
          <a:effectLst/>
        </p:spPr>
      </p:cxnSp>
      <p:cxnSp>
        <p:nvCxnSpPr>
          <p:cNvPr id="24" name="Connector 23"/>
          <p:cNvCxnSpPr/>
          <p:nvPr/>
        </p:nvCxnSpPr>
        <p:spPr>
          <a:xfrm>
            <a:off x="7086600" y="3803903"/>
            <a:ext cx="548640" cy="1106425"/>
          </a:xfrm>
          <a:prstGeom prst="line">
            <a:avLst/>
          </a:prstGeom>
          <a:ln w="15875">
            <a:solidFill>
              <a:srgbClr val="8A8F98"/>
            </a:solidFill>
          </a:ln>
          <a:effectLst/>
        </p:spPr>
      </p:cxnSp>
      <p:cxnSp>
        <p:nvCxnSpPr>
          <p:cNvPr id="25" name="Connector 24"/>
          <p:cNvCxnSpPr/>
          <p:nvPr/>
        </p:nvCxnSpPr>
        <p:spPr>
          <a:xfrm>
            <a:off x="3794760" y="2203704"/>
            <a:ext cx="219455" cy="2706624"/>
          </a:xfrm>
          <a:prstGeom prst="line">
            <a:avLst/>
          </a:prstGeom>
          <a:ln w="15875">
            <a:solidFill>
              <a:srgbClr val="8A8F98"/>
            </a:solidFill>
          </a:ln>
          <a:effectLst/>
        </p:spPr>
      </p:cxnSp>
      <p:cxnSp>
        <p:nvCxnSpPr>
          <p:cNvPr id="26" name="Connector 25"/>
          <p:cNvCxnSpPr/>
          <p:nvPr/>
        </p:nvCxnSpPr>
        <p:spPr>
          <a:xfrm flipH="1">
            <a:off x="1554480" y="2203704"/>
            <a:ext cx="2240280" cy="749807"/>
          </a:xfrm>
          <a:prstGeom prst="line">
            <a:avLst/>
          </a:prstGeom>
          <a:ln w="15875">
            <a:solidFill>
              <a:srgbClr val="8A8F98"/>
            </a:solidFill>
          </a:ln>
          <a:effectLst/>
        </p:spPr>
      </p:cxnSp>
      <p:cxnSp>
        <p:nvCxnSpPr>
          <p:cNvPr id="27" name="Connector 26"/>
          <p:cNvCxnSpPr/>
          <p:nvPr/>
        </p:nvCxnSpPr>
        <p:spPr>
          <a:xfrm>
            <a:off x="3794760" y="2203704"/>
            <a:ext cx="2194560" cy="749807"/>
          </a:xfrm>
          <a:prstGeom prst="line">
            <a:avLst/>
          </a:prstGeom>
          <a:ln w="15875">
            <a:solidFill>
              <a:srgbClr val="8A8F98"/>
            </a:solidFill>
          </a:ln>
          <a:effectLst/>
        </p:spPr>
      </p:cxnSp>
      <p:cxnSp>
        <p:nvCxnSpPr>
          <p:cNvPr id="28" name="Connector 27"/>
          <p:cNvCxnSpPr/>
          <p:nvPr/>
        </p:nvCxnSpPr>
        <p:spPr>
          <a:xfrm flipH="1">
            <a:off x="4636008" y="2203704"/>
            <a:ext cx="484632" cy="2706624"/>
          </a:xfrm>
          <a:prstGeom prst="line">
            <a:avLst/>
          </a:prstGeom>
          <a:ln w="15875">
            <a:solidFill>
              <a:srgbClr val="8A8F98"/>
            </a:solidFill>
          </a:ln>
          <a:effectLst/>
        </p:spPr>
      </p:cxnSp>
      <p:cxnSp>
        <p:nvCxnSpPr>
          <p:cNvPr id="29" name="Connector 28"/>
          <p:cNvCxnSpPr/>
          <p:nvPr/>
        </p:nvCxnSpPr>
        <p:spPr>
          <a:xfrm flipH="1">
            <a:off x="2651760" y="2203704"/>
            <a:ext cx="2468880" cy="749807"/>
          </a:xfrm>
          <a:prstGeom prst="line">
            <a:avLst/>
          </a:prstGeom>
          <a:ln w="15875">
            <a:solidFill>
              <a:srgbClr val="8A8F98"/>
            </a:solidFill>
          </a:ln>
          <a:effectLst/>
        </p:spPr>
      </p:cxnSp>
      <p:cxnSp>
        <p:nvCxnSpPr>
          <p:cNvPr id="30" name="Connector 29"/>
          <p:cNvCxnSpPr/>
          <p:nvPr/>
        </p:nvCxnSpPr>
        <p:spPr>
          <a:xfrm>
            <a:off x="5120640" y="2203704"/>
            <a:ext cx="1965960" cy="749807"/>
          </a:xfrm>
          <a:prstGeom prst="line">
            <a:avLst/>
          </a:prstGeom>
          <a:ln w="15875">
            <a:solidFill>
              <a:srgbClr val="8A8F98"/>
            </a:solidFill>
          </a:ln>
          <a:effectLst/>
        </p:spPr>
      </p:cxnSp>
      <p:sp>
        <p:nvSpPr>
          <p:cNvPr id="31" name="Rounded Rectangle 30"/>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3" name="Rounded Rectangle 32"/>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5" name="Rounded Rectangle 34"/>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7" name="Rounded Rectangle 36"/>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9" name="Rounded Rectangle 38"/>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1" name="Rounded Rectangle 40"/>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3" name="Rounded Rectangle 42"/>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4" name="TextBox 43"/>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5" name="Rounded Rectangle 44"/>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7" name="Rounded Rectangle 46"/>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8" name="TextBox 47"/>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9" name="Rounded Rectangle 48"/>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1" name="Rounded Rectangle 50"/>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2" name="TextBox 51"/>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3" name="TextBox 52"/>
          <p:cNvSpPr txBox="1"/>
          <p:nvPr/>
        </p:nvSpPr>
        <p:spPr>
          <a:xfrm>
            <a:off x="411480" y="5623560"/>
            <a:ext cx="7818120" cy="320040"/>
          </a:xfrm>
          <a:prstGeom prst="rect">
            <a:avLst/>
          </a:prstGeom>
          <a:noFill/>
        </p:spPr>
        <p:txBody>
          <a:bodyPr wrap="square" anchor="t" lIns="45720" rIns="45720" tIns="27432" bIns="27432">
            <a:spAutoFit/>
          </a:bodyPr>
          <a:lstStyle/>
          <a:p>
            <a:pPr algn="ctr"/>
            <a:r>
              <a:rPr sz="1200" b="1" i="0">
                <a:solidFill>
                  <a:srgbClr val="6B717A"/>
                </a:solidFill>
                <a:latin typeface="Calibri"/>
              </a:rPr>
              <a:t>round 0: input equalities</a:t>
            </a:r>
          </a:p>
        </p:txBody>
      </p:sp>
      <p:sp>
        <p:nvSpPr>
          <p:cNvPr id="54" name="TextBox 53"/>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Depth and width</a:t>
            </a:r>
          </a:p>
        </p:txBody>
      </p:sp>
      <p:sp>
        <p:nvSpPr>
          <p:cNvPr id="55" name="TextBox 54"/>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steps 1 and 2 are independent: one round</a:t>
            </a:r>
          </a:p>
          <a:p>
            <a:pPr marL="274320" indent="-237744">
              <a:spcBef>
                <a:spcPts val="500"/>
              </a:spcBef>
              <a:buClr>
                <a:srgbClr val="6B717A"/>
              </a:buClr>
              <a:buChar char="•"/>
            </a:pPr>
            <a:r>
              <a:rPr sz="1600" b="0" i="0">
                <a:solidFill>
                  <a:srgbClr val="2B2F36"/>
                </a:solidFill>
                <a:latin typeface="Calibri"/>
              </a:rPr>
              <a:t>step 3 depends on both: next round</a:t>
            </a:r>
          </a:p>
          <a:p>
            <a:pPr>
              <a:spcBef>
                <a:spcPts val="1100"/>
              </a:spcBef>
              <a:spcAft>
                <a:spcPts val="200"/>
              </a:spcAft>
            </a:pPr>
            <a:r>
              <a:rPr sz="1600" b="1" i="0">
                <a:solidFill>
                  <a:srgbClr val="1F2A44"/>
                </a:solidFill>
                <a:latin typeface="Calibri"/>
              </a:rPr>
              <a:t>Congruence depth</a:t>
            </a:r>
          </a:p>
          <a:p>
            <a:pPr marL="274320" indent="-237744">
              <a:spcBef>
                <a:spcPts val="500"/>
              </a:spcBef>
              <a:buClr>
                <a:srgbClr val="6B717A"/>
              </a:buClr>
              <a:buChar char="•"/>
            </a:pPr>
            <a:r>
              <a:rPr sz="1600" b="0" i="0">
                <a:solidFill>
                  <a:srgbClr val="2B2F36"/>
                </a:solidFill>
                <a:latin typeface="Calibri"/>
              </a:rPr>
              <a:t>number of rounds until fixpoint  (here 2)</a:t>
            </a:r>
          </a:p>
          <a:p>
            <a:pPr>
              <a:spcBef>
                <a:spcPts val="1100"/>
              </a:spcBef>
              <a:spcAft>
                <a:spcPts val="200"/>
              </a:spcAft>
            </a:pPr>
            <a:r>
              <a:rPr sz="1600" b="1" i="0">
                <a:solidFill>
                  <a:srgbClr val="1F2A44"/>
                </a:solidFill>
                <a:latin typeface="Calibri"/>
              </a:rPr>
              <a:t>Congruence width</a:t>
            </a:r>
          </a:p>
          <a:p>
            <a:pPr marL="274320" indent="-237744">
              <a:spcBef>
                <a:spcPts val="500"/>
              </a:spcBef>
              <a:buClr>
                <a:srgbClr val="6B717A"/>
              </a:buClr>
              <a:buChar char="•"/>
            </a:pPr>
            <a:r>
              <a:rPr sz="1600" b="0" i="0">
                <a:solidFill>
                  <a:srgbClr val="2B2F36"/>
                </a:solidFill>
                <a:latin typeface="Calibri"/>
              </a:rPr>
              <a:t>max new merges in one round  (here 2)</a:t>
            </a:r>
          </a:p>
          <a:p>
            <a:pPr>
              <a:spcBef>
                <a:spcPts val="1100"/>
              </a:spcBef>
              <a:spcAft>
                <a:spcPts val="200"/>
              </a:spcAft>
            </a:pPr>
            <a:r>
              <a:rPr sz="1600" b="1" i="0">
                <a:solidFill>
                  <a:srgbClr val="1F2A44"/>
                </a:solidFill>
                <a:latin typeface="Calibri"/>
              </a:rPr>
              <a:t>In practice</a:t>
            </a:r>
          </a:p>
          <a:p>
            <a:pPr marL="274320" indent="-237744">
              <a:spcBef>
                <a:spcPts val="500"/>
              </a:spcBef>
              <a:buClr>
                <a:srgbClr val="6B717A"/>
              </a:buClr>
              <a:buChar char="•"/>
            </a:pPr>
            <a:r>
              <a:rPr sz="1600" b="0" i="0">
                <a:solidFill>
                  <a:srgbClr val="2B2F36"/>
                </a:solidFill>
                <a:latin typeface="Calibri"/>
              </a:rPr>
              <a:t>width reaches thousands to millions</a:t>
            </a:r>
          </a:p>
          <a:p>
            <a:pPr marL="274320" indent="-237744">
              <a:spcBef>
                <a:spcPts val="500"/>
              </a:spcBef>
              <a:buClr>
                <a:srgbClr val="6B717A"/>
              </a:buClr>
              <a:buChar char="•"/>
            </a:pPr>
            <a:r>
              <a:rPr sz="1600" b="0" i="0">
                <a:solidFill>
                  <a:srgbClr val="2B2F36"/>
                </a:solidFill>
                <a:latin typeface="Calibri"/>
              </a:rPr>
              <a:t>each round: many independent unions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Two building blocks from parallel algorithms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Concurrent union-find</a:t>
            </a:r>
          </a:p>
        </p:txBody>
      </p:sp>
      <p:sp>
        <p:nvSpPr>
          <p:cNvPr id="8" name="TextBox 7"/>
          <p:cNvSpPr txBox="1"/>
          <p:nvPr/>
        </p:nvSpPr>
        <p:spPr>
          <a:xfrm>
            <a:off x="731520" y="1847088"/>
            <a:ext cx="5120640" cy="320040"/>
          </a:xfrm>
          <a:prstGeom prst="rect">
            <a:avLst/>
          </a:prstGeom>
          <a:noFill/>
        </p:spPr>
        <p:txBody>
          <a:bodyPr wrap="square" anchor="t" lIns="45720" rIns="45720" tIns="27432" bIns="27432">
            <a:spAutoFit/>
          </a:bodyPr>
          <a:lstStyle/>
          <a:p>
            <a:pPr algn="l"/>
            <a:r>
              <a:rPr sz="1300" b="0" i="0">
                <a:solidFill>
                  <a:srgbClr val="6B717A"/>
                </a:solidFill>
                <a:latin typeface="Calibri"/>
              </a:rPr>
              <a:t>Alistarh, Fedorov &amp; Koval, OPODIS 2019</a:t>
            </a:r>
          </a:p>
        </p:txBody>
      </p:sp>
      <p:sp>
        <p:nvSpPr>
          <p:cNvPr id="9" name="TextBox 8"/>
          <p:cNvSpPr txBox="1"/>
          <p:nvPr/>
        </p:nvSpPr>
        <p:spPr>
          <a:xfrm>
            <a:off x="640080" y="2194560"/>
            <a:ext cx="530352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array UF[i]: parent index, or rank if root</a:t>
            </a:r>
          </a:p>
          <a:p>
            <a:pPr marL="274320" indent="-237744">
              <a:spcBef>
                <a:spcPts val="700"/>
              </a:spcBef>
              <a:buClr>
                <a:srgbClr val="6B717A"/>
              </a:buClr>
              <a:buChar char="•"/>
            </a:pPr>
            <a:r>
              <a:rPr sz="1700" b="1" i="0">
                <a:solidFill>
                  <a:srgbClr val="2B2F36"/>
                </a:solidFill>
                <a:latin typeface="Calibri"/>
              </a:rPr>
              <a:t>Find</a:t>
            </a:r>
            <a:r>
              <a:rPr sz="1700" b="0" i="0">
                <a:solidFill>
                  <a:srgbClr val="2B2F36"/>
                </a:solidFill>
                <a:latin typeface="Calibri"/>
              </a:rPr>
              <a:t>: follow parents, path-compress with CAS</a:t>
            </a:r>
          </a:p>
          <a:p>
            <a:pPr marL="274320" indent="-237744">
              <a:spcBef>
                <a:spcPts val="700"/>
              </a:spcBef>
              <a:buClr>
                <a:srgbClr val="6B717A"/>
              </a:buClr>
              <a:buChar char="•"/>
            </a:pPr>
            <a:r>
              <a:rPr sz="1700" b="1" i="0">
                <a:solidFill>
                  <a:srgbClr val="2B2F36"/>
                </a:solidFill>
                <a:latin typeface="Calibri"/>
              </a:rPr>
              <a:t>Union</a:t>
            </a:r>
            <a:r>
              <a:rPr sz="1700" b="0" i="0">
                <a:solidFill>
                  <a:srgbClr val="2B2F36"/>
                </a:solidFill>
                <a:latin typeface="Calibri"/>
              </a:rPr>
              <a:t>: link lower rank under higher via CAS; retry on failure</a:t>
            </a:r>
          </a:p>
          <a:p>
            <a:pPr marL="274320" indent="-237744">
              <a:spcBef>
                <a:spcPts val="700"/>
              </a:spcBef>
              <a:buClr>
                <a:srgbClr val="6B717A"/>
              </a:buClr>
              <a:buChar char="•"/>
            </a:pPr>
            <a:r>
              <a:rPr sz="1700" b="0" i="0">
                <a:solidFill>
                  <a:srgbClr val="2B2F36"/>
                </a:solidFill>
                <a:latin typeface="Calibri"/>
              </a:rPr>
              <a:t>best-effort linking by rank</a:t>
            </a:r>
          </a:p>
          <a:p>
            <a:pPr marL="274320" indent="-237744">
              <a:spcBef>
                <a:spcPts val="700"/>
              </a:spcBef>
              <a:buClr>
                <a:srgbClr val="6B717A"/>
              </a:buClr>
              <a:buChar char="•"/>
            </a:pPr>
            <a:r>
              <a:rPr sz="1700" b="0" i="0">
                <a:solidFill>
                  <a:srgbClr val="2B2F36"/>
                </a:solidFill>
                <a:latin typeface="Calibri"/>
              </a:rPr>
              <a:t>lock-free and linearizable</a:t>
            </a:r>
          </a:p>
          <a:p>
            <a:pPr marL="274320" indent="-237744">
              <a:spcBef>
                <a:spcPts val="700"/>
              </a:spcBef>
              <a:buClr>
                <a:srgbClr val="6B717A"/>
              </a:buClr>
              <a:buChar char="•"/>
            </a:pPr>
            <a:r>
              <a:rPr sz="1700" b="0" i="0">
                <a:solidFill>
                  <a:srgbClr val="2B2F36"/>
                </a:solidFill>
                <a:latin typeface="Calibri"/>
              </a:rPr>
              <a:t>contention = failed CAS + retry, never blocking</a:t>
            </a:r>
          </a:p>
        </p:txBody>
      </p:sp>
      <p:sp>
        <p:nvSpPr>
          <p:cNvPr id="10" name="Rounded Rectangle 9"/>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1" name="TextBox 10"/>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Semisort (GroupBy)</a:t>
            </a:r>
          </a:p>
        </p:txBody>
      </p:sp>
      <p:sp>
        <p:nvSpPr>
          <p:cNvPr id="12" name="TextBox 11"/>
          <p:cNvSpPr txBox="1"/>
          <p:nvPr/>
        </p:nvSpPr>
        <p:spPr>
          <a:xfrm>
            <a:off x="6446520" y="1847088"/>
            <a:ext cx="5029200" cy="320040"/>
          </a:xfrm>
          <a:prstGeom prst="rect">
            <a:avLst/>
          </a:prstGeom>
          <a:noFill/>
        </p:spPr>
        <p:txBody>
          <a:bodyPr wrap="square" anchor="t" lIns="45720" rIns="45720" tIns="27432" bIns="27432">
            <a:spAutoFit/>
          </a:bodyPr>
          <a:lstStyle/>
          <a:p>
            <a:pPr algn="l"/>
            <a:r>
              <a:rPr sz="1300" b="0" i="0">
                <a:solidFill>
                  <a:srgbClr val="6B717A"/>
                </a:solidFill>
                <a:latin typeface="Calibri"/>
              </a:rPr>
              <a:t>Gu, Shun, Sun &amp; Blelloch, SPAA 2015</a:t>
            </a:r>
          </a:p>
        </p:txBody>
      </p:sp>
      <p:sp>
        <p:nvSpPr>
          <p:cNvPr id="13" name="TextBox 12"/>
          <p:cNvSpPr txBox="1"/>
          <p:nvPr/>
        </p:nvSpPr>
        <p:spPr>
          <a:xfrm>
            <a:off x="6355080" y="2194560"/>
            <a:ext cx="521208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input: (key, value) pairs</a:t>
            </a:r>
          </a:p>
          <a:p>
            <a:pPr marL="274320" indent="-237744">
              <a:spcBef>
                <a:spcPts val="700"/>
              </a:spcBef>
              <a:buClr>
                <a:srgbClr val="6B717A"/>
              </a:buClr>
              <a:buChar char="•"/>
            </a:pPr>
            <a:r>
              <a:rPr sz="1700" b="0" i="0">
                <a:solidFill>
                  <a:srgbClr val="2B2F36"/>
                </a:solidFill>
                <a:latin typeface="Calibri"/>
              </a:rPr>
              <a:t>output: equal keys adjacent, no total order across keys</a:t>
            </a:r>
          </a:p>
          <a:p>
            <a:pPr marL="274320" indent="-237744">
              <a:spcBef>
                <a:spcPts val="700"/>
              </a:spcBef>
              <a:buClr>
                <a:srgbClr val="6B717A"/>
              </a:buClr>
              <a:buChar char="•"/>
            </a:pPr>
            <a:r>
              <a:rPr sz="1700" b="1" i="0">
                <a:solidFill>
                  <a:srgbClr val="2B2F36"/>
                </a:solidFill>
                <a:latin typeface="Calibri"/>
              </a:rPr>
              <a:t>O(n) work, O(log n) span</a:t>
            </a:r>
            <a:r>
              <a:rPr sz="1700" b="0" i="0">
                <a:solidFill>
                  <a:srgbClr val="2B2F36"/>
                </a:solidFill>
                <a:latin typeface="Calibri"/>
              </a:rPr>
              <a:t> in expectation</a:t>
            </a:r>
          </a:p>
          <a:p>
            <a:pPr marL="274320" indent="-237744">
              <a:spcBef>
                <a:spcPts val="700"/>
              </a:spcBef>
              <a:buClr>
                <a:srgbClr val="6B717A"/>
              </a:buClr>
              <a:buChar char="•"/>
            </a:pPr>
            <a:r>
              <a:rPr sz="1700" b="0" i="0">
                <a:solidFill>
                  <a:srgbClr val="2B2F36"/>
                </a:solidFill>
                <a:latin typeface="Calibri"/>
              </a:rPr>
              <a:t>key = signature hash: (symbol, Find(child₁), …, Find(childₖ))</a:t>
            </a:r>
          </a:p>
          <a:p>
            <a:pPr marL="274320" indent="-237744">
              <a:spcBef>
                <a:spcPts val="700"/>
              </a:spcBef>
              <a:buClr>
                <a:srgbClr val="6B717A"/>
              </a:buClr>
              <a:buChar char="•"/>
            </a:pPr>
            <a:r>
              <a:rPr sz="1700" b="0" i="0">
                <a:solidFill>
                  <a:srgbClr val="2B2F36"/>
                </a:solidFill>
                <a:latin typeface="Calibri"/>
              </a:rPr>
              <a:t>one call gathers all candidate congruences of a round</a:t>
            </a:r>
          </a:p>
        </p:txBody>
      </p:sp>
      <p:sp>
        <p:nvSpPr>
          <p:cNvPr id="14" name="TextBox 13"/>
          <p:cNvSpPr txBox="1"/>
          <p:nvPr/>
        </p:nvSpPr>
        <p:spPr>
          <a:xfrm>
            <a:off x="548640" y="5943600"/>
            <a:ext cx="11155680" cy="457200"/>
          </a:xfrm>
          <a:prstGeom prst="rect">
            <a:avLst/>
          </a:prstGeom>
          <a:noFill/>
        </p:spPr>
        <p:txBody>
          <a:bodyPr wrap="square" anchor="t" lIns="45720" rIns="45720" tIns="27432" bIns="27432">
            <a:spAutoFit/>
          </a:bodyPr>
          <a:lstStyle/>
          <a:p>
            <a:pPr algn="l"/>
            <a:r>
              <a:rPr sz="1400" b="0" i="0">
                <a:solidFill>
                  <a:srgbClr val="6B717A"/>
                </a:solidFill>
                <a:latin typeface="Calibri"/>
              </a:rPr>
              <a:t>Glue: ParlayLib (Blelloch, Anderson &amp; Dhulipala 2020) for parfor, scheduler, integer sort, filter.  Rounds are bulk-synchronous (Valiant 1990).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a bulk-synchronous closure loop</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11064240" cy="640080"/>
          </a:xfrm>
          <a:prstGeom prst="roundRect">
            <a:avLst>
              <a:gd name="adj" fmla="val 15000"/>
            </a:avLst>
          </a:prstGeom>
          <a:solidFill>
            <a:srgbClr val="F4F5F7"/>
          </a:solidFill>
          <a:ln>
            <a:noFill/>
          </a:ln>
          <a:effectLst/>
        </p:spPr>
        <p:txBody>
          <a:bodyPr rtlCol="0" anchor="ctr" lIns="54864" rIns="54864" tIns="27432" bIns="27432" wrap="square"/>
          <a:lstStyle/>
          <a:p>
            <a:pPr algn="ctr"/>
            <a:r>
              <a:rPr sz="1800" b="0" i="0">
                <a:solidFill>
                  <a:srgbClr val="2B2F36"/>
                </a:solidFill>
                <a:latin typeface="Calibri"/>
              </a:rPr>
              <a:t>Round 0:  parfor (u = v) ∈ E: Union(u, v)        Work ← terms of E</a:t>
            </a:r>
          </a:p>
        </p:txBody>
      </p:sp>
      <p:sp>
        <p:nvSpPr>
          <p:cNvPr id="7" name="Rounded Rectangle 6"/>
          <p:cNvSpPr/>
          <p:nvPr/>
        </p:nvSpPr>
        <p:spPr>
          <a:xfrm>
            <a:off x="109728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Work</a:t>
            </a:r>
          </a:p>
          <a:p>
            <a:pPr algn="ctr"/>
            <a:r>
              <a:rPr sz="1600" b="0" i="0">
                <a:solidFill>
                  <a:srgbClr val="2B2F36"/>
                </a:solidFill>
                <a:latin typeface="Calibri"/>
              </a:rPr>
              <a:t>representatives dethroned</a:t>
            </a:r>
          </a:p>
          <a:p>
            <a:pPr algn="ctr"/>
            <a:r>
              <a:rPr sz="1600" b="0" i="0">
                <a:solidFill>
                  <a:srgbClr val="2B2F36"/>
                </a:solidFill>
                <a:latin typeface="Calibri"/>
              </a:rPr>
              <a:t>by the previous round</a:t>
            </a:r>
          </a:p>
        </p:txBody>
      </p:sp>
      <p:sp>
        <p:nvSpPr>
          <p:cNvPr id="8" name="Rounded Rectangle 7"/>
          <p:cNvSpPr/>
          <p:nvPr/>
        </p:nvSpPr>
        <p:spPr>
          <a:xfrm>
            <a:off x="768096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Frontier</a:t>
            </a:r>
          </a:p>
          <a:p>
            <a:pPr algn="ctr"/>
            <a:r>
              <a:rPr sz="1600" b="0" i="0">
                <a:solidFill>
                  <a:srgbClr val="2B2F36"/>
                </a:solidFill>
                <a:latin typeface="Calibri"/>
              </a:rPr>
              <a:t>fold parent lists into new roots;</a:t>
            </a:r>
          </a:p>
          <a:p>
            <a:pPr algn="ctr"/>
            <a:r>
              <a:rPr sz="1600" b="0" i="0">
                <a:solidFill>
                  <a:srgbClr val="2B2F36"/>
                </a:solidFill>
                <a:latin typeface="Calibri"/>
              </a:rPr>
              <a:t>parents of the changed classes</a:t>
            </a:r>
          </a:p>
        </p:txBody>
      </p:sp>
      <p:sp>
        <p:nvSpPr>
          <p:cNvPr id="9" name="Rounded Rectangle 8"/>
          <p:cNvSpPr/>
          <p:nvPr/>
        </p:nvSpPr>
        <p:spPr>
          <a:xfrm>
            <a:off x="7680960" y="4526280"/>
            <a:ext cx="3383280" cy="123444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r>
              <a:rPr sz="1600" b="1" i="0">
                <a:solidFill>
                  <a:srgbClr val="2B2F36"/>
                </a:solidFill>
                <a:latin typeface="Calibri"/>
              </a:rPr>
              <a:t>GroupBy signature</a:t>
            </a:r>
          </a:p>
          <a:p>
            <a:pPr algn="ctr"/>
            <a:r>
              <a:rPr sz="1600" b="0" i="0">
                <a:solidFill>
                  <a:srgbClr val="2B2F36"/>
                </a:solidFill>
                <a:latin typeface="Calibri"/>
              </a:rPr>
              <a:t>semisort the frontier by</a:t>
            </a:r>
          </a:p>
          <a:p>
            <a:pPr algn="ctr"/>
            <a:r>
              <a:rPr sz="1600" b="0" i="0">
                <a:solidFill>
                  <a:srgbClr val="2B2F36"/>
                </a:solidFill>
                <a:latin typeface="Calibri"/>
              </a:rPr>
              <a:t>(symbol, Find(children))</a:t>
            </a:r>
          </a:p>
        </p:txBody>
      </p:sp>
      <p:sp>
        <p:nvSpPr>
          <p:cNvPr id="10" name="Rounded Rectangle 9"/>
          <p:cNvSpPr/>
          <p:nvPr/>
        </p:nvSpPr>
        <p:spPr>
          <a:xfrm>
            <a:off x="1097280" y="4526280"/>
            <a:ext cx="3383280" cy="123444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600" b="1" i="0">
                <a:solidFill>
                  <a:srgbClr val="2B2F36"/>
                </a:solidFill>
                <a:latin typeface="Calibri"/>
              </a:rPr>
              <a:t>Merge</a:t>
            </a:r>
          </a:p>
          <a:p>
            <a:pPr algn="ctr"/>
            <a:r>
              <a:rPr sz="1600" b="0" i="0">
                <a:solidFill>
                  <a:srgbClr val="2B2F36"/>
                </a:solidFill>
                <a:latin typeface="Calibri"/>
              </a:rPr>
              <a:t>parallel unions within each group</a:t>
            </a:r>
          </a:p>
          <a:p>
            <a:pPr algn="ctr"/>
            <a:r>
              <a:rPr sz="1600" b="0" i="0">
                <a:solidFill>
                  <a:srgbClr val="2B2F36"/>
                </a:solidFill>
                <a:latin typeface="Calibri"/>
              </a:rPr>
              <a:t>spanning more than one class</a:t>
            </a:r>
          </a:p>
        </p:txBody>
      </p:sp>
      <p:cxnSp>
        <p:nvCxnSpPr>
          <p:cNvPr id="11" name="Connector 10"/>
          <p:cNvCxnSpPr/>
          <p:nvPr/>
        </p:nvCxnSpPr>
        <p:spPr>
          <a:xfrm>
            <a:off x="4480560" y="2948939"/>
            <a:ext cx="3200400" cy="0"/>
          </a:xfrm>
          <a:prstGeom prst="line">
            <a:avLst/>
          </a:prstGeom>
          <a:ln w="22225">
            <a:solidFill>
              <a:srgbClr val="2B2F36"/>
            </a:solidFill>
            <a:tailEnd type="triangle" w="med" len="med"/>
          </a:ln>
          <a:effectLst/>
        </p:spPr>
      </p:cxnSp>
      <p:cxnSp>
        <p:nvCxnSpPr>
          <p:cNvPr id="12" name="Connector 11"/>
          <p:cNvCxnSpPr/>
          <p:nvPr/>
        </p:nvCxnSpPr>
        <p:spPr>
          <a:xfrm>
            <a:off x="9372600" y="3566160"/>
            <a:ext cx="0" cy="960120"/>
          </a:xfrm>
          <a:prstGeom prst="line">
            <a:avLst/>
          </a:prstGeom>
          <a:ln w="22225">
            <a:solidFill>
              <a:srgbClr val="2B2F36"/>
            </a:solidFill>
            <a:tailEnd type="triangle" w="med" len="med"/>
          </a:ln>
          <a:effectLst/>
        </p:spPr>
      </p:cxnSp>
      <p:cxnSp>
        <p:nvCxnSpPr>
          <p:cNvPr id="13" name="Connector 12"/>
          <p:cNvCxnSpPr/>
          <p:nvPr/>
        </p:nvCxnSpPr>
        <p:spPr>
          <a:xfrm flipH="1">
            <a:off x="4480560" y="5143500"/>
            <a:ext cx="3200400" cy="0"/>
          </a:xfrm>
          <a:prstGeom prst="line">
            <a:avLst/>
          </a:prstGeom>
          <a:ln w="22225">
            <a:solidFill>
              <a:srgbClr val="2B2F36"/>
            </a:solidFill>
            <a:tailEnd type="triangle" w="med" len="med"/>
          </a:ln>
          <a:effectLst/>
        </p:spPr>
      </p:cxnSp>
      <p:cxnSp>
        <p:nvCxnSpPr>
          <p:cNvPr id="14" name="Connector 13"/>
          <p:cNvCxnSpPr/>
          <p:nvPr/>
        </p:nvCxnSpPr>
        <p:spPr>
          <a:xfrm flipV="1">
            <a:off x="2788920" y="3566160"/>
            <a:ext cx="0" cy="960120"/>
          </a:xfrm>
          <a:prstGeom prst="line">
            <a:avLst/>
          </a:prstGeom>
          <a:ln w="22225">
            <a:solidFill>
              <a:srgbClr val="2B2F36"/>
            </a:solidFill>
            <a:tailEnd type="triangle" w="med" len="med"/>
          </a:ln>
          <a:effectLst/>
        </p:spPr>
      </p:cxnSp>
      <p:sp>
        <p:nvSpPr>
          <p:cNvPr id="15" name="TextBox 14"/>
          <p:cNvSpPr txBox="1"/>
          <p:nvPr/>
        </p:nvSpPr>
        <p:spPr>
          <a:xfrm>
            <a:off x="5760720" y="253288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6" name="TextBox 15"/>
          <p:cNvSpPr txBox="1"/>
          <p:nvPr/>
        </p:nvSpPr>
        <p:spPr>
          <a:xfrm>
            <a:off x="5760720" y="472744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7" name="TextBox 16"/>
          <p:cNvSpPr txBox="1"/>
          <p:nvPr/>
        </p:nvSpPr>
        <p:spPr>
          <a:xfrm>
            <a:off x="2898648" y="3703320"/>
            <a:ext cx="2011680" cy="640080"/>
          </a:xfrm>
          <a:prstGeom prst="rect">
            <a:avLst/>
          </a:prstGeom>
          <a:noFill/>
        </p:spPr>
        <p:txBody>
          <a:bodyPr wrap="square" anchor="t" lIns="45720" rIns="45720" tIns="27432" bIns="27432">
            <a:spAutoFit/>
          </a:bodyPr>
          <a:lstStyle/>
          <a:p>
            <a:pPr algn="l"/>
            <a:r>
              <a:rPr sz="1200" b="0" i="0">
                <a:solidFill>
                  <a:srgbClr val="6B717A"/>
                </a:solidFill>
                <a:latin typeface="Calibri"/>
              </a:rPr>
              <a:t>dethroned roots</a:t>
            </a:r>
          </a:p>
          <a:p>
            <a:pPr algn="l"/>
            <a:r>
              <a:rPr sz="1200" b="0" i="0">
                <a:solidFill>
                  <a:srgbClr val="6B717A"/>
                </a:solidFill>
                <a:latin typeface="Calibri"/>
              </a:rPr>
              <a:t>→ next Work</a:t>
            </a:r>
          </a:p>
        </p:txBody>
      </p:sp>
      <p:sp>
        <p:nvSpPr>
          <p:cNvPr id="18" name="TextBox 17"/>
          <p:cNvSpPr txBox="1"/>
          <p:nvPr/>
        </p:nvSpPr>
        <p:spPr>
          <a:xfrm>
            <a:off x="4800600" y="3611880"/>
            <a:ext cx="2926080" cy="914400"/>
          </a:xfrm>
          <a:prstGeom prst="rect">
            <a:avLst/>
          </a:prstGeom>
          <a:noFill/>
        </p:spPr>
        <p:txBody>
          <a:bodyPr wrap="square" anchor="t" lIns="45720" rIns="45720" tIns="27432" bIns="27432">
            <a:spAutoFit/>
          </a:bodyPr>
          <a:lstStyle/>
          <a:p>
            <a:pPr algn="ctr"/>
            <a:r>
              <a:rPr sz="1500" b="1" i="0">
                <a:solidFill>
                  <a:srgbClr val="1F2A44"/>
                </a:solidFill>
                <a:latin typeface="Calibri"/>
              </a:rPr>
              <a:t>repeat until Work = ∅</a:t>
            </a:r>
          </a:p>
          <a:p>
            <a:pPr algn="ctr"/>
            <a:r>
              <a:rPr sz="1500" b="1" i="0">
                <a:solidFill>
                  <a:srgbClr val="1F2A44"/>
                </a:solidFill>
                <a:latin typeface="Calibri"/>
              </a:rPr>
              <a:t>result: union-find holds the congruence classes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4984" y="3803903"/>
            <a:ext cx="539496" cy="1106425"/>
          </a:xfrm>
          <a:prstGeom prst="line">
            <a:avLst/>
          </a:prstGeom>
          <a:ln w="15875">
            <a:solidFill>
              <a:srgbClr val="8A8F98"/>
            </a:solidFill>
          </a:ln>
          <a:effectLst/>
        </p:spPr>
      </p:cxnSp>
      <p:cxnSp>
        <p:nvCxnSpPr>
          <p:cNvPr id="12" name="Connector 11"/>
          <p:cNvCxnSpPr/>
          <p:nvPr/>
        </p:nvCxnSpPr>
        <p:spPr>
          <a:xfrm>
            <a:off x="1554480" y="3803903"/>
            <a:ext cx="960120" cy="1106425"/>
          </a:xfrm>
          <a:prstGeom prst="line">
            <a:avLst/>
          </a:prstGeom>
          <a:ln w="15875">
            <a:solidFill>
              <a:srgbClr val="8A8F98"/>
            </a:solidFill>
          </a:ln>
          <a:effectLst/>
        </p:spPr>
      </p:cxnSp>
      <p:cxnSp>
        <p:nvCxnSpPr>
          <p:cNvPr id="13" name="Connector 12"/>
          <p:cNvCxnSpPr/>
          <p:nvPr/>
        </p:nvCxnSpPr>
        <p:spPr>
          <a:xfrm flipH="1">
            <a:off x="1636776" y="3803903"/>
            <a:ext cx="1014984" cy="1106425"/>
          </a:xfrm>
          <a:prstGeom prst="line">
            <a:avLst/>
          </a:prstGeom>
          <a:ln w="15875">
            <a:solidFill>
              <a:srgbClr val="8A8F98"/>
            </a:solidFill>
          </a:ln>
          <a:effectLst/>
        </p:spPr>
      </p:cxnSp>
      <p:cxnSp>
        <p:nvCxnSpPr>
          <p:cNvPr id="14" name="Connector 13"/>
          <p:cNvCxnSpPr/>
          <p:nvPr/>
        </p:nvCxnSpPr>
        <p:spPr>
          <a:xfrm>
            <a:off x="2651760" y="3803903"/>
            <a:ext cx="484632" cy="1106425"/>
          </a:xfrm>
          <a:prstGeom prst="line">
            <a:avLst/>
          </a:prstGeom>
          <a:ln w="15875">
            <a:solidFill>
              <a:srgbClr val="8A8F98"/>
            </a:solidFill>
          </a:ln>
          <a:effectLst/>
        </p:spPr>
      </p:cxnSp>
      <p:cxnSp>
        <p:nvCxnSpPr>
          <p:cNvPr id="15" name="Connector 14"/>
          <p:cNvCxnSpPr/>
          <p:nvPr/>
        </p:nvCxnSpPr>
        <p:spPr>
          <a:xfrm flipH="1">
            <a:off x="5513832" y="3803903"/>
            <a:ext cx="475488" cy="1106425"/>
          </a:xfrm>
          <a:prstGeom prst="line">
            <a:avLst/>
          </a:prstGeom>
          <a:ln w="15875">
            <a:solidFill>
              <a:srgbClr val="8A8F98"/>
            </a:solidFill>
          </a:ln>
          <a:effectLst/>
        </p:spPr>
      </p:cxnSp>
      <p:cxnSp>
        <p:nvCxnSpPr>
          <p:cNvPr id="16" name="Connector 15"/>
          <p:cNvCxnSpPr/>
          <p:nvPr/>
        </p:nvCxnSpPr>
        <p:spPr>
          <a:xfrm>
            <a:off x="5989320" y="3803903"/>
            <a:ext cx="1024128" cy="1106425"/>
          </a:xfrm>
          <a:prstGeom prst="line">
            <a:avLst/>
          </a:prstGeom>
          <a:ln w="15875">
            <a:solidFill>
              <a:srgbClr val="8A8F98"/>
            </a:solidFill>
          </a:ln>
          <a:effectLst/>
        </p:spPr>
      </p:cxnSp>
      <p:cxnSp>
        <p:nvCxnSpPr>
          <p:cNvPr id="17" name="Connector 16"/>
          <p:cNvCxnSpPr/>
          <p:nvPr/>
        </p:nvCxnSpPr>
        <p:spPr>
          <a:xfrm flipH="1">
            <a:off x="6135624" y="3803903"/>
            <a:ext cx="950976" cy="1106425"/>
          </a:xfrm>
          <a:prstGeom prst="line">
            <a:avLst/>
          </a:prstGeom>
          <a:ln w="15875">
            <a:solidFill>
              <a:srgbClr val="8A8F98"/>
            </a:solidFill>
          </a:ln>
          <a:effectLst/>
        </p:spPr>
      </p:cxnSp>
      <p:cxnSp>
        <p:nvCxnSpPr>
          <p:cNvPr id="18" name="Connector 17"/>
          <p:cNvCxnSpPr/>
          <p:nvPr/>
        </p:nvCxnSpPr>
        <p:spPr>
          <a:xfrm>
            <a:off x="7086600" y="3803903"/>
            <a:ext cx="548640" cy="1106425"/>
          </a:xfrm>
          <a:prstGeom prst="line">
            <a:avLst/>
          </a:prstGeom>
          <a:ln w="15875">
            <a:solidFill>
              <a:srgbClr val="8A8F98"/>
            </a:solidFill>
          </a:ln>
          <a:effectLst/>
        </p:spPr>
      </p:cxnSp>
      <p:cxnSp>
        <p:nvCxnSpPr>
          <p:cNvPr id="19" name="Connector 18"/>
          <p:cNvCxnSpPr/>
          <p:nvPr/>
        </p:nvCxnSpPr>
        <p:spPr>
          <a:xfrm>
            <a:off x="3794760" y="2203704"/>
            <a:ext cx="219455" cy="2706624"/>
          </a:xfrm>
          <a:prstGeom prst="line">
            <a:avLst/>
          </a:prstGeom>
          <a:ln w="15875">
            <a:solidFill>
              <a:srgbClr val="8A8F98"/>
            </a:solidFill>
          </a:ln>
          <a:effectLst/>
        </p:spPr>
      </p:cxnSp>
      <p:cxnSp>
        <p:nvCxnSpPr>
          <p:cNvPr id="20" name="Connector 19"/>
          <p:cNvCxnSpPr/>
          <p:nvPr/>
        </p:nvCxnSpPr>
        <p:spPr>
          <a:xfrm flipH="1">
            <a:off x="1554480" y="2203704"/>
            <a:ext cx="2240280" cy="749807"/>
          </a:xfrm>
          <a:prstGeom prst="line">
            <a:avLst/>
          </a:prstGeom>
          <a:ln w="15875">
            <a:solidFill>
              <a:srgbClr val="8A8F98"/>
            </a:solidFill>
          </a:ln>
          <a:effectLst/>
        </p:spPr>
      </p:cxnSp>
      <p:cxnSp>
        <p:nvCxnSpPr>
          <p:cNvPr id="21" name="Connector 20"/>
          <p:cNvCxnSpPr/>
          <p:nvPr/>
        </p:nvCxnSpPr>
        <p:spPr>
          <a:xfrm>
            <a:off x="3794760" y="2203704"/>
            <a:ext cx="2194560" cy="749807"/>
          </a:xfrm>
          <a:prstGeom prst="line">
            <a:avLst/>
          </a:prstGeom>
          <a:ln w="15875">
            <a:solidFill>
              <a:srgbClr val="8A8F98"/>
            </a:solidFill>
          </a:ln>
          <a:effectLst/>
        </p:spPr>
      </p:cxnSp>
      <p:cxnSp>
        <p:nvCxnSpPr>
          <p:cNvPr id="22" name="Connector 21"/>
          <p:cNvCxnSpPr/>
          <p:nvPr/>
        </p:nvCxnSpPr>
        <p:spPr>
          <a:xfrm flipH="1">
            <a:off x="4636008" y="2203704"/>
            <a:ext cx="484632" cy="2706624"/>
          </a:xfrm>
          <a:prstGeom prst="line">
            <a:avLst/>
          </a:prstGeom>
          <a:ln w="15875">
            <a:solidFill>
              <a:srgbClr val="8A8F98"/>
            </a:solidFill>
          </a:ln>
          <a:effectLst/>
        </p:spPr>
      </p:cxnSp>
      <p:cxnSp>
        <p:nvCxnSpPr>
          <p:cNvPr id="23" name="Connector 22"/>
          <p:cNvCxnSpPr/>
          <p:nvPr/>
        </p:nvCxnSpPr>
        <p:spPr>
          <a:xfrm flipH="1">
            <a:off x="2651760" y="2203704"/>
            <a:ext cx="2468880" cy="749807"/>
          </a:xfrm>
          <a:prstGeom prst="line">
            <a:avLst/>
          </a:prstGeom>
          <a:ln w="15875">
            <a:solidFill>
              <a:srgbClr val="8A8F98"/>
            </a:solidFill>
          </a:ln>
          <a:effectLst/>
        </p:spPr>
      </p:cxnSp>
      <p:cxnSp>
        <p:nvCxnSpPr>
          <p:cNvPr id="24" name="Connector 23"/>
          <p:cNvCxnSpPr/>
          <p:nvPr/>
        </p:nvCxnSpPr>
        <p:spPr>
          <a:xfrm>
            <a:off x="5120640" y="2203704"/>
            <a:ext cx="1965960" cy="749807"/>
          </a:xfrm>
          <a:prstGeom prst="line">
            <a:avLst/>
          </a:prstGeom>
          <a:ln w="15875">
            <a:solidFill>
              <a:srgbClr val="8A8F98"/>
            </a:solidFill>
          </a:ln>
          <a:effectLst/>
        </p:spPr>
      </p:cxnSp>
      <p:sp>
        <p:nvSpPr>
          <p:cNvPr id="25" name="Rounded Rectangle 24"/>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5" name="Rounded Rectangle 44"/>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0</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(u = v) ∈ E: Union(u, v)</a:t>
            </a:r>
          </a:p>
          <a:p>
            <a:pPr marL="274320" indent="-237744">
              <a:spcBef>
                <a:spcPts val="500"/>
              </a:spcBef>
              <a:buClr>
                <a:srgbClr val="6B717A"/>
              </a:buClr>
              <a:buChar char="•"/>
            </a:pPr>
            <a:r>
              <a:rPr sz="1600" b="0" i="0">
                <a:solidFill>
                  <a:srgbClr val="2B2F36"/>
                </a:solidFill>
                <a:latin typeface="Calibri"/>
              </a:rPr>
              <a:t>five unions, all concurrent</a:t>
            </a:r>
          </a:p>
          <a:p>
            <a:pPr marL="274320" indent="-237744">
              <a:spcBef>
                <a:spcPts val="500"/>
              </a:spcBef>
              <a:buClr>
                <a:srgbClr val="6B717A"/>
              </a:buClr>
              <a:buChar char="•"/>
            </a:pPr>
            <a:r>
              <a:rPr sz="1600" b="0" i="0">
                <a:solidFill>
                  <a:srgbClr val="2B2F36"/>
                </a:solidFill>
                <a:latin typeface="Calibri"/>
              </a:rPr>
              <a:t>Work ← {r, r′, s, s′, u, u′, v, v′, c, c′}</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9728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553212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333756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466344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1014984" y="3803903"/>
            <a:ext cx="539496" cy="1106425"/>
          </a:xfrm>
          <a:prstGeom prst="line">
            <a:avLst/>
          </a:prstGeom>
          <a:ln w="15875">
            <a:solidFill>
              <a:srgbClr val="8A8F98"/>
            </a:solidFill>
          </a:ln>
          <a:effectLst/>
        </p:spPr>
      </p:cxnSp>
      <p:cxnSp>
        <p:nvCxnSpPr>
          <p:cNvPr id="16" name="Connector 15"/>
          <p:cNvCxnSpPr/>
          <p:nvPr/>
        </p:nvCxnSpPr>
        <p:spPr>
          <a:xfrm>
            <a:off x="1554480" y="3803903"/>
            <a:ext cx="960120" cy="1106425"/>
          </a:xfrm>
          <a:prstGeom prst="line">
            <a:avLst/>
          </a:prstGeom>
          <a:ln w="15875">
            <a:solidFill>
              <a:srgbClr val="8A8F98"/>
            </a:solidFill>
          </a:ln>
          <a:effectLst/>
        </p:spPr>
      </p:cxnSp>
      <p:cxnSp>
        <p:nvCxnSpPr>
          <p:cNvPr id="17" name="Connector 16"/>
          <p:cNvCxnSpPr/>
          <p:nvPr/>
        </p:nvCxnSpPr>
        <p:spPr>
          <a:xfrm flipH="1">
            <a:off x="1636776" y="3803903"/>
            <a:ext cx="1014984" cy="1106425"/>
          </a:xfrm>
          <a:prstGeom prst="line">
            <a:avLst/>
          </a:prstGeom>
          <a:ln w="15875">
            <a:solidFill>
              <a:srgbClr val="8A8F98"/>
            </a:solidFill>
          </a:ln>
          <a:effectLst/>
        </p:spPr>
      </p:cxnSp>
      <p:cxnSp>
        <p:nvCxnSpPr>
          <p:cNvPr id="18" name="Connector 17"/>
          <p:cNvCxnSpPr/>
          <p:nvPr/>
        </p:nvCxnSpPr>
        <p:spPr>
          <a:xfrm>
            <a:off x="2651760" y="3803903"/>
            <a:ext cx="484632" cy="1106425"/>
          </a:xfrm>
          <a:prstGeom prst="line">
            <a:avLst/>
          </a:prstGeom>
          <a:ln w="15875">
            <a:solidFill>
              <a:srgbClr val="8A8F98"/>
            </a:solidFill>
          </a:ln>
          <a:effectLst/>
        </p:spPr>
      </p:cxnSp>
      <p:cxnSp>
        <p:nvCxnSpPr>
          <p:cNvPr id="19" name="Connector 18"/>
          <p:cNvCxnSpPr/>
          <p:nvPr/>
        </p:nvCxnSpPr>
        <p:spPr>
          <a:xfrm flipH="1">
            <a:off x="5513832" y="3803903"/>
            <a:ext cx="475488" cy="1106425"/>
          </a:xfrm>
          <a:prstGeom prst="line">
            <a:avLst/>
          </a:prstGeom>
          <a:ln w="15875">
            <a:solidFill>
              <a:srgbClr val="8A8F98"/>
            </a:solidFill>
          </a:ln>
          <a:effectLst/>
        </p:spPr>
      </p:cxnSp>
      <p:cxnSp>
        <p:nvCxnSpPr>
          <p:cNvPr id="20" name="Connector 19"/>
          <p:cNvCxnSpPr/>
          <p:nvPr/>
        </p:nvCxnSpPr>
        <p:spPr>
          <a:xfrm>
            <a:off x="5989320" y="3803903"/>
            <a:ext cx="1024128" cy="1106425"/>
          </a:xfrm>
          <a:prstGeom prst="line">
            <a:avLst/>
          </a:prstGeom>
          <a:ln w="15875">
            <a:solidFill>
              <a:srgbClr val="8A8F98"/>
            </a:solidFill>
          </a:ln>
          <a:effectLst/>
        </p:spPr>
      </p:cxnSp>
      <p:cxnSp>
        <p:nvCxnSpPr>
          <p:cNvPr id="21" name="Connector 20"/>
          <p:cNvCxnSpPr/>
          <p:nvPr/>
        </p:nvCxnSpPr>
        <p:spPr>
          <a:xfrm flipH="1">
            <a:off x="6135624" y="3803903"/>
            <a:ext cx="950976" cy="1106425"/>
          </a:xfrm>
          <a:prstGeom prst="line">
            <a:avLst/>
          </a:prstGeom>
          <a:ln w="15875">
            <a:solidFill>
              <a:srgbClr val="8A8F98"/>
            </a:solidFill>
          </a:ln>
          <a:effectLst/>
        </p:spPr>
      </p:cxnSp>
      <p:cxnSp>
        <p:nvCxnSpPr>
          <p:cNvPr id="22" name="Connector 21"/>
          <p:cNvCxnSpPr/>
          <p:nvPr/>
        </p:nvCxnSpPr>
        <p:spPr>
          <a:xfrm>
            <a:off x="7086600" y="3803903"/>
            <a:ext cx="548640" cy="1106425"/>
          </a:xfrm>
          <a:prstGeom prst="line">
            <a:avLst/>
          </a:prstGeom>
          <a:ln w="15875">
            <a:solidFill>
              <a:srgbClr val="8A8F98"/>
            </a:solidFill>
          </a:ln>
          <a:effectLst/>
        </p:spPr>
      </p:cxnSp>
      <p:cxnSp>
        <p:nvCxnSpPr>
          <p:cNvPr id="23" name="Connector 22"/>
          <p:cNvCxnSpPr/>
          <p:nvPr/>
        </p:nvCxnSpPr>
        <p:spPr>
          <a:xfrm>
            <a:off x="3794760" y="2203704"/>
            <a:ext cx="219455" cy="2706624"/>
          </a:xfrm>
          <a:prstGeom prst="line">
            <a:avLst/>
          </a:prstGeom>
          <a:ln w="15875">
            <a:solidFill>
              <a:srgbClr val="8A8F98"/>
            </a:solidFill>
          </a:ln>
          <a:effectLst/>
        </p:spPr>
      </p:cxnSp>
      <p:cxnSp>
        <p:nvCxnSpPr>
          <p:cNvPr id="24" name="Connector 23"/>
          <p:cNvCxnSpPr/>
          <p:nvPr/>
        </p:nvCxnSpPr>
        <p:spPr>
          <a:xfrm flipH="1">
            <a:off x="1554480" y="2203704"/>
            <a:ext cx="2240280" cy="749807"/>
          </a:xfrm>
          <a:prstGeom prst="line">
            <a:avLst/>
          </a:prstGeom>
          <a:ln w="15875">
            <a:solidFill>
              <a:srgbClr val="8A8F98"/>
            </a:solidFill>
          </a:ln>
          <a:effectLst/>
        </p:spPr>
      </p:cxnSp>
      <p:cxnSp>
        <p:nvCxnSpPr>
          <p:cNvPr id="25" name="Connector 24"/>
          <p:cNvCxnSpPr/>
          <p:nvPr/>
        </p:nvCxnSpPr>
        <p:spPr>
          <a:xfrm>
            <a:off x="3794760" y="2203704"/>
            <a:ext cx="2194560" cy="749807"/>
          </a:xfrm>
          <a:prstGeom prst="line">
            <a:avLst/>
          </a:prstGeom>
          <a:ln w="15875">
            <a:solidFill>
              <a:srgbClr val="8A8F98"/>
            </a:solidFill>
          </a:ln>
          <a:effectLst/>
        </p:spPr>
      </p:cxnSp>
      <p:cxnSp>
        <p:nvCxnSpPr>
          <p:cNvPr id="26" name="Connector 25"/>
          <p:cNvCxnSpPr/>
          <p:nvPr/>
        </p:nvCxnSpPr>
        <p:spPr>
          <a:xfrm flipH="1">
            <a:off x="4636008" y="2203704"/>
            <a:ext cx="484632" cy="2706624"/>
          </a:xfrm>
          <a:prstGeom prst="line">
            <a:avLst/>
          </a:prstGeom>
          <a:ln w="15875">
            <a:solidFill>
              <a:srgbClr val="8A8F98"/>
            </a:solidFill>
          </a:ln>
          <a:effectLst/>
        </p:spPr>
      </p:cxnSp>
      <p:cxnSp>
        <p:nvCxnSpPr>
          <p:cNvPr id="27" name="Connector 26"/>
          <p:cNvCxnSpPr/>
          <p:nvPr/>
        </p:nvCxnSpPr>
        <p:spPr>
          <a:xfrm flipH="1">
            <a:off x="2651760" y="2203704"/>
            <a:ext cx="2468880" cy="749807"/>
          </a:xfrm>
          <a:prstGeom prst="line">
            <a:avLst/>
          </a:prstGeom>
          <a:ln w="15875">
            <a:solidFill>
              <a:srgbClr val="8A8F98"/>
            </a:solidFill>
          </a:ln>
          <a:effectLst/>
        </p:spPr>
      </p:cxnSp>
      <p:cxnSp>
        <p:nvCxnSpPr>
          <p:cNvPr id="28" name="Connector 27"/>
          <p:cNvCxnSpPr/>
          <p:nvPr/>
        </p:nvCxnSpPr>
        <p:spPr>
          <a:xfrm>
            <a:off x="5120640" y="2203704"/>
            <a:ext cx="1965960" cy="749807"/>
          </a:xfrm>
          <a:prstGeom prst="line">
            <a:avLst/>
          </a:prstGeom>
          <a:ln w="15875">
            <a:solidFill>
              <a:srgbClr val="8A8F98"/>
            </a:solidFill>
          </a:ln>
          <a:effectLst/>
        </p:spPr>
      </p:cxnSp>
      <p:sp>
        <p:nvSpPr>
          <p:cNvPr id="29" name="Rounded Rectangle 28"/>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9" name="Rounded Rectangle 48"/>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frontier and groups</a:t>
            </a:r>
          </a:p>
        </p:txBody>
      </p:sp>
      <p:sp>
        <p:nvSpPr>
          <p:cNvPr id="52" name="TextBox 51"/>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Parents[r] ∪= Parents[r′] = {a₁, a₂}, …</a:t>
            </a:r>
          </a:p>
          <a:p>
            <a:pPr marL="274320" indent="-237744">
              <a:spcBef>
                <a:spcPts val="500"/>
              </a:spcBef>
              <a:buClr>
                <a:srgbClr val="6B717A"/>
              </a:buClr>
              <a:buChar char="•"/>
            </a:pPr>
            <a:r>
              <a:rPr sz="1600" b="0" i="0">
                <a:solidFill>
                  <a:srgbClr val="2B2F36"/>
                </a:solidFill>
                <a:latin typeface="Calibri"/>
              </a:rPr>
              <a:t>Frontier = {a₁, a₂, x₁, x₂, m₁, m₂}</a:t>
            </a:r>
          </a:p>
          <a:p>
            <a:pPr marL="585216" indent="-237744">
              <a:spcBef>
                <a:spcPts val="200"/>
              </a:spcBef>
              <a:buClr>
                <a:srgbClr val="6B717A"/>
              </a:buClr>
              <a:buChar char="–"/>
            </a:pPr>
            <a:r>
              <a:rPr sz="1300" b="0" i="0">
                <a:solidFill>
                  <a:srgbClr val="2B2F36"/>
                </a:solidFill>
                <a:latin typeface="Calibri"/>
              </a:rPr>
              <a:t>parents of the changed classes</a:t>
            </a:r>
          </a:p>
          <a:p>
            <a:pPr marL="274320" indent="-237744">
              <a:spcBef>
                <a:spcPts val="500"/>
              </a:spcBef>
              <a:buClr>
                <a:srgbClr val="6B717A"/>
              </a:buClr>
              <a:buChar char="•"/>
            </a:pPr>
            <a:r>
              <a:rPr sz="1600" b="0" i="0">
                <a:solidFill>
                  <a:srgbClr val="2B2F36"/>
                </a:solidFill>
                <a:latin typeface="Calibri"/>
              </a:rPr>
              <a:t>GroupBy(Congruent, Frontier):</a:t>
            </a:r>
          </a:p>
          <a:p>
            <a:pPr marL="585216" indent="-237744">
              <a:spcBef>
                <a:spcPts val="200"/>
              </a:spcBef>
              <a:buClr>
                <a:srgbClr val="6B717A"/>
              </a:buClr>
              <a:buChar char="–"/>
            </a:pPr>
            <a:r>
              <a:rPr sz="1300" b="0" i="0">
                <a:solidFill>
                  <a:srgbClr val="2B2F36"/>
                </a:solidFill>
                <a:latin typeface="Calibri"/>
              </a:rPr>
              <a:t>{a₁, a₂}   AND over classes (r, s)</a:t>
            </a:r>
          </a:p>
          <a:p>
            <a:pPr marL="585216" indent="-237744">
              <a:spcBef>
                <a:spcPts val="200"/>
              </a:spcBef>
              <a:buClr>
                <a:srgbClr val="6B717A"/>
              </a:buClr>
              <a:buChar char="–"/>
            </a:pPr>
            <a:r>
              <a:rPr sz="1300" b="0" i="0">
                <a:solidFill>
                  <a:srgbClr val="2B2F36"/>
                </a:solidFill>
                <a:latin typeface="Calibri"/>
              </a:rPr>
              <a:t>{x₁, x₂}   XOR over classes (u, v)</a:t>
            </a:r>
          </a:p>
          <a:p>
            <a:pPr marL="585216" indent="-237744">
              <a:spcBef>
                <a:spcPts val="200"/>
              </a:spcBef>
              <a:buClr>
                <a:srgbClr val="6B717A"/>
              </a:buClr>
              <a:buChar char="–"/>
            </a:pPr>
            <a:r>
              <a:rPr sz="1300" b="0" i="0">
                <a:solidFill>
                  <a:srgbClr val="2B2F36"/>
                </a:solidFill>
                <a:latin typeface="Calibri"/>
              </a:rPr>
              <a:t>{m₁}  {m₂}   a₁, a₂ not yet equivalent</a:t>
            </a:r>
          </a:p>
        </p:txBody>
      </p:sp>
      <p:sp>
        <p:nvSpPr>
          <p:cNvPr id="53" name="Rounded Rectangle 52"/>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4" name="TextBox 53"/>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55" name="Rounded Rectangle 54"/>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6" name="TextBox 55"/>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7" name="Rounded Rectangle 56"/>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8" name="TextBox 57"/>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4984" y="3803903"/>
            <a:ext cx="539496" cy="1106425"/>
          </a:xfrm>
          <a:prstGeom prst="line">
            <a:avLst/>
          </a:prstGeom>
          <a:ln w="15875">
            <a:solidFill>
              <a:srgbClr val="8A8F98"/>
            </a:solidFill>
          </a:ln>
          <a:effectLst/>
        </p:spPr>
      </p:cxnSp>
      <p:cxnSp>
        <p:nvCxnSpPr>
          <p:cNvPr id="14" name="Connector 13"/>
          <p:cNvCxnSpPr/>
          <p:nvPr/>
        </p:nvCxnSpPr>
        <p:spPr>
          <a:xfrm>
            <a:off x="1554480" y="3803903"/>
            <a:ext cx="960120" cy="1106425"/>
          </a:xfrm>
          <a:prstGeom prst="line">
            <a:avLst/>
          </a:prstGeom>
          <a:ln w="15875">
            <a:solidFill>
              <a:srgbClr val="8A8F98"/>
            </a:solidFill>
          </a:ln>
          <a:effectLst/>
        </p:spPr>
      </p:cxnSp>
      <p:cxnSp>
        <p:nvCxnSpPr>
          <p:cNvPr id="15" name="Connector 14"/>
          <p:cNvCxnSpPr/>
          <p:nvPr/>
        </p:nvCxnSpPr>
        <p:spPr>
          <a:xfrm flipH="1">
            <a:off x="1636776" y="3803903"/>
            <a:ext cx="1014984" cy="1106425"/>
          </a:xfrm>
          <a:prstGeom prst="line">
            <a:avLst/>
          </a:prstGeom>
          <a:ln w="15875">
            <a:solidFill>
              <a:srgbClr val="8A8F98"/>
            </a:solidFill>
          </a:ln>
          <a:effectLst/>
        </p:spPr>
      </p:cxnSp>
      <p:cxnSp>
        <p:nvCxnSpPr>
          <p:cNvPr id="16" name="Connector 15"/>
          <p:cNvCxnSpPr/>
          <p:nvPr/>
        </p:nvCxnSpPr>
        <p:spPr>
          <a:xfrm>
            <a:off x="2651760" y="3803903"/>
            <a:ext cx="484632" cy="1106425"/>
          </a:xfrm>
          <a:prstGeom prst="line">
            <a:avLst/>
          </a:prstGeom>
          <a:ln w="15875">
            <a:solidFill>
              <a:srgbClr val="8A8F98"/>
            </a:solidFill>
          </a:ln>
          <a:effectLst/>
        </p:spPr>
      </p:cxnSp>
      <p:cxnSp>
        <p:nvCxnSpPr>
          <p:cNvPr id="17" name="Connector 16"/>
          <p:cNvCxnSpPr/>
          <p:nvPr/>
        </p:nvCxnSpPr>
        <p:spPr>
          <a:xfrm flipH="1">
            <a:off x="5513832" y="3803903"/>
            <a:ext cx="475488" cy="1106425"/>
          </a:xfrm>
          <a:prstGeom prst="line">
            <a:avLst/>
          </a:prstGeom>
          <a:ln w="15875">
            <a:solidFill>
              <a:srgbClr val="8A8F98"/>
            </a:solidFill>
          </a:ln>
          <a:effectLst/>
        </p:spPr>
      </p:cxnSp>
      <p:cxnSp>
        <p:nvCxnSpPr>
          <p:cNvPr id="18" name="Connector 17"/>
          <p:cNvCxnSpPr/>
          <p:nvPr/>
        </p:nvCxnSpPr>
        <p:spPr>
          <a:xfrm>
            <a:off x="5989320" y="3803903"/>
            <a:ext cx="1024128" cy="1106425"/>
          </a:xfrm>
          <a:prstGeom prst="line">
            <a:avLst/>
          </a:prstGeom>
          <a:ln w="15875">
            <a:solidFill>
              <a:srgbClr val="8A8F98"/>
            </a:solidFill>
          </a:ln>
          <a:effectLst/>
        </p:spPr>
      </p:cxnSp>
      <p:cxnSp>
        <p:nvCxnSpPr>
          <p:cNvPr id="19" name="Connector 18"/>
          <p:cNvCxnSpPr/>
          <p:nvPr/>
        </p:nvCxnSpPr>
        <p:spPr>
          <a:xfrm flipH="1">
            <a:off x="6135624" y="3803903"/>
            <a:ext cx="950976" cy="1106425"/>
          </a:xfrm>
          <a:prstGeom prst="line">
            <a:avLst/>
          </a:prstGeom>
          <a:ln w="15875">
            <a:solidFill>
              <a:srgbClr val="8A8F98"/>
            </a:solidFill>
          </a:ln>
          <a:effectLst/>
        </p:spPr>
      </p:cxnSp>
      <p:cxnSp>
        <p:nvCxnSpPr>
          <p:cNvPr id="20" name="Connector 19"/>
          <p:cNvCxnSpPr/>
          <p:nvPr/>
        </p:nvCxnSpPr>
        <p:spPr>
          <a:xfrm>
            <a:off x="7086600" y="3803903"/>
            <a:ext cx="548640" cy="1106425"/>
          </a:xfrm>
          <a:prstGeom prst="line">
            <a:avLst/>
          </a:prstGeom>
          <a:ln w="15875">
            <a:solidFill>
              <a:srgbClr val="8A8F98"/>
            </a:solidFill>
          </a:ln>
          <a:effectLst/>
        </p:spPr>
      </p:cxnSp>
      <p:cxnSp>
        <p:nvCxnSpPr>
          <p:cNvPr id="21" name="Connector 20"/>
          <p:cNvCxnSpPr/>
          <p:nvPr/>
        </p:nvCxnSpPr>
        <p:spPr>
          <a:xfrm>
            <a:off x="3794760" y="2203704"/>
            <a:ext cx="219455" cy="2706624"/>
          </a:xfrm>
          <a:prstGeom prst="line">
            <a:avLst/>
          </a:prstGeom>
          <a:ln w="15875">
            <a:solidFill>
              <a:srgbClr val="8A8F98"/>
            </a:solidFill>
          </a:ln>
          <a:effectLst/>
        </p:spPr>
      </p:cxnSp>
      <p:cxnSp>
        <p:nvCxnSpPr>
          <p:cNvPr id="22" name="Connector 21"/>
          <p:cNvCxnSpPr/>
          <p:nvPr/>
        </p:nvCxnSpPr>
        <p:spPr>
          <a:xfrm flipH="1">
            <a:off x="1554480" y="2203704"/>
            <a:ext cx="2240280" cy="749807"/>
          </a:xfrm>
          <a:prstGeom prst="line">
            <a:avLst/>
          </a:prstGeom>
          <a:ln w="15875">
            <a:solidFill>
              <a:srgbClr val="8A8F98"/>
            </a:solidFill>
          </a:ln>
          <a:effectLst/>
        </p:spPr>
      </p:cxnSp>
      <p:cxnSp>
        <p:nvCxnSpPr>
          <p:cNvPr id="23" name="Connector 22"/>
          <p:cNvCxnSpPr/>
          <p:nvPr/>
        </p:nvCxnSpPr>
        <p:spPr>
          <a:xfrm>
            <a:off x="3794760" y="2203704"/>
            <a:ext cx="2194560" cy="749807"/>
          </a:xfrm>
          <a:prstGeom prst="line">
            <a:avLst/>
          </a:prstGeom>
          <a:ln w="15875">
            <a:solidFill>
              <a:srgbClr val="8A8F98"/>
            </a:solidFill>
          </a:ln>
          <a:effectLst/>
        </p:spPr>
      </p:cxnSp>
      <p:cxnSp>
        <p:nvCxnSpPr>
          <p:cNvPr id="24" name="Connector 23"/>
          <p:cNvCxnSpPr/>
          <p:nvPr/>
        </p:nvCxnSpPr>
        <p:spPr>
          <a:xfrm flipH="1">
            <a:off x="4636008" y="2203704"/>
            <a:ext cx="484632" cy="2706624"/>
          </a:xfrm>
          <a:prstGeom prst="line">
            <a:avLst/>
          </a:prstGeom>
          <a:ln w="15875">
            <a:solidFill>
              <a:srgbClr val="8A8F98"/>
            </a:solidFill>
          </a:ln>
          <a:effectLst/>
        </p:spPr>
      </p:cxnSp>
      <p:cxnSp>
        <p:nvCxnSpPr>
          <p:cNvPr id="25" name="Connector 24"/>
          <p:cNvCxnSpPr/>
          <p:nvPr/>
        </p:nvCxnSpPr>
        <p:spPr>
          <a:xfrm flipH="1">
            <a:off x="2651760" y="2203704"/>
            <a:ext cx="2468880" cy="749807"/>
          </a:xfrm>
          <a:prstGeom prst="line">
            <a:avLst/>
          </a:prstGeom>
          <a:ln w="15875">
            <a:solidFill>
              <a:srgbClr val="8A8F98"/>
            </a:solidFill>
          </a:ln>
          <a:effectLst/>
        </p:spPr>
      </p:cxnSp>
      <p:cxnSp>
        <p:nvCxnSpPr>
          <p:cNvPr id="26" name="Connector 25"/>
          <p:cNvCxnSpPr/>
          <p:nvPr/>
        </p:nvCxnSpPr>
        <p:spPr>
          <a:xfrm>
            <a:off x="5120640" y="2203704"/>
            <a:ext cx="1965960" cy="749807"/>
          </a:xfrm>
          <a:prstGeom prst="line">
            <a:avLst/>
          </a:prstGeom>
          <a:ln w="15875">
            <a:solidFill>
              <a:srgbClr val="8A8F98"/>
            </a:solidFill>
          </a:ln>
          <a:effectLst/>
        </p:spPr>
      </p:cxnSp>
      <p:sp>
        <p:nvSpPr>
          <p:cNvPr id="27" name="Rounded Rectangle 26"/>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7" name="Rounded Rectangle 46"/>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merge</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over groups spanning &gt; 1 class:</a:t>
            </a:r>
          </a:p>
          <a:p>
            <a:pPr marL="585216" indent="-237744">
              <a:spcBef>
                <a:spcPts val="200"/>
              </a:spcBef>
              <a:buClr>
                <a:srgbClr val="6B717A"/>
              </a:buClr>
              <a:buChar char="–"/>
            </a:pPr>
            <a:r>
              <a:rPr sz="1300" b="0" i="0">
                <a:solidFill>
                  <a:srgbClr val="2B2F36"/>
                </a:solidFill>
                <a:latin typeface="Calibri"/>
              </a:rPr>
              <a:t>Union(a₁, a₂)  ∥  Union(x₁, x₂)</a:t>
            </a:r>
          </a:p>
          <a:p>
            <a:pPr marL="274320" indent="-237744">
              <a:spcBef>
                <a:spcPts val="500"/>
              </a:spcBef>
              <a:buClr>
                <a:srgbClr val="6B717A"/>
              </a:buClr>
              <a:buChar char="•"/>
            </a:pPr>
            <a:r>
              <a:rPr sz="1600" b="0" i="0">
                <a:solidFill>
                  <a:srgbClr val="2B2F36"/>
                </a:solidFill>
                <a:latin typeface="Calibri"/>
              </a:rPr>
              <a:t>width of this round: 2</a:t>
            </a:r>
          </a:p>
          <a:p>
            <a:pPr marL="274320" indent="-237744">
              <a:spcBef>
                <a:spcPts val="500"/>
              </a:spcBef>
              <a:buClr>
                <a:srgbClr val="6B717A"/>
              </a:buClr>
              <a:buChar char="•"/>
            </a:pPr>
            <a:r>
              <a:rPr sz="1600" b="0" i="0">
                <a:solidFill>
                  <a:srgbClr val="2B2F36"/>
                </a:solidFill>
                <a:latin typeface="Calibri"/>
              </a:rPr>
              <a:t>dethroned roots: a₂, x₂</a:t>
            </a:r>
          </a:p>
          <a:p>
            <a:pPr marL="274320" indent="-237744">
              <a:spcBef>
                <a:spcPts val="500"/>
              </a:spcBef>
              <a:buClr>
                <a:srgbClr val="6B717A"/>
              </a:buClr>
              <a:buChar char="•"/>
            </a:pPr>
            <a:r>
              <a:rPr sz="1600" b="0" i="0">
                <a:solidFill>
                  <a:srgbClr val="2B2F36"/>
                </a:solidFill>
                <a:latin typeface="Calibri"/>
              </a:rPr>
              <a:t>Work ← {a₂,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53" name="Rounded Rectangle 52"/>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4" name="TextBox 53"/>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337560" y="1581912"/>
            <a:ext cx="257860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frontier and groups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Parents[a₁] ∪= Parents[a₂] = {m₁, m₂}</a:t>
            </a:r>
          </a:p>
          <a:p>
            <a:pPr marL="274320" indent="-237744">
              <a:spcBef>
                <a:spcPts val="500"/>
              </a:spcBef>
              <a:buClr>
                <a:srgbClr val="6B717A"/>
              </a:buClr>
              <a:buChar char="•"/>
            </a:pPr>
            <a:r>
              <a:rPr sz="1600" b="0" i="0">
                <a:solidFill>
                  <a:srgbClr val="2B2F36"/>
                </a:solidFill>
                <a:latin typeface="Calibri"/>
              </a:rPr>
              <a:t>fold: Parents[x₁] ∪= Parents[x₂] = {m₁, m₂}</a:t>
            </a:r>
          </a:p>
          <a:p>
            <a:pPr marL="274320" indent="-237744">
              <a:spcBef>
                <a:spcPts val="500"/>
              </a:spcBef>
              <a:buClr>
                <a:srgbClr val="6B717A"/>
              </a:buClr>
              <a:buChar char="•"/>
            </a:pPr>
            <a:r>
              <a:rPr sz="1600" b="0" i="0">
                <a:solidFill>
                  <a:srgbClr val="2B2F36"/>
                </a:solidFill>
                <a:latin typeface="Calibri"/>
              </a:rPr>
              <a:t>Frontier = {m₁, m₂}</a:t>
            </a:r>
          </a:p>
          <a:p>
            <a:pPr marL="274320" indent="-237744">
              <a:spcBef>
                <a:spcPts val="500"/>
              </a:spcBef>
              <a:buClr>
                <a:srgbClr val="6B717A"/>
              </a:buClr>
              <a:buChar char="•"/>
            </a:pPr>
            <a:r>
              <a:rPr sz="1600" b="0" i="0">
                <a:solidFill>
                  <a:srgbClr val="2B2F36"/>
                </a:solidFill>
                <a:latin typeface="Calibri"/>
              </a:rPr>
              <a:t>GroupBy: {m₁, m₂}</a:t>
            </a:r>
          </a:p>
          <a:p>
            <a:pPr marL="585216" indent="-237744">
              <a:spcBef>
                <a:spcPts val="200"/>
              </a:spcBef>
              <a:buClr>
                <a:srgbClr val="6B717A"/>
              </a:buClr>
              <a:buChar char="–"/>
            </a:pPr>
            <a:r>
              <a:rPr sz="1300" b="0" i="0">
                <a:solidFill>
                  <a:srgbClr val="2B2F36"/>
                </a:solidFill>
                <a:latin typeface="Calibri"/>
              </a:rPr>
              <a:t>ITE over classes (c, a₁, x₁)</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54" name="Rounded Rectangle 53"/>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5" name="TextBox 54"/>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6" name="Rounded Rectangle 55"/>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7" name="TextBox 56"/>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merge</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Union(m₁, m₂)</a:t>
            </a:r>
          </a:p>
          <a:p>
            <a:pPr marL="274320" indent="-237744">
              <a:spcBef>
                <a:spcPts val="500"/>
              </a:spcBef>
              <a:buClr>
                <a:srgbClr val="6B717A"/>
              </a:buClr>
              <a:buChar char="•"/>
            </a:pPr>
            <a:r>
              <a:rPr sz="1600" b="0" i="0">
                <a:solidFill>
                  <a:srgbClr val="2B2F36"/>
                </a:solidFill>
                <a:latin typeface="Calibri"/>
              </a:rPr>
              <a:t>width of this round: 1</a:t>
            </a:r>
          </a:p>
          <a:p>
            <a:pPr marL="274320" indent="-237744">
              <a:spcBef>
                <a:spcPts val="500"/>
              </a:spcBef>
              <a:buClr>
                <a:srgbClr val="6B717A"/>
              </a:buClr>
              <a:buChar char="•"/>
            </a:pPr>
            <a:r>
              <a:rPr sz="1600" b="0" i="0">
                <a:solidFill>
                  <a:srgbClr val="2B2F36"/>
                </a:solidFill>
                <a:latin typeface="Calibri"/>
              </a:rPr>
              <a:t>Work ← {m₂}</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54" name="Rounded Rectangle 53"/>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5" name="TextBox 54"/>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3, fixpoint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3: done</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Parents[m₂] = ∅</a:t>
            </a:r>
          </a:p>
          <a:p>
            <a:pPr marL="274320" indent="-237744">
              <a:spcBef>
                <a:spcPts val="500"/>
              </a:spcBef>
              <a:buClr>
                <a:srgbClr val="6B717A"/>
              </a:buClr>
              <a:buChar char="•"/>
            </a:pPr>
            <a:r>
              <a:rPr sz="1600" b="0" i="0">
                <a:solidFill>
                  <a:srgbClr val="2B2F36"/>
                </a:solidFill>
                <a:latin typeface="Calibri"/>
              </a:rPr>
              <a:t>Frontier = ∅,  Work = ∅</a:t>
            </a:r>
          </a:p>
          <a:p>
            <a:pPr marL="274320" indent="-237744">
              <a:spcBef>
                <a:spcPts val="500"/>
              </a:spcBef>
              <a:buClr>
                <a:srgbClr val="6B717A"/>
              </a:buClr>
              <a:buChar char="•"/>
            </a:pPr>
            <a:r>
              <a:rPr sz="1600" b="1" i="0">
                <a:solidFill>
                  <a:srgbClr val="2B2F36"/>
                </a:solidFill>
                <a:latin typeface="Calibri"/>
              </a:rPr>
              <a:t>fixpoint reached</a:t>
            </a:r>
          </a:p>
          <a:p>
            <a:pPr>
              <a:spcBef>
                <a:spcPts val="1100"/>
              </a:spcBef>
              <a:spcAft>
                <a:spcPts val="200"/>
              </a:spcAft>
            </a:pPr>
            <a:r>
              <a:rPr sz="1600" b="1" i="0">
                <a:solidFill>
                  <a:srgbClr val="1F2A44"/>
                </a:solidFill>
                <a:latin typeface="Calibri"/>
              </a:rPr>
              <a:t>Result</a:t>
            </a:r>
          </a:p>
          <a:p>
            <a:pPr marL="274320" indent="-237744">
              <a:spcBef>
                <a:spcPts val="500"/>
              </a:spcBef>
              <a:buClr>
                <a:srgbClr val="6B717A"/>
              </a:buClr>
              <a:buChar char="•"/>
            </a:pPr>
            <a:r>
              <a:rPr sz="1600" b="0" i="0">
                <a:solidFill>
                  <a:srgbClr val="2B2F36"/>
                </a:solidFill>
                <a:latin typeface="Calibri"/>
              </a:rPr>
              <a:t>m₁ ≡ m₂ contradicts m₁ ≠ m₂</a:t>
            </a:r>
          </a:p>
          <a:p>
            <a:pPr marL="274320" indent="-237744">
              <a:spcBef>
                <a:spcPts val="500"/>
              </a:spcBef>
              <a:buClr>
                <a:srgbClr val="6B717A"/>
              </a:buClr>
              <a:buChar char="•"/>
            </a:pPr>
            <a:r>
              <a:rPr sz="1600" b="1" i="0">
                <a:solidFill>
                  <a:srgbClr val="2B2F36"/>
                </a:solidFill>
                <a:latin typeface="Calibri"/>
              </a:rPr>
              <a:t>circuits equivalent</a:t>
            </a:r>
          </a:p>
          <a:p>
            <a:pPr>
              <a:spcBef>
                <a:spcPts val="1100"/>
              </a:spcBef>
              <a:spcAft>
                <a:spcPts val="200"/>
              </a:spcAft>
            </a:pPr>
            <a:r>
              <a:rPr sz="1600" b="1" i="0">
                <a:solidFill>
                  <a:srgbClr val="1F2A44"/>
                </a:solidFill>
                <a:latin typeface="Calibri"/>
              </a:rPr>
              <a:t>Cost</a:t>
            </a:r>
          </a:p>
          <a:p>
            <a:pPr marL="274320" indent="-237744">
              <a:spcBef>
                <a:spcPts val="500"/>
              </a:spcBef>
              <a:buClr>
                <a:srgbClr val="6B717A"/>
              </a:buClr>
              <a:buChar char="•"/>
            </a:pPr>
            <a:r>
              <a:rPr sz="1600" b="0" i="0">
                <a:solidFill>
                  <a:srgbClr val="2B2F36"/>
                </a:solidFill>
                <a:latin typeface="Calibri"/>
              </a:rPr>
              <a:t>3 rounds (widths 5, 2, 1)</a:t>
            </a:r>
          </a:p>
          <a:p>
            <a:pPr marL="274320" indent="-237744">
              <a:spcBef>
                <a:spcPts val="500"/>
              </a:spcBef>
              <a:buClr>
                <a:srgbClr val="6B717A"/>
              </a:buClr>
              <a:buChar char="•"/>
            </a:pPr>
            <a:r>
              <a:rPr sz="1600" b="0" i="0">
                <a:solidFill>
                  <a:srgbClr val="2B2F36"/>
                </a:solidFill>
                <a:latin typeface="Calibri"/>
              </a:rPr>
              <a:t>vs. 8 sequential unions</a:t>
            </a:r>
          </a:p>
        </p:txBody>
      </p:sp>
      <p:sp>
        <p:nvSpPr>
          <p:cNvPr id="52" name="Rounded Rectangle 51"/>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813816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7" name="TextBox 6"/>
          <p:cNvSpPr txBox="1"/>
          <p:nvPr/>
        </p:nvSpPr>
        <p:spPr>
          <a:xfrm>
            <a:off x="731520" y="1417320"/>
            <a:ext cx="7863840" cy="4754880"/>
          </a:xfrm>
          <a:prstGeom prst="rect">
            <a:avLst/>
          </a:prstGeom>
          <a:noFill/>
        </p:spPr>
        <p:txBody>
          <a:bodyPr wrap="none">
            <a:spAutoFit/>
          </a:bodyPr>
          <a:lstStyle/>
          <a:p>
            <a:pPr>
              <a:spcAft>
                <a:spcPts val="150"/>
              </a:spcAft>
            </a:pPr>
            <a:r>
              <a:rPr sz="1350" b="1" i="0">
                <a:solidFill>
                  <a:srgbClr val="2B2F36"/>
                </a:solidFill>
                <a:latin typeface="Consolas"/>
              </a:rPr>
              <a:t>ParentCC(E):</a:t>
            </a:r>
          </a:p>
          <a:p>
            <a:pPr>
              <a:spcAft>
                <a:spcPts val="150"/>
              </a:spcAft>
            </a:pPr>
            <a:r>
              <a:rPr sz="1350" b="0" i="0">
                <a:solidFill>
                  <a:srgbClr val="2B2F36"/>
                </a:solidFill>
                <a:latin typeface="Consolas"/>
              </a:rPr>
              <a:t>    parfor (u = v) ∈ E:  Union(u, v)</a:t>
            </a:r>
          </a:p>
          <a:p>
            <a:pPr>
              <a:spcAft>
                <a:spcPts val="150"/>
              </a:spcAft>
            </a:pPr>
            <a:r>
              <a:rPr sz="1350" b="0" i="0">
                <a:solidFill>
                  <a:srgbClr val="2B2F36"/>
                </a:solidFill>
                <a:latin typeface="Consolas"/>
              </a:rPr>
              <a:t>    Work ← terms of E</a:t>
            </a:r>
          </a:p>
          <a:p>
            <a:pPr>
              <a:spcAft>
                <a:spcPts val="150"/>
              </a:spcAft>
            </a:pPr>
            <a:r>
              <a:rPr sz="1350" b="0" i="0">
                <a:solidFill>
                  <a:srgbClr val="2B2F36"/>
                </a:solidFill>
                <a:latin typeface="Consolas"/>
              </a:rPr>
              <a:t>    while Work ≠ ∅:</a:t>
            </a:r>
          </a:p>
          <a:p>
            <a:pPr>
              <a:spcAft>
                <a:spcPts val="150"/>
              </a:spcAft>
            </a:pPr>
            <a:r>
              <a:rPr sz="1350" b="0" i="0">
                <a:solidFill>
                  <a:srgbClr val="2B2F36"/>
                </a:solidFill>
                <a:latin typeface="Consolas"/>
              </a:rPr>
              <a:t>        parfor c ∈ Work with c ≠ Find(c):                 </a:t>
            </a:r>
            <a:r>
              <a:rPr sz="1350" b="0" i="0">
                <a:solidFill>
                  <a:srgbClr val="6B717A"/>
                </a:solidFill>
                <a:latin typeface="Consolas"/>
              </a:rPr>
              <a:t>▹ fold parent lists</a:t>
            </a:r>
          </a:p>
          <a:p>
            <a:pPr>
              <a:spcAft>
                <a:spcPts val="150"/>
              </a:spcAft>
            </a:pPr>
            <a:r>
              <a:rPr sz="1350" b="0" i="0">
                <a:solidFill>
                  <a:srgbClr val="2B2F36"/>
                </a:solidFill>
                <a:latin typeface="Consolas"/>
              </a:rPr>
              <a:t>            Parents[Find(c)] ← Parents[Find(c)] ∪ Parents[c]</a:t>
            </a:r>
          </a:p>
          <a:p>
            <a:pPr>
              <a:spcAft>
                <a:spcPts val="150"/>
              </a:spcAft>
            </a:pPr>
            <a:r>
              <a:rPr sz="1350" b="0" i="0">
                <a:solidFill>
                  <a:srgbClr val="2B2F36"/>
                </a:solidFill>
                <a:latin typeface="Consolas"/>
              </a:rPr>
              <a:t>        Frontier ← ⋃ Parents[Find(c)] for c ∈ Work</a:t>
            </a:r>
          </a:p>
          <a:p>
            <a:pPr>
              <a:spcAft>
                <a:spcPts val="150"/>
              </a:spcAft>
            </a:pPr>
            <a:r>
              <a:rPr sz="1350" b="0" i="0">
                <a:solidFill>
                  <a:srgbClr val="2B2F36"/>
                </a:solidFill>
                <a:latin typeface="Consolas"/>
              </a:rPr>
              <a:t>        groups ← GroupBy(Congruent, Frontier)             </a:t>
            </a:r>
            <a:r>
              <a:rPr sz="1350" b="0" i="0">
                <a:solidFill>
                  <a:srgbClr val="6B717A"/>
                </a:solidFill>
                <a:latin typeface="Consolas"/>
              </a:rPr>
              <a:t>▹ semisort on signatures</a:t>
            </a:r>
          </a:p>
          <a:p>
            <a:pPr>
              <a:spcAft>
                <a:spcPts val="150"/>
              </a:spcAft>
            </a:pPr>
            <a:r>
              <a:rPr sz="1350" b="0" i="0">
                <a:solidFill>
                  <a:srgbClr val="2B2F36"/>
                </a:solidFill>
                <a:latin typeface="Consolas"/>
              </a:rPr>
              <a:t>        Work ← ∅</a:t>
            </a:r>
          </a:p>
          <a:p>
            <a:pPr>
              <a:spcAft>
                <a:spcPts val="150"/>
              </a:spcAft>
            </a:pPr>
            <a:r>
              <a:rPr sz="1350" b="0" i="0">
                <a:solidFill>
                  <a:srgbClr val="2B2F36"/>
                </a:solidFill>
                <a:latin typeface="Consolas"/>
              </a:rPr>
              <a:t>        parfor g ∈ groups spanning &gt; 1 class:</a:t>
            </a:r>
          </a:p>
          <a:p>
            <a:pPr>
              <a:spcAft>
                <a:spcPts val="150"/>
              </a:spcAft>
            </a:pPr>
            <a:r>
              <a:rPr sz="1350" b="0" i="0">
                <a:solidFill>
                  <a:srgbClr val="2B2F36"/>
                </a:solidFill>
                <a:latin typeface="Consolas"/>
              </a:rPr>
              <a:t>            rep ← MergeCongruenceClass(g)                    </a:t>
            </a:r>
            <a:r>
              <a:rPr sz="1350" b="0" i="0">
                <a:solidFill>
                  <a:srgbClr val="6B717A"/>
                </a:solidFill>
                <a:latin typeface="Consolas"/>
              </a:rPr>
              <a:t>▹ parallel unions</a:t>
            </a:r>
          </a:p>
          <a:p>
            <a:pPr>
              <a:spcAft>
                <a:spcPts val="150"/>
              </a:spcAft>
            </a:pPr>
            <a:r>
              <a:rPr sz="1350" b="0" i="0">
                <a:solidFill>
                  <a:srgbClr val="2B2F36"/>
                </a:solidFill>
                <a:latin typeface="Consolas"/>
              </a:rPr>
              <a:t>            Work ← Work ∪ (pre-merge roots of g) \ {rep}</a:t>
            </a:r>
          </a:p>
          <a:p>
            <a:pPr>
              <a:spcAft>
                <a:spcPts val="150"/>
              </a:spcAft>
            </a:pPr>
          </a:p>
          <a:p>
            <a:pPr>
              <a:spcAft>
                <a:spcPts val="150"/>
              </a:spcAft>
            </a:pPr>
            <a:r>
              <a:rPr sz="1350" b="0" i="0">
                <a:solidFill>
                  <a:srgbClr val="2B2F36"/>
                </a:solidFill>
                <a:latin typeface="Consolas"/>
              </a:rPr>
              <a:t>MergeCongruenceClass(S):                             </a:t>
            </a:r>
            <a:r>
              <a:rPr sz="1350" b="0" i="0">
                <a:solidFill>
                  <a:srgbClr val="6B717A"/>
                </a:solidFill>
                <a:latin typeface="Consolas"/>
              </a:rPr>
              <a:t>▹ divide and conquer</a:t>
            </a:r>
          </a:p>
          <a:p>
            <a:pPr>
              <a:spcAft>
                <a:spcPts val="150"/>
              </a:spcAft>
            </a:pPr>
            <a:r>
              <a:rPr sz="1350" b="0" i="0">
                <a:solidFill>
                  <a:srgbClr val="2B2F36"/>
                </a:solidFill>
                <a:latin typeface="Consolas"/>
              </a:rPr>
              <a:t>    if |S| = 1: return the element</a:t>
            </a:r>
          </a:p>
          <a:p>
            <a:pPr>
              <a:spcAft>
                <a:spcPts val="150"/>
              </a:spcAft>
            </a:pPr>
            <a:r>
              <a:rPr sz="1350" b="0" i="0">
                <a:solidFill>
                  <a:srgbClr val="2B2F36"/>
                </a:solidFill>
                <a:latin typeface="Consolas"/>
              </a:rPr>
              <a:t>    l, r ← MergeCongruenceClass(S[0..n/2]) ∥ MergeCongruenceClass(S[n/2..n])</a:t>
            </a:r>
          </a:p>
          <a:p>
            <a:pPr>
              <a:spcAft>
                <a:spcPts val="150"/>
              </a:spcAft>
            </a:pPr>
            <a:r>
              <a:rPr sz="1350" b="0" i="0">
                <a:solidFill>
                  <a:srgbClr val="2B2F36"/>
                </a:solidFill>
                <a:latin typeface="Consolas"/>
              </a:rPr>
              <a:t>    return Union(l, r)</a:t>
            </a:r>
          </a:p>
        </p:txBody>
      </p:sp>
      <p:sp>
        <p:nvSpPr>
          <p:cNvPr id="8" name="TextBox 7"/>
          <p:cNvSpPr txBox="1"/>
          <p:nvPr/>
        </p:nvSpPr>
        <p:spPr>
          <a:xfrm>
            <a:off x="8869680" y="1371600"/>
            <a:ext cx="3108960" cy="45720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barrier</a:t>
            </a:r>
            <a:r>
              <a:rPr sz="1500" b="0" i="0">
                <a:solidFill>
                  <a:srgbClr val="2B2F36"/>
                </a:solidFill>
                <a:latin typeface="Calibri"/>
              </a:rPr>
              <a:t> between fold, group, and merge phases</a:t>
            </a:r>
          </a:p>
          <a:p>
            <a:pPr marL="274320" indent="-237744">
              <a:spcBef>
                <a:spcPts val="800"/>
              </a:spcBef>
              <a:buClr>
                <a:srgbClr val="6B717A"/>
              </a:buClr>
              <a:buChar char="•"/>
            </a:pPr>
            <a:r>
              <a:rPr sz="1500" b="0" i="0">
                <a:solidFill>
                  <a:srgbClr val="2B2F36"/>
                </a:solidFill>
                <a:latin typeface="Calibri"/>
              </a:rPr>
              <a:t>signatures use a union-find no thread is modifying</a:t>
            </a:r>
          </a:p>
          <a:p>
            <a:pPr marL="274320" indent="-237744">
              <a:spcBef>
                <a:spcPts val="800"/>
              </a:spcBef>
              <a:buClr>
                <a:srgbClr val="6B717A"/>
              </a:buClr>
              <a:buChar char="•"/>
            </a:pPr>
            <a:r>
              <a:rPr sz="1500" b="1" i="0">
                <a:solidFill>
                  <a:srgbClr val="2B2F36"/>
                </a:solidFill>
                <a:latin typeface="Calibri"/>
              </a:rPr>
              <a:t>Congruent(X, Y)</a:t>
            </a:r>
            <a:r>
              <a:rPr sz="1500" b="0" i="0">
                <a:solidFill>
                  <a:srgbClr val="2B2F36"/>
                </a:solidFill>
                <a:latin typeface="Calibri"/>
              </a:rPr>
              <a:t>: same symbol, Find(Mᵢ) = Find(Nᵢ) for all i</a:t>
            </a:r>
          </a:p>
          <a:p>
            <a:pPr marL="274320" indent="-237744">
              <a:spcBef>
                <a:spcPts val="800"/>
              </a:spcBef>
              <a:buClr>
                <a:srgbClr val="6B717A"/>
              </a:buClr>
              <a:buChar char="•"/>
            </a:pPr>
            <a:r>
              <a:rPr sz="1500" b="0" i="0">
                <a:solidFill>
                  <a:srgbClr val="2B2F36"/>
                </a:solidFill>
                <a:latin typeface="Calibri"/>
              </a:rPr>
              <a:t>implemented with ParlayLib parfor, group_by, filter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658368"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Rounds are deterministic</a:t>
            </a:r>
          </a:p>
        </p:txBody>
      </p:sp>
      <p:sp>
        <p:nvSpPr>
          <p:cNvPr id="8" name="TextBox 7"/>
          <p:cNvSpPr txBox="1"/>
          <p:nvPr/>
        </p:nvSpPr>
        <p:spPr>
          <a:xfrm>
            <a:off x="594360"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union-find is linearizable</a:t>
            </a:r>
          </a:p>
          <a:p>
            <a:pPr marL="274320" indent="-237744">
              <a:spcBef>
                <a:spcPts val="800"/>
              </a:spcBef>
              <a:buClr>
                <a:srgbClr val="6B717A"/>
              </a:buClr>
              <a:buChar char="•"/>
            </a:pPr>
            <a:r>
              <a:rPr sz="1400" b="0" i="0">
                <a:solidFill>
                  <a:srgbClr val="2B2F36"/>
                </a:solidFill>
                <a:latin typeface="Calibri"/>
              </a:rPr>
              <a:t>the partition from a set of unions is order independent</a:t>
            </a:r>
          </a:p>
          <a:p>
            <a:pPr marL="274320" indent="-237744">
              <a:spcBef>
                <a:spcPts val="800"/>
              </a:spcBef>
              <a:buClr>
                <a:srgbClr val="6B717A"/>
              </a:buClr>
              <a:buChar char="•"/>
            </a:pPr>
            <a:r>
              <a:rPr sz="1400" b="0" i="0">
                <a:solidFill>
                  <a:srgbClr val="2B2F36"/>
                </a:solidFill>
                <a:latin typeface="Calibri"/>
              </a:rPr>
              <a:t>barrier: signatures see a fixed union-find</a:t>
            </a:r>
          </a:p>
        </p:txBody>
      </p:sp>
      <p:sp>
        <p:nvSpPr>
          <p:cNvPr id="9" name="Rounded Rectangle 8"/>
          <p:cNvSpPr/>
          <p:nvPr/>
        </p:nvSpPr>
        <p:spPr>
          <a:xfrm>
            <a:off x="3364992"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3474720"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Termination</a:t>
            </a:r>
          </a:p>
        </p:txBody>
      </p:sp>
      <p:sp>
        <p:nvSpPr>
          <p:cNvPr id="11" name="TextBox 10"/>
          <p:cNvSpPr txBox="1"/>
          <p:nvPr/>
        </p:nvSpPr>
        <p:spPr>
          <a:xfrm>
            <a:off x="3410712"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a term enters Work only when dethroned</a:t>
            </a:r>
          </a:p>
          <a:p>
            <a:pPr marL="274320" indent="-237744">
              <a:spcBef>
                <a:spcPts val="800"/>
              </a:spcBef>
              <a:buClr>
                <a:srgbClr val="6B717A"/>
              </a:buClr>
              <a:buChar char="•"/>
            </a:pPr>
            <a:r>
              <a:rPr sz="1400" b="0" i="0">
                <a:solidFill>
                  <a:srgbClr val="2B2F36"/>
                </a:solidFill>
                <a:latin typeface="Calibri"/>
              </a:rPr>
              <a:t>each term dethroned at most once</a:t>
            </a:r>
          </a:p>
          <a:p>
            <a:pPr marL="274320" indent="-237744">
              <a:spcBef>
                <a:spcPts val="800"/>
              </a:spcBef>
              <a:buClr>
                <a:srgbClr val="6B717A"/>
              </a:buClr>
              <a:buChar char="•"/>
            </a:pPr>
            <a:r>
              <a:rPr sz="1400" b="0" i="0">
                <a:solidFill>
                  <a:srgbClr val="2B2F36"/>
                </a:solidFill>
                <a:latin typeface="Calibri"/>
              </a:rPr>
              <a:t>at most |T| − 1 entries over the whole run</a:t>
            </a:r>
          </a:p>
        </p:txBody>
      </p:sp>
      <p:sp>
        <p:nvSpPr>
          <p:cNvPr id="12" name="Rounded Rectangle 11"/>
          <p:cNvSpPr/>
          <p:nvPr/>
        </p:nvSpPr>
        <p:spPr>
          <a:xfrm>
            <a:off x="6181344"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6291072"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Soundness</a:t>
            </a:r>
          </a:p>
        </p:txBody>
      </p:sp>
      <p:sp>
        <p:nvSpPr>
          <p:cNvPr id="14" name="TextBox 13"/>
          <p:cNvSpPr txBox="1"/>
          <p:nvPr/>
        </p:nvSpPr>
        <p:spPr>
          <a:xfrm>
            <a:off x="6227064"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invariant: every union-find class ⊆ a class of ≡</a:t>
            </a:r>
          </a:p>
          <a:p>
            <a:pPr marL="274320" indent="-237744">
              <a:spcBef>
                <a:spcPts val="800"/>
              </a:spcBef>
              <a:buClr>
                <a:srgbClr val="6B717A"/>
              </a:buClr>
              <a:buChar char="•"/>
            </a:pPr>
            <a:r>
              <a:rPr sz="1400" b="0" i="0">
                <a:solidFill>
                  <a:srgbClr val="2B2F36"/>
                </a:solidFill>
                <a:latin typeface="Calibri"/>
              </a:rPr>
              <a:t>grouped terms share symbol and child classes</a:t>
            </a:r>
          </a:p>
          <a:p>
            <a:pPr marL="274320" indent="-237744">
              <a:spcBef>
                <a:spcPts val="800"/>
              </a:spcBef>
              <a:buClr>
                <a:srgbClr val="6B717A"/>
              </a:buClr>
              <a:buChar char="•"/>
            </a:pPr>
            <a:r>
              <a:rPr sz="1400" b="0" i="0">
                <a:solidFill>
                  <a:srgbClr val="2B2F36"/>
                </a:solidFill>
                <a:latin typeface="Calibri"/>
              </a:rPr>
              <a:t>so each merge follows by congruence</a:t>
            </a:r>
          </a:p>
        </p:txBody>
      </p:sp>
      <p:sp>
        <p:nvSpPr>
          <p:cNvPr id="15" name="Rounded Rectangle 14"/>
          <p:cNvSpPr/>
          <p:nvPr/>
        </p:nvSpPr>
        <p:spPr>
          <a:xfrm>
            <a:off x="8997696"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6" name="TextBox 15"/>
          <p:cNvSpPr txBox="1"/>
          <p:nvPr/>
        </p:nvSpPr>
        <p:spPr>
          <a:xfrm>
            <a:off x="9107424"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Completeness</a:t>
            </a:r>
          </a:p>
        </p:txBody>
      </p:sp>
      <p:sp>
        <p:nvSpPr>
          <p:cNvPr id="17" name="TextBox 16"/>
          <p:cNvSpPr txBox="1"/>
          <p:nvPr/>
        </p:nvSpPr>
        <p:spPr>
          <a:xfrm>
            <a:off x="9043416"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let Mᵢ ~ Nᵢ for all children; take the round of the last such merge</a:t>
            </a:r>
          </a:p>
          <a:p>
            <a:pPr marL="274320" indent="-237744">
              <a:spcBef>
                <a:spcPts val="800"/>
              </a:spcBef>
              <a:buClr>
                <a:srgbClr val="6B717A"/>
              </a:buClr>
              <a:buChar char="•"/>
            </a:pPr>
            <a:r>
              <a:rPr sz="1400" b="0" i="0">
                <a:solidFill>
                  <a:srgbClr val="2B2F36"/>
                </a:solidFill>
                <a:latin typeface="Calibri"/>
              </a:rPr>
              <a:t>its losers enter Work, so both parents are in the next frontier</a:t>
            </a:r>
          </a:p>
          <a:p>
            <a:pPr marL="274320" indent="-237744">
              <a:spcBef>
                <a:spcPts val="800"/>
              </a:spcBef>
              <a:buClr>
                <a:srgbClr val="6B717A"/>
              </a:buClr>
              <a:buChar char="•"/>
            </a:pPr>
            <a:r>
              <a:rPr sz="1400" b="0" i="0">
                <a:solidFill>
                  <a:srgbClr val="2B2F36"/>
                </a:solidFill>
                <a:latin typeface="Calibri"/>
              </a:rPr>
              <a:t>equal signatures there ⇒ merged; classes never shrink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25880"/>
            <a:ext cx="11064240" cy="237744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ParentCC cost</a:t>
            </a:r>
            <a:r>
              <a:rPr sz="1900" b="0" i="0">
                <a:solidFill>
                  <a:srgbClr val="2B2F36"/>
                </a:solidFill>
                <a:latin typeface="Calibri"/>
              </a:rPr>
              <a:t>: folding parent lists means frequent allocation and list appends</a:t>
            </a:r>
          </a:p>
          <a:p>
            <a:pPr marL="274320" indent="-237744">
              <a:spcBef>
                <a:spcPts val="800"/>
              </a:spcBef>
              <a:buClr>
                <a:srgbClr val="6B717A"/>
              </a:buClr>
              <a:buChar char="•"/>
            </a:pPr>
            <a:r>
              <a:rPr sz="1900" b="1" i="0">
                <a:solidFill>
                  <a:srgbClr val="2B2F36"/>
                </a:solidFill>
                <a:latin typeface="Calibri"/>
              </a:rPr>
              <a:t>FilterCC idea</a:t>
            </a:r>
            <a:r>
              <a:rPr sz="1900" b="0" i="0">
                <a:solidFill>
                  <a:srgbClr val="2B2F36"/>
                </a:solidFill>
                <a:latin typeface="Calibri"/>
              </a:rPr>
              <a:t>: one dirty bit per class, set on merge</a:t>
            </a:r>
          </a:p>
          <a:p>
            <a:pPr marL="274320" indent="-237744">
              <a:spcBef>
                <a:spcPts val="800"/>
              </a:spcBef>
              <a:buClr>
                <a:srgbClr val="6B717A"/>
              </a:buClr>
              <a:buChar char="•"/>
            </a:pPr>
            <a:r>
              <a:rPr sz="1900" b="1" i="0">
                <a:solidFill>
                  <a:srgbClr val="2B2F36"/>
                </a:solidFill>
                <a:latin typeface="Calibri"/>
              </a:rPr>
              <a:t>Frontier</a:t>
            </a:r>
            <a:r>
              <a:rPr sz="1900" b="0" i="0">
                <a:solidFill>
                  <a:srgbClr val="2B2F36"/>
                </a:solidFill>
                <a:latin typeface="Calibri"/>
              </a:rPr>
              <a:t> = parallel filter over all terms: keep t if some child sits in a dirty class</a:t>
            </a:r>
          </a:p>
          <a:p>
            <a:pPr marL="274320" indent="-237744">
              <a:spcBef>
                <a:spcPts val="800"/>
              </a:spcBef>
              <a:buClr>
                <a:srgbClr val="6B717A"/>
              </a:buClr>
              <a:buChar char="•"/>
            </a:pPr>
            <a:r>
              <a:rPr sz="1900" b="0" i="0">
                <a:solidFill>
                  <a:srgbClr val="2B2F36"/>
                </a:solidFill>
                <a:latin typeface="Calibri"/>
              </a:rPr>
              <a:t>same frontier as ParentCC, computed without parent lists</a:t>
            </a:r>
          </a:p>
        </p:txBody>
      </p:sp>
      <p:sp>
        <p:nvSpPr>
          <p:cNvPr id="7" name="Rectangle 6"/>
          <p:cNvSpPr/>
          <p:nvPr/>
        </p:nvSpPr>
        <p:spPr>
          <a:xfrm>
            <a:off x="640080" y="3657600"/>
            <a:ext cx="2057400" cy="41148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274320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ParentCC</a:t>
            </a:r>
          </a:p>
        </p:txBody>
      </p:sp>
      <p:sp>
        <p:nvSpPr>
          <p:cNvPr id="9" name="Rectangle 8"/>
          <p:cNvSpPr/>
          <p:nvPr/>
        </p:nvSpPr>
        <p:spPr>
          <a:xfrm>
            <a:off x="704088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FilterCC</a:t>
            </a:r>
          </a:p>
        </p:txBody>
      </p:sp>
      <p:sp>
        <p:nvSpPr>
          <p:cNvPr id="10" name="Rectangle 9"/>
          <p:cNvSpPr/>
          <p:nvPr/>
        </p:nvSpPr>
        <p:spPr>
          <a:xfrm>
            <a:off x="640080" y="411480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per-class state</a:t>
            </a:r>
          </a:p>
        </p:txBody>
      </p:sp>
      <p:sp>
        <p:nvSpPr>
          <p:cNvPr id="11" name="Rectangle 10"/>
          <p:cNvSpPr/>
          <p:nvPr/>
        </p:nvSpPr>
        <p:spPr>
          <a:xfrm>
            <a:off x="274320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 list</a:t>
            </a:r>
          </a:p>
        </p:txBody>
      </p:sp>
      <p:sp>
        <p:nvSpPr>
          <p:cNvPr id="12" name="Rectangle 11"/>
          <p:cNvSpPr/>
          <p:nvPr/>
        </p:nvSpPr>
        <p:spPr>
          <a:xfrm>
            <a:off x="704088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one dirty bit</a:t>
            </a:r>
          </a:p>
        </p:txBody>
      </p:sp>
      <p:sp>
        <p:nvSpPr>
          <p:cNvPr id="13" name="Rectangle 12"/>
          <p:cNvSpPr/>
          <p:nvPr/>
        </p:nvSpPr>
        <p:spPr>
          <a:xfrm>
            <a:off x="640080" y="461772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frontier</a:t>
            </a:r>
          </a:p>
        </p:txBody>
      </p:sp>
      <p:sp>
        <p:nvSpPr>
          <p:cNvPr id="14" name="Rectangle 13"/>
          <p:cNvSpPr/>
          <p:nvPr/>
        </p:nvSpPr>
        <p:spPr>
          <a:xfrm>
            <a:off x="274320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parents of merged classes, via list folding</a:t>
            </a:r>
          </a:p>
        </p:txBody>
      </p:sp>
      <p:sp>
        <p:nvSpPr>
          <p:cNvPr id="15" name="Rectangle 14"/>
          <p:cNvSpPr/>
          <p:nvPr/>
        </p:nvSpPr>
        <p:spPr>
          <a:xfrm>
            <a:off x="704088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filter all terms for a dirty child</a:t>
            </a:r>
          </a:p>
        </p:txBody>
      </p:sp>
      <p:sp>
        <p:nvSpPr>
          <p:cNvPr id="16" name="Rectangle 15"/>
          <p:cNvSpPr/>
          <p:nvPr/>
        </p:nvSpPr>
        <p:spPr>
          <a:xfrm>
            <a:off x="640080" y="512064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per-round cost</a:t>
            </a:r>
          </a:p>
        </p:txBody>
      </p:sp>
      <p:sp>
        <p:nvSpPr>
          <p:cNvPr id="17" name="Rectangle 16"/>
          <p:cNvSpPr/>
          <p:nvPr/>
        </p:nvSpPr>
        <p:spPr>
          <a:xfrm>
            <a:off x="274320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|frontier| + allocations</a:t>
            </a:r>
          </a:p>
        </p:txBody>
      </p:sp>
      <p:sp>
        <p:nvSpPr>
          <p:cNvPr id="18" name="Rectangle 17"/>
          <p:cNvSpPr/>
          <p:nvPr/>
        </p:nvSpPr>
        <p:spPr>
          <a:xfrm>
            <a:off x="704088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|all terms|, no allocation</a:t>
            </a:r>
          </a:p>
        </p:txBody>
      </p:sp>
      <p:sp>
        <p:nvSpPr>
          <p:cNvPr id="19" name="Rectangle 18"/>
          <p:cNvSpPr/>
          <p:nvPr/>
        </p:nvSpPr>
        <p:spPr>
          <a:xfrm>
            <a:off x="640080" y="5623559"/>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wins when</a:t>
            </a:r>
          </a:p>
        </p:txBody>
      </p:sp>
      <p:sp>
        <p:nvSpPr>
          <p:cNvPr id="20" name="Rectangle 19"/>
          <p:cNvSpPr/>
          <p:nvPr/>
        </p:nvSpPr>
        <p:spPr>
          <a:xfrm>
            <a:off x="274320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few terms, many rounds</a:t>
            </a:r>
          </a:p>
        </p:txBody>
      </p:sp>
      <p:sp>
        <p:nvSpPr>
          <p:cNvPr id="21" name="Rectangle 20"/>
          <p:cNvSpPr/>
          <p:nvPr/>
        </p:nvSpPr>
        <p:spPr>
          <a:xfrm>
            <a:off x="704088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most workloads we measured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1554480"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3054096"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455371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6053327"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7552944"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109728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553212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333756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466344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1014984" y="3803903"/>
            <a:ext cx="539496" cy="1106425"/>
          </a:xfrm>
          <a:prstGeom prst="line">
            <a:avLst/>
          </a:prstGeom>
          <a:ln w="15875">
            <a:solidFill>
              <a:srgbClr val="8A8F98"/>
            </a:solidFill>
          </a:ln>
          <a:effectLst/>
        </p:spPr>
      </p:cxnSp>
      <p:cxnSp>
        <p:nvCxnSpPr>
          <p:cNvPr id="21" name="Connector 20"/>
          <p:cNvCxnSpPr/>
          <p:nvPr/>
        </p:nvCxnSpPr>
        <p:spPr>
          <a:xfrm>
            <a:off x="1554480" y="3803903"/>
            <a:ext cx="960120" cy="1106425"/>
          </a:xfrm>
          <a:prstGeom prst="line">
            <a:avLst/>
          </a:prstGeom>
          <a:ln w="15875">
            <a:solidFill>
              <a:srgbClr val="8A8F98"/>
            </a:solidFill>
          </a:ln>
          <a:effectLst/>
        </p:spPr>
      </p:cxnSp>
      <p:cxnSp>
        <p:nvCxnSpPr>
          <p:cNvPr id="22" name="Connector 21"/>
          <p:cNvCxnSpPr/>
          <p:nvPr/>
        </p:nvCxnSpPr>
        <p:spPr>
          <a:xfrm flipH="1">
            <a:off x="1636776" y="3803903"/>
            <a:ext cx="1014984" cy="1106425"/>
          </a:xfrm>
          <a:prstGeom prst="line">
            <a:avLst/>
          </a:prstGeom>
          <a:ln w="15875">
            <a:solidFill>
              <a:srgbClr val="8A8F98"/>
            </a:solidFill>
          </a:ln>
          <a:effectLst/>
        </p:spPr>
      </p:cxnSp>
      <p:cxnSp>
        <p:nvCxnSpPr>
          <p:cNvPr id="23" name="Connector 22"/>
          <p:cNvCxnSpPr/>
          <p:nvPr/>
        </p:nvCxnSpPr>
        <p:spPr>
          <a:xfrm>
            <a:off x="2651760" y="3803903"/>
            <a:ext cx="484632" cy="1106425"/>
          </a:xfrm>
          <a:prstGeom prst="line">
            <a:avLst/>
          </a:prstGeom>
          <a:ln w="15875">
            <a:solidFill>
              <a:srgbClr val="8A8F98"/>
            </a:solidFill>
          </a:ln>
          <a:effectLst/>
        </p:spPr>
      </p:cxnSp>
      <p:cxnSp>
        <p:nvCxnSpPr>
          <p:cNvPr id="24" name="Connector 23"/>
          <p:cNvCxnSpPr/>
          <p:nvPr/>
        </p:nvCxnSpPr>
        <p:spPr>
          <a:xfrm flipH="1">
            <a:off x="5513832" y="3803903"/>
            <a:ext cx="475488" cy="1106425"/>
          </a:xfrm>
          <a:prstGeom prst="line">
            <a:avLst/>
          </a:prstGeom>
          <a:ln w="15875">
            <a:solidFill>
              <a:srgbClr val="8A8F98"/>
            </a:solidFill>
          </a:ln>
          <a:effectLst/>
        </p:spPr>
      </p:cxnSp>
      <p:cxnSp>
        <p:nvCxnSpPr>
          <p:cNvPr id="25" name="Connector 24"/>
          <p:cNvCxnSpPr/>
          <p:nvPr/>
        </p:nvCxnSpPr>
        <p:spPr>
          <a:xfrm>
            <a:off x="5989320" y="3803903"/>
            <a:ext cx="1024128" cy="1106425"/>
          </a:xfrm>
          <a:prstGeom prst="line">
            <a:avLst/>
          </a:prstGeom>
          <a:ln w="15875">
            <a:solidFill>
              <a:srgbClr val="8A8F98"/>
            </a:solidFill>
          </a:ln>
          <a:effectLst/>
        </p:spPr>
      </p:cxnSp>
      <p:cxnSp>
        <p:nvCxnSpPr>
          <p:cNvPr id="26" name="Connector 25"/>
          <p:cNvCxnSpPr/>
          <p:nvPr/>
        </p:nvCxnSpPr>
        <p:spPr>
          <a:xfrm flipH="1">
            <a:off x="6135624" y="3803903"/>
            <a:ext cx="950976" cy="1106425"/>
          </a:xfrm>
          <a:prstGeom prst="line">
            <a:avLst/>
          </a:prstGeom>
          <a:ln w="15875">
            <a:solidFill>
              <a:srgbClr val="8A8F98"/>
            </a:solidFill>
          </a:ln>
          <a:effectLst/>
        </p:spPr>
      </p:cxnSp>
      <p:cxnSp>
        <p:nvCxnSpPr>
          <p:cNvPr id="27" name="Connector 26"/>
          <p:cNvCxnSpPr/>
          <p:nvPr/>
        </p:nvCxnSpPr>
        <p:spPr>
          <a:xfrm>
            <a:off x="7086600" y="3803903"/>
            <a:ext cx="548640" cy="1106425"/>
          </a:xfrm>
          <a:prstGeom prst="line">
            <a:avLst/>
          </a:prstGeom>
          <a:ln w="15875">
            <a:solidFill>
              <a:srgbClr val="8A8F98"/>
            </a:solidFill>
          </a:ln>
          <a:effectLst/>
        </p:spPr>
      </p:cxnSp>
      <p:cxnSp>
        <p:nvCxnSpPr>
          <p:cNvPr id="28" name="Connector 27"/>
          <p:cNvCxnSpPr/>
          <p:nvPr/>
        </p:nvCxnSpPr>
        <p:spPr>
          <a:xfrm>
            <a:off x="3794760" y="2203704"/>
            <a:ext cx="219455" cy="2706624"/>
          </a:xfrm>
          <a:prstGeom prst="line">
            <a:avLst/>
          </a:prstGeom>
          <a:ln w="15875">
            <a:solidFill>
              <a:srgbClr val="8A8F98"/>
            </a:solidFill>
          </a:ln>
          <a:effectLst/>
        </p:spPr>
      </p:cxnSp>
      <p:cxnSp>
        <p:nvCxnSpPr>
          <p:cNvPr id="29" name="Connector 28"/>
          <p:cNvCxnSpPr/>
          <p:nvPr/>
        </p:nvCxnSpPr>
        <p:spPr>
          <a:xfrm flipH="1">
            <a:off x="1554480" y="2203704"/>
            <a:ext cx="2240280" cy="749807"/>
          </a:xfrm>
          <a:prstGeom prst="line">
            <a:avLst/>
          </a:prstGeom>
          <a:ln w="15875">
            <a:solidFill>
              <a:srgbClr val="8A8F98"/>
            </a:solidFill>
          </a:ln>
          <a:effectLst/>
        </p:spPr>
      </p:cxnSp>
      <p:cxnSp>
        <p:nvCxnSpPr>
          <p:cNvPr id="30" name="Connector 29"/>
          <p:cNvCxnSpPr/>
          <p:nvPr/>
        </p:nvCxnSpPr>
        <p:spPr>
          <a:xfrm>
            <a:off x="3794760" y="2203704"/>
            <a:ext cx="2194560" cy="749807"/>
          </a:xfrm>
          <a:prstGeom prst="line">
            <a:avLst/>
          </a:prstGeom>
          <a:ln w="15875">
            <a:solidFill>
              <a:srgbClr val="8A8F98"/>
            </a:solidFill>
          </a:ln>
          <a:effectLst/>
        </p:spPr>
      </p:cxnSp>
      <p:cxnSp>
        <p:nvCxnSpPr>
          <p:cNvPr id="31" name="Connector 30"/>
          <p:cNvCxnSpPr/>
          <p:nvPr/>
        </p:nvCxnSpPr>
        <p:spPr>
          <a:xfrm flipH="1">
            <a:off x="4636008" y="2203704"/>
            <a:ext cx="484632" cy="2706624"/>
          </a:xfrm>
          <a:prstGeom prst="line">
            <a:avLst/>
          </a:prstGeom>
          <a:ln w="15875">
            <a:solidFill>
              <a:srgbClr val="8A8F98"/>
            </a:solidFill>
          </a:ln>
          <a:effectLst/>
        </p:spPr>
      </p:cxnSp>
      <p:cxnSp>
        <p:nvCxnSpPr>
          <p:cNvPr id="32" name="Connector 31"/>
          <p:cNvCxnSpPr/>
          <p:nvPr/>
        </p:nvCxnSpPr>
        <p:spPr>
          <a:xfrm flipH="1">
            <a:off x="2651760" y="2203704"/>
            <a:ext cx="2468880" cy="749807"/>
          </a:xfrm>
          <a:prstGeom prst="line">
            <a:avLst/>
          </a:prstGeom>
          <a:ln w="15875">
            <a:solidFill>
              <a:srgbClr val="8A8F98"/>
            </a:solidFill>
          </a:ln>
          <a:effectLst/>
        </p:spPr>
      </p:cxnSp>
      <p:cxnSp>
        <p:nvCxnSpPr>
          <p:cNvPr id="33" name="Connector 32"/>
          <p:cNvCxnSpPr/>
          <p:nvPr/>
        </p:nvCxnSpPr>
        <p:spPr>
          <a:xfrm>
            <a:off x="5120640" y="2203704"/>
            <a:ext cx="1965960" cy="749807"/>
          </a:xfrm>
          <a:prstGeom prst="line">
            <a:avLst/>
          </a:prstGeom>
          <a:ln w="15875">
            <a:solidFill>
              <a:srgbClr val="8A8F98"/>
            </a:solidFill>
          </a:ln>
          <a:effectLst/>
        </p:spPr>
      </p:cxnSp>
      <p:sp>
        <p:nvSpPr>
          <p:cNvPr id="34" name="Rounded Rectangle 33"/>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4" name="Rounded Rectangle 53"/>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6" name="TextBox 5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a:t>
            </a:r>
          </a:p>
        </p:txBody>
      </p:sp>
      <p:sp>
        <p:nvSpPr>
          <p:cNvPr id="57" name="TextBox 5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dirty ← classes merged in round 0</a:t>
            </a:r>
          </a:p>
          <a:p>
            <a:pPr marL="274320" indent="-237744">
              <a:spcBef>
                <a:spcPts val="500"/>
              </a:spcBef>
              <a:buClr>
                <a:srgbClr val="6B717A"/>
              </a:buClr>
              <a:buChar char="•"/>
            </a:pPr>
            <a:r>
              <a:rPr sz="1600" b="1" i="0">
                <a:solidFill>
                  <a:srgbClr val="2B2F36"/>
                </a:solidFill>
                <a:latin typeface="Calibri"/>
              </a:rPr>
              <a:t>filter all 16 terms</a:t>
            </a:r>
            <a:r>
              <a:rPr sz="1600" b="0" i="0">
                <a:solidFill>
                  <a:srgbClr val="2B2F36"/>
                </a:solidFill>
                <a:latin typeface="Calibri"/>
              </a:rPr>
              <a:t>: keep t with a child in a dirty class</a:t>
            </a:r>
          </a:p>
          <a:p>
            <a:pPr marL="274320" indent="-237744">
              <a:spcBef>
                <a:spcPts val="500"/>
              </a:spcBef>
              <a:buClr>
                <a:srgbClr val="6B717A"/>
              </a:buClr>
              <a:buChar char="•"/>
            </a:pPr>
            <a:r>
              <a:rPr sz="1600" b="0" i="0">
                <a:solidFill>
                  <a:srgbClr val="2B2F36"/>
                </a:solidFill>
                <a:latin typeface="Calibri"/>
              </a:rPr>
              <a:t>Frontier = {a₁, a₂, x₁, x₂, m₁, m₂}</a:t>
            </a:r>
          </a:p>
          <a:p>
            <a:pPr marL="274320" indent="-237744">
              <a:spcBef>
                <a:spcPts val="500"/>
              </a:spcBef>
              <a:buClr>
                <a:srgbClr val="6B717A"/>
              </a:buClr>
              <a:buChar char="•"/>
            </a:pPr>
            <a:r>
              <a:rPr sz="1600" b="0" i="0">
                <a:solidFill>
                  <a:srgbClr val="2B2F36"/>
                </a:solidFill>
                <a:latin typeface="Calibri"/>
              </a:rPr>
              <a:t>GroupBy, merge spanning groups as before</a:t>
            </a:r>
          </a:p>
          <a:p>
            <a:pPr marL="274320" indent="-237744">
              <a:spcBef>
                <a:spcPts val="500"/>
              </a:spcBef>
              <a:buClr>
                <a:srgbClr val="6B717A"/>
              </a:buClr>
              <a:buChar char="•"/>
            </a:pPr>
            <a:r>
              <a:rPr sz="1600" b="0" i="0">
                <a:solidFill>
                  <a:srgbClr val="2B2F36"/>
                </a:solidFill>
                <a:latin typeface="Calibri"/>
              </a:rPr>
              <a:t>clear dirty; set dirty[rep] for merged groups</a:t>
            </a:r>
          </a:p>
        </p:txBody>
      </p:sp>
      <p:sp>
        <p:nvSpPr>
          <p:cNvPr id="58" name="Rounded Rectangle 57"/>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9" name="TextBox 58"/>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60" name="Rounded Rectangle 59"/>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1" name="TextBox 60"/>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62" name="Rounded Rectangle 61"/>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63" name="TextBox 62"/>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2697479"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7132320"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3337560" y="1581912"/>
            <a:ext cx="257860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1014984" y="3803903"/>
            <a:ext cx="539496" cy="1106425"/>
          </a:xfrm>
          <a:prstGeom prst="line">
            <a:avLst/>
          </a:prstGeom>
          <a:ln w="15875">
            <a:solidFill>
              <a:srgbClr val="8A8F98"/>
            </a:solidFill>
          </a:ln>
          <a:effectLst/>
        </p:spPr>
      </p:cxnSp>
      <p:cxnSp>
        <p:nvCxnSpPr>
          <p:cNvPr id="17" name="Connector 16"/>
          <p:cNvCxnSpPr/>
          <p:nvPr/>
        </p:nvCxnSpPr>
        <p:spPr>
          <a:xfrm>
            <a:off x="1554480" y="3803903"/>
            <a:ext cx="960120" cy="1106425"/>
          </a:xfrm>
          <a:prstGeom prst="line">
            <a:avLst/>
          </a:prstGeom>
          <a:ln w="15875">
            <a:solidFill>
              <a:srgbClr val="8A8F98"/>
            </a:solidFill>
          </a:ln>
          <a:effectLst/>
        </p:spPr>
      </p:cxnSp>
      <p:cxnSp>
        <p:nvCxnSpPr>
          <p:cNvPr id="18" name="Connector 17"/>
          <p:cNvCxnSpPr/>
          <p:nvPr/>
        </p:nvCxnSpPr>
        <p:spPr>
          <a:xfrm flipH="1">
            <a:off x="1636776" y="3803903"/>
            <a:ext cx="1014984" cy="1106425"/>
          </a:xfrm>
          <a:prstGeom prst="line">
            <a:avLst/>
          </a:prstGeom>
          <a:ln w="15875">
            <a:solidFill>
              <a:srgbClr val="8A8F98"/>
            </a:solidFill>
          </a:ln>
          <a:effectLst/>
        </p:spPr>
      </p:cxnSp>
      <p:cxnSp>
        <p:nvCxnSpPr>
          <p:cNvPr id="19" name="Connector 18"/>
          <p:cNvCxnSpPr/>
          <p:nvPr/>
        </p:nvCxnSpPr>
        <p:spPr>
          <a:xfrm>
            <a:off x="2651760" y="3803903"/>
            <a:ext cx="484632" cy="1106425"/>
          </a:xfrm>
          <a:prstGeom prst="line">
            <a:avLst/>
          </a:prstGeom>
          <a:ln w="15875">
            <a:solidFill>
              <a:srgbClr val="8A8F98"/>
            </a:solidFill>
          </a:ln>
          <a:effectLst/>
        </p:spPr>
      </p:cxnSp>
      <p:cxnSp>
        <p:nvCxnSpPr>
          <p:cNvPr id="20" name="Connector 19"/>
          <p:cNvCxnSpPr/>
          <p:nvPr/>
        </p:nvCxnSpPr>
        <p:spPr>
          <a:xfrm flipH="1">
            <a:off x="5513832" y="3803903"/>
            <a:ext cx="475488" cy="1106425"/>
          </a:xfrm>
          <a:prstGeom prst="line">
            <a:avLst/>
          </a:prstGeom>
          <a:ln w="15875">
            <a:solidFill>
              <a:srgbClr val="8A8F98"/>
            </a:solidFill>
          </a:ln>
          <a:effectLst/>
        </p:spPr>
      </p:cxnSp>
      <p:cxnSp>
        <p:nvCxnSpPr>
          <p:cNvPr id="21" name="Connector 20"/>
          <p:cNvCxnSpPr/>
          <p:nvPr/>
        </p:nvCxnSpPr>
        <p:spPr>
          <a:xfrm>
            <a:off x="5989320" y="3803903"/>
            <a:ext cx="1024128" cy="1106425"/>
          </a:xfrm>
          <a:prstGeom prst="line">
            <a:avLst/>
          </a:prstGeom>
          <a:ln w="15875">
            <a:solidFill>
              <a:srgbClr val="8A8F98"/>
            </a:solidFill>
          </a:ln>
          <a:effectLst/>
        </p:spPr>
      </p:cxnSp>
      <p:cxnSp>
        <p:nvCxnSpPr>
          <p:cNvPr id="22" name="Connector 21"/>
          <p:cNvCxnSpPr/>
          <p:nvPr/>
        </p:nvCxnSpPr>
        <p:spPr>
          <a:xfrm flipH="1">
            <a:off x="6135624" y="3803903"/>
            <a:ext cx="950976" cy="1106425"/>
          </a:xfrm>
          <a:prstGeom prst="line">
            <a:avLst/>
          </a:prstGeom>
          <a:ln w="15875">
            <a:solidFill>
              <a:srgbClr val="8A8F98"/>
            </a:solidFill>
          </a:ln>
          <a:effectLst/>
        </p:spPr>
      </p:cxnSp>
      <p:cxnSp>
        <p:nvCxnSpPr>
          <p:cNvPr id="23" name="Connector 22"/>
          <p:cNvCxnSpPr/>
          <p:nvPr/>
        </p:nvCxnSpPr>
        <p:spPr>
          <a:xfrm>
            <a:off x="7086600" y="3803903"/>
            <a:ext cx="548640" cy="1106425"/>
          </a:xfrm>
          <a:prstGeom prst="line">
            <a:avLst/>
          </a:prstGeom>
          <a:ln w="15875">
            <a:solidFill>
              <a:srgbClr val="8A8F98"/>
            </a:solidFill>
          </a:ln>
          <a:effectLst/>
        </p:spPr>
      </p:cxnSp>
      <p:cxnSp>
        <p:nvCxnSpPr>
          <p:cNvPr id="24" name="Connector 23"/>
          <p:cNvCxnSpPr/>
          <p:nvPr/>
        </p:nvCxnSpPr>
        <p:spPr>
          <a:xfrm>
            <a:off x="3794760" y="2203704"/>
            <a:ext cx="219455" cy="2706624"/>
          </a:xfrm>
          <a:prstGeom prst="line">
            <a:avLst/>
          </a:prstGeom>
          <a:ln w="15875">
            <a:solidFill>
              <a:srgbClr val="8A8F98"/>
            </a:solidFill>
          </a:ln>
          <a:effectLst/>
        </p:spPr>
      </p:cxnSp>
      <p:cxnSp>
        <p:nvCxnSpPr>
          <p:cNvPr id="25" name="Connector 24"/>
          <p:cNvCxnSpPr/>
          <p:nvPr/>
        </p:nvCxnSpPr>
        <p:spPr>
          <a:xfrm flipH="1">
            <a:off x="1554480" y="2203704"/>
            <a:ext cx="2240280" cy="749807"/>
          </a:xfrm>
          <a:prstGeom prst="line">
            <a:avLst/>
          </a:prstGeom>
          <a:ln w="15875">
            <a:solidFill>
              <a:srgbClr val="8A8F98"/>
            </a:solidFill>
          </a:ln>
          <a:effectLst/>
        </p:spPr>
      </p:cxnSp>
      <p:cxnSp>
        <p:nvCxnSpPr>
          <p:cNvPr id="26" name="Connector 25"/>
          <p:cNvCxnSpPr/>
          <p:nvPr/>
        </p:nvCxnSpPr>
        <p:spPr>
          <a:xfrm>
            <a:off x="3794760" y="2203704"/>
            <a:ext cx="2194560" cy="749807"/>
          </a:xfrm>
          <a:prstGeom prst="line">
            <a:avLst/>
          </a:prstGeom>
          <a:ln w="15875">
            <a:solidFill>
              <a:srgbClr val="8A8F98"/>
            </a:solidFill>
          </a:ln>
          <a:effectLst/>
        </p:spPr>
      </p:cxnSp>
      <p:cxnSp>
        <p:nvCxnSpPr>
          <p:cNvPr id="27" name="Connector 26"/>
          <p:cNvCxnSpPr/>
          <p:nvPr/>
        </p:nvCxnSpPr>
        <p:spPr>
          <a:xfrm flipH="1">
            <a:off x="4636008" y="2203704"/>
            <a:ext cx="484632" cy="2706624"/>
          </a:xfrm>
          <a:prstGeom prst="line">
            <a:avLst/>
          </a:prstGeom>
          <a:ln w="15875">
            <a:solidFill>
              <a:srgbClr val="8A8F98"/>
            </a:solidFill>
          </a:ln>
          <a:effectLst/>
        </p:spPr>
      </p:cxnSp>
      <p:cxnSp>
        <p:nvCxnSpPr>
          <p:cNvPr id="28" name="Connector 27"/>
          <p:cNvCxnSpPr/>
          <p:nvPr/>
        </p:nvCxnSpPr>
        <p:spPr>
          <a:xfrm flipH="1">
            <a:off x="2651760" y="2203704"/>
            <a:ext cx="2468880" cy="749807"/>
          </a:xfrm>
          <a:prstGeom prst="line">
            <a:avLst/>
          </a:prstGeom>
          <a:ln w="15875">
            <a:solidFill>
              <a:srgbClr val="8A8F98"/>
            </a:solidFill>
          </a:ln>
          <a:effectLst/>
        </p:spPr>
      </p:cxnSp>
      <p:cxnSp>
        <p:nvCxnSpPr>
          <p:cNvPr id="29" name="Connector 28"/>
          <p:cNvCxnSpPr/>
          <p:nvPr/>
        </p:nvCxnSpPr>
        <p:spPr>
          <a:xfrm>
            <a:off x="5120640" y="2203704"/>
            <a:ext cx="1965960" cy="749807"/>
          </a:xfrm>
          <a:prstGeom prst="line">
            <a:avLst/>
          </a:prstGeom>
          <a:ln w="15875">
            <a:solidFill>
              <a:srgbClr val="8A8F98"/>
            </a:solidFill>
          </a:ln>
          <a:effectLst/>
        </p:spPr>
      </p:cxnSp>
      <p:sp>
        <p:nvSpPr>
          <p:cNvPr id="30" name="Rounded Rectangle 2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0" name="Rounded Rectangle 49"/>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2" name="TextBox 5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a:t>
            </a:r>
          </a:p>
        </p:txBody>
      </p:sp>
      <p:sp>
        <p:nvSpPr>
          <p:cNvPr id="53" name="TextBox 5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dirty = {class of a₁, class of x₁}</a:t>
            </a:r>
          </a:p>
          <a:p>
            <a:pPr marL="274320" indent="-237744">
              <a:spcBef>
                <a:spcPts val="500"/>
              </a:spcBef>
              <a:buClr>
                <a:srgbClr val="6B717A"/>
              </a:buClr>
              <a:buChar char="•"/>
            </a:pPr>
            <a:r>
              <a:rPr sz="1600" b="0" i="0">
                <a:solidFill>
                  <a:srgbClr val="2B2F36"/>
                </a:solidFill>
                <a:latin typeface="Calibri"/>
              </a:rPr>
              <a:t>filter all terms: Frontier = {m₁, m₂}</a:t>
            </a:r>
          </a:p>
          <a:p>
            <a:pPr marL="274320" indent="-237744">
              <a:spcBef>
                <a:spcPts val="500"/>
              </a:spcBef>
              <a:buClr>
                <a:srgbClr val="6B717A"/>
              </a:buClr>
              <a:buChar char="•"/>
            </a:pPr>
            <a:r>
              <a:rPr sz="1600" b="0" i="0">
                <a:solidFill>
                  <a:srgbClr val="2B2F36"/>
                </a:solidFill>
                <a:latin typeface="Calibri"/>
              </a:rPr>
              <a:t>GroupBy: {m₁, m₂}  ⇒  Union(m₁, m₂)</a:t>
            </a:r>
          </a:p>
          <a:p>
            <a:pPr marL="274320" indent="-237744">
              <a:spcBef>
                <a:spcPts val="500"/>
              </a:spcBef>
              <a:buClr>
                <a:srgbClr val="6B717A"/>
              </a:buClr>
              <a:buChar char="•"/>
            </a:pPr>
            <a:r>
              <a:rPr sz="1600" b="0" i="0">
                <a:solidFill>
                  <a:srgbClr val="2B2F36"/>
                </a:solidFill>
                <a:latin typeface="Calibri"/>
              </a:rPr>
              <a:t>dirty = {class of m₁}</a:t>
            </a:r>
          </a:p>
          <a:p>
            <a:pPr>
              <a:spcBef>
                <a:spcPts val="1100"/>
              </a:spcBef>
              <a:spcAft>
                <a:spcPts val="200"/>
              </a:spcAft>
            </a:pPr>
            <a:r>
              <a:rPr sz="1600" b="1" i="0">
                <a:solidFill>
                  <a:srgbClr val="1F2A44"/>
                </a:solidFill>
                <a:latin typeface="Calibri"/>
              </a:rPr>
              <a:t>Round 3</a:t>
            </a:r>
          </a:p>
          <a:p>
            <a:pPr marL="274320" indent="-237744">
              <a:spcBef>
                <a:spcPts val="500"/>
              </a:spcBef>
              <a:buClr>
                <a:srgbClr val="6B717A"/>
              </a:buClr>
              <a:buChar char="•"/>
            </a:pPr>
            <a:r>
              <a:rPr sz="1600" b="0" i="0">
                <a:solidFill>
                  <a:srgbClr val="2B2F36"/>
                </a:solidFill>
                <a:latin typeface="Calibri"/>
              </a:rPr>
              <a:t>filter finds no term with a dirty child</a:t>
            </a:r>
          </a:p>
          <a:p>
            <a:pPr marL="274320" indent="-237744">
              <a:spcBef>
                <a:spcPts val="500"/>
              </a:spcBef>
              <a:buClr>
                <a:srgbClr val="6B717A"/>
              </a:buClr>
              <a:buChar char="•"/>
            </a:pPr>
            <a:r>
              <a:rPr sz="1600" b="0" i="0">
                <a:solidFill>
                  <a:srgbClr val="2B2F36"/>
                </a:solidFill>
                <a:latin typeface="Calibri"/>
              </a:rPr>
              <a:t>Frontier = ∅  ⇒  </a:t>
            </a:r>
            <a:r>
              <a:rPr sz="1600" b="1" i="0">
                <a:solidFill>
                  <a:srgbClr val="2B2F36"/>
                </a:solidFill>
                <a:latin typeface="Calibri"/>
              </a:rPr>
              <a:t>done</a:t>
            </a:r>
          </a:p>
        </p:txBody>
      </p:sp>
      <p:sp>
        <p:nvSpPr>
          <p:cNvPr id="54" name="Rounded Rectangle 53"/>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5" name="TextBox 54"/>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56" name="Rounded Rectangle 55"/>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7" name="TextBox 56"/>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8" name="Rounded Rectangle 57"/>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9" name="TextBox 58"/>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details that mattered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1965960"/>
            <a:ext cx="530352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Grouping</a:t>
            </a:r>
            <a:r>
              <a:rPr sz="1600" b="0" i="0">
                <a:solidFill>
                  <a:srgbClr val="2B2F36"/>
                </a:solidFill>
                <a:latin typeface="Calibri"/>
              </a:rPr>
              <a:t>: ParlayLib integer sort on signature hashes, then sequential bucketing per hash</a:t>
            </a:r>
          </a:p>
          <a:p>
            <a:pPr marL="585216" indent="-237744">
              <a:spcBef>
                <a:spcPts val="200"/>
              </a:spcBef>
              <a:buClr>
                <a:srgbClr val="6B717A"/>
              </a:buClr>
              <a:buChar char="–"/>
            </a:pPr>
            <a:r>
              <a:rPr sz="1300" b="0" i="0">
                <a:solidFill>
                  <a:srgbClr val="2B2F36"/>
                </a:solidFill>
                <a:latin typeface="Calibri"/>
              </a:rPr>
              <a:t>detects hash collisions</a:t>
            </a:r>
          </a:p>
          <a:p>
            <a:pPr marL="585216" indent="-237744">
              <a:spcBef>
                <a:spcPts val="200"/>
              </a:spcBef>
              <a:buClr>
                <a:srgbClr val="6B717A"/>
              </a:buClr>
              <a:buChar char="–"/>
            </a:pPr>
            <a:r>
              <a:rPr sz="1300" b="0" i="0">
                <a:solidFill>
                  <a:srgbClr val="2B2F36"/>
                </a:solidFill>
                <a:latin typeface="Calibri"/>
              </a:rPr>
              <a:t>beats the library semisort on the small buckets typical here</a:t>
            </a:r>
          </a:p>
          <a:p>
            <a:pPr marL="274320" indent="-237744">
              <a:spcBef>
                <a:spcPts val="700"/>
              </a:spcBef>
              <a:buClr>
                <a:srgbClr val="6B717A"/>
              </a:buClr>
              <a:buChar char="•"/>
            </a:pPr>
            <a:r>
              <a:rPr sz="1600" b="1" i="0">
                <a:solidFill>
                  <a:srgbClr val="2B2F36"/>
                </a:solidFill>
                <a:latin typeface="Calibri"/>
              </a:rPr>
              <a:t>Merging a group</a:t>
            </a:r>
            <a:r>
              <a:rPr sz="1600" b="0" i="0">
                <a:solidFill>
                  <a:srgbClr val="2B2F36"/>
                </a:solidFill>
                <a:latin typeface="Calibri"/>
              </a:rPr>
              <a:t>: divide-and-conquer parallel unions</a:t>
            </a:r>
          </a:p>
          <a:p>
            <a:pPr marL="274320" indent="-237744">
              <a:spcBef>
                <a:spcPts val="700"/>
              </a:spcBef>
              <a:buClr>
                <a:srgbClr val="6B717A"/>
              </a:buClr>
              <a:buChar char="•"/>
            </a:pPr>
            <a:r>
              <a:rPr sz="1600" b="1" i="0">
                <a:solidFill>
                  <a:srgbClr val="2B2F36"/>
                </a:solidFill>
                <a:latin typeface="Calibri"/>
              </a:rPr>
              <a:t>Scheduling</a:t>
            </a:r>
            <a:r>
              <a:rPr sz="1600" b="0" i="0">
                <a:solidFill>
                  <a:srgbClr val="2B2F36"/>
                </a:solidFill>
                <a:latin typeface="Calibri"/>
              </a:rPr>
              <a:t>: ParlayLib work-stealing scheduler, parfor, filter</a:t>
            </a:r>
          </a:p>
          <a:p>
            <a:pPr marL="274320" indent="-237744">
              <a:spcBef>
                <a:spcPts val="700"/>
              </a:spcBef>
              <a:buClr>
                <a:srgbClr val="6B717A"/>
              </a:buClr>
              <a:buChar char="•"/>
            </a:pPr>
            <a:r>
              <a:rPr sz="1600" b="1" i="0">
                <a:solidFill>
                  <a:srgbClr val="2B2F36"/>
                </a:solidFill>
                <a:latin typeface="Calibri"/>
              </a:rPr>
              <a:t>Union-find</a:t>
            </a:r>
            <a:r>
              <a:rPr sz="1600" b="0" i="0">
                <a:solidFill>
                  <a:srgbClr val="2B2F36"/>
                </a:solidFill>
                <a:latin typeface="Calibri"/>
              </a:rPr>
              <a:t>: single array, rank in the high bit, CAS only</a:t>
            </a:r>
          </a:p>
        </p:txBody>
      </p:sp>
      <p:sp>
        <p:nvSpPr>
          <p:cNvPr id="9" name="Rounded Rectangle 8"/>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a:t>
            </a:r>
          </a:p>
        </p:txBody>
      </p:sp>
      <p:sp>
        <p:nvSpPr>
          <p:cNvPr id="11" name="TextBox 10"/>
          <p:cNvSpPr txBox="1"/>
          <p:nvPr/>
        </p:nvSpPr>
        <p:spPr>
          <a:xfrm>
            <a:off x="6355080" y="1965960"/>
            <a:ext cx="521208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Signature tables specialized by arity</a:t>
            </a:r>
            <a:r>
              <a:rPr sz="1600" b="0" i="0">
                <a:solidFill>
                  <a:srgbClr val="2B2F36"/>
                </a:solidFill>
                <a:latin typeface="Calibri"/>
              </a:rPr>
              <a:t> 1, 2, 3, 4; general table for the rest</a:t>
            </a:r>
          </a:p>
          <a:p>
            <a:pPr marL="585216" indent="-237744">
              <a:spcBef>
                <a:spcPts val="200"/>
              </a:spcBef>
              <a:buClr>
                <a:srgbClr val="6B717A"/>
              </a:buClr>
              <a:buChar char="–"/>
            </a:pPr>
            <a:r>
              <a:rPr sz="1300" b="0" i="0">
                <a:solidFill>
                  <a:srgbClr val="2B2F36"/>
                </a:solidFill>
                <a:latin typeface="Calibri"/>
              </a:rPr>
              <a:t>fixed-size entries, no per-signature allocation</a:t>
            </a:r>
          </a:p>
          <a:p>
            <a:pPr marL="274320" indent="-237744">
              <a:spcBef>
                <a:spcPts val="700"/>
              </a:spcBef>
              <a:buClr>
                <a:srgbClr val="6B717A"/>
              </a:buClr>
              <a:buChar char="•"/>
            </a:pPr>
            <a:r>
              <a:rPr sz="1600" b="1" i="0">
                <a:solidFill>
                  <a:srgbClr val="2B2F36"/>
                </a:solidFill>
                <a:latin typeface="Calibri"/>
              </a:rPr>
              <a:t>Bump allocator</a:t>
            </a:r>
            <a:r>
              <a:rPr sz="1600" b="0" i="0">
                <a:solidFill>
                  <a:srgbClr val="2B2F36"/>
                </a:solidFill>
                <a:latin typeface="Calibri"/>
              </a:rPr>
              <a:t> for the general table</a:t>
            </a:r>
          </a:p>
          <a:p>
            <a:pPr marL="274320" indent="-237744">
              <a:spcBef>
                <a:spcPts val="700"/>
              </a:spcBef>
              <a:buClr>
                <a:srgbClr val="6B717A"/>
              </a:buClr>
              <a:buChar char="•"/>
            </a:pPr>
            <a:r>
              <a:rPr sz="1600" b="1" i="0">
                <a:solidFill>
                  <a:srgbClr val="2B2F36"/>
                </a:solidFill>
                <a:latin typeface="Calibri"/>
              </a:rPr>
              <a:t>Worklist</a:t>
            </a:r>
            <a:r>
              <a:rPr sz="1600" b="0" i="0">
                <a:solidFill>
                  <a:srgbClr val="2B2F36"/>
                </a:solidFill>
                <a:latin typeface="Calibri"/>
              </a:rPr>
              <a:t> seeded in reverse-topological order</a:t>
            </a:r>
          </a:p>
          <a:p>
            <a:pPr marL="585216" indent="-237744">
              <a:spcBef>
                <a:spcPts val="200"/>
              </a:spcBef>
              <a:buClr>
                <a:srgbClr val="6B717A"/>
              </a:buClr>
              <a:buChar char="–"/>
            </a:pPr>
            <a:r>
              <a:rPr sz="1300" b="0" i="0">
                <a:solidFill>
                  <a:srgbClr val="2B2F36"/>
                </a:solidFill>
                <a:latin typeface="Calibri"/>
              </a:rPr>
              <a:t>single pass when the quotient DAG is acyclic</a:t>
            </a:r>
          </a:p>
          <a:p>
            <a:pPr marL="274320" indent="-237744">
              <a:spcBef>
                <a:spcPts val="700"/>
              </a:spcBef>
              <a:buClr>
                <a:srgbClr val="6B717A"/>
              </a:buClr>
              <a:buChar char="•"/>
            </a:pPr>
            <a:r>
              <a:rPr sz="1600" b="0" i="0">
                <a:solidFill>
                  <a:srgbClr val="2B2F36"/>
                </a:solidFill>
                <a:latin typeface="Calibri"/>
              </a:rPr>
              <a:t>baseline tuned as carefully as the parallel code</a:t>
            </a:r>
          </a:p>
        </p:txBody>
      </p:sp>
      <p:sp>
        <p:nvSpPr>
          <p:cNvPr id="12" name="TextBox 11"/>
          <p:cNvSpPr txBox="1"/>
          <p:nvPr/>
        </p:nvSpPr>
        <p:spPr>
          <a:xfrm>
            <a:off x="548640" y="5943600"/>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compiled with g++ -O3.  Code and benchmarks: github.com/amarshah10/ParallelEgraph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