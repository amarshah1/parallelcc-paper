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Joint work with Amar Shah, equal contribution. I will cover the problem, the two algorithms, and implementation; Amar covers the evaluation.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problem in one sentence and leave it up for the rest of the build. Terms, equalities between them, and we want the smallest equivalence relation that contains those equalities and still respects function symbols.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tiny instance. Three constants and two applications of f. Nothing is equal to anything yet: five terms, five classes.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input equalities: a equals b, and b equals c. This is the set E we are handed.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under equivalence: reflexive, symmetric, transitive. a, b and c land in one class, so a and c are equal even though nobody said so.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part that makes this more than union-find. f(a) and f(c) were never mentioned in the input, but their arguments are now equal, so the two applications are equal too. That is congruence, and it is what forces the closure to be recomputed as classes change.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rule, once, in general form. Equal arguments give equal applications. Everything in the talk is about applying this rule to many terms at the same time.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Congruence closure sits inside a lot of engines, and hence inside the applications built on them. Decades of engineering have gone into sequential implementations.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in these engines it runs a lot: it is called repeatedly over the course of a solver run, so its cost shows up in the total. How much depends on the instance, which is why the evaluation looks at several benchmark families.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things stand. Despite how widely it is used, every implementation we know of is fully sequential, while the machines are wide: our test box has 96 cores. The theory is discouraging too. Congruence closure is P-complete, so we should not expect an algorithm that is fast on every input; in the worst case it really does look inherently sequential. But worst case is not the same as the instances people actually solve, and that is the question we ask.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detail out loud, one line per bullet. One: two parallel algorithms, ParentCC and FilterCC, which replace the sequential worklist with bulk-synchronous rounds of data-parallel primitives over a lock-free concurrent union-find. Two: a workload characterization in terms of congruence depth and width, where width, the number of independent merges available in a round, turns out to be the dominant factor empirically. Three: an evaluation on random, synthetic and circuit-equivalence benchmarks, with near-linear speedup up to 32 cores over a tuned sequential baseline. Everything is open source.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setting our running example comes from, and where the circuit benchmarks come from. Two combinational circuits.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question: do they compute the same function? Equivalent means they agree on every input, all two to the n of them, so we cannot simply simulate.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construction, a miter. Feed both circuits the same inputs.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XOR the corresponding outputs. The XOR is 1 exactly when the two outputs differ.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XOR output is the single bit p, the miter output.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p is 1 exactly when the circuits disagree on the input we fed them.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Flip it around and it is a satisfiability question: assert p = 1 and ask whether any input satisfies it. Unsatisfiable means no disagreeing input exists, so the circuits are equivalent. Encoding a miter to CNF destroys the gate structure, so Biere et al. recover the gates and close them under congruence, which often decides the instance outright.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Miter adapted from Biere et al., Clausal Congruence Closure, SAT 2024. Two copies of the same three-gate circuit, side by side. Each copy has its own input wires. Nodes are terms, one per gate; edges point to children. Say out loud that the left half is copy one and the right half is copy two, and that the two ITE gates at the top are the two outputs.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Assert that the two outputs differ. If that is unsatisfiable the circuits are equivalent. The query is the only thing on the slide, sitting between the two output gates. The point of the miter for us: once the gate structure is recovered from the CNF, congruence closure alone often decides the instance, which is why Biere et al. run it inside a SAT solver.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on a single node before the trace starts. The box carries the operator, the name sits alongside, and the three outgoing edges are its children in argument order. Everything else is greyed out so only this term and its children are in view.</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relationship the algorithms are built around. An edge goes from a term to the arguments it is applied to. m2 is the parent, its three arguments are the children. Every term is the parent of its arguments and a child of every term that mentions 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from the given equalities: each input wire of copy one equals the corresponding wire of copy two. These are the only given equalities, and they are what we union first.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Union each pair. The dashed boxes are the equivalence classes.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Examine the two AND gates. Same symbol, and their children are pairwise in the same class, so the congruence rule applies. Yellow means we are looking at them.</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Congruence fires, so union the two classes.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Examine the two XOR gates: same symbol, children pairwise equivalent.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Union them.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Examine the two ITE gates. Only now are their children pairwise equivalent, because steps 1 and 2 merged the AND and XOR classes.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Union them. Note that step 3 depended on steps 1 and 2, but 1 and 2 did not depend on each other.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outputs are in one class, so the query m1 differs from m2 is unsatisfiable: the circuits are equivalent. Count what we did: eight merges, one at a time. That is exactly the sequential worklist algorithm, and it is the baseline the parallel version has to beat.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pivot of the talk. Go back over the trace we just did and ask what forced its order. The ITE merge waited for the AND merge and the XOR merge, and for nothing else. Why: congruence tests the classes of the children, so a term can only become mergeable when one of its children changes class. That is exactly an edge of the diagram, traversed upward. Dependences in congruence closure are not hidden in a data structure, they are the term structure itself, which is what makes the problem tractable to parallelize. Say the caveat out loud rather than putting it on the slide: a child can also change class through a chain of earlier merges, so the dependence is the transitive closure of the parent-child relation.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other half. Nothing connects the AND merge to the XOR merge: neither is an ancestor of the other, so neither can change the other’s signature. They can run at the same time, on different cores, in either order, with the same result. That is the parallelism we are after, and the algorithms are built to find all of it at once instead of one merge at a time.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dependences as a schedule. Everything with no unmet dependence goes first, all at once. That is round 0: the input equalities we were handed. Nothing had to happen before them.</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Barrier, then everything round 0 just enabled. The inputs changed class, so their parents get retested: the AND merge and the XOR merge. Neither depends on the other, so both go in the same round.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Barrier again, and the gate merges enable the output merge. Round 2, and nothing is left to enable, so we stop. This is Valiant’s bulk-synchronous model, and it falls straight out of the term structure.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names for the evaluation. Depth is the number of congruence rounds after the input round, here 2. Width is the most merges any one round offers, here 5, in round 0. Depth is what we cannot parallelize; width is what we can. On the circuit benchmarks width reaches millions while depth stays small, and Amar will show that width predicts speedup.</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algorithm, at the level of a round. Three phases. First: who might have become congruent? Only a term whose child just changed class, so the parents of whatever merged last round.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 those candidates, who actually is congruent? Group them by signature: the symbol together with the classes of the children.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merge every group, and all the groups in parallel.</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Repeat while a round merged something. The very first round has no previous merges to look at, so it considers every term; that also catches terms that were congruent before any equality was applied. The barrier between phases is what makes the parallelism safe: while we compute signatures nobody is merging, so every thread reads the same classes, and while we merge nobody is reading signatures.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example. Round 0 is the input: union each pair of equated wires, all five at once. No congruence yet, just the equalities we were handed. The gates are greyed out because nothing happens to them this round.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Round 1, phase one: who might have become congruent? The first round considers every gate, so all six are candidates, in yellow.</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two: group by signature, the symbol plus the class of each child. Same colour, same signature. The two ANDs match: both are AND of the r class and the s class. The two XORs match. The two ITEs do not, because a1 and a2 are still in different classes, so they stay uncoloured. This grouping is the semisort. Say out loud that this is the step that changes from the sequential algorithm: no hash table lookups one at a time, all the signatures of the round sorted together.</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three: merge every group, concurrently. Two unions in one round; this is where the parallel run differs from the hand trace.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Round 2. Candidates are the parents of what just merged: the two ITEs. Their signatures now agree, one group.</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Merge them. One union.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ITEs have no parents, so round 3 has no candidates and the loop stops. Eight merges in three rounds, and the rounds are exactly the schedule from before: ParentCC found all of the available parallelism.</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line each; the paper has the proofs. Sound: every group has equal symbol and equal child classes, so each merge is an instance of the congruence rule. Complete: when the last of a pair’s children merge, both parents are candidates next round. Terminates: a round that merges anything reduces the number of classes.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slide on the second algorithm. ParentCC finds candidates through parent lists, one per class, and every merge appends to them: allocation on the hot path. FilterCC drops the lists. A merge just sets a dirty bit on its classes, and the next round filters all terms for a child in a dirty class. Threads racing to set the same bit is harmless, setting a bit is idempotent. The price is a scan of every term each round, so FilterCC wins when rounds are few and ParentCC when they are many; Amar has the numbers.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Grouping: ParlayLib integer sort on the signature hashes followed by a bucket pass per hash, which beat the library semisort on the small buckets we see. Merging a group: divide and conquer unions. The baseline is the classical worklist algorithm in the Nieuwenhuis and Oliveras variant, which is what the hand trace did: one merge at a time, each merge re-examining the parents of the losing class. We tried a topological-sort fixpoint and Downey-Sethi-Tarjan as well; the worklist was fastest. It got the same tuning care as the parallel code, so speedups are against a strong baseline.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 off to Amar for the evaluation.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three phases, precisely. Work is the set of classes that changed last round; the frontier is their parents; groups come from a semisort on signatures; each group merges by divide and conquer. Barriers separate the phases, so signatures are always computed against a union-find no thread is modifying. This slide is for the record; do not read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4"/>
          </a:solidFill>
          <a:ln>
            <a:noFill/>
          </a:ln>
          <a:effectLst/>
        </p:spPr>
        <p:txBody>
          <a:bodyPr rtlCol="0" anchor="ctr" lIns="54864" rIns="54864" tIns="27432" bIns="27432" wrap="square"/>
          <a:lstStyle/>
          <a:p>
            <a:pPr algn="ctr"/>
          </a:p>
        </p:txBody>
      </p:sp>
      <p:cxnSp>
        <p:nvCxnSpPr>
          <p:cNvPr id="3" name="Connector 2"/>
          <p:cNvCxnSpPr/>
          <p:nvPr/>
        </p:nvCxnSpPr>
        <p:spPr>
          <a:xfrm>
            <a:off x="822960" y="3246120"/>
            <a:ext cx="3017520" cy="0"/>
          </a:xfrm>
          <a:prstGeom prst="line">
            <a:avLst/>
          </a:prstGeom>
          <a:ln w="38100">
            <a:solidFill>
              <a:srgbClr val="C8501E"/>
            </a:solidFill>
          </a:ln>
          <a:effectLst/>
        </p:spPr>
      </p:cxnSp>
      <p:sp>
        <p:nvSpPr>
          <p:cNvPr id="4" name="TextBox 3"/>
          <p:cNvSpPr txBox="1"/>
          <p:nvPr/>
        </p:nvSpPr>
        <p:spPr>
          <a:xfrm>
            <a:off x="777240" y="2011680"/>
            <a:ext cx="10515600" cy="1188720"/>
          </a:xfrm>
          <a:prstGeom prst="rect">
            <a:avLst/>
          </a:prstGeom>
          <a:noFill/>
        </p:spPr>
        <p:txBody>
          <a:bodyPr wrap="square" anchor="b" lIns="45720" rIns="45720" tIns="27432" bIns="27432">
            <a:spAutoFit/>
          </a:bodyPr>
          <a:lstStyle/>
          <a:p>
            <a:pPr algn="l"/>
            <a:r>
              <a:rPr sz="4400" b="1" i="0">
                <a:solidFill>
                  <a:srgbClr val="FFFFFF"/>
                </a:solidFill>
                <a:latin typeface="Calibri"/>
              </a:rPr>
              <a:t>Parallelizing Congruence Closure</a:t>
            </a:r>
          </a:p>
        </p:txBody>
      </p:sp>
      <p:sp>
        <p:nvSpPr>
          <p:cNvPr id="5" name="TextBox 4"/>
          <p:cNvSpPr txBox="1"/>
          <p:nvPr/>
        </p:nvSpPr>
        <p:spPr>
          <a:xfrm>
            <a:off x="777240" y="3429000"/>
            <a:ext cx="10058400" cy="548640"/>
          </a:xfrm>
          <a:prstGeom prst="rect">
            <a:avLst/>
          </a:prstGeom>
          <a:noFill/>
        </p:spPr>
        <p:txBody>
          <a:bodyPr wrap="square" anchor="t" lIns="45720" rIns="45720" tIns="27432" bIns="27432">
            <a:spAutoFit/>
          </a:bodyPr>
          <a:lstStyle/>
          <a:p>
            <a:pPr algn="l"/>
            <a:r>
              <a:rPr sz="2400" b="0" i="0">
                <a:solidFill>
                  <a:srgbClr val="FFFFFF"/>
                </a:solidFill>
                <a:latin typeface="Calibri"/>
              </a:rPr>
              <a:t>Zachary Kent*   ·   Amar Shah*</a:t>
            </a:r>
          </a:p>
        </p:txBody>
      </p:sp>
      <p:sp>
        <p:nvSpPr>
          <p:cNvPr id="6" name="TextBox 5"/>
          <p:cNvSpPr txBox="1"/>
          <p:nvPr/>
        </p:nvSpPr>
        <p:spPr>
          <a:xfrm>
            <a:off x="777240" y="3977639"/>
            <a:ext cx="10058400" cy="457200"/>
          </a:xfrm>
          <a:prstGeom prst="rect">
            <a:avLst/>
          </a:prstGeom>
          <a:noFill/>
        </p:spPr>
        <p:txBody>
          <a:bodyPr wrap="square" anchor="t" lIns="45720" rIns="45720" tIns="27432" bIns="27432">
            <a:spAutoFit/>
          </a:bodyPr>
          <a:lstStyle/>
          <a:p>
            <a:pPr algn="l"/>
            <a:r>
              <a:rPr sz="2000" b="0" i="0">
                <a:solidFill>
                  <a:srgbClr val="C9D3E6"/>
                </a:solidFill>
                <a:latin typeface="Calibri"/>
              </a:rPr>
              <a:t>Carnegie Mellon University</a:t>
            </a:r>
          </a:p>
        </p:txBody>
      </p:sp>
      <p:sp>
        <p:nvSpPr>
          <p:cNvPr id="7" name="TextBox 6"/>
          <p:cNvSpPr txBox="1"/>
          <p:nvPr/>
        </p:nvSpPr>
        <p:spPr>
          <a:xfrm>
            <a:off x="777240" y="4572000"/>
            <a:ext cx="10058400" cy="457200"/>
          </a:xfrm>
          <a:prstGeom prst="rect">
            <a:avLst/>
          </a:prstGeom>
          <a:noFill/>
        </p:spPr>
        <p:txBody>
          <a:bodyPr wrap="square" anchor="t" lIns="45720" rIns="45720" tIns="27432" bIns="27432">
            <a:spAutoFit/>
          </a:bodyPr>
          <a:lstStyle/>
          <a:p>
            <a:pPr algn="l"/>
            <a:r>
              <a:rPr sz="2000" b="0" i="0">
                <a:solidFill>
                  <a:srgbClr val="C9D3E6"/>
                </a:solidFill>
                <a:latin typeface="Calibri"/>
              </a:rPr>
              <a:t>FMCAD 2026</a:t>
            </a:r>
          </a:p>
        </p:txBody>
      </p:sp>
      <p:sp>
        <p:nvSpPr>
          <p:cNvPr id="8" name="TextBox 7"/>
          <p:cNvSpPr txBox="1"/>
          <p:nvPr/>
        </p:nvSpPr>
        <p:spPr>
          <a:xfrm>
            <a:off x="777240" y="6035040"/>
            <a:ext cx="5486400" cy="365760"/>
          </a:xfrm>
          <a:prstGeom prst="rect">
            <a:avLst/>
          </a:prstGeom>
          <a:noFill/>
        </p:spPr>
        <p:txBody>
          <a:bodyPr wrap="square" anchor="t" lIns="45720" rIns="45720" tIns="27432" bIns="27432">
            <a:spAutoFit/>
          </a:bodyPr>
          <a:lstStyle/>
          <a:p>
            <a:pPr algn="l"/>
            <a:r>
              <a:rPr sz="1300" b="0" i="0">
                <a:solidFill>
                  <a:srgbClr val="9AA8C4"/>
                </a:solidFill>
                <a:latin typeface="Calibri"/>
              </a:rPr>
              <a:t>* equal contribution</a:t>
            </a:r>
          </a:p>
        </p:txBody>
      </p:sp>
      <p:sp>
        <p:nvSpPr>
          <p:cNvPr id="9" name="TextBox 8"/>
          <p:cNvSpPr txBox="1"/>
          <p:nvPr/>
        </p:nvSpPr>
        <p:spPr>
          <a:xfrm>
            <a:off x="6675120" y="6035040"/>
            <a:ext cx="5120640" cy="365760"/>
          </a:xfrm>
          <a:prstGeom prst="rect">
            <a:avLst/>
          </a:prstGeom>
          <a:noFill/>
        </p:spPr>
        <p:txBody>
          <a:bodyPr wrap="square" anchor="t" lIns="45720" rIns="45720" tIns="27432" bIns="27432">
            <a:spAutoFit/>
          </a:bodyPr>
          <a:lstStyle/>
          <a:p>
            <a:pPr algn="r"/>
            <a:r>
              <a:rPr sz="1300" b="0" i="0">
                <a:solidFill>
                  <a:srgbClr val="9AA8C4"/>
                </a:solidFill>
                <a:latin typeface="Calibri"/>
              </a:rPr>
              <a:t>github.com/amarshah10/ParallelEgraph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1463040" y="1143000"/>
            <a:ext cx="9235440" cy="731520"/>
          </a:xfrm>
          <a:prstGeom prst="rect">
            <a:avLst/>
          </a:prstGeom>
          <a:noFill/>
        </p:spPr>
        <p:txBody>
          <a:bodyPr wrap="square" anchor="ctr" lIns="45720" rIns="45720" tIns="27432" bIns="27432">
            <a:spAutoFit/>
          </a:bodyPr>
          <a:lstStyle/>
          <a:p>
            <a:pPr algn="ctr"/>
            <a:r>
              <a:rPr sz="2100" b="0" i="0">
                <a:solidFill>
                  <a:srgbClr val="2B2F36"/>
                </a:solidFill>
                <a:latin typeface="Calibri"/>
              </a:rPr>
              <a:t>Given a set of terms and equalities over them, compute the least equivalence relation respecting function symbols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1463040" y="1143000"/>
            <a:ext cx="9235440" cy="731520"/>
          </a:xfrm>
          <a:prstGeom prst="rect">
            <a:avLst/>
          </a:prstGeom>
          <a:noFill/>
        </p:spPr>
        <p:txBody>
          <a:bodyPr wrap="square" anchor="ctr" lIns="45720" rIns="45720" tIns="27432" bIns="27432">
            <a:spAutoFit/>
          </a:bodyPr>
          <a:lstStyle/>
          <a:p>
            <a:pPr algn="ctr"/>
            <a:r>
              <a:rPr sz="2100" b="0" i="0">
                <a:solidFill>
                  <a:srgbClr val="2B2F36"/>
                </a:solidFill>
                <a:latin typeface="Calibri"/>
              </a:rPr>
              <a:t>Given a set of terms and equalities over them, compute the least equivalence relation respecting function symbols</a:t>
            </a:r>
          </a:p>
        </p:txBody>
      </p:sp>
      <p:cxnSp>
        <p:nvCxnSpPr>
          <p:cNvPr id="7" name="Connector 6"/>
          <p:cNvCxnSpPr/>
          <p:nvPr/>
        </p:nvCxnSpPr>
        <p:spPr>
          <a:xfrm>
            <a:off x="4023360" y="2980944"/>
            <a:ext cx="0" cy="804672"/>
          </a:xfrm>
          <a:prstGeom prst="line">
            <a:avLst/>
          </a:prstGeom>
          <a:ln w="19050">
            <a:solidFill>
              <a:srgbClr val="8A8F98"/>
            </a:solidFill>
          </a:ln>
          <a:effectLst/>
        </p:spPr>
      </p:cxnSp>
      <p:cxnSp>
        <p:nvCxnSpPr>
          <p:cNvPr id="8" name="Connector 7"/>
          <p:cNvCxnSpPr/>
          <p:nvPr/>
        </p:nvCxnSpPr>
        <p:spPr>
          <a:xfrm>
            <a:off x="8046720" y="2980944"/>
            <a:ext cx="0" cy="804672"/>
          </a:xfrm>
          <a:prstGeom prst="line">
            <a:avLst/>
          </a:prstGeom>
          <a:ln w="19050">
            <a:solidFill>
              <a:srgbClr val="8A8F98"/>
            </a:solidFill>
          </a:ln>
          <a:effectLst/>
        </p:spPr>
      </p:cxnSp>
      <p:sp>
        <p:nvSpPr>
          <p:cNvPr id="9" name="Rounded Rectangle 8"/>
          <p:cNvSpPr/>
          <p:nvPr/>
        </p:nvSpPr>
        <p:spPr>
          <a:xfrm>
            <a:off x="354330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a</a:t>
            </a:r>
          </a:p>
        </p:txBody>
      </p:sp>
      <p:sp>
        <p:nvSpPr>
          <p:cNvPr id="10" name="Rounded Rectangle 9"/>
          <p:cNvSpPr/>
          <p:nvPr/>
        </p:nvSpPr>
        <p:spPr>
          <a:xfrm>
            <a:off x="5554979"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b</a:t>
            </a:r>
          </a:p>
        </p:txBody>
      </p:sp>
      <p:sp>
        <p:nvSpPr>
          <p:cNvPr id="11" name="Rounded Rectangle 10"/>
          <p:cNvSpPr/>
          <p:nvPr/>
        </p:nvSpPr>
        <p:spPr>
          <a:xfrm>
            <a:off x="756666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c</a:t>
            </a:r>
          </a:p>
        </p:txBody>
      </p:sp>
      <p:sp>
        <p:nvSpPr>
          <p:cNvPr id="12" name="Rounded Rectangle 11"/>
          <p:cNvSpPr/>
          <p:nvPr/>
        </p:nvSpPr>
        <p:spPr>
          <a:xfrm>
            <a:off x="354330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f(a)</a:t>
            </a:r>
          </a:p>
        </p:txBody>
      </p:sp>
      <p:sp>
        <p:nvSpPr>
          <p:cNvPr id="13" name="Rounded Rectangle 12"/>
          <p:cNvSpPr/>
          <p:nvPr/>
        </p:nvSpPr>
        <p:spPr>
          <a:xfrm>
            <a:off x="756666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1463040" y="1143000"/>
            <a:ext cx="9235440" cy="731520"/>
          </a:xfrm>
          <a:prstGeom prst="rect">
            <a:avLst/>
          </a:prstGeom>
          <a:noFill/>
        </p:spPr>
        <p:txBody>
          <a:bodyPr wrap="square" anchor="ctr" lIns="45720" rIns="45720" tIns="27432" bIns="27432">
            <a:spAutoFit/>
          </a:bodyPr>
          <a:lstStyle/>
          <a:p>
            <a:pPr algn="ctr"/>
            <a:r>
              <a:rPr sz="2100" b="0" i="0">
                <a:solidFill>
                  <a:srgbClr val="2B2F36"/>
                </a:solidFill>
                <a:latin typeface="Calibri"/>
              </a:rPr>
              <a:t>Given a set of terms and equalities over them, compute the least equivalence relation respecting function symbols</a:t>
            </a:r>
          </a:p>
        </p:txBody>
      </p:sp>
      <p:cxnSp>
        <p:nvCxnSpPr>
          <p:cNvPr id="7" name="Connector 6"/>
          <p:cNvCxnSpPr/>
          <p:nvPr/>
        </p:nvCxnSpPr>
        <p:spPr>
          <a:xfrm>
            <a:off x="4023360" y="2980944"/>
            <a:ext cx="0" cy="804672"/>
          </a:xfrm>
          <a:prstGeom prst="line">
            <a:avLst/>
          </a:prstGeom>
          <a:ln w="19050">
            <a:solidFill>
              <a:srgbClr val="8A8F98"/>
            </a:solidFill>
          </a:ln>
          <a:effectLst/>
        </p:spPr>
      </p:cxnSp>
      <p:cxnSp>
        <p:nvCxnSpPr>
          <p:cNvPr id="8" name="Connector 7"/>
          <p:cNvCxnSpPr/>
          <p:nvPr/>
        </p:nvCxnSpPr>
        <p:spPr>
          <a:xfrm>
            <a:off x="8046720" y="2980944"/>
            <a:ext cx="0" cy="804672"/>
          </a:xfrm>
          <a:prstGeom prst="line">
            <a:avLst/>
          </a:prstGeom>
          <a:ln w="19050">
            <a:solidFill>
              <a:srgbClr val="8A8F98"/>
            </a:solidFill>
          </a:ln>
          <a:effectLst/>
        </p:spPr>
      </p:cxnSp>
      <p:sp>
        <p:nvSpPr>
          <p:cNvPr id="9" name="Rounded Rectangle 8"/>
          <p:cNvSpPr/>
          <p:nvPr/>
        </p:nvSpPr>
        <p:spPr>
          <a:xfrm>
            <a:off x="354330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a</a:t>
            </a:r>
          </a:p>
        </p:txBody>
      </p:sp>
      <p:sp>
        <p:nvSpPr>
          <p:cNvPr id="10" name="Rounded Rectangle 9"/>
          <p:cNvSpPr/>
          <p:nvPr/>
        </p:nvSpPr>
        <p:spPr>
          <a:xfrm>
            <a:off x="5554979"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b</a:t>
            </a:r>
          </a:p>
        </p:txBody>
      </p:sp>
      <p:sp>
        <p:nvSpPr>
          <p:cNvPr id="11" name="Rounded Rectangle 10"/>
          <p:cNvSpPr/>
          <p:nvPr/>
        </p:nvSpPr>
        <p:spPr>
          <a:xfrm>
            <a:off x="756666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c</a:t>
            </a:r>
          </a:p>
        </p:txBody>
      </p:sp>
      <p:sp>
        <p:nvSpPr>
          <p:cNvPr id="12" name="Rounded Rectangle 11"/>
          <p:cNvSpPr/>
          <p:nvPr/>
        </p:nvSpPr>
        <p:spPr>
          <a:xfrm>
            <a:off x="354330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f(a)</a:t>
            </a:r>
          </a:p>
        </p:txBody>
      </p:sp>
      <p:sp>
        <p:nvSpPr>
          <p:cNvPr id="13" name="Rounded Rectangle 12"/>
          <p:cNvSpPr/>
          <p:nvPr/>
        </p:nvSpPr>
        <p:spPr>
          <a:xfrm>
            <a:off x="756666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f(c)</a:t>
            </a:r>
          </a:p>
        </p:txBody>
      </p:sp>
      <p:sp>
        <p:nvSpPr>
          <p:cNvPr id="14" name="TextBox 13"/>
          <p:cNvSpPr txBox="1"/>
          <p:nvPr/>
        </p:nvSpPr>
        <p:spPr>
          <a:xfrm>
            <a:off x="4709160" y="3794760"/>
            <a:ext cx="640080" cy="548640"/>
          </a:xfrm>
          <a:prstGeom prst="rect">
            <a:avLst/>
          </a:prstGeom>
          <a:noFill/>
        </p:spPr>
        <p:txBody>
          <a:bodyPr wrap="square" anchor="ctr" lIns="45720" rIns="45720" tIns="27432" bIns="27432">
            <a:spAutoFit/>
          </a:bodyPr>
          <a:lstStyle/>
          <a:p>
            <a:pPr algn="ctr"/>
            <a:r>
              <a:rPr sz="3000" b="1" i="0">
                <a:solidFill>
                  <a:srgbClr val="C8501E"/>
                </a:solidFill>
                <a:latin typeface="Calibri"/>
              </a:rPr>
              <a:t>=</a:t>
            </a:r>
          </a:p>
        </p:txBody>
      </p:sp>
      <p:sp>
        <p:nvSpPr>
          <p:cNvPr id="15" name="TextBox 14"/>
          <p:cNvSpPr txBox="1"/>
          <p:nvPr/>
        </p:nvSpPr>
        <p:spPr>
          <a:xfrm>
            <a:off x="6720840" y="3794760"/>
            <a:ext cx="640080" cy="548640"/>
          </a:xfrm>
          <a:prstGeom prst="rect">
            <a:avLst/>
          </a:prstGeom>
          <a:noFill/>
        </p:spPr>
        <p:txBody>
          <a:bodyPr wrap="square" anchor="ctr" lIns="45720" rIns="45720" tIns="27432" bIns="27432">
            <a:spAutoFit/>
          </a:bodyPr>
          <a:lstStyle/>
          <a:p>
            <a:pPr algn="ctr"/>
            <a:r>
              <a:rPr sz="3000" b="1" i="0">
                <a:solidFill>
                  <a:srgbClr val="C8501E"/>
                </a:solidFill>
                <a:latin typeface="Calibri"/>
              </a:rPr>
              <a:t>=</a:t>
            </a:r>
          </a:p>
        </p:txBody>
      </p:sp>
      <p:sp>
        <p:nvSpPr>
          <p:cNvPr id="16" name="TextBox 15"/>
          <p:cNvSpPr txBox="1"/>
          <p:nvPr/>
        </p:nvSpPr>
        <p:spPr>
          <a:xfrm>
            <a:off x="731520" y="5074920"/>
            <a:ext cx="10789920" cy="457200"/>
          </a:xfrm>
          <a:prstGeom prst="rect">
            <a:avLst/>
          </a:prstGeom>
          <a:noFill/>
        </p:spPr>
        <p:txBody>
          <a:bodyPr wrap="square" anchor="t" lIns="45720" rIns="45720" tIns="27432" bIns="27432">
            <a:spAutoFit/>
          </a:bodyPr>
          <a:lstStyle/>
          <a:p>
            <a:pPr algn="ctr"/>
            <a:r>
              <a:rPr sz="2200" b="1" i="0">
                <a:solidFill>
                  <a:srgbClr val="1F2A44"/>
                </a:solidFill>
                <a:latin typeface="Calibri"/>
              </a:rPr>
              <a:t>input equalities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1463040" y="1143000"/>
            <a:ext cx="9235440" cy="731520"/>
          </a:xfrm>
          <a:prstGeom prst="rect">
            <a:avLst/>
          </a:prstGeom>
          <a:noFill/>
        </p:spPr>
        <p:txBody>
          <a:bodyPr wrap="square" anchor="ctr" lIns="45720" rIns="45720" tIns="27432" bIns="27432">
            <a:spAutoFit/>
          </a:bodyPr>
          <a:lstStyle/>
          <a:p>
            <a:pPr algn="ctr"/>
            <a:r>
              <a:rPr sz="2100" b="0" i="0">
                <a:solidFill>
                  <a:srgbClr val="2B2F36"/>
                </a:solidFill>
                <a:latin typeface="Calibri"/>
              </a:rPr>
              <a:t>Given a set of terms and equalities over them, compute the least equivalence relation respecting function symbols</a:t>
            </a:r>
          </a:p>
        </p:txBody>
      </p:sp>
      <p:cxnSp>
        <p:nvCxnSpPr>
          <p:cNvPr id="7" name="Connector 6"/>
          <p:cNvCxnSpPr/>
          <p:nvPr/>
        </p:nvCxnSpPr>
        <p:spPr>
          <a:xfrm>
            <a:off x="4023360" y="2980944"/>
            <a:ext cx="0" cy="804672"/>
          </a:xfrm>
          <a:prstGeom prst="line">
            <a:avLst/>
          </a:prstGeom>
          <a:ln w="19050">
            <a:solidFill>
              <a:srgbClr val="8A8F98"/>
            </a:solidFill>
          </a:ln>
          <a:effectLst/>
        </p:spPr>
      </p:cxnSp>
      <p:cxnSp>
        <p:nvCxnSpPr>
          <p:cNvPr id="8" name="Connector 7"/>
          <p:cNvCxnSpPr/>
          <p:nvPr/>
        </p:nvCxnSpPr>
        <p:spPr>
          <a:xfrm>
            <a:off x="8046720" y="2980944"/>
            <a:ext cx="0" cy="804672"/>
          </a:xfrm>
          <a:prstGeom prst="line">
            <a:avLst/>
          </a:prstGeom>
          <a:ln w="19050">
            <a:solidFill>
              <a:srgbClr val="8A8F98"/>
            </a:solidFill>
          </a:ln>
          <a:effectLst/>
        </p:spPr>
      </p:cxnSp>
      <p:sp>
        <p:nvSpPr>
          <p:cNvPr id="9" name="Rounded Rectangle 8"/>
          <p:cNvSpPr/>
          <p:nvPr/>
        </p:nvSpPr>
        <p:spPr>
          <a:xfrm>
            <a:off x="354330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a</a:t>
            </a:r>
          </a:p>
        </p:txBody>
      </p:sp>
      <p:sp>
        <p:nvSpPr>
          <p:cNvPr id="10" name="Rounded Rectangle 9"/>
          <p:cNvSpPr/>
          <p:nvPr/>
        </p:nvSpPr>
        <p:spPr>
          <a:xfrm>
            <a:off x="5554979"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b</a:t>
            </a:r>
          </a:p>
        </p:txBody>
      </p:sp>
      <p:sp>
        <p:nvSpPr>
          <p:cNvPr id="11" name="Rounded Rectangle 10"/>
          <p:cNvSpPr/>
          <p:nvPr/>
        </p:nvSpPr>
        <p:spPr>
          <a:xfrm>
            <a:off x="756666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c</a:t>
            </a:r>
          </a:p>
        </p:txBody>
      </p:sp>
      <p:sp>
        <p:nvSpPr>
          <p:cNvPr id="12" name="Rounded Rectangle 11"/>
          <p:cNvSpPr/>
          <p:nvPr/>
        </p:nvSpPr>
        <p:spPr>
          <a:xfrm>
            <a:off x="354330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f(a)</a:t>
            </a:r>
          </a:p>
        </p:txBody>
      </p:sp>
      <p:sp>
        <p:nvSpPr>
          <p:cNvPr id="13" name="Rounded Rectangle 12"/>
          <p:cNvSpPr/>
          <p:nvPr/>
        </p:nvSpPr>
        <p:spPr>
          <a:xfrm>
            <a:off x="756666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f(c)</a:t>
            </a:r>
          </a:p>
        </p:txBody>
      </p:sp>
      <p:sp>
        <p:nvSpPr>
          <p:cNvPr id="14" name="TextBox 13"/>
          <p:cNvSpPr txBox="1"/>
          <p:nvPr/>
        </p:nvSpPr>
        <p:spPr>
          <a:xfrm>
            <a:off x="4709160" y="3794760"/>
            <a:ext cx="640080" cy="548640"/>
          </a:xfrm>
          <a:prstGeom prst="rect">
            <a:avLst/>
          </a:prstGeom>
          <a:noFill/>
        </p:spPr>
        <p:txBody>
          <a:bodyPr wrap="square" anchor="ctr" lIns="45720" rIns="45720" tIns="27432" bIns="27432">
            <a:spAutoFit/>
          </a:bodyPr>
          <a:lstStyle/>
          <a:p>
            <a:pPr algn="ctr"/>
            <a:r>
              <a:rPr sz="3000" b="1" i="0">
                <a:solidFill>
                  <a:srgbClr val="C8501E"/>
                </a:solidFill>
                <a:latin typeface="Calibri"/>
              </a:rPr>
              <a:t>=</a:t>
            </a:r>
          </a:p>
        </p:txBody>
      </p:sp>
      <p:sp>
        <p:nvSpPr>
          <p:cNvPr id="15" name="TextBox 14"/>
          <p:cNvSpPr txBox="1"/>
          <p:nvPr/>
        </p:nvSpPr>
        <p:spPr>
          <a:xfrm>
            <a:off x="6720840" y="3794760"/>
            <a:ext cx="640080" cy="548640"/>
          </a:xfrm>
          <a:prstGeom prst="rect">
            <a:avLst/>
          </a:prstGeom>
          <a:noFill/>
        </p:spPr>
        <p:txBody>
          <a:bodyPr wrap="square" anchor="ctr" lIns="45720" rIns="45720" tIns="27432" bIns="27432">
            <a:spAutoFit/>
          </a:bodyPr>
          <a:lstStyle/>
          <a:p>
            <a:pPr algn="ctr"/>
            <a:r>
              <a:rPr sz="3000" b="1" i="0">
                <a:solidFill>
                  <a:srgbClr val="C8501E"/>
                </a:solidFill>
                <a:latin typeface="Calibri"/>
              </a:rPr>
              <a:t>=</a:t>
            </a:r>
          </a:p>
        </p:txBody>
      </p:sp>
      <p:sp>
        <p:nvSpPr>
          <p:cNvPr id="16" name="Rounded Rectangle 15"/>
          <p:cNvSpPr/>
          <p:nvPr/>
        </p:nvSpPr>
        <p:spPr>
          <a:xfrm>
            <a:off x="3287268" y="3547872"/>
            <a:ext cx="5495544" cy="1042416"/>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17" name="TextBox 16"/>
          <p:cNvSpPr txBox="1"/>
          <p:nvPr/>
        </p:nvSpPr>
        <p:spPr>
          <a:xfrm>
            <a:off x="731520" y="5074920"/>
            <a:ext cx="10789920" cy="457200"/>
          </a:xfrm>
          <a:prstGeom prst="rect">
            <a:avLst/>
          </a:prstGeom>
          <a:noFill/>
        </p:spPr>
        <p:txBody>
          <a:bodyPr wrap="square" anchor="t" lIns="45720" rIns="45720" tIns="27432" bIns="27432">
            <a:spAutoFit/>
          </a:bodyPr>
          <a:lstStyle/>
          <a:p>
            <a:pPr algn="ctr"/>
            <a:r>
              <a:rPr sz="2200" b="1" i="0">
                <a:solidFill>
                  <a:srgbClr val="1F2A44"/>
                </a:solidFill>
                <a:latin typeface="Calibri"/>
              </a:rPr>
              <a:t>equivalence:  a ≡ b ≡ 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1463040" y="1143000"/>
            <a:ext cx="9235440" cy="731520"/>
          </a:xfrm>
          <a:prstGeom prst="rect">
            <a:avLst/>
          </a:prstGeom>
          <a:noFill/>
        </p:spPr>
        <p:txBody>
          <a:bodyPr wrap="square" anchor="ctr" lIns="45720" rIns="45720" tIns="27432" bIns="27432">
            <a:spAutoFit/>
          </a:bodyPr>
          <a:lstStyle/>
          <a:p>
            <a:pPr algn="ctr"/>
            <a:r>
              <a:rPr sz="2100" b="0" i="0">
                <a:solidFill>
                  <a:srgbClr val="2B2F36"/>
                </a:solidFill>
                <a:latin typeface="Calibri"/>
              </a:rPr>
              <a:t>Given a set of terms and equalities over them, compute the least equivalence relation respecting function symbols</a:t>
            </a:r>
          </a:p>
        </p:txBody>
      </p:sp>
      <p:cxnSp>
        <p:nvCxnSpPr>
          <p:cNvPr id="7" name="Connector 6"/>
          <p:cNvCxnSpPr/>
          <p:nvPr/>
        </p:nvCxnSpPr>
        <p:spPr>
          <a:xfrm>
            <a:off x="4023360" y="2980944"/>
            <a:ext cx="0" cy="804672"/>
          </a:xfrm>
          <a:prstGeom prst="line">
            <a:avLst/>
          </a:prstGeom>
          <a:ln w="19050">
            <a:solidFill>
              <a:srgbClr val="8A8F98"/>
            </a:solidFill>
          </a:ln>
          <a:effectLst/>
        </p:spPr>
      </p:cxnSp>
      <p:cxnSp>
        <p:nvCxnSpPr>
          <p:cNvPr id="8" name="Connector 7"/>
          <p:cNvCxnSpPr/>
          <p:nvPr/>
        </p:nvCxnSpPr>
        <p:spPr>
          <a:xfrm>
            <a:off x="8046720" y="2980944"/>
            <a:ext cx="0" cy="804672"/>
          </a:xfrm>
          <a:prstGeom prst="line">
            <a:avLst/>
          </a:prstGeom>
          <a:ln w="19050">
            <a:solidFill>
              <a:srgbClr val="8A8F98"/>
            </a:solidFill>
          </a:ln>
          <a:effectLst/>
        </p:spPr>
      </p:cxnSp>
      <p:sp>
        <p:nvSpPr>
          <p:cNvPr id="9" name="Rounded Rectangle 8"/>
          <p:cNvSpPr/>
          <p:nvPr/>
        </p:nvSpPr>
        <p:spPr>
          <a:xfrm>
            <a:off x="354330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a</a:t>
            </a:r>
          </a:p>
        </p:txBody>
      </p:sp>
      <p:sp>
        <p:nvSpPr>
          <p:cNvPr id="10" name="Rounded Rectangle 9"/>
          <p:cNvSpPr/>
          <p:nvPr/>
        </p:nvSpPr>
        <p:spPr>
          <a:xfrm>
            <a:off x="5554979"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b</a:t>
            </a:r>
          </a:p>
        </p:txBody>
      </p:sp>
      <p:sp>
        <p:nvSpPr>
          <p:cNvPr id="11" name="Rounded Rectangle 10"/>
          <p:cNvSpPr/>
          <p:nvPr/>
        </p:nvSpPr>
        <p:spPr>
          <a:xfrm>
            <a:off x="756666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c</a:t>
            </a:r>
          </a:p>
        </p:txBody>
      </p:sp>
      <p:sp>
        <p:nvSpPr>
          <p:cNvPr id="12" name="Rounded Rectangle 11"/>
          <p:cNvSpPr/>
          <p:nvPr/>
        </p:nvSpPr>
        <p:spPr>
          <a:xfrm>
            <a:off x="354330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f(a)</a:t>
            </a:r>
          </a:p>
        </p:txBody>
      </p:sp>
      <p:sp>
        <p:nvSpPr>
          <p:cNvPr id="13" name="Rounded Rectangle 12"/>
          <p:cNvSpPr/>
          <p:nvPr/>
        </p:nvSpPr>
        <p:spPr>
          <a:xfrm>
            <a:off x="756666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f(c)</a:t>
            </a:r>
          </a:p>
        </p:txBody>
      </p:sp>
      <p:sp>
        <p:nvSpPr>
          <p:cNvPr id="14" name="TextBox 13"/>
          <p:cNvSpPr txBox="1"/>
          <p:nvPr/>
        </p:nvSpPr>
        <p:spPr>
          <a:xfrm>
            <a:off x="4709160" y="3794760"/>
            <a:ext cx="640080" cy="548640"/>
          </a:xfrm>
          <a:prstGeom prst="rect">
            <a:avLst/>
          </a:prstGeom>
          <a:noFill/>
        </p:spPr>
        <p:txBody>
          <a:bodyPr wrap="square" anchor="ctr" lIns="45720" rIns="45720" tIns="27432" bIns="27432">
            <a:spAutoFit/>
          </a:bodyPr>
          <a:lstStyle/>
          <a:p>
            <a:pPr algn="ctr"/>
            <a:r>
              <a:rPr sz="3000" b="1" i="0">
                <a:solidFill>
                  <a:srgbClr val="C8501E"/>
                </a:solidFill>
                <a:latin typeface="Calibri"/>
              </a:rPr>
              <a:t>=</a:t>
            </a:r>
          </a:p>
        </p:txBody>
      </p:sp>
      <p:sp>
        <p:nvSpPr>
          <p:cNvPr id="15" name="TextBox 14"/>
          <p:cNvSpPr txBox="1"/>
          <p:nvPr/>
        </p:nvSpPr>
        <p:spPr>
          <a:xfrm>
            <a:off x="6720840" y="3794760"/>
            <a:ext cx="640080" cy="548640"/>
          </a:xfrm>
          <a:prstGeom prst="rect">
            <a:avLst/>
          </a:prstGeom>
          <a:noFill/>
        </p:spPr>
        <p:txBody>
          <a:bodyPr wrap="square" anchor="ctr" lIns="45720" rIns="45720" tIns="27432" bIns="27432">
            <a:spAutoFit/>
          </a:bodyPr>
          <a:lstStyle/>
          <a:p>
            <a:pPr algn="ctr"/>
            <a:r>
              <a:rPr sz="3000" b="1" i="0">
                <a:solidFill>
                  <a:srgbClr val="C8501E"/>
                </a:solidFill>
                <a:latin typeface="Calibri"/>
              </a:rPr>
              <a:t>=</a:t>
            </a:r>
          </a:p>
        </p:txBody>
      </p:sp>
      <p:sp>
        <p:nvSpPr>
          <p:cNvPr id="16" name="Rounded Rectangle 15"/>
          <p:cNvSpPr/>
          <p:nvPr/>
        </p:nvSpPr>
        <p:spPr>
          <a:xfrm>
            <a:off x="3287268" y="3547872"/>
            <a:ext cx="5495544" cy="1042416"/>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17" name="Rounded Rectangle 16"/>
          <p:cNvSpPr/>
          <p:nvPr/>
        </p:nvSpPr>
        <p:spPr>
          <a:xfrm>
            <a:off x="3287268" y="2176272"/>
            <a:ext cx="5495544" cy="1042416"/>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18" name="TextBox 17"/>
          <p:cNvSpPr txBox="1"/>
          <p:nvPr/>
        </p:nvSpPr>
        <p:spPr>
          <a:xfrm>
            <a:off x="731520" y="5074920"/>
            <a:ext cx="10789920" cy="457200"/>
          </a:xfrm>
          <a:prstGeom prst="rect">
            <a:avLst/>
          </a:prstGeom>
          <a:noFill/>
        </p:spPr>
        <p:txBody>
          <a:bodyPr wrap="square" anchor="t" lIns="45720" rIns="45720" tIns="27432" bIns="27432">
            <a:spAutoFit/>
          </a:bodyPr>
          <a:lstStyle/>
          <a:p>
            <a:pPr algn="ctr"/>
            <a:r>
              <a:rPr sz="2200" b="1" i="0">
                <a:solidFill>
                  <a:srgbClr val="1F2A44"/>
                </a:solidFill>
                <a:latin typeface="Calibri"/>
              </a:rPr>
              <a:t>congruence:  equal arguments, so  f(a) ≡ f(c)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1463040" y="1143000"/>
            <a:ext cx="9235440" cy="731520"/>
          </a:xfrm>
          <a:prstGeom prst="rect">
            <a:avLst/>
          </a:prstGeom>
          <a:noFill/>
        </p:spPr>
        <p:txBody>
          <a:bodyPr wrap="square" anchor="ctr" lIns="45720" rIns="45720" tIns="27432" bIns="27432">
            <a:spAutoFit/>
          </a:bodyPr>
          <a:lstStyle/>
          <a:p>
            <a:pPr algn="ctr"/>
            <a:r>
              <a:rPr sz="2100" b="0" i="0">
                <a:solidFill>
                  <a:srgbClr val="2B2F36"/>
                </a:solidFill>
                <a:latin typeface="Calibri"/>
              </a:rPr>
              <a:t>Given a set of terms and equalities over them, compute the least equivalence relation respecting function symbols</a:t>
            </a:r>
          </a:p>
        </p:txBody>
      </p:sp>
      <p:cxnSp>
        <p:nvCxnSpPr>
          <p:cNvPr id="7" name="Connector 6"/>
          <p:cNvCxnSpPr/>
          <p:nvPr/>
        </p:nvCxnSpPr>
        <p:spPr>
          <a:xfrm>
            <a:off x="4023360" y="2980944"/>
            <a:ext cx="0" cy="804672"/>
          </a:xfrm>
          <a:prstGeom prst="line">
            <a:avLst/>
          </a:prstGeom>
          <a:ln w="19050">
            <a:solidFill>
              <a:srgbClr val="8A8F98"/>
            </a:solidFill>
          </a:ln>
          <a:effectLst/>
        </p:spPr>
      </p:cxnSp>
      <p:cxnSp>
        <p:nvCxnSpPr>
          <p:cNvPr id="8" name="Connector 7"/>
          <p:cNvCxnSpPr/>
          <p:nvPr/>
        </p:nvCxnSpPr>
        <p:spPr>
          <a:xfrm>
            <a:off x="8046720" y="2980944"/>
            <a:ext cx="0" cy="804672"/>
          </a:xfrm>
          <a:prstGeom prst="line">
            <a:avLst/>
          </a:prstGeom>
          <a:ln w="19050">
            <a:solidFill>
              <a:srgbClr val="8A8F98"/>
            </a:solidFill>
          </a:ln>
          <a:effectLst/>
        </p:spPr>
      </p:cxnSp>
      <p:sp>
        <p:nvSpPr>
          <p:cNvPr id="9" name="Rounded Rectangle 8"/>
          <p:cNvSpPr/>
          <p:nvPr/>
        </p:nvSpPr>
        <p:spPr>
          <a:xfrm>
            <a:off x="354330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a</a:t>
            </a:r>
          </a:p>
        </p:txBody>
      </p:sp>
      <p:sp>
        <p:nvSpPr>
          <p:cNvPr id="10" name="Rounded Rectangle 9"/>
          <p:cNvSpPr/>
          <p:nvPr/>
        </p:nvSpPr>
        <p:spPr>
          <a:xfrm>
            <a:off x="5554979"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b</a:t>
            </a:r>
          </a:p>
        </p:txBody>
      </p:sp>
      <p:sp>
        <p:nvSpPr>
          <p:cNvPr id="11" name="Rounded Rectangle 10"/>
          <p:cNvSpPr/>
          <p:nvPr/>
        </p:nvSpPr>
        <p:spPr>
          <a:xfrm>
            <a:off x="756666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c</a:t>
            </a:r>
          </a:p>
        </p:txBody>
      </p:sp>
      <p:sp>
        <p:nvSpPr>
          <p:cNvPr id="12" name="Rounded Rectangle 11"/>
          <p:cNvSpPr/>
          <p:nvPr/>
        </p:nvSpPr>
        <p:spPr>
          <a:xfrm>
            <a:off x="354330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f(a)</a:t>
            </a:r>
          </a:p>
        </p:txBody>
      </p:sp>
      <p:sp>
        <p:nvSpPr>
          <p:cNvPr id="13" name="Rounded Rectangle 12"/>
          <p:cNvSpPr/>
          <p:nvPr/>
        </p:nvSpPr>
        <p:spPr>
          <a:xfrm>
            <a:off x="756666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f(c)</a:t>
            </a:r>
          </a:p>
        </p:txBody>
      </p:sp>
      <p:sp>
        <p:nvSpPr>
          <p:cNvPr id="14" name="TextBox 13"/>
          <p:cNvSpPr txBox="1"/>
          <p:nvPr/>
        </p:nvSpPr>
        <p:spPr>
          <a:xfrm>
            <a:off x="4709160" y="3794760"/>
            <a:ext cx="640080" cy="548640"/>
          </a:xfrm>
          <a:prstGeom prst="rect">
            <a:avLst/>
          </a:prstGeom>
          <a:noFill/>
        </p:spPr>
        <p:txBody>
          <a:bodyPr wrap="square" anchor="ctr" lIns="45720" rIns="45720" tIns="27432" bIns="27432">
            <a:spAutoFit/>
          </a:bodyPr>
          <a:lstStyle/>
          <a:p>
            <a:pPr algn="ctr"/>
            <a:r>
              <a:rPr sz="3000" b="1" i="0">
                <a:solidFill>
                  <a:srgbClr val="C8501E"/>
                </a:solidFill>
                <a:latin typeface="Calibri"/>
              </a:rPr>
              <a:t>=</a:t>
            </a:r>
          </a:p>
        </p:txBody>
      </p:sp>
      <p:sp>
        <p:nvSpPr>
          <p:cNvPr id="15" name="TextBox 14"/>
          <p:cNvSpPr txBox="1"/>
          <p:nvPr/>
        </p:nvSpPr>
        <p:spPr>
          <a:xfrm>
            <a:off x="6720840" y="3794760"/>
            <a:ext cx="640080" cy="548640"/>
          </a:xfrm>
          <a:prstGeom prst="rect">
            <a:avLst/>
          </a:prstGeom>
          <a:noFill/>
        </p:spPr>
        <p:txBody>
          <a:bodyPr wrap="square" anchor="ctr" lIns="45720" rIns="45720" tIns="27432" bIns="27432">
            <a:spAutoFit/>
          </a:bodyPr>
          <a:lstStyle/>
          <a:p>
            <a:pPr algn="ctr"/>
            <a:r>
              <a:rPr sz="3000" b="1" i="0">
                <a:solidFill>
                  <a:srgbClr val="C8501E"/>
                </a:solidFill>
                <a:latin typeface="Calibri"/>
              </a:rPr>
              <a:t>=</a:t>
            </a:r>
          </a:p>
        </p:txBody>
      </p:sp>
      <p:sp>
        <p:nvSpPr>
          <p:cNvPr id="16" name="Rounded Rectangle 15"/>
          <p:cNvSpPr/>
          <p:nvPr/>
        </p:nvSpPr>
        <p:spPr>
          <a:xfrm>
            <a:off x="3287268" y="3547872"/>
            <a:ext cx="5495544" cy="1042416"/>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17" name="Rounded Rectangle 16"/>
          <p:cNvSpPr/>
          <p:nvPr/>
        </p:nvSpPr>
        <p:spPr>
          <a:xfrm>
            <a:off x="3287268" y="2176272"/>
            <a:ext cx="5495544" cy="1042416"/>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18" name="Rounded Rectangle 17"/>
          <p:cNvSpPr/>
          <p:nvPr/>
        </p:nvSpPr>
        <p:spPr>
          <a:xfrm>
            <a:off x="3246120" y="5029200"/>
            <a:ext cx="5715000" cy="132588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9" name="TextBox 18"/>
          <p:cNvSpPr txBox="1"/>
          <p:nvPr/>
        </p:nvSpPr>
        <p:spPr>
          <a:xfrm>
            <a:off x="3429000" y="5084064"/>
            <a:ext cx="2743200" cy="292608"/>
          </a:xfrm>
          <a:prstGeom prst="rect">
            <a:avLst/>
          </a:prstGeom>
          <a:noFill/>
        </p:spPr>
        <p:txBody>
          <a:bodyPr wrap="square" anchor="t" lIns="45720" rIns="45720" tIns="27432" bIns="27432">
            <a:spAutoFit/>
          </a:bodyPr>
          <a:lstStyle/>
          <a:p>
            <a:pPr algn="l"/>
            <a:r>
              <a:rPr sz="1300" b="1" i="0">
                <a:solidFill>
                  <a:srgbClr val="6B717A"/>
                </a:solidFill>
                <a:latin typeface="Calibri"/>
              </a:rPr>
              <a:t>Congruence rule</a:t>
            </a:r>
          </a:p>
        </p:txBody>
      </p:sp>
      <p:sp>
        <p:nvSpPr>
          <p:cNvPr id="20" name="TextBox 19"/>
          <p:cNvSpPr txBox="1"/>
          <p:nvPr/>
        </p:nvSpPr>
        <p:spPr>
          <a:xfrm>
            <a:off x="3429000" y="5376672"/>
            <a:ext cx="5349240" cy="384048"/>
          </a:xfrm>
          <a:prstGeom prst="rect">
            <a:avLst/>
          </a:prstGeom>
          <a:noFill/>
        </p:spPr>
        <p:txBody>
          <a:bodyPr wrap="square" anchor="t" lIns="45720" rIns="45720" tIns="27432" bIns="27432">
            <a:spAutoFit/>
          </a:bodyPr>
          <a:lstStyle/>
          <a:p>
            <a:pPr algn="ctr"/>
            <a:r>
              <a:rPr sz="2200" b="0" i="0">
                <a:solidFill>
                  <a:srgbClr val="2B2F36"/>
                </a:solidFill>
                <a:latin typeface="Calibri"/>
              </a:rPr>
              <a:t>s₁ ≡ t₁    …    sₖ ≡ tₖ</a:t>
            </a:r>
          </a:p>
        </p:txBody>
      </p:sp>
      <p:cxnSp>
        <p:nvCxnSpPr>
          <p:cNvPr id="21" name="Connector 20"/>
          <p:cNvCxnSpPr/>
          <p:nvPr/>
        </p:nvCxnSpPr>
        <p:spPr>
          <a:xfrm>
            <a:off x="3886200" y="5815584"/>
            <a:ext cx="4434840" cy="0"/>
          </a:xfrm>
          <a:prstGeom prst="line">
            <a:avLst/>
          </a:prstGeom>
          <a:ln w="22225">
            <a:solidFill>
              <a:srgbClr val="2B2F36"/>
            </a:solidFill>
          </a:ln>
          <a:effectLst/>
        </p:spPr>
      </p:cxnSp>
      <p:sp>
        <p:nvSpPr>
          <p:cNvPr id="22" name="TextBox 21"/>
          <p:cNvSpPr txBox="1"/>
          <p:nvPr/>
        </p:nvSpPr>
        <p:spPr>
          <a:xfrm>
            <a:off x="3429000" y="5870448"/>
            <a:ext cx="5349240" cy="384048"/>
          </a:xfrm>
          <a:prstGeom prst="rect">
            <a:avLst/>
          </a:prstGeom>
          <a:noFill/>
        </p:spPr>
        <p:txBody>
          <a:bodyPr wrap="square" anchor="t" lIns="45720" rIns="45720" tIns="27432" bIns="27432">
            <a:spAutoFit/>
          </a:bodyPr>
          <a:lstStyle/>
          <a:p>
            <a:pPr algn="ctr"/>
            <a:r>
              <a:rPr sz="2200" b="0" i="0">
                <a:solidFill>
                  <a:srgbClr val="2B2F36"/>
                </a:solidFill>
                <a:latin typeface="Calibri"/>
              </a:rPr>
              <a:t>f(s₁, …, sₖ) ≡ f(t₁, …, tₖ)</a:t>
            </a:r>
          </a:p>
        </p:txBody>
      </p:sp>
      <p:sp>
        <p:nvSpPr>
          <p:cNvPr id="23" name="TextBox 22"/>
          <p:cNvSpPr txBox="1"/>
          <p:nvPr/>
        </p:nvSpPr>
        <p:spPr>
          <a:xfrm>
            <a:off x="9052560" y="5029200"/>
            <a:ext cx="2743200" cy="548640"/>
          </a:xfrm>
          <a:prstGeom prst="rect">
            <a:avLst/>
          </a:prstGeom>
          <a:noFill/>
        </p:spPr>
        <p:txBody>
          <a:bodyPr wrap="square" anchor="ctr" lIns="45720" rIns="45720" tIns="27432" bIns="27432">
            <a:spAutoFit/>
          </a:bodyPr>
          <a:lstStyle/>
          <a:p>
            <a:pPr algn="r"/>
            <a:r>
              <a:rPr sz="1100" b="0" i="0">
                <a:solidFill>
                  <a:srgbClr val="6B717A"/>
                </a:solidFill>
                <a:latin typeface="Calibri"/>
              </a:rPr>
              <a:t>Nelson &amp; Oppen 1980   ·   Downey, Sethi &amp; Tarjan 1980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Use in practice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640080" y="1371600"/>
            <a:ext cx="4572000" cy="411480"/>
          </a:xfrm>
          <a:prstGeom prst="rect">
            <a:avLst/>
          </a:prstGeom>
          <a:noFill/>
        </p:spPr>
        <p:txBody>
          <a:bodyPr wrap="square" anchor="t" lIns="45720" rIns="45720" tIns="27432" bIns="27432">
            <a:spAutoFit/>
          </a:bodyPr>
          <a:lstStyle/>
          <a:p>
            <a:pPr algn="l"/>
            <a:r>
              <a:rPr sz="2200" b="1" i="0">
                <a:solidFill>
                  <a:srgbClr val="1F2A44"/>
                </a:solidFill>
                <a:latin typeface="Calibri"/>
              </a:rPr>
              <a:t>Engines</a:t>
            </a:r>
          </a:p>
        </p:txBody>
      </p:sp>
      <p:sp>
        <p:nvSpPr>
          <p:cNvPr id="7" name="TextBox 6"/>
          <p:cNvSpPr txBox="1"/>
          <p:nvPr/>
        </p:nvSpPr>
        <p:spPr>
          <a:xfrm>
            <a:off x="548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SMT solvers</a:t>
            </a:r>
            <a:r>
              <a:rPr sz="1900" b="0" i="0">
                <a:solidFill>
                  <a:srgbClr val="2B2F36"/>
                </a:solidFill>
                <a:latin typeface="Calibri"/>
              </a:rPr>
              <a:t>: Z3, cvc5 (theory of uninterpreted functions)</a:t>
            </a:r>
          </a:p>
          <a:p>
            <a:pPr marL="274320" indent="-237744">
              <a:spcBef>
                <a:spcPts val="600"/>
              </a:spcBef>
              <a:buClr>
                <a:srgbClr val="6B717A"/>
              </a:buClr>
              <a:buChar char="•"/>
            </a:pPr>
            <a:r>
              <a:rPr sz="1900" b="1" i="0">
                <a:solidFill>
                  <a:srgbClr val="2B2F36"/>
                </a:solidFill>
                <a:latin typeface="Calibri"/>
              </a:rPr>
              <a:t>SAT solvers</a:t>
            </a:r>
            <a:r>
              <a:rPr sz="1900" b="0" i="0">
                <a:solidFill>
                  <a:srgbClr val="2B2F36"/>
                </a:solidFill>
                <a:latin typeface="Calibri"/>
              </a:rPr>
              <a:t>: Kissat (clausal congruence closure)</a:t>
            </a:r>
          </a:p>
          <a:p>
            <a:pPr marL="274320" indent="-237744">
              <a:spcBef>
                <a:spcPts val="600"/>
              </a:spcBef>
              <a:buClr>
                <a:srgbClr val="6B717A"/>
              </a:buClr>
              <a:buChar char="•"/>
            </a:pPr>
            <a:r>
              <a:rPr sz="1900" b="1" i="0">
                <a:solidFill>
                  <a:srgbClr val="2B2F36"/>
                </a:solidFill>
                <a:latin typeface="Calibri"/>
              </a:rPr>
              <a:t>Equality saturation</a:t>
            </a:r>
            <a:r>
              <a:rPr sz="1900" b="0" i="0">
                <a:solidFill>
                  <a:srgbClr val="2B2F36"/>
                </a:solidFill>
                <a:latin typeface="Calibri"/>
              </a:rPr>
              <a:t>: egg, egglog</a:t>
            </a:r>
          </a:p>
          <a:p>
            <a:pPr marL="274320" indent="-237744">
              <a:spcBef>
                <a:spcPts val="600"/>
              </a:spcBef>
              <a:buClr>
                <a:srgbClr val="6B717A"/>
              </a:buClr>
              <a:buChar char="•"/>
            </a:pPr>
            <a:r>
              <a:rPr sz="1900" b="1" i="0">
                <a:solidFill>
                  <a:srgbClr val="2B2F36"/>
                </a:solidFill>
                <a:latin typeface="Calibri"/>
              </a:rPr>
              <a:t>Type unification</a:t>
            </a:r>
          </a:p>
        </p:txBody>
      </p:sp>
      <p:sp>
        <p:nvSpPr>
          <p:cNvPr id="8" name="TextBox 7"/>
          <p:cNvSpPr txBox="1"/>
          <p:nvPr/>
        </p:nvSpPr>
        <p:spPr>
          <a:xfrm>
            <a:off x="6355080" y="1371600"/>
            <a:ext cx="4572000" cy="411480"/>
          </a:xfrm>
          <a:prstGeom prst="rect">
            <a:avLst/>
          </a:prstGeom>
          <a:noFill/>
        </p:spPr>
        <p:txBody>
          <a:bodyPr wrap="square" anchor="t" lIns="45720" rIns="45720" tIns="27432" bIns="27432">
            <a:spAutoFit/>
          </a:bodyPr>
          <a:lstStyle/>
          <a:p>
            <a:pPr algn="l"/>
            <a:r>
              <a:rPr sz="2200" b="1" i="0">
                <a:solidFill>
                  <a:srgbClr val="1F2A44"/>
                </a:solidFill>
                <a:latin typeface="Calibri"/>
              </a:rPr>
              <a:t>Applications</a:t>
            </a:r>
          </a:p>
        </p:txBody>
      </p:sp>
      <p:sp>
        <p:nvSpPr>
          <p:cNvPr id="9" name="TextBox 8"/>
          <p:cNvSpPr txBox="1"/>
          <p:nvPr/>
        </p:nvSpPr>
        <p:spPr>
          <a:xfrm>
            <a:off x="6263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Circuit equivalence checking</a:t>
            </a:r>
          </a:p>
          <a:p>
            <a:pPr marL="274320" indent="-237744">
              <a:spcBef>
                <a:spcPts val="600"/>
              </a:spcBef>
              <a:buClr>
                <a:srgbClr val="6B717A"/>
              </a:buClr>
              <a:buChar char="•"/>
            </a:pPr>
            <a:r>
              <a:rPr sz="1900" b="1" i="0">
                <a:solidFill>
                  <a:srgbClr val="2B2F36"/>
                </a:solidFill>
                <a:latin typeface="Calibri"/>
              </a:rPr>
              <a:t>Software verification</a:t>
            </a:r>
            <a:r>
              <a:rPr sz="1900" b="0" i="0">
                <a:solidFill>
                  <a:srgbClr val="2B2F36"/>
                </a:solidFill>
                <a:latin typeface="Calibri"/>
              </a:rPr>
              <a:t>: Dafny, Verus</a:t>
            </a:r>
          </a:p>
          <a:p>
            <a:pPr marL="274320" indent="-237744">
              <a:spcBef>
                <a:spcPts val="600"/>
              </a:spcBef>
              <a:buClr>
                <a:srgbClr val="6B717A"/>
              </a:buClr>
              <a:buChar char="•"/>
            </a:pPr>
            <a:r>
              <a:rPr sz="1900" b="1" i="0">
                <a:solidFill>
                  <a:srgbClr val="2B2F36"/>
                </a:solidFill>
                <a:latin typeface="Calibri"/>
              </a:rPr>
              <a:t>Hardware design</a:t>
            </a:r>
          </a:p>
          <a:p>
            <a:pPr marL="274320" indent="-237744">
              <a:spcBef>
                <a:spcPts val="600"/>
              </a:spcBef>
              <a:buClr>
                <a:srgbClr val="6B717A"/>
              </a:buClr>
              <a:buChar char="•"/>
            </a:pPr>
            <a:r>
              <a:rPr sz="1900" b="1" i="0">
                <a:solidFill>
                  <a:srgbClr val="2B2F36"/>
                </a:solidFill>
                <a:latin typeface="Calibri"/>
              </a:rPr>
              <a:t>Theorem proving</a:t>
            </a:r>
            <a:r>
              <a:rPr sz="1900" b="0" i="0">
                <a:solidFill>
                  <a:srgbClr val="2B2F36"/>
                </a:solidFill>
                <a:latin typeface="Calibri"/>
              </a:rPr>
              <a:t>: Lean grind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Use in practice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640080" y="1371600"/>
            <a:ext cx="4572000" cy="411480"/>
          </a:xfrm>
          <a:prstGeom prst="rect">
            <a:avLst/>
          </a:prstGeom>
          <a:noFill/>
        </p:spPr>
        <p:txBody>
          <a:bodyPr wrap="square" anchor="t" lIns="45720" rIns="45720" tIns="27432" bIns="27432">
            <a:spAutoFit/>
          </a:bodyPr>
          <a:lstStyle/>
          <a:p>
            <a:pPr algn="l"/>
            <a:r>
              <a:rPr sz="2200" b="1" i="0">
                <a:solidFill>
                  <a:srgbClr val="1F2A44"/>
                </a:solidFill>
                <a:latin typeface="Calibri"/>
              </a:rPr>
              <a:t>Engines</a:t>
            </a:r>
          </a:p>
        </p:txBody>
      </p:sp>
      <p:sp>
        <p:nvSpPr>
          <p:cNvPr id="7" name="TextBox 6"/>
          <p:cNvSpPr txBox="1"/>
          <p:nvPr/>
        </p:nvSpPr>
        <p:spPr>
          <a:xfrm>
            <a:off x="548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SMT solvers</a:t>
            </a:r>
            <a:r>
              <a:rPr sz="1900" b="0" i="0">
                <a:solidFill>
                  <a:srgbClr val="2B2F36"/>
                </a:solidFill>
                <a:latin typeface="Calibri"/>
              </a:rPr>
              <a:t>: Z3, cvc5 (theory of uninterpreted functions)</a:t>
            </a:r>
          </a:p>
          <a:p>
            <a:pPr marL="274320" indent="-237744">
              <a:spcBef>
                <a:spcPts val="600"/>
              </a:spcBef>
              <a:buClr>
                <a:srgbClr val="6B717A"/>
              </a:buClr>
              <a:buChar char="•"/>
            </a:pPr>
            <a:r>
              <a:rPr sz="1900" b="1" i="0">
                <a:solidFill>
                  <a:srgbClr val="2B2F36"/>
                </a:solidFill>
                <a:latin typeface="Calibri"/>
              </a:rPr>
              <a:t>SAT solvers</a:t>
            </a:r>
            <a:r>
              <a:rPr sz="1900" b="0" i="0">
                <a:solidFill>
                  <a:srgbClr val="2B2F36"/>
                </a:solidFill>
                <a:latin typeface="Calibri"/>
              </a:rPr>
              <a:t>: Kissat (clausal congruence closure)</a:t>
            </a:r>
          </a:p>
          <a:p>
            <a:pPr marL="274320" indent="-237744">
              <a:spcBef>
                <a:spcPts val="600"/>
              </a:spcBef>
              <a:buClr>
                <a:srgbClr val="6B717A"/>
              </a:buClr>
              <a:buChar char="•"/>
            </a:pPr>
            <a:r>
              <a:rPr sz="1900" b="1" i="0">
                <a:solidFill>
                  <a:srgbClr val="2B2F36"/>
                </a:solidFill>
                <a:latin typeface="Calibri"/>
              </a:rPr>
              <a:t>Equality saturation</a:t>
            </a:r>
            <a:r>
              <a:rPr sz="1900" b="0" i="0">
                <a:solidFill>
                  <a:srgbClr val="2B2F36"/>
                </a:solidFill>
                <a:latin typeface="Calibri"/>
              </a:rPr>
              <a:t>: egg, egglog</a:t>
            </a:r>
          </a:p>
          <a:p>
            <a:pPr marL="274320" indent="-237744">
              <a:spcBef>
                <a:spcPts val="600"/>
              </a:spcBef>
              <a:buClr>
                <a:srgbClr val="6B717A"/>
              </a:buClr>
              <a:buChar char="•"/>
            </a:pPr>
            <a:r>
              <a:rPr sz="1900" b="1" i="0">
                <a:solidFill>
                  <a:srgbClr val="2B2F36"/>
                </a:solidFill>
                <a:latin typeface="Calibri"/>
              </a:rPr>
              <a:t>Type unification</a:t>
            </a:r>
          </a:p>
        </p:txBody>
      </p:sp>
      <p:sp>
        <p:nvSpPr>
          <p:cNvPr id="8" name="TextBox 7"/>
          <p:cNvSpPr txBox="1"/>
          <p:nvPr/>
        </p:nvSpPr>
        <p:spPr>
          <a:xfrm>
            <a:off x="6355080" y="1371600"/>
            <a:ext cx="4572000" cy="411480"/>
          </a:xfrm>
          <a:prstGeom prst="rect">
            <a:avLst/>
          </a:prstGeom>
          <a:noFill/>
        </p:spPr>
        <p:txBody>
          <a:bodyPr wrap="square" anchor="t" lIns="45720" rIns="45720" tIns="27432" bIns="27432">
            <a:spAutoFit/>
          </a:bodyPr>
          <a:lstStyle/>
          <a:p>
            <a:pPr algn="l"/>
            <a:r>
              <a:rPr sz="2200" b="1" i="0">
                <a:solidFill>
                  <a:srgbClr val="1F2A44"/>
                </a:solidFill>
                <a:latin typeface="Calibri"/>
              </a:rPr>
              <a:t>Applications</a:t>
            </a:r>
          </a:p>
        </p:txBody>
      </p:sp>
      <p:sp>
        <p:nvSpPr>
          <p:cNvPr id="9" name="TextBox 8"/>
          <p:cNvSpPr txBox="1"/>
          <p:nvPr/>
        </p:nvSpPr>
        <p:spPr>
          <a:xfrm>
            <a:off x="6263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Circuit equivalence checking</a:t>
            </a:r>
          </a:p>
          <a:p>
            <a:pPr marL="274320" indent="-237744">
              <a:spcBef>
                <a:spcPts val="600"/>
              </a:spcBef>
              <a:buClr>
                <a:srgbClr val="6B717A"/>
              </a:buClr>
              <a:buChar char="•"/>
            </a:pPr>
            <a:r>
              <a:rPr sz="1900" b="1" i="0">
                <a:solidFill>
                  <a:srgbClr val="2B2F36"/>
                </a:solidFill>
                <a:latin typeface="Calibri"/>
              </a:rPr>
              <a:t>Software verification</a:t>
            </a:r>
            <a:r>
              <a:rPr sz="1900" b="0" i="0">
                <a:solidFill>
                  <a:srgbClr val="2B2F36"/>
                </a:solidFill>
                <a:latin typeface="Calibri"/>
              </a:rPr>
              <a:t>: Dafny, Verus</a:t>
            </a:r>
          </a:p>
          <a:p>
            <a:pPr marL="274320" indent="-237744">
              <a:spcBef>
                <a:spcPts val="600"/>
              </a:spcBef>
              <a:buClr>
                <a:srgbClr val="6B717A"/>
              </a:buClr>
              <a:buChar char="•"/>
            </a:pPr>
            <a:r>
              <a:rPr sz="1900" b="1" i="0">
                <a:solidFill>
                  <a:srgbClr val="2B2F36"/>
                </a:solidFill>
                <a:latin typeface="Calibri"/>
              </a:rPr>
              <a:t>Hardware design</a:t>
            </a:r>
          </a:p>
          <a:p>
            <a:pPr marL="274320" indent="-237744">
              <a:spcBef>
                <a:spcPts val="600"/>
              </a:spcBef>
              <a:buClr>
                <a:srgbClr val="6B717A"/>
              </a:buClr>
              <a:buChar char="•"/>
            </a:pPr>
            <a:r>
              <a:rPr sz="1900" b="1" i="0">
                <a:solidFill>
                  <a:srgbClr val="2B2F36"/>
                </a:solidFill>
                <a:latin typeface="Calibri"/>
              </a:rPr>
              <a:t>Theorem proving</a:t>
            </a:r>
            <a:r>
              <a:rPr sz="1900" b="0" i="0">
                <a:solidFill>
                  <a:srgbClr val="2B2F36"/>
                </a:solidFill>
                <a:latin typeface="Calibri"/>
              </a:rPr>
              <a:t>: Lean grind</a:t>
            </a:r>
          </a:p>
        </p:txBody>
      </p:sp>
      <p:sp>
        <p:nvSpPr>
          <p:cNvPr id="10" name="Rounded Rectangle 9"/>
          <p:cNvSpPr/>
          <p:nvPr/>
        </p:nvSpPr>
        <p:spPr>
          <a:xfrm>
            <a:off x="548640" y="4297680"/>
            <a:ext cx="11064240" cy="914400"/>
          </a:xfrm>
          <a:prstGeom prst="roundRect">
            <a:avLst>
              <a:gd name="adj" fmla="val 15000"/>
            </a:avLst>
          </a:prstGeom>
          <a:solidFill>
            <a:srgbClr val="F4F5F7"/>
          </a:solidFill>
          <a:ln>
            <a:noFill/>
          </a:ln>
          <a:effectLst/>
        </p:spPr>
        <p:txBody>
          <a:bodyPr rtlCol="0" anchor="ctr" lIns="54864" rIns="54864" tIns="27432" bIns="27432" wrap="square"/>
          <a:lstStyle/>
          <a:p>
            <a:pPr algn="ctr"/>
            <a:r>
              <a:rPr sz="2000" b="1" i="0">
                <a:solidFill>
                  <a:srgbClr val="1F2A44"/>
                </a:solidFill>
                <a:latin typeface="Calibri"/>
              </a:rPr>
              <a:t>Called repeatedly per solver run: the cost adds up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State of the art</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10</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822960" y="1737360"/>
            <a:ext cx="10789920" cy="2743200"/>
          </a:xfrm>
          <a:prstGeom prst="rect">
            <a:avLst/>
          </a:prstGeom>
          <a:noFill/>
        </p:spPr>
        <p:txBody>
          <a:bodyPr wrap="square" lIns="45720" rIns="45720">
            <a:spAutoFit/>
          </a:bodyPr>
          <a:lstStyle/>
          <a:p>
            <a:pPr marL="274320" indent="-237744">
              <a:spcBef>
                <a:spcPts val="1800"/>
              </a:spcBef>
              <a:buClr>
                <a:srgbClr val="6B717A"/>
              </a:buClr>
              <a:buChar char="•"/>
            </a:pPr>
            <a:r>
              <a:rPr sz="2600" b="0" i="0">
                <a:solidFill>
                  <a:srgbClr val="2B2F36"/>
                </a:solidFill>
                <a:latin typeface="Calibri"/>
              </a:rPr>
              <a:t>Practice: every implementation </a:t>
            </a:r>
            <a:r>
              <a:rPr sz="2600" b="1" i="0">
                <a:solidFill>
                  <a:srgbClr val="2B2F36"/>
                </a:solidFill>
                <a:latin typeface="Calibri"/>
              </a:rPr>
              <a:t>fully sequential</a:t>
            </a:r>
            <a:r>
              <a:rPr sz="2600" b="0" i="0">
                <a:solidFill>
                  <a:srgbClr val="2B2F36"/>
                </a:solidFill>
                <a:latin typeface="Calibri"/>
              </a:rPr>
              <a:t>, on machines with </a:t>
            </a:r>
            <a:r>
              <a:rPr sz="2600" b="1" i="0">
                <a:solidFill>
                  <a:srgbClr val="2B2F36"/>
                </a:solidFill>
                <a:latin typeface="Calibri"/>
              </a:rPr>
              <a:t>96 cores</a:t>
            </a:r>
          </a:p>
          <a:p>
            <a:pPr marL="274320" indent="-237744">
              <a:spcBef>
                <a:spcPts val="1800"/>
              </a:spcBef>
              <a:buClr>
                <a:srgbClr val="6B717A"/>
              </a:buClr>
              <a:buChar char="•"/>
            </a:pPr>
            <a:r>
              <a:rPr sz="2600" b="0" i="0">
                <a:solidFill>
                  <a:srgbClr val="2B2F36"/>
                </a:solidFill>
                <a:latin typeface="Calibri"/>
              </a:rPr>
              <a:t>Theory: congruence closure is </a:t>
            </a:r>
            <a:r>
              <a:rPr sz="2600" b="1" i="0">
                <a:solidFill>
                  <a:srgbClr val="2B2F36"/>
                </a:solidFill>
                <a:latin typeface="Calibri"/>
              </a:rPr>
              <a:t>P-complete</a:t>
            </a:r>
          </a:p>
          <a:p>
            <a:pPr marL="274320" indent="-237744">
              <a:spcBef>
                <a:spcPts val="1800"/>
              </a:spcBef>
              <a:buClr>
                <a:srgbClr val="6B717A"/>
              </a:buClr>
              <a:buChar char="•"/>
            </a:pPr>
            <a:r>
              <a:rPr sz="2600" b="0" i="0">
                <a:solidFill>
                  <a:srgbClr val="2B2F36"/>
                </a:solidFill>
                <a:latin typeface="Calibri"/>
              </a:rPr>
              <a:t>Worst case: likely </a:t>
            </a:r>
            <a:r>
              <a:rPr sz="2600" b="1" i="0">
                <a:solidFill>
                  <a:srgbClr val="2B2F36"/>
                </a:solidFill>
                <a:latin typeface="Calibri"/>
              </a:rPr>
              <a:t>inherently sequential</a:t>
            </a:r>
          </a:p>
        </p:txBody>
      </p:sp>
      <p:sp>
        <p:nvSpPr>
          <p:cNvPr id="7" name="TextBox 6"/>
          <p:cNvSpPr txBox="1"/>
          <p:nvPr/>
        </p:nvSpPr>
        <p:spPr>
          <a:xfrm>
            <a:off x="822960" y="4023360"/>
            <a:ext cx="10789920" cy="320040"/>
          </a:xfrm>
          <a:prstGeom prst="rect">
            <a:avLst/>
          </a:prstGeom>
          <a:noFill/>
        </p:spPr>
        <p:txBody>
          <a:bodyPr wrap="square" anchor="t" lIns="45720" rIns="45720" tIns="27432" bIns="27432">
            <a:spAutoFit/>
          </a:bodyPr>
          <a:lstStyle/>
          <a:p>
            <a:pPr algn="l"/>
            <a:r>
              <a:rPr sz="1300" b="0" i="0">
                <a:solidFill>
                  <a:srgbClr val="6B717A"/>
                </a:solidFill>
                <a:latin typeface="Calibri"/>
              </a:rPr>
              <a:t>Kanellakis &amp; Revesz 1989</a:t>
            </a:r>
          </a:p>
        </p:txBody>
      </p:sp>
      <p:sp>
        <p:nvSpPr>
          <p:cNvPr id="8" name="Rounded Rectangle 7"/>
          <p:cNvSpPr/>
          <p:nvPr/>
        </p:nvSpPr>
        <p:spPr>
          <a:xfrm>
            <a:off x="566928" y="4800600"/>
            <a:ext cx="11064240" cy="1097280"/>
          </a:xfrm>
          <a:prstGeom prst="roundRect">
            <a:avLst>
              <a:gd name="adj" fmla="val 15000"/>
            </a:avLst>
          </a:prstGeom>
          <a:solidFill>
            <a:srgbClr val="1F2A44"/>
          </a:solidFill>
          <a:ln>
            <a:noFill/>
          </a:ln>
          <a:effectLst/>
        </p:spPr>
        <p:txBody>
          <a:bodyPr rtlCol="0" anchor="ctr" lIns="54864" rIns="54864" tIns="27432" bIns="27432" wrap="square"/>
          <a:lstStyle/>
          <a:p>
            <a:pPr algn="ctr"/>
            <a:r>
              <a:rPr sz="2400" b="1" i="0">
                <a:solidFill>
                  <a:srgbClr val="FFFFFF"/>
                </a:solidFill>
                <a:latin typeface="Calibri"/>
              </a:rPr>
              <a:t>Question: worst case is sequential.</a:t>
            </a:r>
          </a:p>
          <a:p>
            <a:pPr algn="ctr"/>
            <a:r>
              <a:rPr sz="2400" b="1" i="0">
                <a:solidFill>
                  <a:srgbClr val="FFFFFF"/>
                </a:solidFill>
                <a:latin typeface="Calibri"/>
              </a:rPr>
              <a:t>Are the instances people actually solve?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Contributions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11</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1371600" y="1938528"/>
            <a:ext cx="566928" cy="566928"/>
          </a:xfrm>
          <a:prstGeom prst="roundRect">
            <a:avLst>
              <a:gd name="adj" fmla="val 50000"/>
            </a:avLst>
          </a:prstGeom>
          <a:solidFill>
            <a:srgbClr val="C8501E"/>
          </a:solidFill>
          <a:ln>
            <a:noFill/>
          </a:ln>
          <a:effectLst/>
        </p:spPr>
        <p:txBody>
          <a:bodyPr rtlCol="0" anchor="ctr" lIns="54864" rIns="54864" tIns="27432" bIns="27432" wrap="square"/>
          <a:lstStyle/>
          <a:p>
            <a:pPr algn="ctr"/>
            <a:r>
              <a:rPr sz="2000" b="1" i="0">
                <a:solidFill>
                  <a:srgbClr val="FFFFFF"/>
                </a:solidFill>
                <a:latin typeface="Calibri"/>
              </a:rPr>
              <a:t>1</a:t>
            </a:r>
          </a:p>
        </p:txBody>
      </p:sp>
      <p:sp>
        <p:nvSpPr>
          <p:cNvPr id="7" name="TextBox 6"/>
          <p:cNvSpPr txBox="1"/>
          <p:nvPr/>
        </p:nvSpPr>
        <p:spPr>
          <a:xfrm>
            <a:off x="2148840" y="1920240"/>
            <a:ext cx="9144000" cy="603504"/>
          </a:xfrm>
          <a:prstGeom prst="rect">
            <a:avLst/>
          </a:prstGeom>
          <a:noFill/>
        </p:spPr>
        <p:txBody>
          <a:bodyPr wrap="square" anchor="ctr" lIns="45720" rIns="45720" tIns="27432" bIns="27432">
            <a:spAutoFit/>
          </a:bodyPr>
          <a:lstStyle/>
          <a:p>
            <a:pPr algn="l"/>
            <a:r>
              <a:rPr sz="2600" b="1" i="0">
                <a:solidFill>
                  <a:srgbClr val="1F2A44"/>
                </a:solidFill>
                <a:latin typeface="Calibri"/>
              </a:rPr>
              <a:t>Two bulk-synchronous parallel algorithms: ParentCC and FilterCC</a:t>
            </a:r>
          </a:p>
        </p:txBody>
      </p:sp>
      <p:sp>
        <p:nvSpPr>
          <p:cNvPr id="8" name="Rounded Rectangle 7"/>
          <p:cNvSpPr/>
          <p:nvPr/>
        </p:nvSpPr>
        <p:spPr>
          <a:xfrm>
            <a:off x="1371600" y="3081528"/>
            <a:ext cx="566928" cy="566928"/>
          </a:xfrm>
          <a:prstGeom prst="roundRect">
            <a:avLst>
              <a:gd name="adj" fmla="val 50000"/>
            </a:avLst>
          </a:prstGeom>
          <a:solidFill>
            <a:srgbClr val="C8501E"/>
          </a:solidFill>
          <a:ln>
            <a:noFill/>
          </a:ln>
          <a:effectLst/>
        </p:spPr>
        <p:txBody>
          <a:bodyPr rtlCol="0" anchor="ctr" lIns="54864" rIns="54864" tIns="27432" bIns="27432" wrap="square"/>
          <a:lstStyle/>
          <a:p>
            <a:pPr algn="ctr"/>
            <a:r>
              <a:rPr sz="2000" b="1" i="0">
                <a:solidFill>
                  <a:srgbClr val="FFFFFF"/>
                </a:solidFill>
                <a:latin typeface="Calibri"/>
              </a:rPr>
              <a:t>2</a:t>
            </a:r>
          </a:p>
        </p:txBody>
      </p:sp>
      <p:sp>
        <p:nvSpPr>
          <p:cNvPr id="9" name="TextBox 8"/>
          <p:cNvSpPr txBox="1"/>
          <p:nvPr/>
        </p:nvSpPr>
        <p:spPr>
          <a:xfrm>
            <a:off x="2148840" y="3063240"/>
            <a:ext cx="9144000" cy="603504"/>
          </a:xfrm>
          <a:prstGeom prst="rect">
            <a:avLst/>
          </a:prstGeom>
          <a:noFill/>
        </p:spPr>
        <p:txBody>
          <a:bodyPr wrap="square" anchor="ctr" lIns="45720" rIns="45720" tIns="27432" bIns="27432">
            <a:spAutoFit/>
          </a:bodyPr>
          <a:lstStyle/>
          <a:p>
            <a:pPr algn="l"/>
            <a:r>
              <a:rPr sz="2600" b="1" i="0">
                <a:solidFill>
                  <a:srgbClr val="1F2A44"/>
                </a:solidFill>
                <a:latin typeface="Calibri"/>
              </a:rPr>
              <a:t>Workload characterization for parallelization effectiveness</a:t>
            </a:r>
          </a:p>
        </p:txBody>
      </p:sp>
      <p:sp>
        <p:nvSpPr>
          <p:cNvPr id="10" name="Rounded Rectangle 9"/>
          <p:cNvSpPr/>
          <p:nvPr/>
        </p:nvSpPr>
        <p:spPr>
          <a:xfrm>
            <a:off x="1371600" y="4224527"/>
            <a:ext cx="566928" cy="566928"/>
          </a:xfrm>
          <a:prstGeom prst="roundRect">
            <a:avLst>
              <a:gd name="adj" fmla="val 50000"/>
            </a:avLst>
          </a:prstGeom>
          <a:solidFill>
            <a:srgbClr val="C8501E"/>
          </a:solidFill>
          <a:ln>
            <a:noFill/>
          </a:ln>
          <a:effectLst/>
        </p:spPr>
        <p:txBody>
          <a:bodyPr rtlCol="0" anchor="ctr" lIns="54864" rIns="54864" tIns="27432" bIns="27432" wrap="square"/>
          <a:lstStyle/>
          <a:p>
            <a:pPr algn="ctr"/>
            <a:r>
              <a:rPr sz="2000" b="1" i="0">
                <a:solidFill>
                  <a:srgbClr val="FFFFFF"/>
                </a:solidFill>
                <a:latin typeface="Calibri"/>
              </a:rPr>
              <a:t>3</a:t>
            </a:r>
          </a:p>
        </p:txBody>
      </p:sp>
      <p:sp>
        <p:nvSpPr>
          <p:cNvPr id="11" name="TextBox 10"/>
          <p:cNvSpPr txBox="1"/>
          <p:nvPr/>
        </p:nvSpPr>
        <p:spPr>
          <a:xfrm>
            <a:off x="2148840" y="4206240"/>
            <a:ext cx="9144000" cy="603504"/>
          </a:xfrm>
          <a:prstGeom prst="rect">
            <a:avLst/>
          </a:prstGeom>
          <a:noFill/>
        </p:spPr>
        <p:txBody>
          <a:bodyPr wrap="square" anchor="ctr" lIns="45720" rIns="45720" tIns="27432" bIns="27432">
            <a:spAutoFit/>
          </a:bodyPr>
          <a:lstStyle/>
          <a:p>
            <a:pPr algn="l"/>
            <a:r>
              <a:rPr sz="2600" b="1" i="0">
                <a:solidFill>
                  <a:srgbClr val="1F2A44"/>
                </a:solidFill>
                <a:latin typeface="Calibri"/>
              </a:rPr>
              <a:t>Evaluation demonstrating effective speedup in practice</a:t>
            </a:r>
          </a:p>
        </p:txBody>
      </p:sp>
      <p:sp>
        <p:nvSpPr>
          <p:cNvPr id="12" name="TextBox 11"/>
          <p:cNvSpPr txBox="1"/>
          <p:nvPr/>
        </p:nvSpPr>
        <p:spPr>
          <a:xfrm>
            <a:off x="1371600" y="5760720"/>
            <a:ext cx="9144000" cy="365760"/>
          </a:xfrm>
          <a:prstGeom prst="rect">
            <a:avLst/>
          </a:prstGeom>
          <a:noFill/>
        </p:spPr>
        <p:txBody>
          <a:bodyPr wrap="square" anchor="t" lIns="45720" rIns="45720" tIns="27432" bIns="27432">
            <a:spAutoFit/>
          </a:bodyPr>
          <a:lstStyle/>
          <a:p>
            <a:pPr algn="l"/>
            <a:r>
              <a:rPr sz="1600" b="0" i="0">
                <a:solidFill>
                  <a:srgbClr val="6B717A"/>
                </a:solidFill>
                <a:latin typeface="Calibri"/>
              </a:rPr>
              <a:t>github.com/amarshah10/ParallelEgraph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12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C₂</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13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C₂</a:t>
            </a:r>
          </a:p>
        </p:txBody>
      </p:sp>
      <p:sp>
        <p:nvSpPr>
          <p:cNvPr id="8" name="TextBox 7"/>
          <p:cNvSpPr txBox="1"/>
          <p:nvPr/>
        </p:nvSpPr>
        <p:spPr>
          <a:xfrm>
            <a:off x="704088" y="1188720"/>
            <a:ext cx="10789920" cy="548640"/>
          </a:xfrm>
          <a:prstGeom prst="rect">
            <a:avLst/>
          </a:prstGeom>
          <a:noFill/>
        </p:spPr>
        <p:txBody>
          <a:bodyPr wrap="square" anchor="t" lIns="45720" rIns="45720" tIns="27432" bIns="27432">
            <a:spAutoFit/>
          </a:bodyPr>
          <a:lstStyle/>
          <a:p>
            <a:pPr algn="ctr"/>
            <a:r>
              <a:rPr sz="2800" b="1" i="0">
                <a:solidFill>
                  <a:srgbClr val="1F2A44"/>
                </a:solidFill>
                <a:latin typeface="Calibri"/>
              </a:rPr>
              <a:t>Are C₁ and C₂ equivalent?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14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C₂</a:t>
            </a:r>
          </a:p>
        </p:txBody>
      </p:sp>
      <p:sp>
        <p:nvSpPr>
          <p:cNvPr id="8" name="TextBox 7"/>
          <p:cNvSpPr txBox="1"/>
          <p:nvPr/>
        </p:nvSpPr>
        <p:spPr>
          <a:xfrm>
            <a:off x="704088" y="1188720"/>
            <a:ext cx="10789920" cy="548640"/>
          </a:xfrm>
          <a:prstGeom prst="rect">
            <a:avLst/>
          </a:prstGeom>
          <a:noFill/>
        </p:spPr>
        <p:txBody>
          <a:bodyPr wrap="square" anchor="t" lIns="45720" rIns="45720" tIns="27432" bIns="27432">
            <a:spAutoFit/>
          </a:bodyPr>
          <a:lstStyle/>
          <a:p>
            <a:pPr algn="ctr"/>
            <a:r>
              <a:rPr sz="2800" b="1" i="0">
                <a:solidFill>
                  <a:srgbClr val="1F2A44"/>
                </a:solidFill>
                <a:latin typeface="Calibri"/>
              </a:rPr>
              <a:t>Are C₁ and C₂ equivalent?</a:t>
            </a:r>
          </a:p>
        </p:txBody>
      </p:sp>
      <p:sp>
        <p:nvSpPr>
          <p:cNvPr id="9" name="Rounded Rectangle 8"/>
          <p:cNvSpPr/>
          <p:nvPr/>
        </p:nvSpPr>
        <p:spPr>
          <a:xfrm>
            <a:off x="4407408" y="5074920"/>
            <a:ext cx="3383280" cy="457200"/>
          </a:xfrm>
          <a:prstGeom prst="roundRect">
            <a:avLst>
              <a:gd name="adj" fmla="val 15000"/>
            </a:avLst>
          </a:prstGeom>
          <a:solidFill>
            <a:srgbClr val="EEF0F3"/>
          </a:solidFill>
          <a:ln w="15875">
            <a:solidFill>
              <a:srgbClr val="9AA0A8"/>
            </a:solidFill>
          </a:ln>
          <a:effectLst/>
        </p:spPr>
        <p:txBody>
          <a:bodyPr rtlCol="0" anchor="ctr" lIns="54864" rIns="54864" tIns="27432" bIns="27432" wrap="square"/>
          <a:lstStyle/>
          <a:p>
            <a:pPr algn="ctr"/>
            <a:r>
              <a:rPr sz="1500" b="0" i="0">
                <a:solidFill>
                  <a:srgbClr val="2B2F36"/>
                </a:solidFill>
                <a:latin typeface="Calibri"/>
              </a:rPr>
              <a:t>same inputs  r, s, u, v, c</a:t>
            </a:r>
          </a:p>
        </p:txBody>
      </p:sp>
      <p:cxnSp>
        <p:nvCxnSpPr>
          <p:cNvPr id="10" name="Connector 9"/>
          <p:cNvCxnSpPr/>
          <p:nvPr/>
        </p:nvCxnSpPr>
        <p:spPr>
          <a:xfrm flipV="1">
            <a:off x="4617720" y="4663440"/>
            <a:ext cx="0" cy="411480"/>
          </a:xfrm>
          <a:prstGeom prst="line">
            <a:avLst/>
          </a:prstGeom>
          <a:ln w="15875">
            <a:solidFill>
              <a:srgbClr val="8A8F98"/>
            </a:solidFill>
            <a:tailEnd type="triangle" w="med" len="med"/>
          </a:ln>
          <a:effectLst/>
        </p:spPr>
      </p:cxnSp>
      <p:cxnSp>
        <p:nvCxnSpPr>
          <p:cNvPr id="11" name="Connector 10"/>
          <p:cNvCxnSpPr/>
          <p:nvPr/>
        </p:nvCxnSpPr>
        <p:spPr>
          <a:xfrm flipV="1">
            <a:off x="7580375" y="4663440"/>
            <a:ext cx="0" cy="411480"/>
          </a:xfrm>
          <a:prstGeom prst="line">
            <a:avLst/>
          </a:prstGeom>
          <a:ln w="15875">
            <a:solidFill>
              <a:srgbClr val="8A8F98"/>
            </a:solidFill>
            <a:tailEnd type="triangle" w="med" len="med"/>
          </a:ln>
          <a:effectLst/>
        </p:spPr>
      </p:cxn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15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C₂</a:t>
            </a:r>
          </a:p>
        </p:txBody>
      </p:sp>
      <p:sp>
        <p:nvSpPr>
          <p:cNvPr id="8" name="TextBox 7"/>
          <p:cNvSpPr txBox="1"/>
          <p:nvPr/>
        </p:nvSpPr>
        <p:spPr>
          <a:xfrm>
            <a:off x="704088" y="1188720"/>
            <a:ext cx="10789920" cy="548640"/>
          </a:xfrm>
          <a:prstGeom prst="rect">
            <a:avLst/>
          </a:prstGeom>
          <a:noFill/>
        </p:spPr>
        <p:txBody>
          <a:bodyPr wrap="square" anchor="t" lIns="45720" rIns="45720" tIns="27432" bIns="27432">
            <a:spAutoFit/>
          </a:bodyPr>
          <a:lstStyle/>
          <a:p>
            <a:pPr algn="ctr"/>
            <a:r>
              <a:rPr sz="2800" b="1" i="0">
                <a:solidFill>
                  <a:srgbClr val="1F2A44"/>
                </a:solidFill>
                <a:latin typeface="Calibri"/>
              </a:rPr>
              <a:t>Are C₁ and C₂ equivalent?</a:t>
            </a:r>
          </a:p>
        </p:txBody>
      </p:sp>
      <p:sp>
        <p:nvSpPr>
          <p:cNvPr id="9" name="Rounded Rectangle 8"/>
          <p:cNvSpPr/>
          <p:nvPr/>
        </p:nvSpPr>
        <p:spPr>
          <a:xfrm>
            <a:off x="4407408" y="5074920"/>
            <a:ext cx="3383280" cy="457200"/>
          </a:xfrm>
          <a:prstGeom prst="roundRect">
            <a:avLst>
              <a:gd name="adj" fmla="val 15000"/>
            </a:avLst>
          </a:prstGeom>
          <a:solidFill>
            <a:srgbClr val="EEF0F3"/>
          </a:solidFill>
          <a:ln w="15875">
            <a:solidFill>
              <a:srgbClr val="9AA0A8"/>
            </a:solidFill>
          </a:ln>
          <a:effectLst/>
        </p:spPr>
        <p:txBody>
          <a:bodyPr rtlCol="0" anchor="ctr" lIns="54864" rIns="54864" tIns="27432" bIns="27432" wrap="square"/>
          <a:lstStyle/>
          <a:p>
            <a:pPr algn="ctr"/>
            <a:r>
              <a:rPr sz="1500" b="0" i="0">
                <a:solidFill>
                  <a:srgbClr val="2B2F36"/>
                </a:solidFill>
                <a:latin typeface="Calibri"/>
              </a:rPr>
              <a:t>same inputs  r, s, u, v, c</a:t>
            </a:r>
          </a:p>
        </p:txBody>
      </p:sp>
      <p:cxnSp>
        <p:nvCxnSpPr>
          <p:cNvPr id="10" name="Connector 9"/>
          <p:cNvCxnSpPr/>
          <p:nvPr/>
        </p:nvCxnSpPr>
        <p:spPr>
          <a:xfrm flipV="1">
            <a:off x="4617720" y="4663440"/>
            <a:ext cx="0" cy="411480"/>
          </a:xfrm>
          <a:prstGeom prst="line">
            <a:avLst/>
          </a:prstGeom>
          <a:ln w="15875">
            <a:solidFill>
              <a:srgbClr val="8A8F98"/>
            </a:solidFill>
            <a:tailEnd type="triangle" w="med" len="med"/>
          </a:ln>
          <a:effectLst/>
        </p:spPr>
      </p:cxnSp>
      <p:cxnSp>
        <p:nvCxnSpPr>
          <p:cNvPr id="11" name="Connector 10"/>
          <p:cNvCxnSpPr/>
          <p:nvPr/>
        </p:nvCxnSpPr>
        <p:spPr>
          <a:xfrm flipV="1">
            <a:off x="7580375" y="4663440"/>
            <a:ext cx="0" cy="411480"/>
          </a:xfrm>
          <a:prstGeom prst="line">
            <a:avLst/>
          </a:prstGeom>
          <a:ln w="15875">
            <a:solidFill>
              <a:srgbClr val="8A8F98"/>
            </a:solidFill>
            <a:tailEnd type="triangle" w="med" len="med"/>
          </a:ln>
          <a:effectLst/>
        </p:spPr>
      </p:cxnSp>
      <p:sp>
        <p:nvSpPr>
          <p:cNvPr id="12" name="Rounded Rectangle 11"/>
          <p:cNvSpPr/>
          <p:nvPr/>
        </p:nvSpPr>
        <p:spPr>
          <a:xfrm>
            <a:off x="5321808" y="2724912"/>
            <a:ext cx="1554480" cy="658368"/>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r>
              <a:rPr sz="1900" b="1" i="0">
                <a:solidFill>
                  <a:srgbClr val="1F2A44"/>
                </a:solidFill>
                <a:latin typeface="Calibri"/>
              </a:rPr>
              <a:t>XOR</a:t>
            </a:r>
          </a:p>
        </p:txBody>
      </p:sp>
      <p:cxnSp>
        <p:nvCxnSpPr>
          <p:cNvPr id="13" name="Connector 12"/>
          <p:cNvCxnSpPr/>
          <p:nvPr/>
        </p:nvCxnSpPr>
        <p:spPr>
          <a:xfrm flipV="1">
            <a:off x="4617720" y="3383280"/>
            <a:ext cx="1069848" cy="365759"/>
          </a:xfrm>
          <a:prstGeom prst="line">
            <a:avLst/>
          </a:prstGeom>
          <a:ln w="15875">
            <a:solidFill>
              <a:srgbClr val="8A8F98"/>
            </a:solidFill>
            <a:tailEnd type="triangle" w="med" len="med"/>
          </a:ln>
          <a:effectLst/>
        </p:spPr>
      </p:cxnSp>
      <p:cxnSp>
        <p:nvCxnSpPr>
          <p:cNvPr id="14" name="Connector 13"/>
          <p:cNvCxnSpPr/>
          <p:nvPr/>
        </p:nvCxnSpPr>
        <p:spPr>
          <a:xfrm flipH="1" flipV="1">
            <a:off x="6510528" y="3383280"/>
            <a:ext cx="1069847" cy="365759"/>
          </a:xfrm>
          <a:prstGeom prst="line">
            <a:avLst/>
          </a:prstGeom>
          <a:ln w="15875">
            <a:solidFill>
              <a:srgbClr val="8A8F98"/>
            </a:solidFill>
            <a:tailEnd type="triangle" w="med" len="med"/>
          </a:ln>
          <a:effectLst/>
        </p:spPr>
      </p:cxnSp>
      <p:sp>
        <p:nvSpPr>
          <p:cNvPr id="15" name="TextBox 14"/>
          <p:cNvSpPr txBox="1"/>
          <p:nvPr/>
        </p:nvSpPr>
        <p:spPr>
          <a:xfrm>
            <a:off x="4663440" y="3438144"/>
            <a:ext cx="457200" cy="274320"/>
          </a:xfrm>
          <a:prstGeom prst="rect">
            <a:avLst/>
          </a:prstGeom>
          <a:noFill/>
        </p:spPr>
        <p:txBody>
          <a:bodyPr wrap="square" anchor="t" lIns="45720" rIns="45720" tIns="27432" bIns="27432">
            <a:spAutoFit/>
          </a:bodyPr>
          <a:lstStyle/>
          <a:p>
            <a:pPr algn="l"/>
            <a:r>
              <a:rPr sz="1500" b="1" i="0">
                <a:solidFill>
                  <a:srgbClr val="6B717A"/>
                </a:solidFill>
                <a:latin typeface="Calibri"/>
              </a:rPr>
              <a:t>m₁</a:t>
            </a:r>
          </a:p>
        </p:txBody>
      </p:sp>
      <p:sp>
        <p:nvSpPr>
          <p:cNvPr id="16" name="TextBox 15"/>
          <p:cNvSpPr txBox="1"/>
          <p:nvPr/>
        </p:nvSpPr>
        <p:spPr>
          <a:xfrm>
            <a:off x="7168895" y="3438144"/>
            <a:ext cx="457200" cy="274320"/>
          </a:xfrm>
          <a:prstGeom prst="rect">
            <a:avLst/>
          </a:prstGeom>
          <a:noFill/>
        </p:spPr>
        <p:txBody>
          <a:bodyPr wrap="square" anchor="t" lIns="45720" rIns="45720" tIns="27432" bIns="27432">
            <a:spAutoFit/>
          </a:bodyPr>
          <a:lstStyle/>
          <a:p>
            <a:pPr algn="r"/>
            <a:r>
              <a:rPr sz="1500" b="1" i="0">
                <a:solidFill>
                  <a:srgbClr val="6B717A"/>
                </a:solidFill>
                <a:latin typeface="Calibri"/>
              </a:rPr>
              <a:t>m₂</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16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C₂</a:t>
            </a:r>
          </a:p>
        </p:txBody>
      </p:sp>
      <p:sp>
        <p:nvSpPr>
          <p:cNvPr id="8" name="TextBox 7"/>
          <p:cNvSpPr txBox="1"/>
          <p:nvPr/>
        </p:nvSpPr>
        <p:spPr>
          <a:xfrm>
            <a:off x="704088" y="1188720"/>
            <a:ext cx="10789920" cy="548640"/>
          </a:xfrm>
          <a:prstGeom prst="rect">
            <a:avLst/>
          </a:prstGeom>
          <a:noFill/>
        </p:spPr>
        <p:txBody>
          <a:bodyPr wrap="square" anchor="t" lIns="45720" rIns="45720" tIns="27432" bIns="27432">
            <a:spAutoFit/>
          </a:bodyPr>
          <a:lstStyle/>
          <a:p>
            <a:pPr algn="ctr"/>
            <a:r>
              <a:rPr sz="2800" b="1" i="0">
                <a:solidFill>
                  <a:srgbClr val="1F2A44"/>
                </a:solidFill>
                <a:latin typeface="Calibri"/>
              </a:rPr>
              <a:t>Are C₁ and C₂ equivalent?</a:t>
            </a:r>
          </a:p>
        </p:txBody>
      </p:sp>
      <p:sp>
        <p:nvSpPr>
          <p:cNvPr id="9" name="Rounded Rectangle 8"/>
          <p:cNvSpPr/>
          <p:nvPr/>
        </p:nvSpPr>
        <p:spPr>
          <a:xfrm>
            <a:off x="4407408" y="5074920"/>
            <a:ext cx="3383280" cy="457200"/>
          </a:xfrm>
          <a:prstGeom prst="roundRect">
            <a:avLst>
              <a:gd name="adj" fmla="val 15000"/>
            </a:avLst>
          </a:prstGeom>
          <a:solidFill>
            <a:srgbClr val="EEF0F3"/>
          </a:solidFill>
          <a:ln w="15875">
            <a:solidFill>
              <a:srgbClr val="9AA0A8"/>
            </a:solidFill>
          </a:ln>
          <a:effectLst/>
        </p:spPr>
        <p:txBody>
          <a:bodyPr rtlCol="0" anchor="ctr" lIns="54864" rIns="54864" tIns="27432" bIns="27432" wrap="square"/>
          <a:lstStyle/>
          <a:p>
            <a:pPr algn="ctr"/>
            <a:r>
              <a:rPr sz="1500" b="0" i="0">
                <a:solidFill>
                  <a:srgbClr val="2B2F36"/>
                </a:solidFill>
                <a:latin typeface="Calibri"/>
              </a:rPr>
              <a:t>same inputs  r, s, u, v, c</a:t>
            </a:r>
          </a:p>
        </p:txBody>
      </p:sp>
      <p:cxnSp>
        <p:nvCxnSpPr>
          <p:cNvPr id="10" name="Connector 9"/>
          <p:cNvCxnSpPr/>
          <p:nvPr/>
        </p:nvCxnSpPr>
        <p:spPr>
          <a:xfrm flipV="1">
            <a:off x="4617720" y="4663440"/>
            <a:ext cx="0" cy="411480"/>
          </a:xfrm>
          <a:prstGeom prst="line">
            <a:avLst/>
          </a:prstGeom>
          <a:ln w="15875">
            <a:solidFill>
              <a:srgbClr val="8A8F98"/>
            </a:solidFill>
            <a:tailEnd type="triangle" w="med" len="med"/>
          </a:ln>
          <a:effectLst/>
        </p:spPr>
      </p:cxnSp>
      <p:cxnSp>
        <p:nvCxnSpPr>
          <p:cNvPr id="11" name="Connector 10"/>
          <p:cNvCxnSpPr/>
          <p:nvPr/>
        </p:nvCxnSpPr>
        <p:spPr>
          <a:xfrm flipV="1">
            <a:off x="7580375" y="4663440"/>
            <a:ext cx="0" cy="411480"/>
          </a:xfrm>
          <a:prstGeom prst="line">
            <a:avLst/>
          </a:prstGeom>
          <a:ln w="15875">
            <a:solidFill>
              <a:srgbClr val="8A8F98"/>
            </a:solidFill>
            <a:tailEnd type="triangle" w="med" len="med"/>
          </a:ln>
          <a:effectLst/>
        </p:spPr>
      </p:cxnSp>
      <p:sp>
        <p:nvSpPr>
          <p:cNvPr id="12" name="Rounded Rectangle 11"/>
          <p:cNvSpPr/>
          <p:nvPr/>
        </p:nvSpPr>
        <p:spPr>
          <a:xfrm>
            <a:off x="5321808" y="2724912"/>
            <a:ext cx="1554480" cy="658368"/>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r>
              <a:rPr sz="1900" b="1" i="0">
                <a:solidFill>
                  <a:srgbClr val="1F2A44"/>
                </a:solidFill>
                <a:latin typeface="Calibri"/>
              </a:rPr>
              <a:t>XOR</a:t>
            </a:r>
          </a:p>
        </p:txBody>
      </p:sp>
      <p:cxnSp>
        <p:nvCxnSpPr>
          <p:cNvPr id="13" name="Connector 12"/>
          <p:cNvCxnSpPr/>
          <p:nvPr/>
        </p:nvCxnSpPr>
        <p:spPr>
          <a:xfrm flipV="1">
            <a:off x="4617720" y="3383280"/>
            <a:ext cx="1069848" cy="365759"/>
          </a:xfrm>
          <a:prstGeom prst="line">
            <a:avLst/>
          </a:prstGeom>
          <a:ln w="15875">
            <a:solidFill>
              <a:srgbClr val="8A8F98"/>
            </a:solidFill>
            <a:tailEnd type="triangle" w="med" len="med"/>
          </a:ln>
          <a:effectLst/>
        </p:spPr>
      </p:cxnSp>
      <p:cxnSp>
        <p:nvCxnSpPr>
          <p:cNvPr id="14" name="Connector 13"/>
          <p:cNvCxnSpPr/>
          <p:nvPr/>
        </p:nvCxnSpPr>
        <p:spPr>
          <a:xfrm flipH="1" flipV="1">
            <a:off x="6510528" y="3383280"/>
            <a:ext cx="1069847" cy="365759"/>
          </a:xfrm>
          <a:prstGeom prst="line">
            <a:avLst/>
          </a:prstGeom>
          <a:ln w="15875">
            <a:solidFill>
              <a:srgbClr val="8A8F98"/>
            </a:solidFill>
            <a:tailEnd type="triangle" w="med" len="med"/>
          </a:ln>
          <a:effectLst/>
        </p:spPr>
      </p:cxnSp>
      <p:sp>
        <p:nvSpPr>
          <p:cNvPr id="15" name="TextBox 14"/>
          <p:cNvSpPr txBox="1"/>
          <p:nvPr/>
        </p:nvSpPr>
        <p:spPr>
          <a:xfrm>
            <a:off x="4663440" y="3438144"/>
            <a:ext cx="457200" cy="274320"/>
          </a:xfrm>
          <a:prstGeom prst="rect">
            <a:avLst/>
          </a:prstGeom>
          <a:noFill/>
        </p:spPr>
        <p:txBody>
          <a:bodyPr wrap="square" anchor="t" lIns="45720" rIns="45720" tIns="27432" bIns="27432">
            <a:spAutoFit/>
          </a:bodyPr>
          <a:lstStyle/>
          <a:p>
            <a:pPr algn="l"/>
            <a:r>
              <a:rPr sz="1500" b="1" i="0">
                <a:solidFill>
                  <a:srgbClr val="6B717A"/>
                </a:solidFill>
                <a:latin typeface="Calibri"/>
              </a:rPr>
              <a:t>m₁</a:t>
            </a:r>
          </a:p>
        </p:txBody>
      </p:sp>
      <p:sp>
        <p:nvSpPr>
          <p:cNvPr id="16" name="TextBox 15"/>
          <p:cNvSpPr txBox="1"/>
          <p:nvPr/>
        </p:nvSpPr>
        <p:spPr>
          <a:xfrm>
            <a:off x="7168895" y="3438144"/>
            <a:ext cx="457200" cy="274320"/>
          </a:xfrm>
          <a:prstGeom prst="rect">
            <a:avLst/>
          </a:prstGeom>
          <a:noFill/>
        </p:spPr>
        <p:txBody>
          <a:bodyPr wrap="square" anchor="t" lIns="45720" rIns="45720" tIns="27432" bIns="27432">
            <a:spAutoFit/>
          </a:bodyPr>
          <a:lstStyle/>
          <a:p>
            <a:pPr algn="r"/>
            <a:r>
              <a:rPr sz="1500" b="1" i="0">
                <a:solidFill>
                  <a:srgbClr val="6B717A"/>
                </a:solidFill>
                <a:latin typeface="Calibri"/>
              </a:rPr>
              <a:t>m₂</a:t>
            </a:r>
          </a:p>
        </p:txBody>
      </p:sp>
      <p:cxnSp>
        <p:nvCxnSpPr>
          <p:cNvPr id="17" name="Connector 16"/>
          <p:cNvCxnSpPr/>
          <p:nvPr/>
        </p:nvCxnSpPr>
        <p:spPr>
          <a:xfrm flipV="1">
            <a:off x="6099048" y="2286000"/>
            <a:ext cx="0" cy="438912"/>
          </a:xfrm>
          <a:prstGeom prst="line">
            <a:avLst/>
          </a:prstGeom>
          <a:ln w="15875">
            <a:solidFill>
              <a:srgbClr val="8A8F98"/>
            </a:solidFill>
            <a:tailEnd type="triangle" w="med" len="med"/>
          </a:ln>
          <a:effectLst/>
        </p:spPr>
      </p:cxnSp>
      <p:sp>
        <p:nvSpPr>
          <p:cNvPr id="18" name="TextBox 17"/>
          <p:cNvSpPr txBox="1"/>
          <p:nvPr/>
        </p:nvSpPr>
        <p:spPr>
          <a:xfrm>
            <a:off x="6208776" y="2304288"/>
            <a:ext cx="457200" cy="320040"/>
          </a:xfrm>
          <a:prstGeom prst="rect">
            <a:avLst/>
          </a:prstGeom>
          <a:noFill/>
        </p:spPr>
        <p:txBody>
          <a:bodyPr wrap="square" anchor="t" lIns="45720" rIns="45720" tIns="27432" bIns="27432">
            <a:spAutoFit/>
          </a:bodyPr>
          <a:lstStyle/>
          <a:p>
            <a:pPr algn="l"/>
            <a:r>
              <a:rPr sz="1700" b="1" i="0">
                <a:solidFill>
                  <a:srgbClr val="1F2A44"/>
                </a:solidFill>
                <a:latin typeface="Calibri"/>
              </a:rPr>
              <a:t>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17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C₂</a:t>
            </a:r>
          </a:p>
        </p:txBody>
      </p:sp>
      <p:sp>
        <p:nvSpPr>
          <p:cNvPr id="8" name="TextBox 7"/>
          <p:cNvSpPr txBox="1"/>
          <p:nvPr/>
        </p:nvSpPr>
        <p:spPr>
          <a:xfrm>
            <a:off x="704088" y="1188720"/>
            <a:ext cx="10789920" cy="548640"/>
          </a:xfrm>
          <a:prstGeom prst="rect">
            <a:avLst/>
          </a:prstGeom>
          <a:noFill/>
        </p:spPr>
        <p:txBody>
          <a:bodyPr wrap="square" anchor="t" lIns="45720" rIns="45720" tIns="27432" bIns="27432">
            <a:spAutoFit/>
          </a:bodyPr>
          <a:lstStyle/>
          <a:p>
            <a:pPr algn="ctr"/>
            <a:r>
              <a:rPr sz="2800" b="1" i="0">
                <a:solidFill>
                  <a:srgbClr val="1F2A44"/>
                </a:solidFill>
                <a:latin typeface="Calibri"/>
              </a:rPr>
              <a:t>Are C₁ and C₂ equivalent?</a:t>
            </a:r>
          </a:p>
        </p:txBody>
      </p:sp>
      <p:sp>
        <p:nvSpPr>
          <p:cNvPr id="9" name="Rounded Rectangle 8"/>
          <p:cNvSpPr/>
          <p:nvPr/>
        </p:nvSpPr>
        <p:spPr>
          <a:xfrm>
            <a:off x="4407408" y="5074920"/>
            <a:ext cx="3383280" cy="457200"/>
          </a:xfrm>
          <a:prstGeom prst="roundRect">
            <a:avLst>
              <a:gd name="adj" fmla="val 15000"/>
            </a:avLst>
          </a:prstGeom>
          <a:solidFill>
            <a:srgbClr val="EEF0F3"/>
          </a:solidFill>
          <a:ln w="15875">
            <a:solidFill>
              <a:srgbClr val="9AA0A8"/>
            </a:solidFill>
          </a:ln>
          <a:effectLst/>
        </p:spPr>
        <p:txBody>
          <a:bodyPr rtlCol="0" anchor="ctr" lIns="54864" rIns="54864" tIns="27432" bIns="27432" wrap="square"/>
          <a:lstStyle/>
          <a:p>
            <a:pPr algn="ctr"/>
            <a:r>
              <a:rPr sz="1500" b="0" i="0">
                <a:solidFill>
                  <a:srgbClr val="2B2F36"/>
                </a:solidFill>
                <a:latin typeface="Calibri"/>
              </a:rPr>
              <a:t>same inputs  r, s, u, v, c</a:t>
            </a:r>
          </a:p>
        </p:txBody>
      </p:sp>
      <p:cxnSp>
        <p:nvCxnSpPr>
          <p:cNvPr id="10" name="Connector 9"/>
          <p:cNvCxnSpPr/>
          <p:nvPr/>
        </p:nvCxnSpPr>
        <p:spPr>
          <a:xfrm flipV="1">
            <a:off x="4617720" y="4663440"/>
            <a:ext cx="0" cy="411480"/>
          </a:xfrm>
          <a:prstGeom prst="line">
            <a:avLst/>
          </a:prstGeom>
          <a:ln w="15875">
            <a:solidFill>
              <a:srgbClr val="8A8F98"/>
            </a:solidFill>
            <a:tailEnd type="triangle" w="med" len="med"/>
          </a:ln>
          <a:effectLst/>
        </p:spPr>
      </p:cxnSp>
      <p:cxnSp>
        <p:nvCxnSpPr>
          <p:cNvPr id="11" name="Connector 10"/>
          <p:cNvCxnSpPr/>
          <p:nvPr/>
        </p:nvCxnSpPr>
        <p:spPr>
          <a:xfrm flipV="1">
            <a:off x="7580375" y="4663440"/>
            <a:ext cx="0" cy="411480"/>
          </a:xfrm>
          <a:prstGeom prst="line">
            <a:avLst/>
          </a:prstGeom>
          <a:ln w="15875">
            <a:solidFill>
              <a:srgbClr val="8A8F98"/>
            </a:solidFill>
            <a:tailEnd type="triangle" w="med" len="med"/>
          </a:ln>
          <a:effectLst/>
        </p:spPr>
      </p:cxnSp>
      <p:sp>
        <p:nvSpPr>
          <p:cNvPr id="12" name="Rounded Rectangle 11"/>
          <p:cNvSpPr/>
          <p:nvPr/>
        </p:nvSpPr>
        <p:spPr>
          <a:xfrm>
            <a:off x="5321808" y="2724912"/>
            <a:ext cx="1554480" cy="658368"/>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r>
              <a:rPr sz="1900" b="1" i="0">
                <a:solidFill>
                  <a:srgbClr val="1F2A44"/>
                </a:solidFill>
                <a:latin typeface="Calibri"/>
              </a:rPr>
              <a:t>XOR</a:t>
            </a:r>
          </a:p>
        </p:txBody>
      </p:sp>
      <p:cxnSp>
        <p:nvCxnSpPr>
          <p:cNvPr id="13" name="Connector 12"/>
          <p:cNvCxnSpPr/>
          <p:nvPr/>
        </p:nvCxnSpPr>
        <p:spPr>
          <a:xfrm flipV="1">
            <a:off x="4617720" y="3383280"/>
            <a:ext cx="1069848" cy="365759"/>
          </a:xfrm>
          <a:prstGeom prst="line">
            <a:avLst/>
          </a:prstGeom>
          <a:ln w="15875">
            <a:solidFill>
              <a:srgbClr val="8A8F98"/>
            </a:solidFill>
            <a:tailEnd type="triangle" w="med" len="med"/>
          </a:ln>
          <a:effectLst/>
        </p:spPr>
      </p:cxnSp>
      <p:cxnSp>
        <p:nvCxnSpPr>
          <p:cNvPr id="14" name="Connector 13"/>
          <p:cNvCxnSpPr/>
          <p:nvPr/>
        </p:nvCxnSpPr>
        <p:spPr>
          <a:xfrm flipH="1" flipV="1">
            <a:off x="6510528" y="3383280"/>
            <a:ext cx="1069847" cy="365759"/>
          </a:xfrm>
          <a:prstGeom prst="line">
            <a:avLst/>
          </a:prstGeom>
          <a:ln w="15875">
            <a:solidFill>
              <a:srgbClr val="8A8F98"/>
            </a:solidFill>
            <a:tailEnd type="triangle" w="med" len="med"/>
          </a:ln>
          <a:effectLst/>
        </p:spPr>
      </p:cxnSp>
      <p:sp>
        <p:nvSpPr>
          <p:cNvPr id="15" name="TextBox 14"/>
          <p:cNvSpPr txBox="1"/>
          <p:nvPr/>
        </p:nvSpPr>
        <p:spPr>
          <a:xfrm>
            <a:off x="4663440" y="3438144"/>
            <a:ext cx="457200" cy="274320"/>
          </a:xfrm>
          <a:prstGeom prst="rect">
            <a:avLst/>
          </a:prstGeom>
          <a:noFill/>
        </p:spPr>
        <p:txBody>
          <a:bodyPr wrap="square" anchor="t" lIns="45720" rIns="45720" tIns="27432" bIns="27432">
            <a:spAutoFit/>
          </a:bodyPr>
          <a:lstStyle/>
          <a:p>
            <a:pPr algn="l"/>
            <a:r>
              <a:rPr sz="1500" b="1" i="0">
                <a:solidFill>
                  <a:srgbClr val="6B717A"/>
                </a:solidFill>
                <a:latin typeface="Calibri"/>
              </a:rPr>
              <a:t>m₁</a:t>
            </a:r>
          </a:p>
        </p:txBody>
      </p:sp>
      <p:sp>
        <p:nvSpPr>
          <p:cNvPr id="16" name="TextBox 15"/>
          <p:cNvSpPr txBox="1"/>
          <p:nvPr/>
        </p:nvSpPr>
        <p:spPr>
          <a:xfrm>
            <a:off x="7168895" y="3438144"/>
            <a:ext cx="457200" cy="274320"/>
          </a:xfrm>
          <a:prstGeom prst="rect">
            <a:avLst/>
          </a:prstGeom>
          <a:noFill/>
        </p:spPr>
        <p:txBody>
          <a:bodyPr wrap="square" anchor="t" lIns="45720" rIns="45720" tIns="27432" bIns="27432">
            <a:spAutoFit/>
          </a:bodyPr>
          <a:lstStyle/>
          <a:p>
            <a:pPr algn="r"/>
            <a:r>
              <a:rPr sz="1500" b="1" i="0">
                <a:solidFill>
                  <a:srgbClr val="6B717A"/>
                </a:solidFill>
                <a:latin typeface="Calibri"/>
              </a:rPr>
              <a:t>m₂</a:t>
            </a:r>
          </a:p>
        </p:txBody>
      </p:sp>
      <p:cxnSp>
        <p:nvCxnSpPr>
          <p:cNvPr id="17" name="Connector 16"/>
          <p:cNvCxnSpPr/>
          <p:nvPr/>
        </p:nvCxnSpPr>
        <p:spPr>
          <a:xfrm flipV="1">
            <a:off x="6099048" y="2286000"/>
            <a:ext cx="0" cy="438912"/>
          </a:xfrm>
          <a:prstGeom prst="line">
            <a:avLst/>
          </a:prstGeom>
          <a:ln w="15875">
            <a:solidFill>
              <a:srgbClr val="8A8F98"/>
            </a:solidFill>
            <a:tailEnd type="triangle" w="med" len="med"/>
          </a:ln>
          <a:effectLst/>
        </p:spPr>
      </p:cxnSp>
      <p:sp>
        <p:nvSpPr>
          <p:cNvPr id="18" name="TextBox 17"/>
          <p:cNvSpPr txBox="1"/>
          <p:nvPr/>
        </p:nvSpPr>
        <p:spPr>
          <a:xfrm>
            <a:off x="6208776" y="2304288"/>
            <a:ext cx="457200" cy="320040"/>
          </a:xfrm>
          <a:prstGeom prst="rect">
            <a:avLst/>
          </a:prstGeom>
          <a:noFill/>
        </p:spPr>
        <p:txBody>
          <a:bodyPr wrap="square" anchor="t" lIns="45720" rIns="45720" tIns="27432" bIns="27432">
            <a:spAutoFit/>
          </a:bodyPr>
          <a:lstStyle/>
          <a:p>
            <a:pPr algn="l"/>
            <a:r>
              <a:rPr sz="1700" b="1" i="0">
                <a:solidFill>
                  <a:srgbClr val="1F2A44"/>
                </a:solidFill>
                <a:latin typeface="Calibri"/>
              </a:rPr>
              <a:t>p</a:t>
            </a:r>
          </a:p>
        </p:txBody>
      </p:sp>
      <p:sp>
        <p:nvSpPr>
          <p:cNvPr id="19" name="TextBox 18"/>
          <p:cNvSpPr txBox="1"/>
          <p:nvPr/>
        </p:nvSpPr>
        <p:spPr>
          <a:xfrm>
            <a:off x="704088" y="1828800"/>
            <a:ext cx="10789920" cy="411480"/>
          </a:xfrm>
          <a:prstGeom prst="rect">
            <a:avLst/>
          </a:prstGeom>
          <a:noFill/>
        </p:spPr>
        <p:txBody>
          <a:bodyPr wrap="square" anchor="t" lIns="45720" rIns="45720" tIns="27432" bIns="27432">
            <a:spAutoFit/>
          </a:bodyPr>
          <a:lstStyle/>
          <a:p>
            <a:pPr algn="ctr"/>
            <a:r>
              <a:rPr sz="2200" b="1" i="0">
                <a:solidFill>
                  <a:srgbClr val="C8501E"/>
                </a:solidFill>
                <a:latin typeface="Calibri"/>
              </a:rPr>
              <a:t>p = 1   ⟺   C₁ and C₂ disagree on this input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18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C₂</a:t>
            </a:r>
          </a:p>
        </p:txBody>
      </p:sp>
      <p:sp>
        <p:nvSpPr>
          <p:cNvPr id="8" name="TextBox 7"/>
          <p:cNvSpPr txBox="1"/>
          <p:nvPr/>
        </p:nvSpPr>
        <p:spPr>
          <a:xfrm>
            <a:off x="704088" y="1188720"/>
            <a:ext cx="10789920" cy="548640"/>
          </a:xfrm>
          <a:prstGeom prst="rect">
            <a:avLst/>
          </a:prstGeom>
          <a:noFill/>
        </p:spPr>
        <p:txBody>
          <a:bodyPr wrap="square" anchor="t" lIns="45720" rIns="45720" tIns="27432" bIns="27432">
            <a:spAutoFit/>
          </a:bodyPr>
          <a:lstStyle/>
          <a:p>
            <a:pPr algn="ctr"/>
            <a:r>
              <a:rPr sz="2800" b="1" i="0">
                <a:solidFill>
                  <a:srgbClr val="1F2A44"/>
                </a:solidFill>
                <a:latin typeface="Calibri"/>
              </a:rPr>
              <a:t>Are C₁ and C₂ equivalent?</a:t>
            </a:r>
          </a:p>
        </p:txBody>
      </p:sp>
      <p:sp>
        <p:nvSpPr>
          <p:cNvPr id="9" name="Rounded Rectangle 8"/>
          <p:cNvSpPr/>
          <p:nvPr/>
        </p:nvSpPr>
        <p:spPr>
          <a:xfrm>
            <a:off x="4407408" y="5074920"/>
            <a:ext cx="3383280" cy="457200"/>
          </a:xfrm>
          <a:prstGeom prst="roundRect">
            <a:avLst>
              <a:gd name="adj" fmla="val 15000"/>
            </a:avLst>
          </a:prstGeom>
          <a:solidFill>
            <a:srgbClr val="EEF0F3"/>
          </a:solidFill>
          <a:ln w="15875">
            <a:solidFill>
              <a:srgbClr val="9AA0A8"/>
            </a:solidFill>
          </a:ln>
          <a:effectLst/>
        </p:spPr>
        <p:txBody>
          <a:bodyPr rtlCol="0" anchor="ctr" lIns="54864" rIns="54864" tIns="27432" bIns="27432" wrap="square"/>
          <a:lstStyle/>
          <a:p>
            <a:pPr algn="ctr"/>
            <a:r>
              <a:rPr sz="1500" b="0" i="0">
                <a:solidFill>
                  <a:srgbClr val="2B2F36"/>
                </a:solidFill>
                <a:latin typeface="Calibri"/>
              </a:rPr>
              <a:t>same inputs  r, s, u, v, c</a:t>
            </a:r>
          </a:p>
        </p:txBody>
      </p:sp>
      <p:cxnSp>
        <p:nvCxnSpPr>
          <p:cNvPr id="10" name="Connector 9"/>
          <p:cNvCxnSpPr/>
          <p:nvPr/>
        </p:nvCxnSpPr>
        <p:spPr>
          <a:xfrm flipV="1">
            <a:off x="4617720" y="4663440"/>
            <a:ext cx="0" cy="411480"/>
          </a:xfrm>
          <a:prstGeom prst="line">
            <a:avLst/>
          </a:prstGeom>
          <a:ln w="15875">
            <a:solidFill>
              <a:srgbClr val="8A8F98"/>
            </a:solidFill>
            <a:tailEnd type="triangle" w="med" len="med"/>
          </a:ln>
          <a:effectLst/>
        </p:spPr>
      </p:cxnSp>
      <p:cxnSp>
        <p:nvCxnSpPr>
          <p:cNvPr id="11" name="Connector 10"/>
          <p:cNvCxnSpPr/>
          <p:nvPr/>
        </p:nvCxnSpPr>
        <p:spPr>
          <a:xfrm flipV="1">
            <a:off x="7580375" y="4663440"/>
            <a:ext cx="0" cy="411480"/>
          </a:xfrm>
          <a:prstGeom prst="line">
            <a:avLst/>
          </a:prstGeom>
          <a:ln w="15875">
            <a:solidFill>
              <a:srgbClr val="8A8F98"/>
            </a:solidFill>
            <a:tailEnd type="triangle" w="med" len="med"/>
          </a:ln>
          <a:effectLst/>
        </p:spPr>
      </p:cxnSp>
      <p:sp>
        <p:nvSpPr>
          <p:cNvPr id="12" name="Rounded Rectangle 11"/>
          <p:cNvSpPr/>
          <p:nvPr/>
        </p:nvSpPr>
        <p:spPr>
          <a:xfrm>
            <a:off x="5321808" y="2724912"/>
            <a:ext cx="1554480" cy="658368"/>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r>
              <a:rPr sz="1900" b="1" i="0">
                <a:solidFill>
                  <a:srgbClr val="1F2A44"/>
                </a:solidFill>
                <a:latin typeface="Calibri"/>
              </a:rPr>
              <a:t>XOR</a:t>
            </a:r>
          </a:p>
        </p:txBody>
      </p:sp>
      <p:cxnSp>
        <p:nvCxnSpPr>
          <p:cNvPr id="13" name="Connector 12"/>
          <p:cNvCxnSpPr/>
          <p:nvPr/>
        </p:nvCxnSpPr>
        <p:spPr>
          <a:xfrm flipV="1">
            <a:off x="4617720" y="3383280"/>
            <a:ext cx="1069848" cy="365759"/>
          </a:xfrm>
          <a:prstGeom prst="line">
            <a:avLst/>
          </a:prstGeom>
          <a:ln w="15875">
            <a:solidFill>
              <a:srgbClr val="8A8F98"/>
            </a:solidFill>
            <a:tailEnd type="triangle" w="med" len="med"/>
          </a:ln>
          <a:effectLst/>
        </p:spPr>
      </p:cxnSp>
      <p:cxnSp>
        <p:nvCxnSpPr>
          <p:cNvPr id="14" name="Connector 13"/>
          <p:cNvCxnSpPr/>
          <p:nvPr/>
        </p:nvCxnSpPr>
        <p:spPr>
          <a:xfrm flipH="1" flipV="1">
            <a:off x="6510528" y="3383280"/>
            <a:ext cx="1069847" cy="365759"/>
          </a:xfrm>
          <a:prstGeom prst="line">
            <a:avLst/>
          </a:prstGeom>
          <a:ln w="15875">
            <a:solidFill>
              <a:srgbClr val="8A8F98"/>
            </a:solidFill>
            <a:tailEnd type="triangle" w="med" len="med"/>
          </a:ln>
          <a:effectLst/>
        </p:spPr>
      </p:cxnSp>
      <p:sp>
        <p:nvSpPr>
          <p:cNvPr id="15" name="TextBox 14"/>
          <p:cNvSpPr txBox="1"/>
          <p:nvPr/>
        </p:nvSpPr>
        <p:spPr>
          <a:xfrm>
            <a:off x="4663440" y="3438144"/>
            <a:ext cx="457200" cy="274320"/>
          </a:xfrm>
          <a:prstGeom prst="rect">
            <a:avLst/>
          </a:prstGeom>
          <a:noFill/>
        </p:spPr>
        <p:txBody>
          <a:bodyPr wrap="square" anchor="t" lIns="45720" rIns="45720" tIns="27432" bIns="27432">
            <a:spAutoFit/>
          </a:bodyPr>
          <a:lstStyle/>
          <a:p>
            <a:pPr algn="l"/>
            <a:r>
              <a:rPr sz="1500" b="1" i="0">
                <a:solidFill>
                  <a:srgbClr val="6B717A"/>
                </a:solidFill>
                <a:latin typeface="Calibri"/>
              </a:rPr>
              <a:t>m₁</a:t>
            </a:r>
          </a:p>
        </p:txBody>
      </p:sp>
      <p:sp>
        <p:nvSpPr>
          <p:cNvPr id="16" name="TextBox 15"/>
          <p:cNvSpPr txBox="1"/>
          <p:nvPr/>
        </p:nvSpPr>
        <p:spPr>
          <a:xfrm>
            <a:off x="7168895" y="3438144"/>
            <a:ext cx="457200" cy="274320"/>
          </a:xfrm>
          <a:prstGeom prst="rect">
            <a:avLst/>
          </a:prstGeom>
          <a:noFill/>
        </p:spPr>
        <p:txBody>
          <a:bodyPr wrap="square" anchor="t" lIns="45720" rIns="45720" tIns="27432" bIns="27432">
            <a:spAutoFit/>
          </a:bodyPr>
          <a:lstStyle/>
          <a:p>
            <a:pPr algn="r"/>
            <a:r>
              <a:rPr sz="1500" b="1" i="0">
                <a:solidFill>
                  <a:srgbClr val="6B717A"/>
                </a:solidFill>
                <a:latin typeface="Calibri"/>
              </a:rPr>
              <a:t>m₂</a:t>
            </a:r>
          </a:p>
        </p:txBody>
      </p:sp>
      <p:cxnSp>
        <p:nvCxnSpPr>
          <p:cNvPr id="17" name="Connector 16"/>
          <p:cNvCxnSpPr/>
          <p:nvPr/>
        </p:nvCxnSpPr>
        <p:spPr>
          <a:xfrm flipV="1">
            <a:off x="6099048" y="2286000"/>
            <a:ext cx="0" cy="438912"/>
          </a:xfrm>
          <a:prstGeom prst="line">
            <a:avLst/>
          </a:prstGeom>
          <a:ln w="15875">
            <a:solidFill>
              <a:srgbClr val="8A8F98"/>
            </a:solidFill>
            <a:tailEnd type="triangle" w="med" len="med"/>
          </a:ln>
          <a:effectLst/>
        </p:spPr>
      </p:cxnSp>
      <p:sp>
        <p:nvSpPr>
          <p:cNvPr id="18" name="TextBox 17"/>
          <p:cNvSpPr txBox="1"/>
          <p:nvPr/>
        </p:nvSpPr>
        <p:spPr>
          <a:xfrm>
            <a:off x="6208776" y="2304288"/>
            <a:ext cx="457200" cy="320040"/>
          </a:xfrm>
          <a:prstGeom prst="rect">
            <a:avLst/>
          </a:prstGeom>
          <a:noFill/>
        </p:spPr>
        <p:txBody>
          <a:bodyPr wrap="square" anchor="t" lIns="45720" rIns="45720" tIns="27432" bIns="27432">
            <a:spAutoFit/>
          </a:bodyPr>
          <a:lstStyle/>
          <a:p>
            <a:pPr algn="l"/>
            <a:r>
              <a:rPr sz="1700" b="1" i="0">
                <a:solidFill>
                  <a:srgbClr val="1F2A44"/>
                </a:solidFill>
                <a:latin typeface="Calibri"/>
              </a:rPr>
              <a:t>p</a:t>
            </a:r>
          </a:p>
        </p:txBody>
      </p:sp>
      <p:sp>
        <p:nvSpPr>
          <p:cNvPr id="19" name="TextBox 18"/>
          <p:cNvSpPr txBox="1"/>
          <p:nvPr/>
        </p:nvSpPr>
        <p:spPr>
          <a:xfrm>
            <a:off x="704088" y="1828800"/>
            <a:ext cx="10789920" cy="411480"/>
          </a:xfrm>
          <a:prstGeom prst="rect">
            <a:avLst/>
          </a:prstGeom>
          <a:noFill/>
        </p:spPr>
        <p:txBody>
          <a:bodyPr wrap="square" anchor="t" lIns="45720" rIns="45720" tIns="27432" bIns="27432">
            <a:spAutoFit/>
          </a:bodyPr>
          <a:lstStyle/>
          <a:p>
            <a:pPr algn="ctr"/>
            <a:r>
              <a:rPr sz="2200" b="1" i="0">
                <a:solidFill>
                  <a:srgbClr val="C8501E"/>
                </a:solidFill>
                <a:latin typeface="Calibri"/>
              </a:rPr>
              <a:t>p = 1   ⟺   C₁ and C₂ disagree on this input</a:t>
            </a:r>
          </a:p>
        </p:txBody>
      </p:sp>
      <p:sp>
        <p:nvSpPr>
          <p:cNvPr id="20" name="Rounded Rectangle 19"/>
          <p:cNvSpPr/>
          <p:nvPr/>
        </p:nvSpPr>
        <p:spPr>
          <a:xfrm>
            <a:off x="566928" y="5806440"/>
            <a:ext cx="11064240" cy="502920"/>
          </a:xfrm>
          <a:prstGeom prst="roundRect">
            <a:avLst>
              <a:gd name="adj" fmla="val 15000"/>
            </a:avLst>
          </a:prstGeom>
          <a:solidFill>
            <a:srgbClr val="1F2A44"/>
          </a:solidFill>
          <a:ln>
            <a:noFill/>
          </a:ln>
          <a:effectLst/>
        </p:spPr>
        <p:txBody>
          <a:bodyPr rtlCol="0" anchor="ctr" lIns="54864" rIns="54864" tIns="27432" bIns="27432" wrap="square"/>
          <a:lstStyle/>
          <a:p>
            <a:pPr algn="ctr"/>
            <a:r>
              <a:rPr sz="2100" b="1" i="0">
                <a:solidFill>
                  <a:srgbClr val="FFFFFF"/>
                </a:solidFill>
                <a:latin typeface="Calibri"/>
              </a:rPr>
              <a:t>equivalent   ⟺   p = 1 is unsatisfiable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Running example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19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8A8F98"/>
            </a:solidFill>
          </a:ln>
          <a:effectLst/>
        </p:spPr>
      </p:cxnSp>
      <p:cxnSp>
        <p:nvCxnSpPr>
          <p:cNvPr id="7" name="Connector 6"/>
          <p:cNvCxnSpPr/>
          <p:nvPr/>
        </p:nvCxnSpPr>
        <p:spPr>
          <a:xfrm>
            <a:off x="3323844" y="3803903"/>
            <a:ext cx="960120" cy="1106425"/>
          </a:xfrm>
          <a:prstGeom prst="line">
            <a:avLst/>
          </a:prstGeom>
          <a:ln w="15875">
            <a:solidFill>
              <a:srgbClr val="8A8F98"/>
            </a:solidFill>
          </a:ln>
          <a:effectLst/>
        </p:spPr>
      </p:cxnSp>
      <p:cxnSp>
        <p:nvCxnSpPr>
          <p:cNvPr id="8" name="Connector 7"/>
          <p:cNvCxnSpPr/>
          <p:nvPr/>
        </p:nvCxnSpPr>
        <p:spPr>
          <a:xfrm flipH="1">
            <a:off x="3406139" y="3803903"/>
            <a:ext cx="1014985" cy="1106425"/>
          </a:xfrm>
          <a:prstGeom prst="line">
            <a:avLst/>
          </a:prstGeom>
          <a:ln w="15875">
            <a:solidFill>
              <a:srgbClr val="8A8F98"/>
            </a:solidFill>
          </a:ln>
          <a:effectLst/>
        </p:spPr>
      </p:cxnSp>
      <p:cxnSp>
        <p:nvCxnSpPr>
          <p:cNvPr id="9" name="Connector 8"/>
          <p:cNvCxnSpPr/>
          <p:nvPr/>
        </p:nvCxnSpPr>
        <p:spPr>
          <a:xfrm>
            <a:off x="4421124" y="3803903"/>
            <a:ext cx="484632" cy="1106425"/>
          </a:xfrm>
          <a:prstGeom prst="line">
            <a:avLst/>
          </a:prstGeom>
          <a:ln w="15875">
            <a:solidFill>
              <a:srgbClr val="8A8F98"/>
            </a:solidFill>
          </a:ln>
          <a:effectLst/>
        </p:spPr>
      </p:cxnSp>
      <p:cxnSp>
        <p:nvCxnSpPr>
          <p:cNvPr id="10" name="Connector 9"/>
          <p:cNvCxnSpPr/>
          <p:nvPr/>
        </p:nvCxnSpPr>
        <p:spPr>
          <a:xfrm flipH="1">
            <a:off x="7283196" y="3803903"/>
            <a:ext cx="475487" cy="1106425"/>
          </a:xfrm>
          <a:prstGeom prst="line">
            <a:avLst/>
          </a:prstGeom>
          <a:ln w="15875">
            <a:solidFill>
              <a:srgbClr val="8A8F98"/>
            </a:solidFill>
          </a:ln>
          <a:effectLst/>
        </p:spPr>
      </p:cxnSp>
      <p:cxnSp>
        <p:nvCxnSpPr>
          <p:cNvPr id="11" name="Connector 10"/>
          <p:cNvCxnSpPr/>
          <p:nvPr/>
        </p:nvCxnSpPr>
        <p:spPr>
          <a:xfrm>
            <a:off x="7758683" y="3803903"/>
            <a:ext cx="1024129" cy="1106425"/>
          </a:xfrm>
          <a:prstGeom prst="line">
            <a:avLst/>
          </a:prstGeom>
          <a:ln w="15875">
            <a:solidFill>
              <a:srgbClr val="8A8F98"/>
            </a:solidFill>
          </a:ln>
          <a:effectLst/>
        </p:spPr>
      </p:cxnSp>
      <p:cxnSp>
        <p:nvCxnSpPr>
          <p:cNvPr id="12" name="Connector 11"/>
          <p:cNvCxnSpPr/>
          <p:nvPr/>
        </p:nvCxnSpPr>
        <p:spPr>
          <a:xfrm flipH="1">
            <a:off x="7904988" y="3803903"/>
            <a:ext cx="950975" cy="1106425"/>
          </a:xfrm>
          <a:prstGeom prst="line">
            <a:avLst/>
          </a:prstGeom>
          <a:ln w="15875">
            <a:solidFill>
              <a:srgbClr val="8A8F98"/>
            </a:solidFill>
          </a:ln>
          <a:effectLst/>
        </p:spPr>
      </p:cxnSp>
      <p:cxnSp>
        <p:nvCxnSpPr>
          <p:cNvPr id="13" name="Connector 12"/>
          <p:cNvCxnSpPr/>
          <p:nvPr/>
        </p:nvCxnSpPr>
        <p:spPr>
          <a:xfrm>
            <a:off x="8855963" y="3803903"/>
            <a:ext cx="548641" cy="1106425"/>
          </a:xfrm>
          <a:prstGeom prst="line">
            <a:avLst/>
          </a:prstGeom>
          <a:ln w="15875">
            <a:solidFill>
              <a:srgbClr val="8A8F98"/>
            </a:solidFill>
          </a:ln>
          <a:effectLst/>
        </p:spPr>
      </p:cxnSp>
      <p:cxnSp>
        <p:nvCxnSpPr>
          <p:cNvPr id="14" name="Connector 13"/>
          <p:cNvCxnSpPr/>
          <p:nvPr/>
        </p:nvCxnSpPr>
        <p:spPr>
          <a:xfrm>
            <a:off x="5564124" y="2203704"/>
            <a:ext cx="219455" cy="2706624"/>
          </a:xfrm>
          <a:prstGeom prst="line">
            <a:avLst/>
          </a:prstGeom>
          <a:ln w="15875">
            <a:solidFill>
              <a:srgbClr val="8A8F98"/>
            </a:solidFill>
          </a:ln>
          <a:effectLst/>
        </p:spPr>
      </p:cxnSp>
      <p:cxnSp>
        <p:nvCxnSpPr>
          <p:cNvPr id="15" name="Connector 14"/>
          <p:cNvCxnSpPr/>
          <p:nvPr/>
        </p:nvCxnSpPr>
        <p:spPr>
          <a:xfrm flipH="1">
            <a:off x="3323844" y="2203704"/>
            <a:ext cx="2240280" cy="749807"/>
          </a:xfrm>
          <a:prstGeom prst="line">
            <a:avLst/>
          </a:prstGeom>
          <a:ln w="15875">
            <a:solidFill>
              <a:srgbClr val="8A8F98"/>
            </a:solidFill>
          </a:ln>
          <a:effectLst/>
        </p:spPr>
      </p:cxnSp>
      <p:cxnSp>
        <p:nvCxnSpPr>
          <p:cNvPr id="16" name="Connector 15"/>
          <p:cNvCxnSpPr/>
          <p:nvPr/>
        </p:nvCxnSpPr>
        <p:spPr>
          <a:xfrm>
            <a:off x="5564124" y="2203704"/>
            <a:ext cx="2194559" cy="749807"/>
          </a:xfrm>
          <a:prstGeom prst="line">
            <a:avLst/>
          </a:prstGeom>
          <a:ln w="15875">
            <a:solidFill>
              <a:srgbClr val="8A8F98"/>
            </a:solidFill>
          </a:ln>
          <a:effectLst/>
        </p:spPr>
      </p:cxnSp>
      <p:cxnSp>
        <p:nvCxnSpPr>
          <p:cNvPr id="17" name="Connector 16"/>
          <p:cNvCxnSpPr/>
          <p:nvPr/>
        </p:nvCxnSpPr>
        <p:spPr>
          <a:xfrm flipH="1">
            <a:off x="6405372" y="2203704"/>
            <a:ext cx="484632" cy="2706624"/>
          </a:xfrm>
          <a:prstGeom prst="line">
            <a:avLst/>
          </a:prstGeom>
          <a:ln w="15875">
            <a:solidFill>
              <a:srgbClr val="8A8F98"/>
            </a:solidFill>
          </a:ln>
          <a:effectLst/>
        </p:spPr>
      </p:cxnSp>
      <p:cxnSp>
        <p:nvCxnSpPr>
          <p:cNvPr id="18" name="Connector 17"/>
          <p:cNvCxnSpPr/>
          <p:nvPr/>
        </p:nvCxnSpPr>
        <p:spPr>
          <a:xfrm flipH="1">
            <a:off x="4421124" y="2203704"/>
            <a:ext cx="2468880" cy="749807"/>
          </a:xfrm>
          <a:prstGeom prst="line">
            <a:avLst/>
          </a:prstGeom>
          <a:ln w="15875">
            <a:solidFill>
              <a:srgbClr val="8A8F98"/>
            </a:solidFill>
          </a:ln>
          <a:effectLst/>
        </p:spPr>
      </p:cxnSp>
      <p:cxnSp>
        <p:nvCxnSpPr>
          <p:cNvPr id="19" name="Connector 18"/>
          <p:cNvCxnSpPr/>
          <p:nvPr/>
        </p:nvCxnSpPr>
        <p:spPr>
          <a:xfrm>
            <a:off x="6890004" y="2203704"/>
            <a:ext cx="1965959" cy="749807"/>
          </a:xfrm>
          <a:prstGeom prst="line">
            <a:avLst/>
          </a:prstGeom>
          <a:ln w="15875">
            <a:solidFill>
              <a:srgbClr val="8A8F98"/>
            </a:solidFill>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Running example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20</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8A8F98"/>
            </a:solidFill>
          </a:ln>
          <a:effectLst/>
        </p:spPr>
      </p:cxnSp>
      <p:cxnSp>
        <p:nvCxnSpPr>
          <p:cNvPr id="7" name="Connector 6"/>
          <p:cNvCxnSpPr/>
          <p:nvPr/>
        </p:nvCxnSpPr>
        <p:spPr>
          <a:xfrm>
            <a:off x="3323844" y="3803903"/>
            <a:ext cx="960120" cy="1106425"/>
          </a:xfrm>
          <a:prstGeom prst="line">
            <a:avLst/>
          </a:prstGeom>
          <a:ln w="15875">
            <a:solidFill>
              <a:srgbClr val="8A8F98"/>
            </a:solidFill>
          </a:ln>
          <a:effectLst/>
        </p:spPr>
      </p:cxnSp>
      <p:cxnSp>
        <p:nvCxnSpPr>
          <p:cNvPr id="8" name="Connector 7"/>
          <p:cNvCxnSpPr/>
          <p:nvPr/>
        </p:nvCxnSpPr>
        <p:spPr>
          <a:xfrm flipH="1">
            <a:off x="3406139" y="3803903"/>
            <a:ext cx="1014985" cy="1106425"/>
          </a:xfrm>
          <a:prstGeom prst="line">
            <a:avLst/>
          </a:prstGeom>
          <a:ln w="15875">
            <a:solidFill>
              <a:srgbClr val="8A8F98"/>
            </a:solidFill>
          </a:ln>
          <a:effectLst/>
        </p:spPr>
      </p:cxnSp>
      <p:cxnSp>
        <p:nvCxnSpPr>
          <p:cNvPr id="9" name="Connector 8"/>
          <p:cNvCxnSpPr/>
          <p:nvPr/>
        </p:nvCxnSpPr>
        <p:spPr>
          <a:xfrm>
            <a:off x="4421124" y="3803903"/>
            <a:ext cx="484632" cy="1106425"/>
          </a:xfrm>
          <a:prstGeom prst="line">
            <a:avLst/>
          </a:prstGeom>
          <a:ln w="15875">
            <a:solidFill>
              <a:srgbClr val="8A8F98"/>
            </a:solidFill>
          </a:ln>
          <a:effectLst/>
        </p:spPr>
      </p:cxnSp>
      <p:cxnSp>
        <p:nvCxnSpPr>
          <p:cNvPr id="10" name="Connector 9"/>
          <p:cNvCxnSpPr/>
          <p:nvPr/>
        </p:nvCxnSpPr>
        <p:spPr>
          <a:xfrm flipH="1">
            <a:off x="7283196" y="3803903"/>
            <a:ext cx="475487" cy="1106425"/>
          </a:xfrm>
          <a:prstGeom prst="line">
            <a:avLst/>
          </a:prstGeom>
          <a:ln w="15875">
            <a:solidFill>
              <a:srgbClr val="8A8F98"/>
            </a:solidFill>
          </a:ln>
          <a:effectLst/>
        </p:spPr>
      </p:cxnSp>
      <p:cxnSp>
        <p:nvCxnSpPr>
          <p:cNvPr id="11" name="Connector 10"/>
          <p:cNvCxnSpPr/>
          <p:nvPr/>
        </p:nvCxnSpPr>
        <p:spPr>
          <a:xfrm>
            <a:off x="7758683" y="3803903"/>
            <a:ext cx="1024129" cy="1106425"/>
          </a:xfrm>
          <a:prstGeom prst="line">
            <a:avLst/>
          </a:prstGeom>
          <a:ln w="15875">
            <a:solidFill>
              <a:srgbClr val="8A8F98"/>
            </a:solidFill>
          </a:ln>
          <a:effectLst/>
        </p:spPr>
      </p:cxnSp>
      <p:cxnSp>
        <p:nvCxnSpPr>
          <p:cNvPr id="12" name="Connector 11"/>
          <p:cNvCxnSpPr/>
          <p:nvPr/>
        </p:nvCxnSpPr>
        <p:spPr>
          <a:xfrm flipH="1">
            <a:off x="7904988" y="3803903"/>
            <a:ext cx="950975" cy="1106425"/>
          </a:xfrm>
          <a:prstGeom prst="line">
            <a:avLst/>
          </a:prstGeom>
          <a:ln w="15875">
            <a:solidFill>
              <a:srgbClr val="8A8F98"/>
            </a:solidFill>
          </a:ln>
          <a:effectLst/>
        </p:spPr>
      </p:cxnSp>
      <p:cxnSp>
        <p:nvCxnSpPr>
          <p:cNvPr id="13" name="Connector 12"/>
          <p:cNvCxnSpPr/>
          <p:nvPr/>
        </p:nvCxnSpPr>
        <p:spPr>
          <a:xfrm>
            <a:off x="8855963" y="3803903"/>
            <a:ext cx="548641" cy="1106425"/>
          </a:xfrm>
          <a:prstGeom prst="line">
            <a:avLst/>
          </a:prstGeom>
          <a:ln w="15875">
            <a:solidFill>
              <a:srgbClr val="8A8F98"/>
            </a:solidFill>
          </a:ln>
          <a:effectLst/>
        </p:spPr>
      </p:cxnSp>
      <p:cxnSp>
        <p:nvCxnSpPr>
          <p:cNvPr id="14" name="Connector 13"/>
          <p:cNvCxnSpPr/>
          <p:nvPr/>
        </p:nvCxnSpPr>
        <p:spPr>
          <a:xfrm>
            <a:off x="5564124" y="2203704"/>
            <a:ext cx="219455" cy="2706624"/>
          </a:xfrm>
          <a:prstGeom prst="line">
            <a:avLst/>
          </a:prstGeom>
          <a:ln w="15875">
            <a:solidFill>
              <a:srgbClr val="8A8F98"/>
            </a:solidFill>
          </a:ln>
          <a:effectLst/>
        </p:spPr>
      </p:cxnSp>
      <p:cxnSp>
        <p:nvCxnSpPr>
          <p:cNvPr id="15" name="Connector 14"/>
          <p:cNvCxnSpPr/>
          <p:nvPr/>
        </p:nvCxnSpPr>
        <p:spPr>
          <a:xfrm flipH="1">
            <a:off x="3323844" y="2203704"/>
            <a:ext cx="2240280" cy="749807"/>
          </a:xfrm>
          <a:prstGeom prst="line">
            <a:avLst/>
          </a:prstGeom>
          <a:ln w="15875">
            <a:solidFill>
              <a:srgbClr val="8A8F98"/>
            </a:solidFill>
          </a:ln>
          <a:effectLst/>
        </p:spPr>
      </p:cxnSp>
      <p:cxnSp>
        <p:nvCxnSpPr>
          <p:cNvPr id="16" name="Connector 15"/>
          <p:cNvCxnSpPr/>
          <p:nvPr/>
        </p:nvCxnSpPr>
        <p:spPr>
          <a:xfrm>
            <a:off x="5564124" y="2203704"/>
            <a:ext cx="2194559" cy="749807"/>
          </a:xfrm>
          <a:prstGeom prst="line">
            <a:avLst/>
          </a:prstGeom>
          <a:ln w="15875">
            <a:solidFill>
              <a:srgbClr val="8A8F98"/>
            </a:solidFill>
          </a:ln>
          <a:effectLst/>
        </p:spPr>
      </p:cxnSp>
      <p:cxnSp>
        <p:nvCxnSpPr>
          <p:cNvPr id="17" name="Connector 16"/>
          <p:cNvCxnSpPr/>
          <p:nvPr/>
        </p:nvCxnSpPr>
        <p:spPr>
          <a:xfrm flipH="1">
            <a:off x="6405372" y="2203704"/>
            <a:ext cx="484632" cy="2706624"/>
          </a:xfrm>
          <a:prstGeom prst="line">
            <a:avLst/>
          </a:prstGeom>
          <a:ln w="15875">
            <a:solidFill>
              <a:srgbClr val="8A8F98"/>
            </a:solidFill>
          </a:ln>
          <a:effectLst/>
        </p:spPr>
      </p:cxnSp>
      <p:cxnSp>
        <p:nvCxnSpPr>
          <p:cNvPr id="18" name="Connector 17"/>
          <p:cNvCxnSpPr/>
          <p:nvPr/>
        </p:nvCxnSpPr>
        <p:spPr>
          <a:xfrm flipH="1">
            <a:off x="4421124" y="2203704"/>
            <a:ext cx="2468880" cy="749807"/>
          </a:xfrm>
          <a:prstGeom prst="line">
            <a:avLst/>
          </a:prstGeom>
          <a:ln w="15875">
            <a:solidFill>
              <a:srgbClr val="8A8F98"/>
            </a:solidFill>
          </a:ln>
          <a:effectLst/>
        </p:spPr>
      </p:cxnSp>
      <p:cxnSp>
        <p:nvCxnSpPr>
          <p:cNvPr id="19" name="Connector 18"/>
          <p:cNvCxnSpPr/>
          <p:nvPr/>
        </p:nvCxnSpPr>
        <p:spPr>
          <a:xfrm>
            <a:off x="6890004" y="2203704"/>
            <a:ext cx="1965959" cy="749807"/>
          </a:xfrm>
          <a:prstGeom prst="line">
            <a:avLst/>
          </a:prstGeom>
          <a:ln w="15875">
            <a:solidFill>
              <a:srgbClr val="8A8F98"/>
            </a:solidFill>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2" name="TextBox 41"/>
          <p:cNvSpPr txBox="1"/>
          <p:nvPr/>
        </p:nvSpPr>
        <p:spPr>
          <a:xfrm>
            <a:off x="5586984" y="1207008"/>
            <a:ext cx="1280160" cy="329184"/>
          </a:xfrm>
          <a:prstGeom prst="rect">
            <a:avLst/>
          </a:prstGeom>
          <a:noFill/>
        </p:spPr>
        <p:txBody>
          <a:bodyPr wrap="square" anchor="t" lIns="45720" rIns="45720" tIns="27432" bIns="27432">
            <a:spAutoFit/>
          </a:bodyPr>
          <a:lstStyle/>
          <a:p>
            <a:pPr algn="ctr"/>
            <a:r>
              <a:rPr sz="1600" b="1" i="0">
                <a:solidFill>
                  <a:srgbClr val="6B717A"/>
                </a:solidFill>
                <a:latin typeface="Calibri"/>
              </a:rPr>
              <a:t>Query</a:t>
            </a:r>
          </a:p>
        </p:txBody>
      </p:sp>
      <p:sp>
        <p:nvSpPr>
          <p:cNvPr id="43" name="TextBox 42"/>
          <p:cNvSpPr txBox="1"/>
          <p:nvPr/>
        </p:nvSpPr>
        <p:spPr>
          <a:xfrm>
            <a:off x="5724144" y="1682496"/>
            <a:ext cx="1005840" cy="475488"/>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Reading the diagram</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21</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C9CDD3"/>
            </a:solidFill>
          </a:ln>
          <a:effectLst/>
        </p:spPr>
      </p:cxnSp>
      <p:cxnSp>
        <p:nvCxnSpPr>
          <p:cNvPr id="7" name="Connector 6"/>
          <p:cNvCxnSpPr/>
          <p:nvPr/>
        </p:nvCxnSpPr>
        <p:spPr>
          <a:xfrm>
            <a:off x="3323844" y="3803903"/>
            <a:ext cx="960120" cy="1106425"/>
          </a:xfrm>
          <a:prstGeom prst="line">
            <a:avLst/>
          </a:prstGeom>
          <a:ln w="15875">
            <a:solidFill>
              <a:srgbClr val="C9CDD3"/>
            </a:solidFill>
          </a:ln>
          <a:effectLst/>
        </p:spPr>
      </p:cxnSp>
      <p:cxnSp>
        <p:nvCxnSpPr>
          <p:cNvPr id="8" name="Connector 7"/>
          <p:cNvCxnSpPr/>
          <p:nvPr/>
        </p:nvCxnSpPr>
        <p:spPr>
          <a:xfrm flipH="1">
            <a:off x="3406139" y="3803903"/>
            <a:ext cx="1014985" cy="1106425"/>
          </a:xfrm>
          <a:prstGeom prst="line">
            <a:avLst/>
          </a:prstGeom>
          <a:ln w="15875">
            <a:solidFill>
              <a:srgbClr val="C9CDD3"/>
            </a:solidFill>
          </a:ln>
          <a:effectLst/>
        </p:spPr>
      </p:cxnSp>
      <p:cxnSp>
        <p:nvCxnSpPr>
          <p:cNvPr id="9" name="Connector 8"/>
          <p:cNvCxnSpPr/>
          <p:nvPr/>
        </p:nvCxnSpPr>
        <p:spPr>
          <a:xfrm>
            <a:off x="4421124" y="3803903"/>
            <a:ext cx="484632" cy="1106425"/>
          </a:xfrm>
          <a:prstGeom prst="line">
            <a:avLst/>
          </a:prstGeom>
          <a:ln w="15875">
            <a:solidFill>
              <a:srgbClr val="C9CDD3"/>
            </a:solidFill>
          </a:ln>
          <a:effectLst/>
        </p:spPr>
      </p:cxnSp>
      <p:cxnSp>
        <p:nvCxnSpPr>
          <p:cNvPr id="10" name="Connector 9"/>
          <p:cNvCxnSpPr/>
          <p:nvPr/>
        </p:nvCxnSpPr>
        <p:spPr>
          <a:xfrm flipH="1">
            <a:off x="7283196" y="3803903"/>
            <a:ext cx="475487" cy="1106425"/>
          </a:xfrm>
          <a:prstGeom prst="line">
            <a:avLst/>
          </a:prstGeom>
          <a:ln w="15875">
            <a:solidFill>
              <a:srgbClr val="C9CDD3"/>
            </a:solidFill>
          </a:ln>
          <a:effectLst/>
        </p:spPr>
      </p:cxnSp>
      <p:cxnSp>
        <p:nvCxnSpPr>
          <p:cNvPr id="11" name="Connector 10"/>
          <p:cNvCxnSpPr/>
          <p:nvPr/>
        </p:nvCxnSpPr>
        <p:spPr>
          <a:xfrm>
            <a:off x="7758683" y="3803903"/>
            <a:ext cx="1024129" cy="1106425"/>
          </a:xfrm>
          <a:prstGeom prst="line">
            <a:avLst/>
          </a:prstGeom>
          <a:ln w="15875">
            <a:solidFill>
              <a:srgbClr val="C9CDD3"/>
            </a:solidFill>
          </a:ln>
          <a:effectLst/>
        </p:spPr>
      </p:cxnSp>
      <p:cxnSp>
        <p:nvCxnSpPr>
          <p:cNvPr id="12" name="Connector 11"/>
          <p:cNvCxnSpPr/>
          <p:nvPr/>
        </p:nvCxnSpPr>
        <p:spPr>
          <a:xfrm flipH="1">
            <a:off x="7904988" y="3803903"/>
            <a:ext cx="950975" cy="1106425"/>
          </a:xfrm>
          <a:prstGeom prst="line">
            <a:avLst/>
          </a:prstGeom>
          <a:ln w="15875">
            <a:solidFill>
              <a:srgbClr val="C9CDD3"/>
            </a:solidFill>
          </a:ln>
          <a:effectLst/>
        </p:spPr>
      </p:cxnSp>
      <p:cxnSp>
        <p:nvCxnSpPr>
          <p:cNvPr id="13" name="Connector 12"/>
          <p:cNvCxnSpPr/>
          <p:nvPr/>
        </p:nvCxnSpPr>
        <p:spPr>
          <a:xfrm>
            <a:off x="8855963" y="3803903"/>
            <a:ext cx="548641" cy="1106425"/>
          </a:xfrm>
          <a:prstGeom prst="line">
            <a:avLst/>
          </a:prstGeom>
          <a:ln w="15875">
            <a:solidFill>
              <a:srgbClr val="C9CDD3"/>
            </a:solidFill>
          </a:ln>
          <a:effectLst/>
        </p:spPr>
      </p:cxnSp>
      <p:cxnSp>
        <p:nvCxnSpPr>
          <p:cNvPr id="14" name="Connector 13"/>
          <p:cNvCxnSpPr/>
          <p:nvPr/>
        </p:nvCxnSpPr>
        <p:spPr>
          <a:xfrm>
            <a:off x="5564124" y="2203704"/>
            <a:ext cx="219455" cy="2706624"/>
          </a:xfrm>
          <a:prstGeom prst="line">
            <a:avLst/>
          </a:prstGeom>
          <a:ln w="15875">
            <a:solidFill>
              <a:srgbClr val="C9CDD3"/>
            </a:solidFill>
          </a:ln>
          <a:effectLst/>
        </p:spPr>
      </p:cxnSp>
      <p:cxnSp>
        <p:nvCxnSpPr>
          <p:cNvPr id="15" name="Connector 14"/>
          <p:cNvCxnSpPr/>
          <p:nvPr/>
        </p:nvCxnSpPr>
        <p:spPr>
          <a:xfrm flipH="1">
            <a:off x="3323844" y="2203704"/>
            <a:ext cx="2240280" cy="749807"/>
          </a:xfrm>
          <a:prstGeom prst="line">
            <a:avLst/>
          </a:prstGeom>
          <a:ln w="15875">
            <a:solidFill>
              <a:srgbClr val="C9CDD3"/>
            </a:solidFill>
          </a:ln>
          <a:effectLst/>
        </p:spPr>
      </p:cxnSp>
      <p:cxnSp>
        <p:nvCxnSpPr>
          <p:cNvPr id="16" name="Connector 15"/>
          <p:cNvCxnSpPr/>
          <p:nvPr/>
        </p:nvCxnSpPr>
        <p:spPr>
          <a:xfrm>
            <a:off x="5564124" y="2203704"/>
            <a:ext cx="2194559" cy="749807"/>
          </a:xfrm>
          <a:prstGeom prst="line">
            <a:avLst/>
          </a:prstGeom>
          <a:ln w="15875">
            <a:solidFill>
              <a:srgbClr val="C9CDD3"/>
            </a:solidFill>
          </a:ln>
          <a:effectLst/>
        </p:spPr>
      </p:cxnSp>
      <p:cxnSp>
        <p:nvCxnSpPr>
          <p:cNvPr id="17" name="Connector 16"/>
          <p:cNvCxnSpPr/>
          <p:nvPr/>
        </p:nvCxnSpPr>
        <p:spPr>
          <a:xfrm flipH="1">
            <a:off x="6405372" y="2203704"/>
            <a:ext cx="484632" cy="2706624"/>
          </a:xfrm>
          <a:prstGeom prst="line">
            <a:avLst/>
          </a:prstGeom>
          <a:ln w="31750">
            <a:solidFill>
              <a:srgbClr val="C8501E"/>
            </a:solidFill>
            <a:tailEnd type="triangle" w="med" len="med"/>
          </a:ln>
          <a:effectLst/>
        </p:spPr>
      </p:cxnSp>
      <p:cxnSp>
        <p:nvCxnSpPr>
          <p:cNvPr id="18" name="Connector 17"/>
          <p:cNvCxnSpPr/>
          <p:nvPr/>
        </p:nvCxnSpPr>
        <p:spPr>
          <a:xfrm flipH="1">
            <a:off x="4421124" y="2203704"/>
            <a:ext cx="2468880" cy="749807"/>
          </a:xfrm>
          <a:prstGeom prst="line">
            <a:avLst/>
          </a:prstGeom>
          <a:ln w="31750">
            <a:solidFill>
              <a:srgbClr val="C8501E"/>
            </a:solidFill>
            <a:tailEnd type="triangle" w="med" len="med"/>
          </a:ln>
          <a:effectLst/>
        </p:spPr>
      </p:cxnSp>
      <p:cxnSp>
        <p:nvCxnSpPr>
          <p:cNvPr id="19" name="Connector 18"/>
          <p:cNvCxnSpPr/>
          <p:nvPr/>
        </p:nvCxnSpPr>
        <p:spPr>
          <a:xfrm>
            <a:off x="6890004" y="2203704"/>
            <a:ext cx="1965959" cy="749807"/>
          </a:xfrm>
          <a:prstGeom prst="line">
            <a:avLst/>
          </a:prstGeom>
          <a:ln w="31750">
            <a:solidFill>
              <a:srgbClr val="C8501E"/>
            </a:solidFill>
            <a:tailEnd type="triangle" w="med" len="med"/>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600" b="1" i="0">
                <a:solidFill>
                  <a:srgbClr val="C9CDD3"/>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600" b="1" i="0">
                <a:solidFill>
                  <a:srgbClr val="C9CDD3"/>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600" b="1" i="0">
                <a:solidFill>
                  <a:srgbClr val="C9CDD3"/>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C9CDD3"/>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2" name="Rounded Rectangle 41"/>
          <p:cNvSpPr/>
          <p:nvPr/>
        </p:nvSpPr>
        <p:spPr>
          <a:xfrm>
            <a:off x="7575804" y="1115568"/>
            <a:ext cx="2286000" cy="420624"/>
          </a:xfrm>
          <a:prstGeom prst="roundRect">
            <a:avLst>
              <a:gd name="adj" fmla="val 15000"/>
            </a:avLst>
          </a:prstGeom>
          <a:solidFill>
            <a:srgbClr val="FFF3CC"/>
          </a:solidFill>
          <a:ln w="19050">
            <a:solidFill>
              <a:srgbClr val="E0A300"/>
            </a:solidFill>
          </a:ln>
          <a:effectLst/>
        </p:spPr>
        <p:txBody>
          <a:bodyPr rtlCol="0" anchor="ctr" lIns="54864" rIns="54864" tIns="27432" bIns="27432" wrap="square"/>
          <a:lstStyle/>
          <a:p>
            <a:pPr algn="ctr"/>
            <a:r>
              <a:rPr sz="1500" b="1" i="0">
                <a:solidFill>
                  <a:srgbClr val="2B2F36"/>
                </a:solidFill>
                <a:latin typeface="Calibri"/>
              </a:rPr>
              <a:t>m₂ = ITE(c′, a₂, x₂)</a:t>
            </a:r>
          </a:p>
        </p:txBody>
      </p:sp>
      <p:cxnSp>
        <p:nvCxnSpPr>
          <p:cNvPr id="43" name="Connector 42"/>
          <p:cNvCxnSpPr/>
          <p:nvPr/>
        </p:nvCxnSpPr>
        <p:spPr>
          <a:xfrm flipH="1">
            <a:off x="7091172" y="1325880"/>
            <a:ext cx="484632" cy="292608"/>
          </a:xfrm>
          <a:prstGeom prst="line">
            <a:avLst/>
          </a:prstGeom>
          <a:ln w="28575">
            <a:solidFill>
              <a:srgbClr val="E0A300"/>
            </a:solidFill>
            <a:tailEnd type="triangle" w="med" len="med"/>
          </a:ln>
          <a:effectLst/>
        </p:spPr>
      </p:cxn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Reading the diagram</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C9CDD3"/>
            </a:solidFill>
          </a:ln>
          <a:effectLst/>
        </p:spPr>
      </p:cxnSp>
      <p:cxnSp>
        <p:nvCxnSpPr>
          <p:cNvPr id="7" name="Connector 6"/>
          <p:cNvCxnSpPr/>
          <p:nvPr/>
        </p:nvCxnSpPr>
        <p:spPr>
          <a:xfrm>
            <a:off x="3323844" y="3803903"/>
            <a:ext cx="960120" cy="1106425"/>
          </a:xfrm>
          <a:prstGeom prst="line">
            <a:avLst/>
          </a:prstGeom>
          <a:ln w="15875">
            <a:solidFill>
              <a:srgbClr val="C9CDD3"/>
            </a:solidFill>
          </a:ln>
          <a:effectLst/>
        </p:spPr>
      </p:cxnSp>
      <p:cxnSp>
        <p:nvCxnSpPr>
          <p:cNvPr id="8" name="Connector 7"/>
          <p:cNvCxnSpPr/>
          <p:nvPr/>
        </p:nvCxnSpPr>
        <p:spPr>
          <a:xfrm flipH="1">
            <a:off x="3406139" y="3803903"/>
            <a:ext cx="1014985" cy="1106425"/>
          </a:xfrm>
          <a:prstGeom prst="line">
            <a:avLst/>
          </a:prstGeom>
          <a:ln w="15875">
            <a:solidFill>
              <a:srgbClr val="C9CDD3"/>
            </a:solidFill>
          </a:ln>
          <a:effectLst/>
        </p:spPr>
      </p:cxnSp>
      <p:cxnSp>
        <p:nvCxnSpPr>
          <p:cNvPr id="9" name="Connector 8"/>
          <p:cNvCxnSpPr/>
          <p:nvPr/>
        </p:nvCxnSpPr>
        <p:spPr>
          <a:xfrm>
            <a:off x="4421124" y="3803903"/>
            <a:ext cx="484632" cy="1106425"/>
          </a:xfrm>
          <a:prstGeom prst="line">
            <a:avLst/>
          </a:prstGeom>
          <a:ln w="15875">
            <a:solidFill>
              <a:srgbClr val="C9CDD3"/>
            </a:solidFill>
          </a:ln>
          <a:effectLst/>
        </p:spPr>
      </p:cxnSp>
      <p:cxnSp>
        <p:nvCxnSpPr>
          <p:cNvPr id="10" name="Connector 9"/>
          <p:cNvCxnSpPr/>
          <p:nvPr/>
        </p:nvCxnSpPr>
        <p:spPr>
          <a:xfrm flipH="1">
            <a:off x="7283196" y="3803903"/>
            <a:ext cx="475487" cy="1106425"/>
          </a:xfrm>
          <a:prstGeom prst="line">
            <a:avLst/>
          </a:prstGeom>
          <a:ln w="15875">
            <a:solidFill>
              <a:srgbClr val="C9CDD3"/>
            </a:solidFill>
          </a:ln>
          <a:effectLst/>
        </p:spPr>
      </p:cxnSp>
      <p:cxnSp>
        <p:nvCxnSpPr>
          <p:cNvPr id="11" name="Connector 10"/>
          <p:cNvCxnSpPr/>
          <p:nvPr/>
        </p:nvCxnSpPr>
        <p:spPr>
          <a:xfrm>
            <a:off x="7758683" y="3803903"/>
            <a:ext cx="1024129" cy="1106425"/>
          </a:xfrm>
          <a:prstGeom prst="line">
            <a:avLst/>
          </a:prstGeom>
          <a:ln w="15875">
            <a:solidFill>
              <a:srgbClr val="C9CDD3"/>
            </a:solidFill>
          </a:ln>
          <a:effectLst/>
        </p:spPr>
      </p:cxnSp>
      <p:cxnSp>
        <p:nvCxnSpPr>
          <p:cNvPr id="12" name="Connector 11"/>
          <p:cNvCxnSpPr/>
          <p:nvPr/>
        </p:nvCxnSpPr>
        <p:spPr>
          <a:xfrm flipH="1">
            <a:off x="7904988" y="3803903"/>
            <a:ext cx="950975" cy="1106425"/>
          </a:xfrm>
          <a:prstGeom prst="line">
            <a:avLst/>
          </a:prstGeom>
          <a:ln w="15875">
            <a:solidFill>
              <a:srgbClr val="C9CDD3"/>
            </a:solidFill>
          </a:ln>
          <a:effectLst/>
        </p:spPr>
      </p:cxnSp>
      <p:cxnSp>
        <p:nvCxnSpPr>
          <p:cNvPr id="13" name="Connector 12"/>
          <p:cNvCxnSpPr/>
          <p:nvPr/>
        </p:nvCxnSpPr>
        <p:spPr>
          <a:xfrm>
            <a:off x="8855963" y="3803903"/>
            <a:ext cx="548641" cy="1106425"/>
          </a:xfrm>
          <a:prstGeom prst="line">
            <a:avLst/>
          </a:prstGeom>
          <a:ln w="15875">
            <a:solidFill>
              <a:srgbClr val="C9CDD3"/>
            </a:solidFill>
          </a:ln>
          <a:effectLst/>
        </p:spPr>
      </p:cxnSp>
      <p:cxnSp>
        <p:nvCxnSpPr>
          <p:cNvPr id="14" name="Connector 13"/>
          <p:cNvCxnSpPr/>
          <p:nvPr/>
        </p:nvCxnSpPr>
        <p:spPr>
          <a:xfrm>
            <a:off x="5564124" y="2203704"/>
            <a:ext cx="219455" cy="2706624"/>
          </a:xfrm>
          <a:prstGeom prst="line">
            <a:avLst/>
          </a:prstGeom>
          <a:ln w="15875">
            <a:solidFill>
              <a:srgbClr val="C9CDD3"/>
            </a:solidFill>
          </a:ln>
          <a:effectLst/>
        </p:spPr>
      </p:cxnSp>
      <p:cxnSp>
        <p:nvCxnSpPr>
          <p:cNvPr id="15" name="Connector 14"/>
          <p:cNvCxnSpPr/>
          <p:nvPr/>
        </p:nvCxnSpPr>
        <p:spPr>
          <a:xfrm flipH="1">
            <a:off x="3323844" y="2203704"/>
            <a:ext cx="2240280" cy="749807"/>
          </a:xfrm>
          <a:prstGeom prst="line">
            <a:avLst/>
          </a:prstGeom>
          <a:ln w="15875">
            <a:solidFill>
              <a:srgbClr val="C9CDD3"/>
            </a:solidFill>
          </a:ln>
          <a:effectLst/>
        </p:spPr>
      </p:cxnSp>
      <p:cxnSp>
        <p:nvCxnSpPr>
          <p:cNvPr id="16" name="Connector 15"/>
          <p:cNvCxnSpPr/>
          <p:nvPr/>
        </p:nvCxnSpPr>
        <p:spPr>
          <a:xfrm>
            <a:off x="5564124" y="2203704"/>
            <a:ext cx="2194559" cy="749807"/>
          </a:xfrm>
          <a:prstGeom prst="line">
            <a:avLst/>
          </a:prstGeom>
          <a:ln w="15875">
            <a:solidFill>
              <a:srgbClr val="C9CDD3"/>
            </a:solidFill>
          </a:ln>
          <a:effectLst/>
        </p:spPr>
      </p:cxnSp>
      <p:cxnSp>
        <p:nvCxnSpPr>
          <p:cNvPr id="17" name="Connector 16"/>
          <p:cNvCxnSpPr/>
          <p:nvPr/>
        </p:nvCxnSpPr>
        <p:spPr>
          <a:xfrm flipH="1">
            <a:off x="6405372" y="2203704"/>
            <a:ext cx="484632" cy="2706624"/>
          </a:xfrm>
          <a:prstGeom prst="line">
            <a:avLst/>
          </a:prstGeom>
          <a:ln w="31750">
            <a:solidFill>
              <a:srgbClr val="C8501E"/>
            </a:solidFill>
            <a:tailEnd type="triangle" w="med" len="med"/>
          </a:ln>
          <a:effectLst/>
        </p:spPr>
      </p:cxnSp>
      <p:cxnSp>
        <p:nvCxnSpPr>
          <p:cNvPr id="18" name="Connector 17"/>
          <p:cNvCxnSpPr/>
          <p:nvPr/>
        </p:nvCxnSpPr>
        <p:spPr>
          <a:xfrm flipH="1">
            <a:off x="4421124" y="2203704"/>
            <a:ext cx="2468880" cy="749807"/>
          </a:xfrm>
          <a:prstGeom prst="line">
            <a:avLst/>
          </a:prstGeom>
          <a:ln w="31750">
            <a:solidFill>
              <a:srgbClr val="C8501E"/>
            </a:solidFill>
            <a:tailEnd type="triangle" w="med" len="med"/>
          </a:ln>
          <a:effectLst/>
        </p:spPr>
      </p:cxnSp>
      <p:cxnSp>
        <p:nvCxnSpPr>
          <p:cNvPr id="19" name="Connector 18"/>
          <p:cNvCxnSpPr/>
          <p:nvPr/>
        </p:nvCxnSpPr>
        <p:spPr>
          <a:xfrm>
            <a:off x="6890004" y="2203704"/>
            <a:ext cx="1965959" cy="749807"/>
          </a:xfrm>
          <a:prstGeom prst="line">
            <a:avLst/>
          </a:prstGeom>
          <a:ln w="31750">
            <a:solidFill>
              <a:srgbClr val="C8501E"/>
            </a:solidFill>
            <a:tailEnd type="triangle" w="med" len="med"/>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600" b="1" i="0">
                <a:solidFill>
                  <a:srgbClr val="C9CDD3"/>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600" b="1" i="0">
                <a:solidFill>
                  <a:srgbClr val="C9CDD3"/>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600" b="1" i="0">
                <a:solidFill>
                  <a:srgbClr val="C9CDD3"/>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C9CDD3"/>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2" name="TextBox 41"/>
          <p:cNvSpPr txBox="1"/>
          <p:nvPr/>
        </p:nvSpPr>
        <p:spPr>
          <a:xfrm>
            <a:off x="7712964" y="1764792"/>
            <a:ext cx="822960" cy="310896"/>
          </a:xfrm>
          <a:prstGeom prst="rect">
            <a:avLst/>
          </a:prstGeom>
          <a:noFill/>
        </p:spPr>
        <p:txBody>
          <a:bodyPr wrap="square" anchor="ctr" lIns="45720" rIns="45720" tIns="27432" bIns="27432">
            <a:spAutoFit/>
          </a:bodyPr>
          <a:lstStyle/>
          <a:p>
            <a:pPr algn="ctr"/>
            <a:r>
              <a:rPr sz="1700" b="1" i="0">
                <a:solidFill>
                  <a:srgbClr val="C8501E"/>
                </a:solidFill>
                <a:latin typeface="Calibri"/>
              </a:rPr>
              <a:t>parent</a:t>
            </a:r>
          </a:p>
        </p:txBody>
      </p:sp>
      <p:sp>
        <p:nvSpPr>
          <p:cNvPr id="43" name="TextBox 42"/>
          <p:cNvSpPr txBox="1"/>
          <p:nvPr/>
        </p:nvSpPr>
        <p:spPr>
          <a:xfrm>
            <a:off x="5993892" y="5358383"/>
            <a:ext cx="822960" cy="292608"/>
          </a:xfrm>
          <a:prstGeom prst="rect">
            <a:avLst/>
          </a:prstGeom>
          <a:noFill/>
        </p:spPr>
        <p:txBody>
          <a:bodyPr wrap="square" anchor="ctr" lIns="45720" rIns="45720" tIns="27432" bIns="27432">
            <a:spAutoFit/>
          </a:bodyPr>
          <a:lstStyle/>
          <a:p>
            <a:pPr algn="ctr"/>
            <a:r>
              <a:rPr sz="1500" b="1" i="0">
                <a:solidFill>
                  <a:srgbClr val="C8501E"/>
                </a:solidFill>
                <a:latin typeface="Calibri"/>
              </a:rPr>
              <a:t>child</a:t>
            </a:r>
          </a:p>
        </p:txBody>
      </p:sp>
      <p:sp>
        <p:nvSpPr>
          <p:cNvPr id="44" name="TextBox 43"/>
          <p:cNvSpPr txBox="1"/>
          <p:nvPr/>
        </p:nvSpPr>
        <p:spPr>
          <a:xfrm>
            <a:off x="4814316" y="3374135"/>
            <a:ext cx="822960" cy="292608"/>
          </a:xfrm>
          <a:prstGeom prst="rect">
            <a:avLst/>
          </a:prstGeom>
          <a:noFill/>
        </p:spPr>
        <p:txBody>
          <a:bodyPr wrap="square" anchor="ctr" lIns="45720" rIns="45720" tIns="27432" bIns="27432">
            <a:spAutoFit/>
          </a:bodyPr>
          <a:lstStyle/>
          <a:p>
            <a:pPr algn="ctr"/>
            <a:r>
              <a:rPr sz="1500" b="1" i="0">
                <a:solidFill>
                  <a:srgbClr val="C8501E"/>
                </a:solidFill>
                <a:latin typeface="Calibri"/>
              </a:rPr>
              <a:t>child</a:t>
            </a:r>
          </a:p>
        </p:txBody>
      </p:sp>
      <p:sp>
        <p:nvSpPr>
          <p:cNvPr id="45" name="TextBox 44"/>
          <p:cNvSpPr txBox="1"/>
          <p:nvPr/>
        </p:nvSpPr>
        <p:spPr>
          <a:xfrm>
            <a:off x="9249156" y="3374135"/>
            <a:ext cx="822960" cy="292608"/>
          </a:xfrm>
          <a:prstGeom prst="rect">
            <a:avLst/>
          </a:prstGeom>
          <a:noFill/>
        </p:spPr>
        <p:txBody>
          <a:bodyPr wrap="square" anchor="ctr" lIns="45720" rIns="45720" tIns="27432" bIns="27432">
            <a:spAutoFit/>
          </a:bodyPr>
          <a:lstStyle/>
          <a:p>
            <a:pPr algn="ctr"/>
            <a:r>
              <a:rPr sz="1500" b="1" i="0">
                <a:solidFill>
                  <a:srgbClr val="C8501E"/>
                </a:solidFill>
                <a:latin typeface="Calibri"/>
              </a:rPr>
              <a:t>child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8A8F98"/>
            </a:solidFill>
          </a:ln>
          <a:effectLst/>
        </p:spPr>
      </p:cxnSp>
      <p:cxnSp>
        <p:nvCxnSpPr>
          <p:cNvPr id="7" name="Connector 6"/>
          <p:cNvCxnSpPr/>
          <p:nvPr/>
        </p:nvCxnSpPr>
        <p:spPr>
          <a:xfrm>
            <a:off x="3323844" y="3803903"/>
            <a:ext cx="960120" cy="1106425"/>
          </a:xfrm>
          <a:prstGeom prst="line">
            <a:avLst/>
          </a:prstGeom>
          <a:ln w="15875">
            <a:solidFill>
              <a:srgbClr val="8A8F98"/>
            </a:solidFill>
          </a:ln>
          <a:effectLst/>
        </p:spPr>
      </p:cxnSp>
      <p:cxnSp>
        <p:nvCxnSpPr>
          <p:cNvPr id="8" name="Connector 7"/>
          <p:cNvCxnSpPr/>
          <p:nvPr/>
        </p:nvCxnSpPr>
        <p:spPr>
          <a:xfrm flipH="1">
            <a:off x="3406139" y="3803903"/>
            <a:ext cx="1014985" cy="1106425"/>
          </a:xfrm>
          <a:prstGeom prst="line">
            <a:avLst/>
          </a:prstGeom>
          <a:ln w="15875">
            <a:solidFill>
              <a:srgbClr val="8A8F98"/>
            </a:solidFill>
          </a:ln>
          <a:effectLst/>
        </p:spPr>
      </p:cxnSp>
      <p:cxnSp>
        <p:nvCxnSpPr>
          <p:cNvPr id="9" name="Connector 8"/>
          <p:cNvCxnSpPr/>
          <p:nvPr/>
        </p:nvCxnSpPr>
        <p:spPr>
          <a:xfrm>
            <a:off x="4421124" y="3803903"/>
            <a:ext cx="484632" cy="1106425"/>
          </a:xfrm>
          <a:prstGeom prst="line">
            <a:avLst/>
          </a:prstGeom>
          <a:ln w="15875">
            <a:solidFill>
              <a:srgbClr val="8A8F98"/>
            </a:solidFill>
          </a:ln>
          <a:effectLst/>
        </p:spPr>
      </p:cxnSp>
      <p:cxnSp>
        <p:nvCxnSpPr>
          <p:cNvPr id="10" name="Connector 9"/>
          <p:cNvCxnSpPr/>
          <p:nvPr/>
        </p:nvCxnSpPr>
        <p:spPr>
          <a:xfrm flipH="1">
            <a:off x="7283196" y="3803903"/>
            <a:ext cx="475487" cy="1106425"/>
          </a:xfrm>
          <a:prstGeom prst="line">
            <a:avLst/>
          </a:prstGeom>
          <a:ln w="15875">
            <a:solidFill>
              <a:srgbClr val="8A8F98"/>
            </a:solidFill>
          </a:ln>
          <a:effectLst/>
        </p:spPr>
      </p:cxnSp>
      <p:cxnSp>
        <p:nvCxnSpPr>
          <p:cNvPr id="11" name="Connector 10"/>
          <p:cNvCxnSpPr/>
          <p:nvPr/>
        </p:nvCxnSpPr>
        <p:spPr>
          <a:xfrm>
            <a:off x="7758683" y="3803903"/>
            <a:ext cx="1024129" cy="1106425"/>
          </a:xfrm>
          <a:prstGeom prst="line">
            <a:avLst/>
          </a:prstGeom>
          <a:ln w="15875">
            <a:solidFill>
              <a:srgbClr val="8A8F98"/>
            </a:solidFill>
          </a:ln>
          <a:effectLst/>
        </p:spPr>
      </p:cxnSp>
      <p:cxnSp>
        <p:nvCxnSpPr>
          <p:cNvPr id="12" name="Connector 11"/>
          <p:cNvCxnSpPr/>
          <p:nvPr/>
        </p:nvCxnSpPr>
        <p:spPr>
          <a:xfrm flipH="1">
            <a:off x="7904988" y="3803903"/>
            <a:ext cx="950975" cy="1106425"/>
          </a:xfrm>
          <a:prstGeom prst="line">
            <a:avLst/>
          </a:prstGeom>
          <a:ln w="15875">
            <a:solidFill>
              <a:srgbClr val="8A8F98"/>
            </a:solidFill>
          </a:ln>
          <a:effectLst/>
        </p:spPr>
      </p:cxnSp>
      <p:cxnSp>
        <p:nvCxnSpPr>
          <p:cNvPr id="13" name="Connector 12"/>
          <p:cNvCxnSpPr/>
          <p:nvPr/>
        </p:nvCxnSpPr>
        <p:spPr>
          <a:xfrm>
            <a:off x="8855963" y="3803903"/>
            <a:ext cx="548641" cy="1106425"/>
          </a:xfrm>
          <a:prstGeom prst="line">
            <a:avLst/>
          </a:prstGeom>
          <a:ln w="15875">
            <a:solidFill>
              <a:srgbClr val="8A8F98"/>
            </a:solidFill>
          </a:ln>
          <a:effectLst/>
        </p:spPr>
      </p:cxnSp>
      <p:cxnSp>
        <p:nvCxnSpPr>
          <p:cNvPr id="14" name="Connector 13"/>
          <p:cNvCxnSpPr/>
          <p:nvPr/>
        </p:nvCxnSpPr>
        <p:spPr>
          <a:xfrm>
            <a:off x="5564124" y="2203704"/>
            <a:ext cx="219455" cy="2706624"/>
          </a:xfrm>
          <a:prstGeom prst="line">
            <a:avLst/>
          </a:prstGeom>
          <a:ln w="15875">
            <a:solidFill>
              <a:srgbClr val="8A8F98"/>
            </a:solidFill>
          </a:ln>
          <a:effectLst/>
        </p:spPr>
      </p:cxnSp>
      <p:cxnSp>
        <p:nvCxnSpPr>
          <p:cNvPr id="15" name="Connector 14"/>
          <p:cNvCxnSpPr/>
          <p:nvPr/>
        </p:nvCxnSpPr>
        <p:spPr>
          <a:xfrm flipH="1">
            <a:off x="3323844" y="2203704"/>
            <a:ext cx="2240280" cy="749807"/>
          </a:xfrm>
          <a:prstGeom prst="line">
            <a:avLst/>
          </a:prstGeom>
          <a:ln w="15875">
            <a:solidFill>
              <a:srgbClr val="8A8F98"/>
            </a:solidFill>
          </a:ln>
          <a:effectLst/>
        </p:spPr>
      </p:cxnSp>
      <p:cxnSp>
        <p:nvCxnSpPr>
          <p:cNvPr id="16" name="Connector 15"/>
          <p:cNvCxnSpPr/>
          <p:nvPr/>
        </p:nvCxnSpPr>
        <p:spPr>
          <a:xfrm>
            <a:off x="5564124" y="2203704"/>
            <a:ext cx="2194559" cy="749807"/>
          </a:xfrm>
          <a:prstGeom prst="line">
            <a:avLst/>
          </a:prstGeom>
          <a:ln w="15875">
            <a:solidFill>
              <a:srgbClr val="8A8F98"/>
            </a:solidFill>
          </a:ln>
          <a:effectLst/>
        </p:spPr>
      </p:cxnSp>
      <p:cxnSp>
        <p:nvCxnSpPr>
          <p:cNvPr id="17" name="Connector 16"/>
          <p:cNvCxnSpPr/>
          <p:nvPr/>
        </p:nvCxnSpPr>
        <p:spPr>
          <a:xfrm flipH="1">
            <a:off x="6405372" y="2203704"/>
            <a:ext cx="484632" cy="2706624"/>
          </a:xfrm>
          <a:prstGeom prst="line">
            <a:avLst/>
          </a:prstGeom>
          <a:ln w="15875">
            <a:solidFill>
              <a:srgbClr val="8A8F98"/>
            </a:solidFill>
          </a:ln>
          <a:effectLst/>
        </p:spPr>
      </p:cxnSp>
      <p:cxnSp>
        <p:nvCxnSpPr>
          <p:cNvPr id="18" name="Connector 17"/>
          <p:cNvCxnSpPr/>
          <p:nvPr/>
        </p:nvCxnSpPr>
        <p:spPr>
          <a:xfrm flipH="1">
            <a:off x="4421124" y="2203704"/>
            <a:ext cx="2468880" cy="749807"/>
          </a:xfrm>
          <a:prstGeom prst="line">
            <a:avLst/>
          </a:prstGeom>
          <a:ln w="15875">
            <a:solidFill>
              <a:srgbClr val="8A8F98"/>
            </a:solidFill>
          </a:ln>
          <a:effectLst/>
        </p:spPr>
      </p:cxnSp>
      <p:cxnSp>
        <p:nvCxnSpPr>
          <p:cNvPr id="19" name="Connector 18"/>
          <p:cNvCxnSpPr/>
          <p:nvPr/>
        </p:nvCxnSpPr>
        <p:spPr>
          <a:xfrm>
            <a:off x="6890004" y="2203704"/>
            <a:ext cx="1965959" cy="749807"/>
          </a:xfrm>
          <a:prstGeom prst="line">
            <a:avLst/>
          </a:prstGeom>
          <a:ln w="15875">
            <a:solidFill>
              <a:srgbClr val="8A8F98"/>
            </a:solidFill>
          </a:ln>
          <a:effectLst/>
        </p:spPr>
      </p:cxnSp>
      <p:sp>
        <p:nvSpPr>
          <p:cNvPr id="20" name="Rounded Rectangle 19"/>
          <p:cNvSpPr/>
          <p:nvPr/>
        </p:nvSpPr>
        <p:spPr>
          <a:xfrm>
            <a:off x="2510028"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2" name="TextBox 41"/>
          <p:cNvSpPr txBox="1"/>
          <p:nvPr/>
        </p:nvSpPr>
        <p:spPr>
          <a:xfrm>
            <a:off x="2775203"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
        <p:nvSpPr>
          <p:cNvPr id="43" name="TextBox 42"/>
          <p:cNvSpPr txBox="1"/>
          <p:nvPr/>
        </p:nvSpPr>
        <p:spPr>
          <a:xfrm>
            <a:off x="4274820"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
        <p:nvSpPr>
          <p:cNvPr id="44" name="TextBox 43"/>
          <p:cNvSpPr txBox="1"/>
          <p:nvPr/>
        </p:nvSpPr>
        <p:spPr>
          <a:xfrm>
            <a:off x="5774436"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
        <p:nvSpPr>
          <p:cNvPr id="45" name="TextBox 44"/>
          <p:cNvSpPr txBox="1"/>
          <p:nvPr/>
        </p:nvSpPr>
        <p:spPr>
          <a:xfrm>
            <a:off x="7274052"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
        <p:nvSpPr>
          <p:cNvPr id="46" name="TextBox 45"/>
          <p:cNvSpPr txBox="1"/>
          <p:nvPr/>
        </p:nvSpPr>
        <p:spPr>
          <a:xfrm>
            <a:off x="8773668"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cxnSp>
        <p:nvCxnSpPr>
          <p:cNvPr id="11" name="Connector 10"/>
          <p:cNvCxnSpPr/>
          <p:nvPr/>
        </p:nvCxnSpPr>
        <p:spPr>
          <a:xfrm flipH="1">
            <a:off x="2784348" y="3803903"/>
            <a:ext cx="539496" cy="1106425"/>
          </a:xfrm>
          <a:prstGeom prst="line">
            <a:avLst/>
          </a:prstGeom>
          <a:ln w="15875">
            <a:solidFill>
              <a:srgbClr val="8A8F98"/>
            </a:solidFill>
          </a:ln>
          <a:effectLst/>
        </p:spPr>
      </p:cxnSp>
      <p:cxnSp>
        <p:nvCxnSpPr>
          <p:cNvPr id="12" name="Connector 11"/>
          <p:cNvCxnSpPr/>
          <p:nvPr/>
        </p:nvCxnSpPr>
        <p:spPr>
          <a:xfrm>
            <a:off x="3323844" y="3803903"/>
            <a:ext cx="960120" cy="1106425"/>
          </a:xfrm>
          <a:prstGeom prst="line">
            <a:avLst/>
          </a:prstGeom>
          <a:ln w="15875">
            <a:solidFill>
              <a:srgbClr val="8A8F98"/>
            </a:solidFill>
          </a:ln>
          <a:effectLst/>
        </p:spPr>
      </p:cxnSp>
      <p:cxnSp>
        <p:nvCxnSpPr>
          <p:cNvPr id="13" name="Connector 12"/>
          <p:cNvCxnSpPr/>
          <p:nvPr/>
        </p:nvCxnSpPr>
        <p:spPr>
          <a:xfrm flipH="1">
            <a:off x="3406139" y="3803903"/>
            <a:ext cx="1014985" cy="1106425"/>
          </a:xfrm>
          <a:prstGeom prst="line">
            <a:avLst/>
          </a:prstGeom>
          <a:ln w="15875">
            <a:solidFill>
              <a:srgbClr val="8A8F98"/>
            </a:solidFill>
          </a:ln>
          <a:effectLst/>
        </p:spPr>
      </p:cxnSp>
      <p:cxnSp>
        <p:nvCxnSpPr>
          <p:cNvPr id="14" name="Connector 13"/>
          <p:cNvCxnSpPr/>
          <p:nvPr/>
        </p:nvCxnSpPr>
        <p:spPr>
          <a:xfrm>
            <a:off x="4421124" y="3803903"/>
            <a:ext cx="484632" cy="1106425"/>
          </a:xfrm>
          <a:prstGeom prst="line">
            <a:avLst/>
          </a:prstGeom>
          <a:ln w="15875">
            <a:solidFill>
              <a:srgbClr val="8A8F98"/>
            </a:solidFill>
          </a:ln>
          <a:effectLst/>
        </p:spPr>
      </p:cxnSp>
      <p:cxnSp>
        <p:nvCxnSpPr>
          <p:cNvPr id="15" name="Connector 14"/>
          <p:cNvCxnSpPr/>
          <p:nvPr/>
        </p:nvCxnSpPr>
        <p:spPr>
          <a:xfrm flipH="1">
            <a:off x="7283196" y="3803903"/>
            <a:ext cx="475487" cy="1106425"/>
          </a:xfrm>
          <a:prstGeom prst="line">
            <a:avLst/>
          </a:prstGeom>
          <a:ln w="15875">
            <a:solidFill>
              <a:srgbClr val="8A8F98"/>
            </a:solidFill>
          </a:ln>
          <a:effectLst/>
        </p:spPr>
      </p:cxnSp>
      <p:cxnSp>
        <p:nvCxnSpPr>
          <p:cNvPr id="16" name="Connector 15"/>
          <p:cNvCxnSpPr/>
          <p:nvPr/>
        </p:nvCxnSpPr>
        <p:spPr>
          <a:xfrm>
            <a:off x="7758683" y="3803903"/>
            <a:ext cx="1024129" cy="1106425"/>
          </a:xfrm>
          <a:prstGeom prst="line">
            <a:avLst/>
          </a:prstGeom>
          <a:ln w="15875">
            <a:solidFill>
              <a:srgbClr val="8A8F98"/>
            </a:solidFill>
          </a:ln>
          <a:effectLst/>
        </p:spPr>
      </p:cxnSp>
      <p:cxnSp>
        <p:nvCxnSpPr>
          <p:cNvPr id="17" name="Connector 16"/>
          <p:cNvCxnSpPr/>
          <p:nvPr/>
        </p:nvCxnSpPr>
        <p:spPr>
          <a:xfrm flipH="1">
            <a:off x="7904988" y="3803903"/>
            <a:ext cx="950975" cy="1106425"/>
          </a:xfrm>
          <a:prstGeom prst="line">
            <a:avLst/>
          </a:prstGeom>
          <a:ln w="15875">
            <a:solidFill>
              <a:srgbClr val="8A8F98"/>
            </a:solidFill>
          </a:ln>
          <a:effectLst/>
        </p:spPr>
      </p:cxnSp>
      <p:cxnSp>
        <p:nvCxnSpPr>
          <p:cNvPr id="18" name="Connector 17"/>
          <p:cNvCxnSpPr/>
          <p:nvPr/>
        </p:nvCxnSpPr>
        <p:spPr>
          <a:xfrm>
            <a:off x="8855963" y="3803903"/>
            <a:ext cx="548641" cy="1106425"/>
          </a:xfrm>
          <a:prstGeom prst="line">
            <a:avLst/>
          </a:prstGeom>
          <a:ln w="15875">
            <a:solidFill>
              <a:srgbClr val="8A8F98"/>
            </a:solidFill>
          </a:ln>
          <a:effectLst/>
        </p:spPr>
      </p:cxnSp>
      <p:cxnSp>
        <p:nvCxnSpPr>
          <p:cNvPr id="19" name="Connector 18"/>
          <p:cNvCxnSpPr/>
          <p:nvPr/>
        </p:nvCxnSpPr>
        <p:spPr>
          <a:xfrm>
            <a:off x="5564124" y="2203704"/>
            <a:ext cx="219455" cy="2706624"/>
          </a:xfrm>
          <a:prstGeom prst="line">
            <a:avLst/>
          </a:prstGeom>
          <a:ln w="15875">
            <a:solidFill>
              <a:srgbClr val="8A8F98"/>
            </a:solidFill>
          </a:ln>
          <a:effectLst/>
        </p:spPr>
      </p:cxnSp>
      <p:cxnSp>
        <p:nvCxnSpPr>
          <p:cNvPr id="20" name="Connector 19"/>
          <p:cNvCxnSpPr/>
          <p:nvPr/>
        </p:nvCxnSpPr>
        <p:spPr>
          <a:xfrm flipH="1">
            <a:off x="3323844" y="2203704"/>
            <a:ext cx="2240280" cy="749807"/>
          </a:xfrm>
          <a:prstGeom prst="line">
            <a:avLst/>
          </a:prstGeom>
          <a:ln w="15875">
            <a:solidFill>
              <a:srgbClr val="8A8F98"/>
            </a:solidFill>
          </a:ln>
          <a:effectLst/>
        </p:spPr>
      </p:cxnSp>
      <p:cxnSp>
        <p:nvCxnSpPr>
          <p:cNvPr id="21" name="Connector 20"/>
          <p:cNvCxnSpPr/>
          <p:nvPr/>
        </p:nvCxnSpPr>
        <p:spPr>
          <a:xfrm>
            <a:off x="5564124" y="2203704"/>
            <a:ext cx="2194559" cy="749807"/>
          </a:xfrm>
          <a:prstGeom prst="line">
            <a:avLst/>
          </a:prstGeom>
          <a:ln w="15875">
            <a:solidFill>
              <a:srgbClr val="8A8F98"/>
            </a:solidFill>
          </a:ln>
          <a:effectLst/>
        </p:spPr>
      </p:cxnSp>
      <p:cxnSp>
        <p:nvCxnSpPr>
          <p:cNvPr id="22" name="Connector 21"/>
          <p:cNvCxnSpPr/>
          <p:nvPr/>
        </p:nvCxnSpPr>
        <p:spPr>
          <a:xfrm flipH="1">
            <a:off x="6405372" y="2203704"/>
            <a:ext cx="484632" cy="2706624"/>
          </a:xfrm>
          <a:prstGeom prst="line">
            <a:avLst/>
          </a:prstGeom>
          <a:ln w="15875">
            <a:solidFill>
              <a:srgbClr val="8A8F98"/>
            </a:solidFill>
          </a:ln>
          <a:effectLst/>
        </p:spPr>
      </p:cxnSp>
      <p:cxnSp>
        <p:nvCxnSpPr>
          <p:cNvPr id="23" name="Connector 22"/>
          <p:cNvCxnSpPr/>
          <p:nvPr/>
        </p:nvCxnSpPr>
        <p:spPr>
          <a:xfrm flipH="1">
            <a:off x="4421124" y="2203704"/>
            <a:ext cx="2468880" cy="749807"/>
          </a:xfrm>
          <a:prstGeom prst="line">
            <a:avLst/>
          </a:prstGeom>
          <a:ln w="15875">
            <a:solidFill>
              <a:srgbClr val="8A8F98"/>
            </a:solidFill>
          </a:ln>
          <a:effectLst/>
        </p:spPr>
      </p:cxnSp>
      <p:cxnSp>
        <p:nvCxnSpPr>
          <p:cNvPr id="24" name="Connector 23"/>
          <p:cNvCxnSpPr/>
          <p:nvPr/>
        </p:nvCxnSpPr>
        <p:spPr>
          <a:xfrm>
            <a:off x="6890004" y="2203704"/>
            <a:ext cx="1965959" cy="749807"/>
          </a:xfrm>
          <a:prstGeom prst="line">
            <a:avLst/>
          </a:prstGeom>
          <a:ln w="15875">
            <a:solidFill>
              <a:srgbClr val="8A8F98"/>
            </a:solidFill>
          </a:ln>
          <a:effectLst/>
        </p:spPr>
      </p:cxnSp>
      <p:sp>
        <p:nvSpPr>
          <p:cNvPr id="25" name="Rounded Rectangle 24"/>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6" name="Rounded Rectangle 25"/>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8" name="Rounded Rectangle 27"/>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0" name="Rounded Rectangle 29"/>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2" name="Rounded Rectangle 31"/>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4" name="Rounded Rectangle 33"/>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6" name="TextBox 35"/>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7" name="Rounded Rectangle 36"/>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9" name="Rounded Rectangle 38"/>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0" name="TextBox 39"/>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1" name="Rounded Rectangle 40"/>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3" name="Rounded Rectangle 42"/>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4" name="TextBox 43"/>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5" name="Rounded Rectangle 44"/>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7" name="TextBox 46"/>
          <p:cNvSpPr txBox="1"/>
          <p:nvPr/>
        </p:nvSpPr>
        <p:spPr>
          <a:xfrm>
            <a:off x="2775203"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48" name="TextBox 47"/>
          <p:cNvSpPr txBox="1"/>
          <p:nvPr/>
        </p:nvSpPr>
        <p:spPr>
          <a:xfrm>
            <a:off x="4274820"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49" name="TextBox 48"/>
          <p:cNvSpPr txBox="1"/>
          <p:nvPr/>
        </p:nvSpPr>
        <p:spPr>
          <a:xfrm>
            <a:off x="5774436"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50" name="TextBox 49"/>
          <p:cNvSpPr txBox="1"/>
          <p:nvPr/>
        </p:nvSpPr>
        <p:spPr>
          <a:xfrm>
            <a:off x="7274052"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51" name="TextBox 50"/>
          <p:cNvSpPr txBox="1"/>
          <p:nvPr/>
        </p:nvSpPr>
        <p:spPr>
          <a:xfrm>
            <a:off x="8773668"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cxnSp>
        <p:nvCxnSpPr>
          <p:cNvPr id="11" name="Connector 10"/>
          <p:cNvCxnSpPr/>
          <p:nvPr/>
        </p:nvCxnSpPr>
        <p:spPr>
          <a:xfrm flipH="1">
            <a:off x="2784348" y="3803903"/>
            <a:ext cx="539496" cy="1106425"/>
          </a:xfrm>
          <a:prstGeom prst="line">
            <a:avLst/>
          </a:prstGeom>
          <a:ln w="15875">
            <a:solidFill>
              <a:srgbClr val="8A8F98"/>
            </a:solidFill>
          </a:ln>
          <a:effectLst/>
        </p:spPr>
      </p:cxnSp>
      <p:cxnSp>
        <p:nvCxnSpPr>
          <p:cNvPr id="12" name="Connector 11"/>
          <p:cNvCxnSpPr/>
          <p:nvPr/>
        </p:nvCxnSpPr>
        <p:spPr>
          <a:xfrm>
            <a:off x="3323844" y="3803903"/>
            <a:ext cx="960120" cy="1106425"/>
          </a:xfrm>
          <a:prstGeom prst="line">
            <a:avLst/>
          </a:prstGeom>
          <a:ln w="15875">
            <a:solidFill>
              <a:srgbClr val="8A8F98"/>
            </a:solidFill>
          </a:ln>
          <a:effectLst/>
        </p:spPr>
      </p:cxnSp>
      <p:cxnSp>
        <p:nvCxnSpPr>
          <p:cNvPr id="13" name="Connector 12"/>
          <p:cNvCxnSpPr/>
          <p:nvPr/>
        </p:nvCxnSpPr>
        <p:spPr>
          <a:xfrm flipH="1">
            <a:off x="3406139" y="3803903"/>
            <a:ext cx="1014985" cy="1106425"/>
          </a:xfrm>
          <a:prstGeom prst="line">
            <a:avLst/>
          </a:prstGeom>
          <a:ln w="15875">
            <a:solidFill>
              <a:srgbClr val="8A8F98"/>
            </a:solidFill>
          </a:ln>
          <a:effectLst/>
        </p:spPr>
      </p:cxnSp>
      <p:cxnSp>
        <p:nvCxnSpPr>
          <p:cNvPr id="14" name="Connector 13"/>
          <p:cNvCxnSpPr/>
          <p:nvPr/>
        </p:nvCxnSpPr>
        <p:spPr>
          <a:xfrm>
            <a:off x="4421124" y="3803903"/>
            <a:ext cx="484632" cy="1106425"/>
          </a:xfrm>
          <a:prstGeom prst="line">
            <a:avLst/>
          </a:prstGeom>
          <a:ln w="15875">
            <a:solidFill>
              <a:srgbClr val="8A8F98"/>
            </a:solidFill>
          </a:ln>
          <a:effectLst/>
        </p:spPr>
      </p:cxnSp>
      <p:cxnSp>
        <p:nvCxnSpPr>
          <p:cNvPr id="15" name="Connector 14"/>
          <p:cNvCxnSpPr/>
          <p:nvPr/>
        </p:nvCxnSpPr>
        <p:spPr>
          <a:xfrm flipH="1">
            <a:off x="7283196" y="3803903"/>
            <a:ext cx="475487" cy="1106425"/>
          </a:xfrm>
          <a:prstGeom prst="line">
            <a:avLst/>
          </a:prstGeom>
          <a:ln w="15875">
            <a:solidFill>
              <a:srgbClr val="8A8F98"/>
            </a:solidFill>
          </a:ln>
          <a:effectLst/>
        </p:spPr>
      </p:cxnSp>
      <p:cxnSp>
        <p:nvCxnSpPr>
          <p:cNvPr id="16" name="Connector 15"/>
          <p:cNvCxnSpPr/>
          <p:nvPr/>
        </p:nvCxnSpPr>
        <p:spPr>
          <a:xfrm>
            <a:off x="7758683" y="3803903"/>
            <a:ext cx="1024129" cy="1106425"/>
          </a:xfrm>
          <a:prstGeom prst="line">
            <a:avLst/>
          </a:prstGeom>
          <a:ln w="15875">
            <a:solidFill>
              <a:srgbClr val="8A8F98"/>
            </a:solidFill>
          </a:ln>
          <a:effectLst/>
        </p:spPr>
      </p:cxnSp>
      <p:cxnSp>
        <p:nvCxnSpPr>
          <p:cNvPr id="17" name="Connector 16"/>
          <p:cNvCxnSpPr/>
          <p:nvPr/>
        </p:nvCxnSpPr>
        <p:spPr>
          <a:xfrm flipH="1">
            <a:off x="7904988" y="3803903"/>
            <a:ext cx="950975" cy="1106425"/>
          </a:xfrm>
          <a:prstGeom prst="line">
            <a:avLst/>
          </a:prstGeom>
          <a:ln w="15875">
            <a:solidFill>
              <a:srgbClr val="8A8F98"/>
            </a:solidFill>
          </a:ln>
          <a:effectLst/>
        </p:spPr>
      </p:cxnSp>
      <p:cxnSp>
        <p:nvCxnSpPr>
          <p:cNvPr id="18" name="Connector 17"/>
          <p:cNvCxnSpPr/>
          <p:nvPr/>
        </p:nvCxnSpPr>
        <p:spPr>
          <a:xfrm>
            <a:off x="8855963" y="3803903"/>
            <a:ext cx="548641" cy="1106425"/>
          </a:xfrm>
          <a:prstGeom prst="line">
            <a:avLst/>
          </a:prstGeom>
          <a:ln w="15875">
            <a:solidFill>
              <a:srgbClr val="8A8F98"/>
            </a:solidFill>
          </a:ln>
          <a:effectLst/>
        </p:spPr>
      </p:cxnSp>
      <p:cxnSp>
        <p:nvCxnSpPr>
          <p:cNvPr id="19" name="Connector 18"/>
          <p:cNvCxnSpPr/>
          <p:nvPr/>
        </p:nvCxnSpPr>
        <p:spPr>
          <a:xfrm>
            <a:off x="5564124" y="2203704"/>
            <a:ext cx="219455" cy="2706624"/>
          </a:xfrm>
          <a:prstGeom prst="line">
            <a:avLst/>
          </a:prstGeom>
          <a:ln w="15875">
            <a:solidFill>
              <a:srgbClr val="8A8F98"/>
            </a:solidFill>
          </a:ln>
          <a:effectLst/>
        </p:spPr>
      </p:cxnSp>
      <p:cxnSp>
        <p:nvCxnSpPr>
          <p:cNvPr id="20" name="Connector 19"/>
          <p:cNvCxnSpPr/>
          <p:nvPr/>
        </p:nvCxnSpPr>
        <p:spPr>
          <a:xfrm flipH="1">
            <a:off x="3323844" y="2203704"/>
            <a:ext cx="2240280" cy="749807"/>
          </a:xfrm>
          <a:prstGeom prst="line">
            <a:avLst/>
          </a:prstGeom>
          <a:ln w="15875">
            <a:solidFill>
              <a:srgbClr val="8A8F98"/>
            </a:solidFill>
          </a:ln>
          <a:effectLst/>
        </p:spPr>
      </p:cxnSp>
      <p:cxnSp>
        <p:nvCxnSpPr>
          <p:cNvPr id="21" name="Connector 20"/>
          <p:cNvCxnSpPr/>
          <p:nvPr/>
        </p:nvCxnSpPr>
        <p:spPr>
          <a:xfrm>
            <a:off x="5564124" y="2203704"/>
            <a:ext cx="2194559" cy="749807"/>
          </a:xfrm>
          <a:prstGeom prst="line">
            <a:avLst/>
          </a:prstGeom>
          <a:ln w="15875">
            <a:solidFill>
              <a:srgbClr val="8A8F98"/>
            </a:solidFill>
          </a:ln>
          <a:effectLst/>
        </p:spPr>
      </p:cxnSp>
      <p:cxnSp>
        <p:nvCxnSpPr>
          <p:cNvPr id="22" name="Connector 21"/>
          <p:cNvCxnSpPr/>
          <p:nvPr/>
        </p:nvCxnSpPr>
        <p:spPr>
          <a:xfrm flipH="1">
            <a:off x="6405372" y="2203704"/>
            <a:ext cx="484632" cy="2706624"/>
          </a:xfrm>
          <a:prstGeom prst="line">
            <a:avLst/>
          </a:prstGeom>
          <a:ln w="15875">
            <a:solidFill>
              <a:srgbClr val="8A8F98"/>
            </a:solidFill>
          </a:ln>
          <a:effectLst/>
        </p:spPr>
      </p:cxnSp>
      <p:cxnSp>
        <p:nvCxnSpPr>
          <p:cNvPr id="23" name="Connector 22"/>
          <p:cNvCxnSpPr/>
          <p:nvPr/>
        </p:nvCxnSpPr>
        <p:spPr>
          <a:xfrm flipH="1">
            <a:off x="4421124" y="2203704"/>
            <a:ext cx="2468880" cy="749807"/>
          </a:xfrm>
          <a:prstGeom prst="line">
            <a:avLst/>
          </a:prstGeom>
          <a:ln w="15875">
            <a:solidFill>
              <a:srgbClr val="8A8F98"/>
            </a:solidFill>
          </a:ln>
          <a:effectLst/>
        </p:spPr>
      </p:cxnSp>
      <p:cxnSp>
        <p:nvCxnSpPr>
          <p:cNvPr id="24" name="Connector 23"/>
          <p:cNvCxnSpPr/>
          <p:nvPr/>
        </p:nvCxnSpPr>
        <p:spPr>
          <a:xfrm>
            <a:off x="6890004" y="2203704"/>
            <a:ext cx="1965959" cy="749807"/>
          </a:xfrm>
          <a:prstGeom prst="line">
            <a:avLst/>
          </a:prstGeom>
          <a:ln w="15875">
            <a:solidFill>
              <a:srgbClr val="8A8F98"/>
            </a:solidFill>
          </a:ln>
          <a:effectLst/>
        </p:spPr>
      </p:cxnSp>
      <p:sp>
        <p:nvSpPr>
          <p:cNvPr id="25" name="Rounded Rectangle 24"/>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6" name="Rounded Rectangle 25"/>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8" name="Rounded Rectangle 27"/>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0" name="Rounded Rectangle 29"/>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2" name="Rounded Rectangle 31"/>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4" name="Rounded Rectangle 33"/>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6" name="TextBox 35"/>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7" name="Rounded Rectangle 36"/>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9" name="Rounded Rectangle 38"/>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0" name="TextBox 39"/>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1" name="Rounded Rectangle 40"/>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3" name="Rounded Rectangle 42"/>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4" name="TextBox 43"/>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5" name="Rounded Rectangle 44"/>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cxnSp>
        <p:nvCxnSpPr>
          <p:cNvPr id="12" name="Connector 11"/>
          <p:cNvCxnSpPr/>
          <p:nvPr/>
        </p:nvCxnSpPr>
        <p:spPr>
          <a:xfrm flipH="1">
            <a:off x="2784348" y="3803903"/>
            <a:ext cx="539496" cy="1106425"/>
          </a:xfrm>
          <a:prstGeom prst="line">
            <a:avLst/>
          </a:prstGeom>
          <a:ln w="15875">
            <a:solidFill>
              <a:srgbClr val="8A8F98"/>
            </a:solidFill>
          </a:ln>
          <a:effectLst/>
        </p:spPr>
      </p:cxnSp>
      <p:cxnSp>
        <p:nvCxnSpPr>
          <p:cNvPr id="13" name="Connector 12"/>
          <p:cNvCxnSpPr/>
          <p:nvPr/>
        </p:nvCxnSpPr>
        <p:spPr>
          <a:xfrm>
            <a:off x="3323844" y="3803903"/>
            <a:ext cx="960120" cy="1106425"/>
          </a:xfrm>
          <a:prstGeom prst="line">
            <a:avLst/>
          </a:prstGeom>
          <a:ln w="15875">
            <a:solidFill>
              <a:srgbClr val="8A8F98"/>
            </a:solidFill>
          </a:ln>
          <a:effectLst/>
        </p:spPr>
      </p:cxnSp>
      <p:cxnSp>
        <p:nvCxnSpPr>
          <p:cNvPr id="14" name="Connector 13"/>
          <p:cNvCxnSpPr/>
          <p:nvPr/>
        </p:nvCxnSpPr>
        <p:spPr>
          <a:xfrm flipH="1">
            <a:off x="3406139" y="3803903"/>
            <a:ext cx="1014985" cy="1106425"/>
          </a:xfrm>
          <a:prstGeom prst="line">
            <a:avLst/>
          </a:prstGeom>
          <a:ln w="15875">
            <a:solidFill>
              <a:srgbClr val="8A8F98"/>
            </a:solidFill>
          </a:ln>
          <a:effectLst/>
        </p:spPr>
      </p:cxnSp>
      <p:cxnSp>
        <p:nvCxnSpPr>
          <p:cNvPr id="15" name="Connector 14"/>
          <p:cNvCxnSpPr/>
          <p:nvPr/>
        </p:nvCxnSpPr>
        <p:spPr>
          <a:xfrm>
            <a:off x="4421124" y="3803903"/>
            <a:ext cx="484632" cy="1106425"/>
          </a:xfrm>
          <a:prstGeom prst="line">
            <a:avLst/>
          </a:prstGeom>
          <a:ln w="15875">
            <a:solidFill>
              <a:srgbClr val="8A8F98"/>
            </a:solidFill>
          </a:ln>
          <a:effectLst/>
        </p:spPr>
      </p:cxnSp>
      <p:cxnSp>
        <p:nvCxnSpPr>
          <p:cNvPr id="16" name="Connector 15"/>
          <p:cNvCxnSpPr/>
          <p:nvPr/>
        </p:nvCxnSpPr>
        <p:spPr>
          <a:xfrm flipH="1">
            <a:off x="7283196" y="3803903"/>
            <a:ext cx="475487" cy="1106425"/>
          </a:xfrm>
          <a:prstGeom prst="line">
            <a:avLst/>
          </a:prstGeom>
          <a:ln w="15875">
            <a:solidFill>
              <a:srgbClr val="8A8F98"/>
            </a:solidFill>
          </a:ln>
          <a:effectLst/>
        </p:spPr>
      </p:cxnSp>
      <p:cxnSp>
        <p:nvCxnSpPr>
          <p:cNvPr id="17" name="Connector 16"/>
          <p:cNvCxnSpPr/>
          <p:nvPr/>
        </p:nvCxnSpPr>
        <p:spPr>
          <a:xfrm>
            <a:off x="7758683" y="3803903"/>
            <a:ext cx="1024129" cy="1106425"/>
          </a:xfrm>
          <a:prstGeom prst="line">
            <a:avLst/>
          </a:prstGeom>
          <a:ln w="15875">
            <a:solidFill>
              <a:srgbClr val="8A8F98"/>
            </a:solidFill>
          </a:ln>
          <a:effectLst/>
        </p:spPr>
      </p:cxnSp>
      <p:cxnSp>
        <p:nvCxnSpPr>
          <p:cNvPr id="18" name="Connector 17"/>
          <p:cNvCxnSpPr/>
          <p:nvPr/>
        </p:nvCxnSpPr>
        <p:spPr>
          <a:xfrm flipH="1">
            <a:off x="7904988" y="3803903"/>
            <a:ext cx="950975" cy="1106425"/>
          </a:xfrm>
          <a:prstGeom prst="line">
            <a:avLst/>
          </a:prstGeom>
          <a:ln w="15875">
            <a:solidFill>
              <a:srgbClr val="8A8F98"/>
            </a:solidFill>
          </a:ln>
          <a:effectLst/>
        </p:spPr>
      </p:cxnSp>
      <p:cxnSp>
        <p:nvCxnSpPr>
          <p:cNvPr id="19" name="Connector 18"/>
          <p:cNvCxnSpPr/>
          <p:nvPr/>
        </p:nvCxnSpPr>
        <p:spPr>
          <a:xfrm>
            <a:off x="8855963" y="3803903"/>
            <a:ext cx="548641" cy="1106425"/>
          </a:xfrm>
          <a:prstGeom prst="line">
            <a:avLst/>
          </a:prstGeom>
          <a:ln w="15875">
            <a:solidFill>
              <a:srgbClr val="8A8F98"/>
            </a:solidFill>
          </a:ln>
          <a:effectLst/>
        </p:spPr>
      </p:cxnSp>
      <p:cxnSp>
        <p:nvCxnSpPr>
          <p:cNvPr id="20" name="Connector 19"/>
          <p:cNvCxnSpPr/>
          <p:nvPr/>
        </p:nvCxnSpPr>
        <p:spPr>
          <a:xfrm>
            <a:off x="5564124" y="2203704"/>
            <a:ext cx="219455" cy="2706624"/>
          </a:xfrm>
          <a:prstGeom prst="line">
            <a:avLst/>
          </a:prstGeom>
          <a:ln w="15875">
            <a:solidFill>
              <a:srgbClr val="8A8F98"/>
            </a:solidFill>
          </a:ln>
          <a:effectLst/>
        </p:spPr>
      </p:cxnSp>
      <p:cxnSp>
        <p:nvCxnSpPr>
          <p:cNvPr id="21" name="Connector 20"/>
          <p:cNvCxnSpPr/>
          <p:nvPr/>
        </p:nvCxnSpPr>
        <p:spPr>
          <a:xfrm flipH="1">
            <a:off x="3323844" y="2203704"/>
            <a:ext cx="2240280" cy="749807"/>
          </a:xfrm>
          <a:prstGeom prst="line">
            <a:avLst/>
          </a:prstGeom>
          <a:ln w="15875">
            <a:solidFill>
              <a:srgbClr val="8A8F98"/>
            </a:solidFill>
          </a:ln>
          <a:effectLst/>
        </p:spPr>
      </p:cxnSp>
      <p:cxnSp>
        <p:nvCxnSpPr>
          <p:cNvPr id="22" name="Connector 21"/>
          <p:cNvCxnSpPr/>
          <p:nvPr/>
        </p:nvCxnSpPr>
        <p:spPr>
          <a:xfrm>
            <a:off x="5564124" y="2203704"/>
            <a:ext cx="2194559" cy="749807"/>
          </a:xfrm>
          <a:prstGeom prst="line">
            <a:avLst/>
          </a:prstGeom>
          <a:ln w="15875">
            <a:solidFill>
              <a:srgbClr val="8A8F98"/>
            </a:solidFill>
          </a:ln>
          <a:effectLst/>
        </p:spPr>
      </p:cxnSp>
      <p:cxnSp>
        <p:nvCxnSpPr>
          <p:cNvPr id="23" name="Connector 22"/>
          <p:cNvCxnSpPr/>
          <p:nvPr/>
        </p:nvCxnSpPr>
        <p:spPr>
          <a:xfrm flipH="1">
            <a:off x="6405372" y="2203704"/>
            <a:ext cx="484632" cy="2706624"/>
          </a:xfrm>
          <a:prstGeom prst="line">
            <a:avLst/>
          </a:prstGeom>
          <a:ln w="15875">
            <a:solidFill>
              <a:srgbClr val="8A8F98"/>
            </a:solidFill>
          </a:ln>
          <a:effectLst/>
        </p:spPr>
      </p:cxnSp>
      <p:cxnSp>
        <p:nvCxnSpPr>
          <p:cNvPr id="24" name="Connector 23"/>
          <p:cNvCxnSpPr/>
          <p:nvPr/>
        </p:nvCxnSpPr>
        <p:spPr>
          <a:xfrm flipH="1">
            <a:off x="4421124" y="2203704"/>
            <a:ext cx="2468880" cy="749807"/>
          </a:xfrm>
          <a:prstGeom prst="line">
            <a:avLst/>
          </a:prstGeom>
          <a:ln w="15875">
            <a:solidFill>
              <a:srgbClr val="8A8F98"/>
            </a:solidFill>
          </a:ln>
          <a:effectLst/>
        </p:spPr>
      </p:cxnSp>
      <p:cxnSp>
        <p:nvCxnSpPr>
          <p:cNvPr id="25" name="Connector 24"/>
          <p:cNvCxnSpPr/>
          <p:nvPr/>
        </p:nvCxnSpPr>
        <p:spPr>
          <a:xfrm>
            <a:off x="6890004" y="2203704"/>
            <a:ext cx="1965959" cy="749807"/>
          </a:xfrm>
          <a:prstGeom prst="line">
            <a:avLst/>
          </a:prstGeom>
          <a:ln w="15875">
            <a:solidFill>
              <a:srgbClr val="8A8F98"/>
            </a:solidFill>
          </a:ln>
          <a:effectLst/>
        </p:spPr>
      </p:cxnSp>
      <p:sp>
        <p:nvSpPr>
          <p:cNvPr id="26" name="Rounded Rectangle 25"/>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7" name="TextBox 36"/>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8" name="Rounded Rectangle 37"/>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0" name="Rounded Rectangle 39"/>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1" name="TextBox 40"/>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2" name="Rounded Rectangle 41"/>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4" name="Rounded Rectangle 43"/>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5" name="TextBox 44"/>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6" name="Rounded Rectangle 45"/>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8" name="TextBox 47"/>
          <p:cNvSpPr txBox="1"/>
          <p:nvPr/>
        </p:nvSpPr>
        <p:spPr>
          <a:xfrm>
            <a:off x="3506723" y="32461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cxnSp>
        <p:nvCxnSpPr>
          <p:cNvPr id="12" name="Connector 11"/>
          <p:cNvCxnSpPr/>
          <p:nvPr/>
        </p:nvCxnSpPr>
        <p:spPr>
          <a:xfrm flipH="1">
            <a:off x="2784348" y="3803903"/>
            <a:ext cx="539496" cy="1106425"/>
          </a:xfrm>
          <a:prstGeom prst="line">
            <a:avLst/>
          </a:prstGeom>
          <a:ln w="15875">
            <a:solidFill>
              <a:srgbClr val="8A8F98"/>
            </a:solidFill>
          </a:ln>
          <a:effectLst/>
        </p:spPr>
      </p:cxnSp>
      <p:cxnSp>
        <p:nvCxnSpPr>
          <p:cNvPr id="13" name="Connector 12"/>
          <p:cNvCxnSpPr/>
          <p:nvPr/>
        </p:nvCxnSpPr>
        <p:spPr>
          <a:xfrm>
            <a:off x="3323844" y="3803903"/>
            <a:ext cx="960120" cy="1106425"/>
          </a:xfrm>
          <a:prstGeom prst="line">
            <a:avLst/>
          </a:prstGeom>
          <a:ln w="15875">
            <a:solidFill>
              <a:srgbClr val="8A8F98"/>
            </a:solidFill>
          </a:ln>
          <a:effectLst/>
        </p:spPr>
      </p:cxnSp>
      <p:cxnSp>
        <p:nvCxnSpPr>
          <p:cNvPr id="14" name="Connector 13"/>
          <p:cNvCxnSpPr/>
          <p:nvPr/>
        </p:nvCxnSpPr>
        <p:spPr>
          <a:xfrm flipH="1">
            <a:off x="3406139" y="3803903"/>
            <a:ext cx="1014985" cy="1106425"/>
          </a:xfrm>
          <a:prstGeom prst="line">
            <a:avLst/>
          </a:prstGeom>
          <a:ln w="15875">
            <a:solidFill>
              <a:srgbClr val="8A8F98"/>
            </a:solidFill>
          </a:ln>
          <a:effectLst/>
        </p:spPr>
      </p:cxnSp>
      <p:cxnSp>
        <p:nvCxnSpPr>
          <p:cNvPr id="15" name="Connector 14"/>
          <p:cNvCxnSpPr/>
          <p:nvPr/>
        </p:nvCxnSpPr>
        <p:spPr>
          <a:xfrm>
            <a:off x="4421124" y="3803903"/>
            <a:ext cx="484632" cy="1106425"/>
          </a:xfrm>
          <a:prstGeom prst="line">
            <a:avLst/>
          </a:prstGeom>
          <a:ln w="15875">
            <a:solidFill>
              <a:srgbClr val="8A8F98"/>
            </a:solidFill>
          </a:ln>
          <a:effectLst/>
        </p:spPr>
      </p:cxnSp>
      <p:cxnSp>
        <p:nvCxnSpPr>
          <p:cNvPr id="16" name="Connector 15"/>
          <p:cNvCxnSpPr/>
          <p:nvPr/>
        </p:nvCxnSpPr>
        <p:spPr>
          <a:xfrm flipH="1">
            <a:off x="7283196" y="3803903"/>
            <a:ext cx="475487" cy="1106425"/>
          </a:xfrm>
          <a:prstGeom prst="line">
            <a:avLst/>
          </a:prstGeom>
          <a:ln w="15875">
            <a:solidFill>
              <a:srgbClr val="8A8F98"/>
            </a:solidFill>
          </a:ln>
          <a:effectLst/>
        </p:spPr>
      </p:cxnSp>
      <p:cxnSp>
        <p:nvCxnSpPr>
          <p:cNvPr id="17" name="Connector 16"/>
          <p:cNvCxnSpPr/>
          <p:nvPr/>
        </p:nvCxnSpPr>
        <p:spPr>
          <a:xfrm>
            <a:off x="7758683" y="3803903"/>
            <a:ext cx="1024129" cy="1106425"/>
          </a:xfrm>
          <a:prstGeom prst="line">
            <a:avLst/>
          </a:prstGeom>
          <a:ln w="15875">
            <a:solidFill>
              <a:srgbClr val="8A8F98"/>
            </a:solidFill>
          </a:ln>
          <a:effectLst/>
        </p:spPr>
      </p:cxnSp>
      <p:cxnSp>
        <p:nvCxnSpPr>
          <p:cNvPr id="18" name="Connector 17"/>
          <p:cNvCxnSpPr/>
          <p:nvPr/>
        </p:nvCxnSpPr>
        <p:spPr>
          <a:xfrm flipH="1">
            <a:off x="7904988" y="3803903"/>
            <a:ext cx="950975" cy="1106425"/>
          </a:xfrm>
          <a:prstGeom prst="line">
            <a:avLst/>
          </a:prstGeom>
          <a:ln w="15875">
            <a:solidFill>
              <a:srgbClr val="8A8F98"/>
            </a:solidFill>
          </a:ln>
          <a:effectLst/>
        </p:spPr>
      </p:cxnSp>
      <p:cxnSp>
        <p:nvCxnSpPr>
          <p:cNvPr id="19" name="Connector 18"/>
          <p:cNvCxnSpPr/>
          <p:nvPr/>
        </p:nvCxnSpPr>
        <p:spPr>
          <a:xfrm>
            <a:off x="8855963" y="3803903"/>
            <a:ext cx="548641" cy="1106425"/>
          </a:xfrm>
          <a:prstGeom prst="line">
            <a:avLst/>
          </a:prstGeom>
          <a:ln w="15875">
            <a:solidFill>
              <a:srgbClr val="8A8F98"/>
            </a:solidFill>
          </a:ln>
          <a:effectLst/>
        </p:spPr>
      </p:cxnSp>
      <p:cxnSp>
        <p:nvCxnSpPr>
          <p:cNvPr id="20" name="Connector 19"/>
          <p:cNvCxnSpPr/>
          <p:nvPr/>
        </p:nvCxnSpPr>
        <p:spPr>
          <a:xfrm>
            <a:off x="5564124" y="2203704"/>
            <a:ext cx="219455" cy="2706624"/>
          </a:xfrm>
          <a:prstGeom prst="line">
            <a:avLst/>
          </a:prstGeom>
          <a:ln w="15875">
            <a:solidFill>
              <a:srgbClr val="8A8F98"/>
            </a:solidFill>
          </a:ln>
          <a:effectLst/>
        </p:spPr>
      </p:cxnSp>
      <p:cxnSp>
        <p:nvCxnSpPr>
          <p:cNvPr id="21" name="Connector 20"/>
          <p:cNvCxnSpPr/>
          <p:nvPr/>
        </p:nvCxnSpPr>
        <p:spPr>
          <a:xfrm flipH="1">
            <a:off x="3323844" y="2203704"/>
            <a:ext cx="2240280" cy="749807"/>
          </a:xfrm>
          <a:prstGeom prst="line">
            <a:avLst/>
          </a:prstGeom>
          <a:ln w="15875">
            <a:solidFill>
              <a:srgbClr val="8A8F98"/>
            </a:solidFill>
          </a:ln>
          <a:effectLst/>
        </p:spPr>
      </p:cxnSp>
      <p:cxnSp>
        <p:nvCxnSpPr>
          <p:cNvPr id="22" name="Connector 21"/>
          <p:cNvCxnSpPr/>
          <p:nvPr/>
        </p:nvCxnSpPr>
        <p:spPr>
          <a:xfrm>
            <a:off x="5564124" y="2203704"/>
            <a:ext cx="2194559" cy="749807"/>
          </a:xfrm>
          <a:prstGeom prst="line">
            <a:avLst/>
          </a:prstGeom>
          <a:ln w="15875">
            <a:solidFill>
              <a:srgbClr val="8A8F98"/>
            </a:solidFill>
          </a:ln>
          <a:effectLst/>
        </p:spPr>
      </p:cxnSp>
      <p:cxnSp>
        <p:nvCxnSpPr>
          <p:cNvPr id="23" name="Connector 22"/>
          <p:cNvCxnSpPr/>
          <p:nvPr/>
        </p:nvCxnSpPr>
        <p:spPr>
          <a:xfrm flipH="1">
            <a:off x="6405372" y="2203704"/>
            <a:ext cx="484632" cy="2706624"/>
          </a:xfrm>
          <a:prstGeom prst="line">
            <a:avLst/>
          </a:prstGeom>
          <a:ln w="15875">
            <a:solidFill>
              <a:srgbClr val="8A8F98"/>
            </a:solidFill>
          </a:ln>
          <a:effectLst/>
        </p:spPr>
      </p:cxnSp>
      <p:cxnSp>
        <p:nvCxnSpPr>
          <p:cNvPr id="24" name="Connector 23"/>
          <p:cNvCxnSpPr/>
          <p:nvPr/>
        </p:nvCxnSpPr>
        <p:spPr>
          <a:xfrm flipH="1">
            <a:off x="4421124" y="2203704"/>
            <a:ext cx="2468880" cy="749807"/>
          </a:xfrm>
          <a:prstGeom prst="line">
            <a:avLst/>
          </a:prstGeom>
          <a:ln w="15875">
            <a:solidFill>
              <a:srgbClr val="8A8F98"/>
            </a:solidFill>
          </a:ln>
          <a:effectLst/>
        </p:spPr>
      </p:cxnSp>
      <p:cxnSp>
        <p:nvCxnSpPr>
          <p:cNvPr id="25" name="Connector 24"/>
          <p:cNvCxnSpPr/>
          <p:nvPr/>
        </p:nvCxnSpPr>
        <p:spPr>
          <a:xfrm>
            <a:off x="6890004" y="2203704"/>
            <a:ext cx="1965959" cy="749807"/>
          </a:xfrm>
          <a:prstGeom prst="line">
            <a:avLst/>
          </a:prstGeom>
          <a:ln w="15875">
            <a:solidFill>
              <a:srgbClr val="8A8F98"/>
            </a:solidFill>
          </a:ln>
          <a:effectLst/>
        </p:spPr>
      </p:cxnSp>
      <p:sp>
        <p:nvSpPr>
          <p:cNvPr id="26" name="Rounded Rectangle 25"/>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7" name="TextBox 36"/>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8" name="Rounded Rectangle 37"/>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0" name="Rounded Rectangle 39"/>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1" name="TextBox 40"/>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2" name="Rounded Rectangle 41"/>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4" name="Rounded Rectangle 43"/>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5" name="TextBox 44"/>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6" name="Rounded Rectangle 45"/>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cxnSp>
        <p:nvCxnSpPr>
          <p:cNvPr id="13" name="Connector 12"/>
          <p:cNvCxnSpPr/>
          <p:nvPr/>
        </p:nvCxnSpPr>
        <p:spPr>
          <a:xfrm flipH="1">
            <a:off x="2784348" y="3803903"/>
            <a:ext cx="539496" cy="1106425"/>
          </a:xfrm>
          <a:prstGeom prst="line">
            <a:avLst/>
          </a:prstGeom>
          <a:ln w="15875">
            <a:solidFill>
              <a:srgbClr val="8A8F98"/>
            </a:solidFill>
          </a:ln>
          <a:effectLst/>
        </p:spPr>
      </p:cxnSp>
      <p:cxnSp>
        <p:nvCxnSpPr>
          <p:cNvPr id="14" name="Connector 13"/>
          <p:cNvCxnSpPr/>
          <p:nvPr/>
        </p:nvCxnSpPr>
        <p:spPr>
          <a:xfrm>
            <a:off x="3323844" y="3803903"/>
            <a:ext cx="960120" cy="1106425"/>
          </a:xfrm>
          <a:prstGeom prst="line">
            <a:avLst/>
          </a:prstGeom>
          <a:ln w="15875">
            <a:solidFill>
              <a:srgbClr val="8A8F98"/>
            </a:solidFill>
          </a:ln>
          <a:effectLst/>
        </p:spPr>
      </p:cxnSp>
      <p:cxnSp>
        <p:nvCxnSpPr>
          <p:cNvPr id="15" name="Connector 14"/>
          <p:cNvCxnSpPr/>
          <p:nvPr/>
        </p:nvCxnSpPr>
        <p:spPr>
          <a:xfrm flipH="1">
            <a:off x="3406139" y="3803903"/>
            <a:ext cx="1014985" cy="1106425"/>
          </a:xfrm>
          <a:prstGeom prst="line">
            <a:avLst/>
          </a:prstGeom>
          <a:ln w="15875">
            <a:solidFill>
              <a:srgbClr val="8A8F98"/>
            </a:solidFill>
          </a:ln>
          <a:effectLst/>
        </p:spPr>
      </p:cxnSp>
      <p:cxnSp>
        <p:nvCxnSpPr>
          <p:cNvPr id="16" name="Connector 15"/>
          <p:cNvCxnSpPr/>
          <p:nvPr/>
        </p:nvCxnSpPr>
        <p:spPr>
          <a:xfrm>
            <a:off x="4421124" y="3803903"/>
            <a:ext cx="484632" cy="1106425"/>
          </a:xfrm>
          <a:prstGeom prst="line">
            <a:avLst/>
          </a:prstGeom>
          <a:ln w="15875">
            <a:solidFill>
              <a:srgbClr val="8A8F98"/>
            </a:solidFill>
          </a:ln>
          <a:effectLst/>
        </p:spPr>
      </p:cxnSp>
      <p:cxnSp>
        <p:nvCxnSpPr>
          <p:cNvPr id="17" name="Connector 16"/>
          <p:cNvCxnSpPr/>
          <p:nvPr/>
        </p:nvCxnSpPr>
        <p:spPr>
          <a:xfrm flipH="1">
            <a:off x="7283196" y="3803903"/>
            <a:ext cx="475487" cy="1106425"/>
          </a:xfrm>
          <a:prstGeom prst="line">
            <a:avLst/>
          </a:prstGeom>
          <a:ln w="15875">
            <a:solidFill>
              <a:srgbClr val="8A8F98"/>
            </a:solidFill>
          </a:ln>
          <a:effectLst/>
        </p:spPr>
      </p:cxnSp>
      <p:cxnSp>
        <p:nvCxnSpPr>
          <p:cNvPr id="18" name="Connector 17"/>
          <p:cNvCxnSpPr/>
          <p:nvPr/>
        </p:nvCxnSpPr>
        <p:spPr>
          <a:xfrm>
            <a:off x="7758683" y="3803903"/>
            <a:ext cx="1024129" cy="1106425"/>
          </a:xfrm>
          <a:prstGeom prst="line">
            <a:avLst/>
          </a:prstGeom>
          <a:ln w="15875">
            <a:solidFill>
              <a:srgbClr val="8A8F98"/>
            </a:solidFill>
          </a:ln>
          <a:effectLst/>
        </p:spPr>
      </p:cxnSp>
      <p:cxnSp>
        <p:nvCxnSpPr>
          <p:cNvPr id="19" name="Connector 18"/>
          <p:cNvCxnSpPr/>
          <p:nvPr/>
        </p:nvCxnSpPr>
        <p:spPr>
          <a:xfrm flipH="1">
            <a:off x="7904988" y="3803903"/>
            <a:ext cx="950975" cy="1106425"/>
          </a:xfrm>
          <a:prstGeom prst="line">
            <a:avLst/>
          </a:prstGeom>
          <a:ln w="15875">
            <a:solidFill>
              <a:srgbClr val="8A8F98"/>
            </a:solidFill>
          </a:ln>
          <a:effectLst/>
        </p:spPr>
      </p:cxnSp>
      <p:cxnSp>
        <p:nvCxnSpPr>
          <p:cNvPr id="20" name="Connector 19"/>
          <p:cNvCxnSpPr/>
          <p:nvPr/>
        </p:nvCxnSpPr>
        <p:spPr>
          <a:xfrm>
            <a:off x="8855963" y="3803903"/>
            <a:ext cx="548641" cy="1106425"/>
          </a:xfrm>
          <a:prstGeom prst="line">
            <a:avLst/>
          </a:prstGeom>
          <a:ln w="15875">
            <a:solidFill>
              <a:srgbClr val="8A8F98"/>
            </a:solidFill>
          </a:ln>
          <a:effectLst/>
        </p:spPr>
      </p:cxnSp>
      <p:cxnSp>
        <p:nvCxnSpPr>
          <p:cNvPr id="21" name="Connector 20"/>
          <p:cNvCxnSpPr/>
          <p:nvPr/>
        </p:nvCxnSpPr>
        <p:spPr>
          <a:xfrm>
            <a:off x="5564124" y="2203704"/>
            <a:ext cx="219455" cy="2706624"/>
          </a:xfrm>
          <a:prstGeom prst="line">
            <a:avLst/>
          </a:prstGeom>
          <a:ln w="15875">
            <a:solidFill>
              <a:srgbClr val="8A8F98"/>
            </a:solidFill>
          </a:ln>
          <a:effectLst/>
        </p:spPr>
      </p:cxnSp>
      <p:cxnSp>
        <p:nvCxnSpPr>
          <p:cNvPr id="22" name="Connector 21"/>
          <p:cNvCxnSpPr/>
          <p:nvPr/>
        </p:nvCxnSpPr>
        <p:spPr>
          <a:xfrm flipH="1">
            <a:off x="3323844" y="2203704"/>
            <a:ext cx="2240280" cy="749807"/>
          </a:xfrm>
          <a:prstGeom prst="line">
            <a:avLst/>
          </a:prstGeom>
          <a:ln w="15875">
            <a:solidFill>
              <a:srgbClr val="8A8F98"/>
            </a:solidFill>
          </a:ln>
          <a:effectLst/>
        </p:spPr>
      </p:cxnSp>
      <p:cxnSp>
        <p:nvCxnSpPr>
          <p:cNvPr id="23" name="Connector 22"/>
          <p:cNvCxnSpPr/>
          <p:nvPr/>
        </p:nvCxnSpPr>
        <p:spPr>
          <a:xfrm>
            <a:off x="5564124" y="2203704"/>
            <a:ext cx="2194559" cy="749807"/>
          </a:xfrm>
          <a:prstGeom prst="line">
            <a:avLst/>
          </a:prstGeom>
          <a:ln w="15875">
            <a:solidFill>
              <a:srgbClr val="8A8F98"/>
            </a:solidFill>
          </a:ln>
          <a:effectLst/>
        </p:spPr>
      </p:cxnSp>
      <p:cxnSp>
        <p:nvCxnSpPr>
          <p:cNvPr id="24" name="Connector 23"/>
          <p:cNvCxnSpPr/>
          <p:nvPr/>
        </p:nvCxnSpPr>
        <p:spPr>
          <a:xfrm flipH="1">
            <a:off x="6405372" y="2203704"/>
            <a:ext cx="484632" cy="2706624"/>
          </a:xfrm>
          <a:prstGeom prst="line">
            <a:avLst/>
          </a:prstGeom>
          <a:ln w="15875">
            <a:solidFill>
              <a:srgbClr val="8A8F98"/>
            </a:solidFill>
          </a:ln>
          <a:effectLst/>
        </p:spPr>
      </p:cxnSp>
      <p:cxnSp>
        <p:nvCxnSpPr>
          <p:cNvPr id="25" name="Connector 24"/>
          <p:cNvCxnSpPr/>
          <p:nvPr/>
        </p:nvCxnSpPr>
        <p:spPr>
          <a:xfrm flipH="1">
            <a:off x="4421124" y="2203704"/>
            <a:ext cx="2468880" cy="749807"/>
          </a:xfrm>
          <a:prstGeom prst="line">
            <a:avLst/>
          </a:prstGeom>
          <a:ln w="15875">
            <a:solidFill>
              <a:srgbClr val="8A8F98"/>
            </a:solidFill>
          </a:ln>
          <a:effectLst/>
        </p:spPr>
      </p:cxnSp>
      <p:cxnSp>
        <p:nvCxnSpPr>
          <p:cNvPr id="26" name="Connector 25"/>
          <p:cNvCxnSpPr/>
          <p:nvPr/>
        </p:nvCxnSpPr>
        <p:spPr>
          <a:xfrm>
            <a:off x="6890004" y="2203704"/>
            <a:ext cx="1965959" cy="749807"/>
          </a:xfrm>
          <a:prstGeom prst="line">
            <a:avLst/>
          </a:prstGeom>
          <a:ln w="15875">
            <a:solidFill>
              <a:srgbClr val="8A8F98"/>
            </a:solidFill>
          </a:ln>
          <a:effectLst/>
        </p:spPr>
      </p:cxnSp>
      <p:sp>
        <p:nvSpPr>
          <p:cNvPr id="27" name="Rounded Rectangle 26"/>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9" name="Rounded Rectangle 38"/>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1" name="Rounded Rectangle 40"/>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3" name="Rounded Rectangle 42"/>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5" name="Rounded Rectangle 44"/>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7" name="Rounded Rectangle 46"/>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9" name="TextBox 48"/>
          <p:cNvSpPr txBox="1"/>
          <p:nvPr/>
        </p:nvSpPr>
        <p:spPr>
          <a:xfrm>
            <a:off x="7941563" y="32461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cxnSp>
        <p:nvCxnSpPr>
          <p:cNvPr id="13" name="Connector 12"/>
          <p:cNvCxnSpPr/>
          <p:nvPr/>
        </p:nvCxnSpPr>
        <p:spPr>
          <a:xfrm flipH="1">
            <a:off x="2784348" y="3803903"/>
            <a:ext cx="539496" cy="1106425"/>
          </a:xfrm>
          <a:prstGeom prst="line">
            <a:avLst/>
          </a:prstGeom>
          <a:ln w="15875">
            <a:solidFill>
              <a:srgbClr val="8A8F98"/>
            </a:solidFill>
          </a:ln>
          <a:effectLst/>
        </p:spPr>
      </p:cxnSp>
      <p:cxnSp>
        <p:nvCxnSpPr>
          <p:cNvPr id="14" name="Connector 13"/>
          <p:cNvCxnSpPr/>
          <p:nvPr/>
        </p:nvCxnSpPr>
        <p:spPr>
          <a:xfrm>
            <a:off x="3323844" y="3803903"/>
            <a:ext cx="960120" cy="1106425"/>
          </a:xfrm>
          <a:prstGeom prst="line">
            <a:avLst/>
          </a:prstGeom>
          <a:ln w="15875">
            <a:solidFill>
              <a:srgbClr val="8A8F98"/>
            </a:solidFill>
          </a:ln>
          <a:effectLst/>
        </p:spPr>
      </p:cxnSp>
      <p:cxnSp>
        <p:nvCxnSpPr>
          <p:cNvPr id="15" name="Connector 14"/>
          <p:cNvCxnSpPr/>
          <p:nvPr/>
        </p:nvCxnSpPr>
        <p:spPr>
          <a:xfrm flipH="1">
            <a:off x="3406139" y="3803903"/>
            <a:ext cx="1014985" cy="1106425"/>
          </a:xfrm>
          <a:prstGeom prst="line">
            <a:avLst/>
          </a:prstGeom>
          <a:ln w="15875">
            <a:solidFill>
              <a:srgbClr val="8A8F98"/>
            </a:solidFill>
          </a:ln>
          <a:effectLst/>
        </p:spPr>
      </p:cxnSp>
      <p:cxnSp>
        <p:nvCxnSpPr>
          <p:cNvPr id="16" name="Connector 15"/>
          <p:cNvCxnSpPr/>
          <p:nvPr/>
        </p:nvCxnSpPr>
        <p:spPr>
          <a:xfrm>
            <a:off x="4421124" y="3803903"/>
            <a:ext cx="484632" cy="1106425"/>
          </a:xfrm>
          <a:prstGeom prst="line">
            <a:avLst/>
          </a:prstGeom>
          <a:ln w="15875">
            <a:solidFill>
              <a:srgbClr val="8A8F98"/>
            </a:solidFill>
          </a:ln>
          <a:effectLst/>
        </p:spPr>
      </p:cxnSp>
      <p:cxnSp>
        <p:nvCxnSpPr>
          <p:cNvPr id="17" name="Connector 16"/>
          <p:cNvCxnSpPr/>
          <p:nvPr/>
        </p:nvCxnSpPr>
        <p:spPr>
          <a:xfrm flipH="1">
            <a:off x="7283196" y="3803903"/>
            <a:ext cx="475487" cy="1106425"/>
          </a:xfrm>
          <a:prstGeom prst="line">
            <a:avLst/>
          </a:prstGeom>
          <a:ln w="15875">
            <a:solidFill>
              <a:srgbClr val="8A8F98"/>
            </a:solidFill>
          </a:ln>
          <a:effectLst/>
        </p:spPr>
      </p:cxnSp>
      <p:cxnSp>
        <p:nvCxnSpPr>
          <p:cNvPr id="18" name="Connector 17"/>
          <p:cNvCxnSpPr/>
          <p:nvPr/>
        </p:nvCxnSpPr>
        <p:spPr>
          <a:xfrm>
            <a:off x="7758683" y="3803903"/>
            <a:ext cx="1024129" cy="1106425"/>
          </a:xfrm>
          <a:prstGeom prst="line">
            <a:avLst/>
          </a:prstGeom>
          <a:ln w="15875">
            <a:solidFill>
              <a:srgbClr val="8A8F98"/>
            </a:solidFill>
          </a:ln>
          <a:effectLst/>
        </p:spPr>
      </p:cxnSp>
      <p:cxnSp>
        <p:nvCxnSpPr>
          <p:cNvPr id="19" name="Connector 18"/>
          <p:cNvCxnSpPr/>
          <p:nvPr/>
        </p:nvCxnSpPr>
        <p:spPr>
          <a:xfrm flipH="1">
            <a:off x="7904988" y="3803903"/>
            <a:ext cx="950975" cy="1106425"/>
          </a:xfrm>
          <a:prstGeom prst="line">
            <a:avLst/>
          </a:prstGeom>
          <a:ln w="15875">
            <a:solidFill>
              <a:srgbClr val="8A8F98"/>
            </a:solidFill>
          </a:ln>
          <a:effectLst/>
        </p:spPr>
      </p:cxnSp>
      <p:cxnSp>
        <p:nvCxnSpPr>
          <p:cNvPr id="20" name="Connector 19"/>
          <p:cNvCxnSpPr/>
          <p:nvPr/>
        </p:nvCxnSpPr>
        <p:spPr>
          <a:xfrm>
            <a:off x="8855963" y="3803903"/>
            <a:ext cx="548641" cy="1106425"/>
          </a:xfrm>
          <a:prstGeom prst="line">
            <a:avLst/>
          </a:prstGeom>
          <a:ln w="15875">
            <a:solidFill>
              <a:srgbClr val="8A8F98"/>
            </a:solidFill>
          </a:ln>
          <a:effectLst/>
        </p:spPr>
      </p:cxnSp>
      <p:cxnSp>
        <p:nvCxnSpPr>
          <p:cNvPr id="21" name="Connector 20"/>
          <p:cNvCxnSpPr/>
          <p:nvPr/>
        </p:nvCxnSpPr>
        <p:spPr>
          <a:xfrm>
            <a:off x="5564124" y="2203704"/>
            <a:ext cx="219455" cy="2706624"/>
          </a:xfrm>
          <a:prstGeom prst="line">
            <a:avLst/>
          </a:prstGeom>
          <a:ln w="15875">
            <a:solidFill>
              <a:srgbClr val="8A8F98"/>
            </a:solidFill>
          </a:ln>
          <a:effectLst/>
        </p:spPr>
      </p:cxnSp>
      <p:cxnSp>
        <p:nvCxnSpPr>
          <p:cNvPr id="22" name="Connector 21"/>
          <p:cNvCxnSpPr/>
          <p:nvPr/>
        </p:nvCxnSpPr>
        <p:spPr>
          <a:xfrm flipH="1">
            <a:off x="3323844" y="2203704"/>
            <a:ext cx="2240280" cy="749807"/>
          </a:xfrm>
          <a:prstGeom prst="line">
            <a:avLst/>
          </a:prstGeom>
          <a:ln w="15875">
            <a:solidFill>
              <a:srgbClr val="8A8F98"/>
            </a:solidFill>
          </a:ln>
          <a:effectLst/>
        </p:spPr>
      </p:cxnSp>
      <p:cxnSp>
        <p:nvCxnSpPr>
          <p:cNvPr id="23" name="Connector 22"/>
          <p:cNvCxnSpPr/>
          <p:nvPr/>
        </p:nvCxnSpPr>
        <p:spPr>
          <a:xfrm>
            <a:off x="5564124" y="2203704"/>
            <a:ext cx="2194559" cy="749807"/>
          </a:xfrm>
          <a:prstGeom prst="line">
            <a:avLst/>
          </a:prstGeom>
          <a:ln w="15875">
            <a:solidFill>
              <a:srgbClr val="8A8F98"/>
            </a:solidFill>
          </a:ln>
          <a:effectLst/>
        </p:spPr>
      </p:cxnSp>
      <p:cxnSp>
        <p:nvCxnSpPr>
          <p:cNvPr id="24" name="Connector 23"/>
          <p:cNvCxnSpPr/>
          <p:nvPr/>
        </p:nvCxnSpPr>
        <p:spPr>
          <a:xfrm flipH="1">
            <a:off x="6405372" y="2203704"/>
            <a:ext cx="484632" cy="2706624"/>
          </a:xfrm>
          <a:prstGeom prst="line">
            <a:avLst/>
          </a:prstGeom>
          <a:ln w="15875">
            <a:solidFill>
              <a:srgbClr val="8A8F98"/>
            </a:solidFill>
          </a:ln>
          <a:effectLst/>
        </p:spPr>
      </p:cxnSp>
      <p:cxnSp>
        <p:nvCxnSpPr>
          <p:cNvPr id="25" name="Connector 24"/>
          <p:cNvCxnSpPr/>
          <p:nvPr/>
        </p:nvCxnSpPr>
        <p:spPr>
          <a:xfrm flipH="1">
            <a:off x="4421124" y="2203704"/>
            <a:ext cx="2468880" cy="749807"/>
          </a:xfrm>
          <a:prstGeom prst="line">
            <a:avLst/>
          </a:prstGeom>
          <a:ln w="15875">
            <a:solidFill>
              <a:srgbClr val="8A8F98"/>
            </a:solidFill>
          </a:ln>
          <a:effectLst/>
        </p:spPr>
      </p:cxnSp>
      <p:cxnSp>
        <p:nvCxnSpPr>
          <p:cNvPr id="26" name="Connector 25"/>
          <p:cNvCxnSpPr/>
          <p:nvPr/>
        </p:nvCxnSpPr>
        <p:spPr>
          <a:xfrm>
            <a:off x="6890004" y="2203704"/>
            <a:ext cx="1965959" cy="749807"/>
          </a:xfrm>
          <a:prstGeom prst="line">
            <a:avLst/>
          </a:prstGeom>
          <a:ln w="15875">
            <a:solidFill>
              <a:srgbClr val="8A8F98"/>
            </a:solidFill>
          </a:ln>
          <a:effectLst/>
        </p:spPr>
      </p:cxnSp>
      <p:sp>
        <p:nvSpPr>
          <p:cNvPr id="27" name="Rounded Rectangle 26"/>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9" name="Rounded Rectangle 38"/>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1" name="Rounded Rectangle 40"/>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3" name="Rounded Rectangle 42"/>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5" name="Rounded Rectangle 44"/>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7" name="Rounded Rectangle 46"/>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30</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TextBox 49"/>
          <p:cNvSpPr txBox="1"/>
          <p:nvPr/>
        </p:nvSpPr>
        <p:spPr>
          <a:xfrm>
            <a:off x="5861304" y="16459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31</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TextBox 49"/>
          <p:cNvSpPr txBox="1"/>
          <p:nvPr/>
        </p:nvSpPr>
        <p:spPr>
          <a:xfrm>
            <a:off x="5586984" y="1207008"/>
            <a:ext cx="1280160" cy="329184"/>
          </a:xfrm>
          <a:prstGeom prst="rect">
            <a:avLst/>
          </a:prstGeom>
          <a:noFill/>
        </p:spPr>
        <p:txBody>
          <a:bodyPr wrap="square" anchor="t" lIns="45720" rIns="45720" tIns="27432" bIns="27432">
            <a:spAutoFit/>
          </a:bodyPr>
          <a:lstStyle/>
          <a:p>
            <a:pPr algn="ctr"/>
            <a:r>
              <a:rPr sz="1600" b="1" i="0">
                <a:solidFill>
                  <a:srgbClr val="6B717A"/>
                </a:solidFill>
                <a:latin typeface="Calibri"/>
              </a:rPr>
              <a:t>Query</a:t>
            </a:r>
          </a:p>
        </p:txBody>
      </p:sp>
      <p:sp>
        <p:nvSpPr>
          <p:cNvPr id="51" name="TextBox 50"/>
          <p:cNvSpPr txBox="1"/>
          <p:nvPr/>
        </p:nvSpPr>
        <p:spPr>
          <a:xfrm>
            <a:off x="5724144" y="1682496"/>
            <a:ext cx="1005840" cy="475488"/>
          </a:xfrm>
          <a:prstGeom prst="rect">
            <a:avLst/>
          </a:prstGeom>
          <a:noFill/>
        </p:spPr>
        <p:txBody>
          <a:bodyPr wrap="square" anchor="ctr" lIns="45720" rIns="45720" tIns="27432" bIns="27432">
            <a:spAutoFit/>
          </a:bodyPr>
          <a:lstStyle/>
          <a:p>
            <a:pPr algn="ctr"/>
            <a:r>
              <a:rPr sz="2400" b="1" i="0">
                <a:solidFill>
                  <a:srgbClr val="3A9A5B"/>
                </a:solidFill>
                <a:latin typeface="Calibri"/>
              </a:rPr>
              <a: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Observation</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6405372" y="2203704"/>
            <a:ext cx="484632" cy="2706624"/>
          </a:xfrm>
          <a:prstGeom prst="line">
            <a:avLst/>
          </a:prstGeom>
          <a:ln w="15875">
            <a:solidFill>
              <a:srgbClr val="8A8F98"/>
            </a:solidFill>
          </a:ln>
          <a:effectLst/>
        </p:spPr>
      </p:cxnSp>
      <p:cxnSp>
        <p:nvCxnSpPr>
          <p:cNvPr id="24" name="Connector 23"/>
          <p:cNvCxnSpPr/>
          <p:nvPr/>
        </p:nvCxnSpPr>
        <p:spPr>
          <a:xfrm flipH="1">
            <a:off x="3323844" y="2203704"/>
            <a:ext cx="2240280" cy="749807"/>
          </a:xfrm>
          <a:prstGeom prst="line">
            <a:avLst/>
          </a:prstGeom>
          <a:ln w="31750">
            <a:solidFill>
              <a:srgbClr val="C8501E"/>
            </a:solidFill>
            <a:tailEnd type="triangle" w="med" len="med"/>
          </a:ln>
          <a:effectLst/>
        </p:spPr>
      </p:cxnSp>
      <p:cxnSp>
        <p:nvCxnSpPr>
          <p:cNvPr id="25" name="Connector 24"/>
          <p:cNvCxnSpPr/>
          <p:nvPr/>
        </p:nvCxnSpPr>
        <p:spPr>
          <a:xfrm>
            <a:off x="5564124" y="2203704"/>
            <a:ext cx="2194559" cy="749807"/>
          </a:xfrm>
          <a:prstGeom prst="line">
            <a:avLst/>
          </a:prstGeom>
          <a:ln w="31750">
            <a:solidFill>
              <a:srgbClr val="C8501E"/>
            </a:solidFill>
            <a:tailEnd type="triangle" w="med" len="med"/>
          </a:ln>
          <a:effectLst/>
        </p:spPr>
      </p:cxnSp>
      <p:cxnSp>
        <p:nvCxnSpPr>
          <p:cNvPr id="26" name="Connector 25"/>
          <p:cNvCxnSpPr/>
          <p:nvPr/>
        </p:nvCxnSpPr>
        <p:spPr>
          <a:xfrm flipH="1">
            <a:off x="4421124" y="2203704"/>
            <a:ext cx="2468880" cy="749807"/>
          </a:xfrm>
          <a:prstGeom prst="line">
            <a:avLst/>
          </a:prstGeom>
          <a:ln w="31750">
            <a:solidFill>
              <a:srgbClr val="C8501E"/>
            </a:solidFill>
            <a:tailEnd type="triangle" w="med" len="med"/>
          </a:ln>
          <a:effectLst/>
        </p:spPr>
      </p:cxnSp>
      <p:cxnSp>
        <p:nvCxnSpPr>
          <p:cNvPr id="27" name="Connector 26"/>
          <p:cNvCxnSpPr/>
          <p:nvPr/>
        </p:nvCxnSpPr>
        <p:spPr>
          <a:xfrm>
            <a:off x="6890004" y="2203704"/>
            <a:ext cx="1965959" cy="749807"/>
          </a:xfrm>
          <a:prstGeom prst="line">
            <a:avLst/>
          </a:prstGeom>
          <a:ln w="31750">
            <a:solidFill>
              <a:srgbClr val="C8501E"/>
            </a:solidFill>
            <a:tailEnd type="triangle" w="med" len="med"/>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Rounded Rectangle 49"/>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600" b="1" i="0">
                <a:solidFill>
                  <a:srgbClr val="FFFFFF"/>
                </a:solidFill>
                <a:latin typeface="Calibri"/>
              </a:rPr>
              <a:t>Data dependences are parent–child edges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Observation</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TextBox 49"/>
          <p:cNvSpPr txBox="1"/>
          <p:nvPr/>
        </p:nvSpPr>
        <p:spPr>
          <a:xfrm>
            <a:off x="5678423" y="3136391"/>
            <a:ext cx="822960" cy="566928"/>
          </a:xfrm>
          <a:prstGeom prst="rect">
            <a:avLst/>
          </a:prstGeom>
          <a:noFill/>
        </p:spPr>
        <p:txBody>
          <a:bodyPr wrap="square" anchor="ctr" lIns="45720" rIns="45720" tIns="27432" bIns="27432">
            <a:spAutoFit/>
          </a:bodyPr>
          <a:lstStyle/>
          <a:p>
            <a:pPr algn="ctr"/>
            <a:r>
              <a:rPr sz="4000" b="1" i="0">
                <a:solidFill>
                  <a:srgbClr val="C8501E"/>
                </a:solidFill>
                <a:latin typeface="Calibri"/>
              </a:rPr>
              <a:t>∥</a:t>
            </a:r>
          </a:p>
        </p:txBody>
      </p:sp>
      <p:sp>
        <p:nvSpPr>
          <p:cNvPr id="51" name="TextBox 50"/>
          <p:cNvSpPr txBox="1"/>
          <p:nvPr/>
        </p:nvSpPr>
        <p:spPr>
          <a:xfrm>
            <a:off x="5404103" y="3739896"/>
            <a:ext cx="1371600" cy="274320"/>
          </a:xfrm>
          <a:prstGeom prst="rect">
            <a:avLst/>
          </a:prstGeom>
          <a:noFill/>
        </p:spPr>
        <p:txBody>
          <a:bodyPr wrap="square" anchor="t" lIns="45720" rIns="45720" tIns="27432" bIns="27432">
            <a:spAutoFit/>
          </a:bodyPr>
          <a:lstStyle/>
          <a:p>
            <a:pPr algn="ctr"/>
            <a:r>
              <a:rPr sz="1300" b="1" i="0">
                <a:solidFill>
                  <a:srgbClr val="C8501E"/>
                </a:solidFill>
                <a:latin typeface="Calibri"/>
              </a:rPr>
              <a:t>independent</a:t>
            </a:r>
          </a:p>
        </p:txBody>
      </p:sp>
      <p:sp>
        <p:nvSpPr>
          <p:cNvPr id="52" name="Rounded Rectangle 51"/>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600" b="1" i="0">
                <a:solidFill>
                  <a:srgbClr val="FFFFFF"/>
                </a:solidFill>
                <a:latin typeface="Calibri"/>
              </a:rPr>
              <a:t>Unrelated merges run in parallel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Bulk-synchronous schedule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1" name="TextBox 50"/>
          <p:cNvSpPr txBox="1"/>
          <p:nvPr/>
        </p:nvSpPr>
        <p:spPr>
          <a:xfrm>
            <a:off x="10017252" y="493775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0</a:t>
            </a:r>
          </a:p>
        </p:txBody>
      </p:sp>
      <p:sp>
        <p:nvSpPr>
          <p:cNvPr id="52" name="Rounded Rectangle 51"/>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600" b="1" i="0">
                <a:solidFill>
                  <a:srgbClr val="FFFFFF"/>
                </a:solidFill>
                <a:latin typeface="Calibri"/>
              </a:rPr>
              <a:t>Bulk-synchronous parallel: rounds of independent merges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Bulk-synchronous schedule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1" name="TextBox 50"/>
          <p:cNvSpPr txBox="1"/>
          <p:nvPr/>
        </p:nvSpPr>
        <p:spPr>
          <a:xfrm>
            <a:off x="10017252" y="493775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0</a:t>
            </a:r>
          </a:p>
        </p:txBody>
      </p:sp>
      <p:sp>
        <p:nvSpPr>
          <p:cNvPr id="52" name="Rounded Rectangle 51"/>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3" name="TextBox 52"/>
          <p:cNvSpPr txBox="1"/>
          <p:nvPr/>
        </p:nvSpPr>
        <p:spPr>
          <a:xfrm>
            <a:off x="9596628" y="320039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1</a:t>
            </a:r>
          </a:p>
        </p:txBody>
      </p:sp>
      <p:sp>
        <p:nvSpPr>
          <p:cNvPr id="54" name="Rounded Rectangle 53"/>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600" b="1" i="0">
                <a:solidFill>
                  <a:srgbClr val="FFFFFF"/>
                </a:solidFill>
                <a:latin typeface="Calibri"/>
              </a:rPr>
              <a:t>Bulk-synchronous parallel: rounds of independent merges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Bulk-synchronous schedule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1" name="TextBox 50"/>
          <p:cNvSpPr txBox="1"/>
          <p:nvPr/>
        </p:nvSpPr>
        <p:spPr>
          <a:xfrm>
            <a:off x="10017252" y="493775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0</a:t>
            </a:r>
          </a:p>
        </p:txBody>
      </p:sp>
      <p:sp>
        <p:nvSpPr>
          <p:cNvPr id="52" name="Rounded Rectangle 51"/>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3" name="TextBox 52"/>
          <p:cNvSpPr txBox="1"/>
          <p:nvPr/>
        </p:nvSpPr>
        <p:spPr>
          <a:xfrm>
            <a:off x="9596628" y="320039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1</a:t>
            </a:r>
          </a:p>
        </p:txBody>
      </p:sp>
      <p:sp>
        <p:nvSpPr>
          <p:cNvPr id="54" name="Rounded Rectangle 53"/>
          <p:cNvSpPr/>
          <p:nvPr/>
        </p:nvSpPr>
        <p:spPr>
          <a:xfrm>
            <a:off x="4576572" y="1389888"/>
            <a:ext cx="3300984" cy="106070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5" name="TextBox 54"/>
          <p:cNvSpPr txBox="1"/>
          <p:nvPr/>
        </p:nvSpPr>
        <p:spPr>
          <a:xfrm>
            <a:off x="7968996" y="1737360"/>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2</a:t>
            </a:r>
          </a:p>
        </p:txBody>
      </p:sp>
      <p:sp>
        <p:nvSpPr>
          <p:cNvPr id="56" name="Rounded Rectangle 55"/>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600" b="1" i="0">
                <a:solidFill>
                  <a:srgbClr val="FFFFFF"/>
                </a:solidFill>
                <a:latin typeface="Calibri"/>
              </a:rPr>
              <a:t>Bulk-synchronous parallel: rounds of independent merges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Bulk-synchronous schedule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1" name="TextBox 50"/>
          <p:cNvSpPr txBox="1"/>
          <p:nvPr/>
        </p:nvSpPr>
        <p:spPr>
          <a:xfrm>
            <a:off x="10017252" y="493775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0</a:t>
            </a:r>
          </a:p>
        </p:txBody>
      </p:sp>
      <p:sp>
        <p:nvSpPr>
          <p:cNvPr id="52" name="Rounded Rectangle 51"/>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3" name="TextBox 52"/>
          <p:cNvSpPr txBox="1"/>
          <p:nvPr/>
        </p:nvSpPr>
        <p:spPr>
          <a:xfrm>
            <a:off x="9596628" y="320039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1</a:t>
            </a:r>
          </a:p>
        </p:txBody>
      </p:sp>
      <p:sp>
        <p:nvSpPr>
          <p:cNvPr id="54" name="Rounded Rectangle 53"/>
          <p:cNvSpPr/>
          <p:nvPr/>
        </p:nvSpPr>
        <p:spPr>
          <a:xfrm>
            <a:off x="4576572" y="1389888"/>
            <a:ext cx="3300984" cy="106070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5" name="TextBox 54"/>
          <p:cNvSpPr txBox="1"/>
          <p:nvPr/>
        </p:nvSpPr>
        <p:spPr>
          <a:xfrm>
            <a:off x="7968996" y="1737360"/>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2</a:t>
            </a:r>
          </a:p>
        </p:txBody>
      </p:sp>
      <p:sp>
        <p:nvSpPr>
          <p:cNvPr id="56" name="Rounded Rectangle 55"/>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200" b="1" i="0">
                <a:solidFill>
                  <a:srgbClr val="FFFFFF"/>
                </a:solidFill>
                <a:latin typeface="Calibri"/>
              </a:rPr>
              <a:t>depth: congruence rounds (2)      width: most merges in a round (5)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one round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85800" y="1691640"/>
            <a:ext cx="3291840" cy="246888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p>
        </p:txBody>
      </p:sp>
      <p:sp>
        <p:nvSpPr>
          <p:cNvPr id="7" name="Rounded Rectangle 6"/>
          <p:cNvSpPr/>
          <p:nvPr/>
        </p:nvSpPr>
        <p:spPr>
          <a:xfrm>
            <a:off x="868680" y="1874520"/>
            <a:ext cx="457200" cy="457200"/>
          </a:xfrm>
          <a:prstGeom prst="roundRect">
            <a:avLst>
              <a:gd name="adj" fmla="val 50000"/>
            </a:avLst>
          </a:prstGeom>
          <a:solidFill>
            <a:srgbClr val="2E6FB0"/>
          </a:solidFill>
          <a:ln>
            <a:noFill/>
          </a:ln>
          <a:effectLst/>
        </p:spPr>
        <p:txBody>
          <a:bodyPr rtlCol="0" anchor="ctr" lIns="54864" rIns="54864" tIns="27432" bIns="27432" wrap="square"/>
          <a:lstStyle/>
          <a:p>
            <a:pPr algn="ctr"/>
            <a:r>
              <a:rPr sz="1600" b="1" i="0">
                <a:solidFill>
                  <a:srgbClr val="FFFFFF"/>
                </a:solidFill>
                <a:latin typeface="Calibri"/>
              </a:rPr>
              <a:t>1</a:t>
            </a:r>
          </a:p>
        </p:txBody>
      </p:sp>
      <p:sp>
        <p:nvSpPr>
          <p:cNvPr id="8" name="TextBox 7"/>
          <p:cNvSpPr txBox="1"/>
          <p:nvPr/>
        </p:nvSpPr>
        <p:spPr>
          <a:xfrm>
            <a:off x="868680"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Who might have become congruent?</a:t>
            </a:r>
          </a:p>
        </p:txBody>
      </p:sp>
      <p:sp>
        <p:nvSpPr>
          <p:cNvPr id="9" name="TextBox 8"/>
          <p:cNvSpPr txBox="1"/>
          <p:nvPr/>
        </p:nvSpPr>
        <p:spPr>
          <a:xfrm>
            <a:off x="868680"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the parents of last round’s merges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one round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85800" y="1691640"/>
            <a:ext cx="3291840" cy="246888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p>
        </p:txBody>
      </p:sp>
      <p:sp>
        <p:nvSpPr>
          <p:cNvPr id="7" name="Rounded Rectangle 6"/>
          <p:cNvSpPr/>
          <p:nvPr/>
        </p:nvSpPr>
        <p:spPr>
          <a:xfrm>
            <a:off x="868680" y="1874520"/>
            <a:ext cx="457200" cy="457200"/>
          </a:xfrm>
          <a:prstGeom prst="roundRect">
            <a:avLst>
              <a:gd name="adj" fmla="val 50000"/>
            </a:avLst>
          </a:prstGeom>
          <a:solidFill>
            <a:srgbClr val="2E6FB0"/>
          </a:solidFill>
          <a:ln>
            <a:noFill/>
          </a:ln>
          <a:effectLst/>
        </p:spPr>
        <p:txBody>
          <a:bodyPr rtlCol="0" anchor="ctr" lIns="54864" rIns="54864" tIns="27432" bIns="27432" wrap="square"/>
          <a:lstStyle/>
          <a:p>
            <a:pPr algn="ctr"/>
            <a:r>
              <a:rPr sz="1600" b="1" i="0">
                <a:solidFill>
                  <a:srgbClr val="FFFFFF"/>
                </a:solidFill>
                <a:latin typeface="Calibri"/>
              </a:rPr>
              <a:t>1</a:t>
            </a:r>
          </a:p>
        </p:txBody>
      </p:sp>
      <p:sp>
        <p:nvSpPr>
          <p:cNvPr id="8" name="TextBox 7"/>
          <p:cNvSpPr txBox="1"/>
          <p:nvPr/>
        </p:nvSpPr>
        <p:spPr>
          <a:xfrm>
            <a:off x="868680"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Who might have become congruent?</a:t>
            </a:r>
          </a:p>
        </p:txBody>
      </p:sp>
      <p:sp>
        <p:nvSpPr>
          <p:cNvPr id="9" name="TextBox 8"/>
          <p:cNvSpPr txBox="1"/>
          <p:nvPr/>
        </p:nvSpPr>
        <p:spPr>
          <a:xfrm>
            <a:off x="868680"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the parents of last round’s merges</a:t>
            </a:r>
          </a:p>
        </p:txBody>
      </p:sp>
      <p:sp>
        <p:nvSpPr>
          <p:cNvPr id="10" name="Rounded Rectangle 9"/>
          <p:cNvSpPr/>
          <p:nvPr/>
        </p:nvSpPr>
        <p:spPr>
          <a:xfrm>
            <a:off x="4453128" y="1691640"/>
            <a:ext cx="3291840" cy="2468880"/>
          </a:xfrm>
          <a:prstGeom prst="roundRect">
            <a:avLst>
              <a:gd name="adj" fmla="val 15000"/>
            </a:avLst>
          </a:prstGeom>
          <a:solidFill>
            <a:srgbClr val="EAE2F5"/>
          </a:solidFill>
          <a:ln w="19050">
            <a:solidFill>
              <a:srgbClr val="7B4FB5"/>
            </a:solidFill>
          </a:ln>
          <a:effectLst/>
        </p:spPr>
        <p:txBody>
          <a:bodyPr rtlCol="0" anchor="ctr" lIns="54864" rIns="54864" tIns="27432" bIns="27432" wrap="square"/>
          <a:lstStyle/>
          <a:p>
            <a:pPr algn="ctr"/>
          </a:p>
        </p:txBody>
      </p:sp>
      <p:sp>
        <p:nvSpPr>
          <p:cNvPr id="11" name="Rounded Rectangle 10"/>
          <p:cNvSpPr/>
          <p:nvPr/>
        </p:nvSpPr>
        <p:spPr>
          <a:xfrm>
            <a:off x="4636008" y="1874520"/>
            <a:ext cx="457200" cy="457200"/>
          </a:xfrm>
          <a:prstGeom prst="roundRect">
            <a:avLst>
              <a:gd name="adj" fmla="val 50000"/>
            </a:avLst>
          </a:prstGeom>
          <a:solidFill>
            <a:srgbClr val="7B4FB5"/>
          </a:solidFill>
          <a:ln>
            <a:noFill/>
          </a:ln>
          <a:effectLst/>
        </p:spPr>
        <p:txBody>
          <a:bodyPr rtlCol="0" anchor="ctr" lIns="54864" rIns="54864" tIns="27432" bIns="27432" wrap="square"/>
          <a:lstStyle/>
          <a:p>
            <a:pPr algn="ctr"/>
            <a:r>
              <a:rPr sz="1600" b="1" i="0">
                <a:solidFill>
                  <a:srgbClr val="FFFFFF"/>
                </a:solidFill>
                <a:latin typeface="Calibri"/>
              </a:rPr>
              <a:t>2</a:t>
            </a:r>
          </a:p>
        </p:txBody>
      </p:sp>
      <p:sp>
        <p:nvSpPr>
          <p:cNvPr id="12" name="TextBox 11"/>
          <p:cNvSpPr txBox="1"/>
          <p:nvPr/>
        </p:nvSpPr>
        <p:spPr>
          <a:xfrm>
            <a:off x="4636008"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Who actually is?</a:t>
            </a:r>
          </a:p>
        </p:txBody>
      </p:sp>
      <p:sp>
        <p:nvSpPr>
          <p:cNvPr id="13" name="TextBox 12"/>
          <p:cNvSpPr txBox="1"/>
          <p:nvPr/>
        </p:nvSpPr>
        <p:spPr>
          <a:xfrm>
            <a:off x="4636008"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group them by signature</a:t>
            </a:r>
          </a:p>
        </p:txBody>
      </p:sp>
      <p:cxnSp>
        <p:nvCxnSpPr>
          <p:cNvPr id="14" name="Connector 13"/>
          <p:cNvCxnSpPr/>
          <p:nvPr/>
        </p:nvCxnSpPr>
        <p:spPr>
          <a:xfrm>
            <a:off x="3977639" y="2926080"/>
            <a:ext cx="475489" cy="0"/>
          </a:xfrm>
          <a:prstGeom prst="line">
            <a:avLst/>
          </a:prstGeom>
          <a:ln w="25400">
            <a:solidFill>
              <a:srgbClr val="2B2F36"/>
            </a:solidFill>
            <a:tailEnd type="triangle" w="med" len="med"/>
          </a:ln>
          <a:effectLst/>
        </p:spPr>
      </p:cxn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one round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40</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85800" y="1691640"/>
            <a:ext cx="3291840" cy="246888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p>
        </p:txBody>
      </p:sp>
      <p:sp>
        <p:nvSpPr>
          <p:cNvPr id="7" name="Rounded Rectangle 6"/>
          <p:cNvSpPr/>
          <p:nvPr/>
        </p:nvSpPr>
        <p:spPr>
          <a:xfrm>
            <a:off x="868680" y="1874520"/>
            <a:ext cx="457200" cy="457200"/>
          </a:xfrm>
          <a:prstGeom prst="roundRect">
            <a:avLst>
              <a:gd name="adj" fmla="val 50000"/>
            </a:avLst>
          </a:prstGeom>
          <a:solidFill>
            <a:srgbClr val="2E6FB0"/>
          </a:solidFill>
          <a:ln>
            <a:noFill/>
          </a:ln>
          <a:effectLst/>
        </p:spPr>
        <p:txBody>
          <a:bodyPr rtlCol="0" anchor="ctr" lIns="54864" rIns="54864" tIns="27432" bIns="27432" wrap="square"/>
          <a:lstStyle/>
          <a:p>
            <a:pPr algn="ctr"/>
            <a:r>
              <a:rPr sz="1600" b="1" i="0">
                <a:solidFill>
                  <a:srgbClr val="FFFFFF"/>
                </a:solidFill>
                <a:latin typeface="Calibri"/>
              </a:rPr>
              <a:t>1</a:t>
            </a:r>
          </a:p>
        </p:txBody>
      </p:sp>
      <p:sp>
        <p:nvSpPr>
          <p:cNvPr id="8" name="TextBox 7"/>
          <p:cNvSpPr txBox="1"/>
          <p:nvPr/>
        </p:nvSpPr>
        <p:spPr>
          <a:xfrm>
            <a:off x="868680"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Who might have become congruent?</a:t>
            </a:r>
          </a:p>
        </p:txBody>
      </p:sp>
      <p:sp>
        <p:nvSpPr>
          <p:cNvPr id="9" name="TextBox 8"/>
          <p:cNvSpPr txBox="1"/>
          <p:nvPr/>
        </p:nvSpPr>
        <p:spPr>
          <a:xfrm>
            <a:off x="868680"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the parents of last round’s merges</a:t>
            </a:r>
          </a:p>
        </p:txBody>
      </p:sp>
      <p:sp>
        <p:nvSpPr>
          <p:cNvPr id="10" name="Rounded Rectangle 9"/>
          <p:cNvSpPr/>
          <p:nvPr/>
        </p:nvSpPr>
        <p:spPr>
          <a:xfrm>
            <a:off x="4453128" y="1691640"/>
            <a:ext cx="3291840" cy="2468880"/>
          </a:xfrm>
          <a:prstGeom prst="roundRect">
            <a:avLst>
              <a:gd name="adj" fmla="val 15000"/>
            </a:avLst>
          </a:prstGeom>
          <a:solidFill>
            <a:srgbClr val="EAE2F5"/>
          </a:solidFill>
          <a:ln w="19050">
            <a:solidFill>
              <a:srgbClr val="7B4FB5"/>
            </a:solidFill>
          </a:ln>
          <a:effectLst/>
        </p:spPr>
        <p:txBody>
          <a:bodyPr rtlCol="0" anchor="ctr" lIns="54864" rIns="54864" tIns="27432" bIns="27432" wrap="square"/>
          <a:lstStyle/>
          <a:p>
            <a:pPr algn="ctr"/>
          </a:p>
        </p:txBody>
      </p:sp>
      <p:sp>
        <p:nvSpPr>
          <p:cNvPr id="11" name="Rounded Rectangle 10"/>
          <p:cNvSpPr/>
          <p:nvPr/>
        </p:nvSpPr>
        <p:spPr>
          <a:xfrm>
            <a:off x="4636008" y="1874520"/>
            <a:ext cx="457200" cy="457200"/>
          </a:xfrm>
          <a:prstGeom prst="roundRect">
            <a:avLst>
              <a:gd name="adj" fmla="val 50000"/>
            </a:avLst>
          </a:prstGeom>
          <a:solidFill>
            <a:srgbClr val="7B4FB5"/>
          </a:solidFill>
          <a:ln>
            <a:noFill/>
          </a:ln>
          <a:effectLst/>
        </p:spPr>
        <p:txBody>
          <a:bodyPr rtlCol="0" anchor="ctr" lIns="54864" rIns="54864" tIns="27432" bIns="27432" wrap="square"/>
          <a:lstStyle/>
          <a:p>
            <a:pPr algn="ctr"/>
            <a:r>
              <a:rPr sz="1600" b="1" i="0">
                <a:solidFill>
                  <a:srgbClr val="FFFFFF"/>
                </a:solidFill>
                <a:latin typeface="Calibri"/>
              </a:rPr>
              <a:t>2</a:t>
            </a:r>
          </a:p>
        </p:txBody>
      </p:sp>
      <p:sp>
        <p:nvSpPr>
          <p:cNvPr id="12" name="TextBox 11"/>
          <p:cNvSpPr txBox="1"/>
          <p:nvPr/>
        </p:nvSpPr>
        <p:spPr>
          <a:xfrm>
            <a:off x="4636008"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Who actually is?</a:t>
            </a:r>
          </a:p>
        </p:txBody>
      </p:sp>
      <p:sp>
        <p:nvSpPr>
          <p:cNvPr id="13" name="TextBox 12"/>
          <p:cNvSpPr txBox="1"/>
          <p:nvPr/>
        </p:nvSpPr>
        <p:spPr>
          <a:xfrm>
            <a:off x="4636008"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group them by signature</a:t>
            </a:r>
          </a:p>
        </p:txBody>
      </p:sp>
      <p:cxnSp>
        <p:nvCxnSpPr>
          <p:cNvPr id="14" name="Connector 13"/>
          <p:cNvCxnSpPr/>
          <p:nvPr/>
        </p:nvCxnSpPr>
        <p:spPr>
          <a:xfrm>
            <a:off x="3977639" y="2926080"/>
            <a:ext cx="475489" cy="0"/>
          </a:xfrm>
          <a:prstGeom prst="line">
            <a:avLst/>
          </a:prstGeom>
          <a:ln w="25400">
            <a:solidFill>
              <a:srgbClr val="2B2F36"/>
            </a:solidFill>
            <a:tailEnd type="triangle" w="med" len="med"/>
          </a:ln>
          <a:effectLst/>
        </p:spPr>
      </p:cxnSp>
      <p:sp>
        <p:nvSpPr>
          <p:cNvPr id="15" name="Rounded Rectangle 14"/>
          <p:cNvSpPr/>
          <p:nvPr/>
        </p:nvSpPr>
        <p:spPr>
          <a:xfrm>
            <a:off x="8220456" y="1691640"/>
            <a:ext cx="3291840" cy="2468880"/>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p>
        </p:txBody>
      </p:sp>
      <p:sp>
        <p:nvSpPr>
          <p:cNvPr id="16" name="Rounded Rectangle 15"/>
          <p:cNvSpPr/>
          <p:nvPr/>
        </p:nvSpPr>
        <p:spPr>
          <a:xfrm>
            <a:off x="8403336" y="1874520"/>
            <a:ext cx="457200" cy="457200"/>
          </a:xfrm>
          <a:prstGeom prst="roundRect">
            <a:avLst>
              <a:gd name="adj" fmla="val 50000"/>
            </a:avLst>
          </a:prstGeom>
          <a:solidFill>
            <a:srgbClr val="C8501E"/>
          </a:solidFill>
          <a:ln>
            <a:noFill/>
          </a:ln>
          <a:effectLst/>
        </p:spPr>
        <p:txBody>
          <a:bodyPr rtlCol="0" anchor="ctr" lIns="54864" rIns="54864" tIns="27432" bIns="27432" wrap="square"/>
          <a:lstStyle/>
          <a:p>
            <a:pPr algn="ctr"/>
            <a:r>
              <a:rPr sz="1600" b="1" i="0">
                <a:solidFill>
                  <a:srgbClr val="FFFFFF"/>
                </a:solidFill>
                <a:latin typeface="Calibri"/>
              </a:rPr>
              <a:t>3</a:t>
            </a:r>
          </a:p>
        </p:txBody>
      </p:sp>
      <p:sp>
        <p:nvSpPr>
          <p:cNvPr id="17" name="TextBox 16"/>
          <p:cNvSpPr txBox="1"/>
          <p:nvPr/>
        </p:nvSpPr>
        <p:spPr>
          <a:xfrm>
            <a:off x="8403336"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Merge</a:t>
            </a:r>
          </a:p>
        </p:txBody>
      </p:sp>
      <p:sp>
        <p:nvSpPr>
          <p:cNvPr id="18" name="TextBox 17"/>
          <p:cNvSpPr txBox="1"/>
          <p:nvPr/>
        </p:nvSpPr>
        <p:spPr>
          <a:xfrm>
            <a:off x="8403336"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every group, in parallel</a:t>
            </a:r>
          </a:p>
        </p:txBody>
      </p:sp>
      <p:cxnSp>
        <p:nvCxnSpPr>
          <p:cNvPr id="19" name="Connector 18"/>
          <p:cNvCxnSpPr/>
          <p:nvPr/>
        </p:nvCxnSpPr>
        <p:spPr>
          <a:xfrm>
            <a:off x="7744968" y="2926080"/>
            <a:ext cx="475488" cy="0"/>
          </a:xfrm>
          <a:prstGeom prst="line">
            <a:avLst/>
          </a:prstGeom>
          <a:ln w="25400">
            <a:solidFill>
              <a:srgbClr val="2B2F36"/>
            </a:solidFill>
            <a:tailEnd type="triangle" w="med" len="med"/>
          </a:ln>
          <a:effectLst/>
        </p:spPr>
      </p:cxn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one round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41</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85800" y="1691640"/>
            <a:ext cx="3291840" cy="246888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p>
        </p:txBody>
      </p:sp>
      <p:sp>
        <p:nvSpPr>
          <p:cNvPr id="7" name="Rounded Rectangle 6"/>
          <p:cNvSpPr/>
          <p:nvPr/>
        </p:nvSpPr>
        <p:spPr>
          <a:xfrm>
            <a:off x="868680" y="1874520"/>
            <a:ext cx="457200" cy="457200"/>
          </a:xfrm>
          <a:prstGeom prst="roundRect">
            <a:avLst>
              <a:gd name="adj" fmla="val 50000"/>
            </a:avLst>
          </a:prstGeom>
          <a:solidFill>
            <a:srgbClr val="2E6FB0"/>
          </a:solidFill>
          <a:ln>
            <a:noFill/>
          </a:ln>
          <a:effectLst/>
        </p:spPr>
        <p:txBody>
          <a:bodyPr rtlCol="0" anchor="ctr" lIns="54864" rIns="54864" tIns="27432" bIns="27432" wrap="square"/>
          <a:lstStyle/>
          <a:p>
            <a:pPr algn="ctr"/>
            <a:r>
              <a:rPr sz="1600" b="1" i="0">
                <a:solidFill>
                  <a:srgbClr val="FFFFFF"/>
                </a:solidFill>
                <a:latin typeface="Calibri"/>
              </a:rPr>
              <a:t>1</a:t>
            </a:r>
          </a:p>
        </p:txBody>
      </p:sp>
      <p:sp>
        <p:nvSpPr>
          <p:cNvPr id="8" name="TextBox 7"/>
          <p:cNvSpPr txBox="1"/>
          <p:nvPr/>
        </p:nvSpPr>
        <p:spPr>
          <a:xfrm>
            <a:off x="868680"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Who might have become congruent?</a:t>
            </a:r>
          </a:p>
        </p:txBody>
      </p:sp>
      <p:sp>
        <p:nvSpPr>
          <p:cNvPr id="9" name="TextBox 8"/>
          <p:cNvSpPr txBox="1"/>
          <p:nvPr/>
        </p:nvSpPr>
        <p:spPr>
          <a:xfrm>
            <a:off x="868680"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the parents of last round’s merges</a:t>
            </a:r>
          </a:p>
        </p:txBody>
      </p:sp>
      <p:sp>
        <p:nvSpPr>
          <p:cNvPr id="10" name="Rounded Rectangle 9"/>
          <p:cNvSpPr/>
          <p:nvPr/>
        </p:nvSpPr>
        <p:spPr>
          <a:xfrm>
            <a:off x="4453128" y="1691640"/>
            <a:ext cx="3291840" cy="2468880"/>
          </a:xfrm>
          <a:prstGeom prst="roundRect">
            <a:avLst>
              <a:gd name="adj" fmla="val 15000"/>
            </a:avLst>
          </a:prstGeom>
          <a:solidFill>
            <a:srgbClr val="EAE2F5"/>
          </a:solidFill>
          <a:ln w="19050">
            <a:solidFill>
              <a:srgbClr val="7B4FB5"/>
            </a:solidFill>
          </a:ln>
          <a:effectLst/>
        </p:spPr>
        <p:txBody>
          <a:bodyPr rtlCol="0" anchor="ctr" lIns="54864" rIns="54864" tIns="27432" bIns="27432" wrap="square"/>
          <a:lstStyle/>
          <a:p>
            <a:pPr algn="ctr"/>
          </a:p>
        </p:txBody>
      </p:sp>
      <p:sp>
        <p:nvSpPr>
          <p:cNvPr id="11" name="Rounded Rectangle 10"/>
          <p:cNvSpPr/>
          <p:nvPr/>
        </p:nvSpPr>
        <p:spPr>
          <a:xfrm>
            <a:off x="4636008" y="1874520"/>
            <a:ext cx="457200" cy="457200"/>
          </a:xfrm>
          <a:prstGeom prst="roundRect">
            <a:avLst>
              <a:gd name="adj" fmla="val 50000"/>
            </a:avLst>
          </a:prstGeom>
          <a:solidFill>
            <a:srgbClr val="7B4FB5"/>
          </a:solidFill>
          <a:ln>
            <a:noFill/>
          </a:ln>
          <a:effectLst/>
        </p:spPr>
        <p:txBody>
          <a:bodyPr rtlCol="0" anchor="ctr" lIns="54864" rIns="54864" tIns="27432" bIns="27432" wrap="square"/>
          <a:lstStyle/>
          <a:p>
            <a:pPr algn="ctr"/>
            <a:r>
              <a:rPr sz="1600" b="1" i="0">
                <a:solidFill>
                  <a:srgbClr val="FFFFFF"/>
                </a:solidFill>
                <a:latin typeface="Calibri"/>
              </a:rPr>
              <a:t>2</a:t>
            </a:r>
          </a:p>
        </p:txBody>
      </p:sp>
      <p:sp>
        <p:nvSpPr>
          <p:cNvPr id="12" name="TextBox 11"/>
          <p:cNvSpPr txBox="1"/>
          <p:nvPr/>
        </p:nvSpPr>
        <p:spPr>
          <a:xfrm>
            <a:off x="4636008"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Who actually is?</a:t>
            </a:r>
          </a:p>
        </p:txBody>
      </p:sp>
      <p:sp>
        <p:nvSpPr>
          <p:cNvPr id="13" name="TextBox 12"/>
          <p:cNvSpPr txBox="1"/>
          <p:nvPr/>
        </p:nvSpPr>
        <p:spPr>
          <a:xfrm>
            <a:off x="4636008"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group them by signature</a:t>
            </a:r>
          </a:p>
        </p:txBody>
      </p:sp>
      <p:cxnSp>
        <p:nvCxnSpPr>
          <p:cNvPr id="14" name="Connector 13"/>
          <p:cNvCxnSpPr/>
          <p:nvPr/>
        </p:nvCxnSpPr>
        <p:spPr>
          <a:xfrm>
            <a:off x="3977639" y="2926080"/>
            <a:ext cx="475489" cy="0"/>
          </a:xfrm>
          <a:prstGeom prst="line">
            <a:avLst/>
          </a:prstGeom>
          <a:ln w="25400">
            <a:solidFill>
              <a:srgbClr val="2B2F36"/>
            </a:solidFill>
            <a:tailEnd type="triangle" w="med" len="med"/>
          </a:ln>
          <a:effectLst/>
        </p:spPr>
      </p:cxnSp>
      <p:sp>
        <p:nvSpPr>
          <p:cNvPr id="15" name="Rounded Rectangle 14"/>
          <p:cNvSpPr/>
          <p:nvPr/>
        </p:nvSpPr>
        <p:spPr>
          <a:xfrm>
            <a:off x="8220456" y="1691640"/>
            <a:ext cx="3291840" cy="2468880"/>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p>
        </p:txBody>
      </p:sp>
      <p:sp>
        <p:nvSpPr>
          <p:cNvPr id="16" name="Rounded Rectangle 15"/>
          <p:cNvSpPr/>
          <p:nvPr/>
        </p:nvSpPr>
        <p:spPr>
          <a:xfrm>
            <a:off x="8403336" y="1874520"/>
            <a:ext cx="457200" cy="457200"/>
          </a:xfrm>
          <a:prstGeom prst="roundRect">
            <a:avLst>
              <a:gd name="adj" fmla="val 50000"/>
            </a:avLst>
          </a:prstGeom>
          <a:solidFill>
            <a:srgbClr val="C8501E"/>
          </a:solidFill>
          <a:ln>
            <a:noFill/>
          </a:ln>
          <a:effectLst/>
        </p:spPr>
        <p:txBody>
          <a:bodyPr rtlCol="0" anchor="ctr" lIns="54864" rIns="54864" tIns="27432" bIns="27432" wrap="square"/>
          <a:lstStyle/>
          <a:p>
            <a:pPr algn="ctr"/>
            <a:r>
              <a:rPr sz="1600" b="1" i="0">
                <a:solidFill>
                  <a:srgbClr val="FFFFFF"/>
                </a:solidFill>
                <a:latin typeface="Calibri"/>
              </a:rPr>
              <a:t>3</a:t>
            </a:r>
          </a:p>
        </p:txBody>
      </p:sp>
      <p:sp>
        <p:nvSpPr>
          <p:cNvPr id="17" name="TextBox 16"/>
          <p:cNvSpPr txBox="1"/>
          <p:nvPr/>
        </p:nvSpPr>
        <p:spPr>
          <a:xfrm>
            <a:off x="8403336"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Merge</a:t>
            </a:r>
          </a:p>
        </p:txBody>
      </p:sp>
      <p:sp>
        <p:nvSpPr>
          <p:cNvPr id="18" name="TextBox 17"/>
          <p:cNvSpPr txBox="1"/>
          <p:nvPr/>
        </p:nvSpPr>
        <p:spPr>
          <a:xfrm>
            <a:off x="8403336"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every group, in parallel</a:t>
            </a:r>
          </a:p>
        </p:txBody>
      </p:sp>
      <p:cxnSp>
        <p:nvCxnSpPr>
          <p:cNvPr id="19" name="Connector 18"/>
          <p:cNvCxnSpPr/>
          <p:nvPr/>
        </p:nvCxnSpPr>
        <p:spPr>
          <a:xfrm>
            <a:off x="7744968" y="2926080"/>
            <a:ext cx="475488" cy="0"/>
          </a:xfrm>
          <a:prstGeom prst="line">
            <a:avLst/>
          </a:prstGeom>
          <a:ln w="25400">
            <a:solidFill>
              <a:srgbClr val="2B2F36"/>
            </a:solidFill>
            <a:tailEnd type="triangle" w="med" len="med"/>
          </a:ln>
          <a:effectLst/>
        </p:spPr>
      </p:cxnSp>
      <p:cxnSp>
        <p:nvCxnSpPr>
          <p:cNvPr id="20" name="Connector 19"/>
          <p:cNvCxnSpPr/>
          <p:nvPr/>
        </p:nvCxnSpPr>
        <p:spPr>
          <a:xfrm>
            <a:off x="9866376" y="4160520"/>
            <a:ext cx="0" cy="502920"/>
          </a:xfrm>
          <a:prstGeom prst="line">
            <a:avLst/>
          </a:prstGeom>
          <a:ln w="25400">
            <a:solidFill>
              <a:srgbClr val="2B2F36"/>
            </a:solidFill>
          </a:ln>
          <a:effectLst/>
        </p:spPr>
      </p:cxnSp>
      <p:cxnSp>
        <p:nvCxnSpPr>
          <p:cNvPr id="21" name="Connector 20"/>
          <p:cNvCxnSpPr/>
          <p:nvPr/>
        </p:nvCxnSpPr>
        <p:spPr>
          <a:xfrm flipH="1">
            <a:off x="2331720" y="4663440"/>
            <a:ext cx="7534656" cy="0"/>
          </a:xfrm>
          <a:prstGeom prst="line">
            <a:avLst/>
          </a:prstGeom>
          <a:ln w="25400">
            <a:solidFill>
              <a:srgbClr val="2B2F36"/>
            </a:solidFill>
          </a:ln>
          <a:effectLst/>
        </p:spPr>
      </p:cxnSp>
      <p:cxnSp>
        <p:nvCxnSpPr>
          <p:cNvPr id="22" name="Connector 21"/>
          <p:cNvCxnSpPr/>
          <p:nvPr/>
        </p:nvCxnSpPr>
        <p:spPr>
          <a:xfrm flipV="1">
            <a:off x="2331720" y="4160520"/>
            <a:ext cx="0" cy="502920"/>
          </a:xfrm>
          <a:prstGeom prst="line">
            <a:avLst/>
          </a:prstGeom>
          <a:ln w="25400">
            <a:solidFill>
              <a:srgbClr val="2B2F36"/>
            </a:solidFill>
            <a:tailEnd type="triangle" w="med" len="med"/>
          </a:ln>
          <a:effectLst/>
        </p:spPr>
      </p:cxnSp>
      <p:sp>
        <p:nvSpPr>
          <p:cNvPr id="23" name="TextBox 22"/>
          <p:cNvSpPr txBox="1"/>
          <p:nvPr/>
        </p:nvSpPr>
        <p:spPr>
          <a:xfrm>
            <a:off x="3291840" y="4709160"/>
            <a:ext cx="5577840" cy="365760"/>
          </a:xfrm>
          <a:prstGeom prst="rect">
            <a:avLst/>
          </a:prstGeom>
          <a:noFill/>
        </p:spPr>
        <p:txBody>
          <a:bodyPr wrap="square" anchor="t" lIns="45720" rIns="45720" tIns="27432" bIns="27432">
            <a:spAutoFit/>
          </a:bodyPr>
          <a:lstStyle/>
          <a:p>
            <a:pPr algn="ctr"/>
            <a:r>
              <a:rPr sz="1600" b="1" i="0">
                <a:solidFill>
                  <a:srgbClr val="1F2A44"/>
                </a:solidFill>
                <a:latin typeface="Calibri"/>
              </a:rPr>
              <a:t>repeat while a round merged something</a:t>
            </a:r>
          </a:p>
        </p:txBody>
      </p:sp>
      <p:sp>
        <p:nvSpPr>
          <p:cNvPr id="24" name="TextBox 23"/>
          <p:cNvSpPr txBox="1"/>
          <p:nvPr/>
        </p:nvSpPr>
        <p:spPr>
          <a:xfrm>
            <a:off x="685800" y="5166360"/>
            <a:ext cx="10789920" cy="365760"/>
          </a:xfrm>
          <a:prstGeom prst="rect">
            <a:avLst/>
          </a:prstGeom>
          <a:noFill/>
        </p:spPr>
        <p:txBody>
          <a:bodyPr wrap="square" anchor="t" lIns="45720" rIns="45720" tIns="27432" bIns="27432">
            <a:spAutoFit/>
          </a:bodyPr>
          <a:lstStyle/>
          <a:p>
            <a:pPr algn="ctr"/>
            <a:r>
              <a:rPr sz="1500" b="0" i="0">
                <a:solidFill>
                  <a:srgbClr val="6B717A"/>
                </a:solidFill>
                <a:latin typeface="Calibri"/>
              </a:rPr>
              <a:t>first round: consider every term</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0</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cxnSp>
        <p:nvCxnSpPr>
          <p:cNvPr id="11" name="Connector 10"/>
          <p:cNvCxnSpPr/>
          <p:nvPr/>
        </p:nvCxnSpPr>
        <p:spPr>
          <a:xfrm flipH="1">
            <a:off x="2784348" y="3803903"/>
            <a:ext cx="539496" cy="1106425"/>
          </a:xfrm>
          <a:prstGeom prst="line">
            <a:avLst/>
          </a:prstGeom>
          <a:ln w="15875">
            <a:solidFill>
              <a:srgbClr val="C9CDD3"/>
            </a:solidFill>
          </a:ln>
          <a:effectLst/>
        </p:spPr>
      </p:cxnSp>
      <p:cxnSp>
        <p:nvCxnSpPr>
          <p:cNvPr id="12" name="Connector 11"/>
          <p:cNvCxnSpPr/>
          <p:nvPr/>
        </p:nvCxnSpPr>
        <p:spPr>
          <a:xfrm>
            <a:off x="3323844" y="3803903"/>
            <a:ext cx="960120" cy="1106425"/>
          </a:xfrm>
          <a:prstGeom prst="line">
            <a:avLst/>
          </a:prstGeom>
          <a:ln w="15875">
            <a:solidFill>
              <a:srgbClr val="C9CDD3"/>
            </a:solidFill>
          </a:ln>
          <a:effectLst/>
        </p:spPr>
      </p:cxnSp>
      <p:cxnSp>
        <p:nvCxnSpPr>
          <p:cNvPr id="13" name="Connector 12"/>
          <p:cNvCxnSpPr/>
          <p:nvPr/>
        </p:nvCxnSpPr>
        <p:spPr>
          <a:xfrm flipH="1">
            <a:off x="3406139" y="3803903"/>
            <a:ext cx="1014985" cy="1106425"/>
          </a:xfrm>
          <a:prstGeom prst="line">
            <a:avLst/>
          </a:prstGeom>
          <a:ln w="15875">
            <a:solidFill>
              <a:srgbClr val="C9CDD3"/>
            </a:solidFill>
          </a:ln>
          <a:effectLst/>
        </p:spPr>
      </p:cxnSp>
      <p:cxnSp>
        <p:nvCxnSpPr>
          <p:cNvPr id="14" name="Connector 13"/>
          <p:cNvCxnSpPr/>
          <p:nvPr/>
        </p:nvCxnSpPr>
        <p:spPr>
          <a:xfrm>
            <a:off x="4421124" y="3803903"/>
            <a:ext cx="484632" cy="1106425"/>
          </a:xfrm>
          <a:prstGeom prst="line">
            <a:avLst/>
          </a:prstGeom>
          <a:ln w="15875">
            <a:solidFill>
              <a:srgbClr val="C9CDD3"/>
            </a:solidFill>
          </a:ln>
          <a:effectLst/>
        </p:spPr>
      </p:cxnSp>
      <p:cxnSp>
        <p:nvCxnSpPr>
          <p:cNvPr id="15" name="Connector 14"/>
          <p:cNvCxnSpPr/>
          <p:nvPr/>
        </p:nvCxnSpPr>
        <p:spPr>
          <a:xfrm flipH="1">
            <a:off x="7283196" y="3803903"/>
            <a:ext cx="475487" cy="1106425"/>
          </a:xfrm>
          <a:prstGeom prst="line">
            <a:avLst/>
          </a:prstGeom>
          <a:ln w="15875">
            <a:solidFill>
              <a:srgbClr val="C9CDD3"/>
            </a:solidFill>
          </a:ln>
          <a:effectLst/>
        </p:spPr>
      </p:cxnSp>
      <p:cxnSp>
        <p:nvCxnSpPr>
          <p:cNvPr id="16" name="Connector 15"/>
          <p:cNvCxnSpPr/>
          <p:nvPr/>
        </p:nvCxnSpPr>
        <p:spPr>
          <a:xfrm>
            <a:off x="7758683" y="3803903"/>
            <a:ext cx="1024129" cy="1106425"/>
          </a:xfrm>
          <a:prstGeom prst="line">
            <a:avLst/>
          </a:prstGeom>
          <a:ln w="15875">
            <a:solidFill>
              <a:srgbClr val="C9CDD3"/>
            </a:solidFill>
          </a:ln>
          <a:effectLst/>
        </p:spPr>
      </p:cxnSp>
      <p:cxnSp>
        <p:nvCxnSpPr>
          <p:cNvPr id="17" name="Connector 16"/>
          <p:cNvCxnSpPr/>
          <p:nvPr/>
        </p:nvCxnSpPr>
        <p:spPr>
          <a:xfrm flipH="1">
            <a:off x="7904988" y="3803903"/>
            <a:ext cx="950975" cy="1106425"/>
          </a:xfrm>
          <a:prstGeom prst="line">
            <a:avLst/>
          </a:prstGeom>
          <a:ln w="15875">
            <a:solidFill>
              <a:srgbClr val="C9CDD3"/>
            </a:solidFill>
          </a:ln>
          <a:effectLst/>
        </p:spPr>
      </p:cxnSp>
      <p:cxnSp>
        <p:nvCxnSpPr>
          <p:cNvPr id="18" name="Connector 17"/>
          <p:cNvCxnSpPr/>
          <p:nvPr/>
        </p:nvCxnSpPr>
        <p:spPr>
          <a:xfrm>
            <a:off x="8855963" y="3803903"/>
            <a:ext cx="548641" cy="1106425"/>
          </a:xfrm>
          <a:prstGeom prst="line">
            <a:avLst/>
          </a:prstGeom>
          <a:ln w="15875">
            <a:solidFill>
              <a:srgbClr val="C9CDD3"/>
            </a:solidFill>
          </a:ln>
          <a:effectLst/>
        </p:spPr>
      </p:cxnSp>
      <p:cxnSp>
        <p:nvCxnSpPr>
          <p:cNvPr id="19" name="Connector 18"/>
          <p:cNvCxnSpPr/>
          <p:nvPr/>
        </p:nvCxnSpPr>
        <p:spPr>
          <a:xfrm>
            <a:off x="5564124" y="2203704"/>
            <a:ext cx="219455" cy="2706624"/>
          </a:xfrm>
          <a:prstGeom prst="line">
            <a:avLst/>
          </a:prstGeom>
          <a:ln w="15875">
            <a:solidFill>
              <a:srgbClr val="C9CDD3"/>
            </a:solidFill>
          </a:ln>
          <a:effectLst/>
        </p:spPr>
      </p:cxnSp>
      <p:cxnSp>
        <p:nvCxnSpPr>
          <p:cNvPr id="20" name="Connector 19"/>
          <p:cNvCxnSpPr/>
          <p:nvPr/>
        </p:nvCxnSpPr>
        <p:spPr>
          <a:xfrm flipH="1">
            <a:off x="3323844" y="2203704"/>
            <a:ext cx="2240280" cy="749807"/>
          </a:xfrm>
          <a:prstGeom prst="line">
            <a:avLst/>
          </a:prstGeom>
          <a:ln w="15875">
            <a:solidFill>
              <a:srgbClr val="C9CDD3"/>
            </a:solidFill>
          </a:ln>
          <a:effectLst/>
        </p:spPr>
      </p:cxnSp>
      <p:cxnSp>
        <p:nvCxnSpPr>
          <p:cNvPr id="21" name="Connector 20"/>
          <p:cNvCxnSpPr/>
          <p:nvPr/>
        </p:nvCxnSpPr>
        <p:spPr>
          <a:xfrm>
            <a:off x="5564124" y="2203704"/>
            <a:ext cx="2194559" cy="749807"/>
          </a:xfrm>
          <a:prstGeom prst="line">
            <a:avLst/>
          </a:prstGeom>
          <a:ln w="15875">
            <a:solidFill>
              <a:srgbClr val="C9CDD3"/>
            </a:solidFill>
          </a:ln>
          <a:effectLst/>
        </p:spPr>
      </p:cxnSp>
      <p:cxnSp>
        <p:nvCxnSpPr>
          <p:cNvPr id="22" name="Connector 21"/>
          <p:cNvCxnSpPr/>
          <p:nvPr/>
        </p:nvCxnSpPr>
        <p:spPr>
          <a:xfrm flipH="1">
            <a:off x="6405372" y="2203704"/>
            <a:ext cx="484632" cy="2706624"/>
          </a:xfrm>
          <a:prstGeom prst="line">
            <a:avLst/>
          </a:prstGeom>
          <a:ln w="15875">
            <a:solidFill>
              <a:srgbClr val="C9CDD3"/>
            </a:solidFill>
          </a:ln>
          <a:effectLst/>
        </p:spPr>
      </p:cxnSp>
      <p:cxnSp>
        <p:nvCxnSpPr>
          <p:cNvPr id="23" name="Connector 22"/>
          <p:cNvCxnSpPr/>
          <p:nvPr/>
        </p:nvCxnSpPr>
        <p:spPr>
          <a:xfrm flipH="1">
            <a:off x="4421124" y="2203704"/>
            <a:ext cx="2468880" cy="749807"/>
          </a:xfrm>
          <a:prstGeom prst="line">
            <a:avLst/>
          </a:prstGeom>
          <a:ln w="15875">
            <a:solidFill>
              <a:srgbClr val="C9CDD3"/>
            </a:solidFill>
          </a:ln>
          <a:effectLst/>
        </p:spPr>
      </p:cxnSp>
      <p:cxnSp>
        <p:nvCxnSpPr>
          <p:cNvPr id="24" name="Connector 23"/>
          <p:cNvCxnSpPr/>
          <p:nvPr/>
        </p:nvCxnSpPr>
        <p:spPr>
          <a:xfrm>
            <a:off x="6890004" y="2203704"/>
            <a:ext cx="1965959" cy="749807"/>
          </a:xfrm>
          <a:prstGeom prst="line">
            <a:avLst/>
          </a:prstGeom>
          <a:ln w="15875">
            <a:solidFill>
              <a:srgbClr val="C9CDD3"/>
            </a:solidFill>
          </a:ln>
          <a:effectLst/>
        </p:spPr>
      </p:cxnSp>
      <p:sp>
        <p:nvSpPr>
          <p:cNvPr id="25" name="Rounded Rectangle 24"/>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6" name="Rounded Rectangle 25"/>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8" name="Rounded Rectangle 27"/>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0" name="Rounded Rectangle 29"/>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2" name="Rounded Rectangle 31"/>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4" name="Rounded Rectangle 33"/>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2921508" y="3236975"/>
            <a:ext cx="804672" cy="566928"/>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600" b="1" i="0">
                <a:solidFill>
                  <a:srgbClr val="C9CDD3"/>
                </a:solidFill>
                <a:latin typeface="Calibri"/>
              </a:rPr>
              <a:t>AND</a:t>
            </a:r>
          </a:p>
        </p:txBody>
      </p:sp>
      <p:sp>
        <p:nvSpPr>
          <p:cNvPr id="36" name="TextBox 35"/>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a₁</a:t>
            </a:r>
          </a:p>
        </p:txBody>
      </p:sp>
      <p:sp>
        <p:nvSpPr>
          <p:cNvPr id="37" name="Rounded Rectangle 36"/>
          <p:cNvSpPr/>
          <p:nvPr/>
        </p:nvSpPr>
        <p:spPr>
          <a:xfrm>
            <a:off x="4018787" y="3236975"/>
            <a:ext cx="804672" cy="566928"/>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600" b="1" i="0">
                <a:solidFill>
                  <a:srgbClr val="C9CDD3"/>
                </a:solidFill>
                <a:latin typeface="Calibri"/>
              </a:rPr>
              <a:t>AND</a:t>
            </a:r>
          </a:p>
        </p:txBody>
      </p:sp>
      <p:sp>
        <p:nvSpPr>
          <p:cNvPr id="38" name="TextBox 37"/>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a₂</a:t>
            </a:r>
          </a:p>
        </p:txBody>
      </p:sp>
      <p:sp>
        <p:nvSpPr>
          <p:cNvPr id="39" name="Rounded Rectangle 38"/>
          <p:cNvSpPr/>
          <p:nvPr/>
        </p:nvSpPr>
        <p:spPr>
          <a:xfrm>
            <a:off x="7356348" y="3236975"/>
            <a:ext cx="804672" cy="566928"/>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600" b="1" i="0">
                <a:solidFill>
                  <a:srgbClr val="C9CDD3"/>
                </a:solidFill>
                <a:latin typeface="Calibri"/>
              </a:rPr>
              <a:t>XOR</a:t>
            </a:r>
          </a:p>
        </p:txBody>
      </p:sp>
      <p:sp>
        <p:nvSpPr>
          <p:cNvPr id="40" name="TextBox 39"/>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x₁</a:t>
            </a:r>
          </a:p>
        </p:txBody>
      </p:sp>
      <p:sp>
        <p:nvSpPr>
          <p:cNvPr id="41" name="Rounded Rectangle 40"/>
          <p:cNvSpPr/>
          <p:nvPr/>
        </p:nvSpPr>
        <p:spPr>
          <a:xfrm>
            <a:off x="8453628" y="3236975"/>
            <a:ext cx="804672" cy="566928"/>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600" b="1" i="0">
                <a:solidFill>
                  <a:srgbClr val="C9CDD3"/>
                </a:solidFill>
                <a:latin typeface="Calibri"/>
              </a:rPr>
              <a:t>XOR</a:t>
            </a:r>
          </a:p>
        </p:txBody>
      </p:sp>
      <p:sp>
        <p:nvSpPr>
          <p:cNvPr id="42" name="TextBox 41"/>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x₂</a:t>
            </a:r>
          </a:p>
        </p:txBody>
      </p:sp>
      <p:sp>
        <p:nvSpPr>
          <p:cNvPr id="43" name="Rounded Rectangle 42"/>
          <p:cNvSpPr/>
          <p:nvPr/>
        </p:nvSpPr>
        <p:spPr>
          <a:xfrm>
            <a:off x="5161788" y="1636776"/>
            <a:ext cx="804672" cy="566928"/>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600" b="1" i="0">
                <a:solidFill>
                  <a:srgbClr val="C9CDD3"/>
                </a:solidFill>
                <a:latin typeface="Calibri"/>
              </a:rPr>
              <a:t>ITE</a:t>
            </a:r>
          </a:p>
        </p:txBody>
      </p:sp>
      <p:sp>
        <p:nvSpPr>
          <p:cNvPr id="44" name="TextBox 43"/>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C9CDD3"/>
                </a:solidFill>
                <a:latin typeface="Calibri"/>
              </a:rPr>
              <a:t>m₁</a:t>
            </a:r>
          </a:p>
        </p:txBody>
      </p:sp>
      <p:sp>
        <p:nvSpPr>
          <p:cNvPr id="45" name="Rounded Rectangle 44"/>
          <p:cNvSpPr/>
          <p:nvPr/>
        </p:nvSpPr>
        <p:spPr>
          <a:xfrm>
            <a:off x="6487668" y="1636776"/>
            <a:ext cx="804672" cy="566928"/>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600" b="1" i="0">
                <a:solidFill>
                  <a:srgbClr val="C9CDD3"/>
                </a:solidFill>
                <a:latin typeface="Calibri"/>
              </a:rPr>
              <a:t>ITE</a:t>
            </a:r>
          </a:p>
        </p:txBody>
      </p:sp>
      <p:sp>
        <p:nvSpPr>
          <p:cNvPr id="46" name="TextBox 45"/>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C9CDD3"/>
                </a:solidFill>
                <a:latin typeface="Calibri"/>
              </a:rPr>
              <a:t>m₂</a:t>
            </a:r>
          </a:p>
        </p:txBody>
      </p:sp>
      <p:sp>
        <p:nvSpPr>
          <p:cNvPr id="47" name="TextBox 46"/>
          <p:cNvSpPr txBox="1"/>
          <p:nvPr/>
        </p:nvSpPr>
        <p:spPr>
          <a:xfrm>
            <a:off x="2775203"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48" name="TextBox 47"/>
          <p:cNvSpPr txBox="1"/>
          <p:nvPr/>
        </p:nvSpPr>
        <p:spPr>
          <a:xfrm>
            <a:off x="4274820"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49" name="TextBox 48"/>
          <p:cNvSpPr txBox="1"/>
          <p:nvPr/>
        </p:nvSpPr>
        <p:spPr>
          <a:xfrm>
            <a:off x="5774436"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50" name="TextBox 49"/>
          <p:cNvSpPr txBox="1"/>
          <p:nvPr/>
        </p:nvSpPr>
        <p:spPr>
          <a:xfrm>
            <a:off x="7274052"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51" name="TextBox 50"/>
          <p:cNvSpPr txBox="1"/>
          <p:nvPr/>
        </p:nvSpPr>
        <p:spPr>
          <a:xfrm>
            <a:off x="8773668"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1</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cxnSp>
        <p:nvCxnSpPr>
          <p:cNvPr id="11" name="Connector 10"/>
          <p:cNvCxnSpPr/>
          <p:nvPr/>
        </p:nvCxnSpPr>
        <p:spPr>
          <a:xfrm flipH="1">
            <a:off x="2784348" y="3803903"/>
            <a:ext cx="539496" cy="1106425"/>
          </a:xfrm>
          <a:prstGeom prst="line">
            <a:avLst/>
          </a:prstGeom>
          <a:ln w="15875">
            <a:solidFill>
              <a:srgbClr val="C9CDD3"/>
            </a:solidFill>
          </a:ln>
          <a:effectLst/>
        </p:spPr>
      </p:cxnSp>
      <p:cxnSp>
        <p:nvCxnSpPr>
          <p:cNvPr id="12" name="Connector 11"/>
          <p:cNvCxnSpPr/>
          <p:nvPr/>
        </p:nvCxnSpPr>
        <p:spPr>
          <a:xfrm>
            <a:off x="3323844" y="3803903"/>
            <a:ext cx="960120" cy="1106425"/>
          </a:xfrm>
          <a:prstGeom prst="line">
            <a:avLst/>
          </a:prstGeom>
          <a:ln w="15875">
            <a:solidFill>
              <a:srgbClr val="C9CDD3"/>
            </a:solidFill>
          </a:ln>
          <a:effectLst/>
        </p:spPr>
      </p:cxnSp>
      <p:cxnSp>
        <p:nvCxnSpPr>
          <p:cNvPr id="13" name="Connector 12"/>
          <p:cNvCxnSpPr/>
          <p:nvPr/>
        </p:nvCxnSpPr>
        <p:spPr>
          <a:xfrm flipH="1">
            <a:off x="3406139" y="3803903"/>
            <a:ext cx="1014985" cy="1106425"/>
          </a:xfrm>
          <a:prstGeom prst="line">
            <a:avLst/>
          </a:prstGeom>
          <a:ln w="15875">
            <a:solidFill>
              <a:srgbClr val="C9CDD3"/>
            </a:solidFill>
          </a:ln>
          <a:effectLst/>
        </p:spPr>
      </p:cxnSp>
      <p:cxnSp>
        <p:nvCxnSpPr>
          <p:cNvPr id="14" name="Connector 13"/>
          <p:cNvCxnSpPr/>
          <p:nvPr/>
        </p:nvCxnSpPr>
        <p:spPr>
          <a:xfrm>
            <a:off x="4421124" y="3803903"/>
            <a:ext cx="484632" cy="1106425"/>
          </a:xfrm>
          <a:prstGeom prst="line">
            <a:avLst/>
          </a:prstGeom>
          <a:ln w="15875">
            <a:solidFill>
              <a:srgbClr val="C9CDD3"/>
            </a:solidFill>
          </a:ln>
          <a:effectLst/>
        </p:spPr>
      </p:cxnSp>
      <p:cxnSp>
        <p:nvCxnSpPr>
          <p:cNvPr id="15" name="Connector 14"/>
          <p:cNvCxnSpPr/>
          <p:nvPr/>
        </p:nvCxnSpPr>
        <p:spPr>
          <a:xfrm flipH="1">
            <a:off x="7283196" y="3803903"/>
            <a:ext cx="475487" cy="1106425"/>
          </a:xfrm>
          <a:prstGeom prst="line">
            <a:avLst/>
          </a:prstGeom>
          <a:ln w="15875">
            <a:solidFill>
              <a:srgbClr val="C9CDD3"/>
            </a:solidFill>
          </a:ln>
          <a:effectLst/>
        </p:spPr>
      </p:cxnSp>
      <p:cxnSp>
        <p:nvCxnSpPr>
          <p:cNvPr id="16" name="Connector 15"/>
          <p:cNvCxnSpPr/>
          <p:nvPr/>
        </p:nvCxnSpPr>
        <p:spPr>
          <a:xfrm>
            <a:off x="7758683" y="3803903"/>
            <a:ext cx="1024129" cy="1106425"/>
          </a:xfrm>
          <a:prstGeom prst="line">
            <a:avLst/>
          </a:prstGeom>
          <a:ln w="15875">
            <a:solidFill>
              <a:srgbClr val="C9CDD3"/>
            </a:solidFill>
          </a:ln>
          <a:effectLst/>
        </p:spPr>
      </p:cxnSp>
      <p:cxnSp>
        <p:nvCxnSpPr>
          <p:cNvPr id="17" name="Connector 16"/>
          <p:cNvCxnSpPr/>
          <p:nvPr/>
        </p:nvCxnSpPr>
        <p:spPr>
          <a:xfrm flipH="1">
            <a:off x="7904988" y="3803903"/>
            <a:ext cx="950975" cy="1106425"/>
          </a:xfrm>
          <a:prstGeom prst="line">
            <a:avLst/>
          </a:prstGeom>
          <a:ln w="15875">
            <a:solidFill>
              <a:srgbClr val="C9CDD3"/>
            </a:solidFill>
          </a:ln>
          <a:effectLst/>
        </p:spPr>
      </p:cxnSp>
      <p:cxnSp>
        <p:nvCxnSpPr>
          <p:cNvPr id="18" name="Connector 17"/>
          <p:cNvCxnSpPr/>
          <p:nvPr/>
        </p:nvCxnSpPr>
        <p:spPr>
          <a:xfrm>
            <a:off x="8855963" y="3803903"/>
            <a:ext cx="548641" cy="1106425"/>
          </a:xfrm>
          <a:prstGeom prst="line">
            <a:avLst/>
          </a:prstGeom>
          <a:ln w="15875">
            <a:solidFill>
              <a:srgbClr val="C9CDD3"/>
            </a:solidFill>
          </a:ln>
          <a:effectLst/>
        </p:spPr>
      </p:cxnSp>
      <p:cxnSp>
        <p:nvCxnSpPr>
          <p:cNvPr id="19" name="Connector 18"/>
          <p:cNvCxnSpPr/>
          <p:nvPr/>
        </p:nvCxnSpPr>
        <p:spPr>
          <a:xfrm>
            <a:off x="5564124" y="2203704"/>
            <a:ext cx="219455" cy="2706624"/>
          </a:xfrm>
          <a:prstGeom prst="line">
            <a:avLst/>
          </a:prstGeom>
          <a:ln w="15875">
            <a:solidFill>
              <a:srgbClr val="C9CDD3"/>
            </a:solidFill>
          </a:ln>
          <a:effectLst/>
        </p:spPr>
      </p:cxnSp>
      <p:cxnSp>
        <p:nvCxnSpPr>
          <p:cNvPr id="20" name="Connector 19"/>
          <p:cNvCxnSpPr/>
          <p:nvPr/>
        </p:nvCxnSpPr>
        <p:spPr>
          <a:xfrm flipH="1">
            <a:off x="3323844" y="2203704"/>
            <a:ext cx="2240280" cy="749807"/>
          </a:xfrm>
          <a:prstGeom prst="line">
            <a:avLst/>
          </a:prstGeom>
          <a:ln w="15875">
            <a:solidFill>
              <a:srgbClr val="8A8F98"/>
            </a:solidFill>
          </a:ln>
          <a:effectLst/>
        </p:spPr>
      </p:cxnSp>
      <p:cxnSp>
        <p:nvCxnSpPr>
          <p:cNvPr id="21" name="Connector 20"/>
          <p:cNvCxnSpPr/>
          <p:nvPr/>
        </p:nvCxnSpPr>
        <p:spPr>
          <a:xfrm>
            <a:off x="5564124" y="2203704"/>
            <a:ext cx="2194559" cy="749807"/>
          </a:xfrm>
          <a:prstGeom prst="line">
            <a:avLst/>
          </a:prstGeom>
          <a:ln w="15875">
            <a:solidFill>
              <a:srgbClr val="8A8F98"/>
            </a:solidFill>
          </a:ln>
          <a:effectLst/>
        </p:spPr>
      </p:cxnSp>
      <p:cxnSp>
        <p:nvCxnSpPr>
          <p:cNvPr id="22" name="Connector 21"/>
          <p:cNvCxnSpPr/>
          <p:nvPr/>
        </p:nvCxnSpPr>
        <p:spPr>
          <a:xfrm flipH="1">
            <a:off x="6405372" y="2203704"/>
            <a:ext cx="484632" cy="2706624"/>
          </a:xfrm>
          <a:prstGeom prst="line">
            <a:avLst/>
          </a:prstGeom>
          <a:ln w="15875">
            <a:solidFill>
              <a:srgbClr val="C9CDD3"/>
            </a:solidFill>
          </a:ln>
          <a:effectLst/>
        </p:spPr>
      </p:cxnSp>
      <p:cxnSp>
        <p:nvCxnSpPr>
          <p:cNvPr id="23" name="Connector 22"/>
          <p:cNvCxnSpPr/>
          <p:nvPr/>
        </p:nvCxnSpPr>
        <p:spPr>
          <a:xfrm flipH="1">
            <a:off x="4421124" y="2203704"/>
            <a:ext cx="2468880" cy="749807"/>
          </a:xfrm>
          <a:prstGeom prst="line">
            <a:avLst/>
          </a:prstGeom>
          <a:ln w="15875">
            <a:solidFill>
              <a:srgbClr val="8A8F98"/>
            </a:solidFill>
          </a:ln>
          <a:effectLst/>
        </p:spPr>
      </p:cxnSp>
      <p:cxnSp>
        <p:nvCxnSpPr>
          <p:cNvPr id="24" name="Connector 23"/>
          <p:cNvCxnSpPr/>
          <p:nvPr/>
        </p:nvCxnSpPr>
        <p:spPr>
          <a:xfrm>
            <a:off x="6890004" y="2203704"/>
            <a:ext cx="1965959" cy="749807"/>
          </a:xfrm>
          <a:prstGeom prst="line">
            <a:avLst/>
          </a:prstGeom>
          <a:ln w="15875">
            <a:solidFill>
              <a:srgbClr val="8A8F98"/>
            </a:solidFill>
          </a:ln>
          <a:effectLst/>
        </p:spPr>
      </p:cxnSp>
      <p:sp>
        <p:nvSpPr>
          <p:cNvPr id="25" name="Rounded Rectangle 24"/>
          <p:cNvSpPr/>
          <p:nvPr/>
        </p:nvSpPr>
        <p:spPr>
          <a:xfrm>
            <a:off x="2510028"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r</a:t>
            </a:r>
          </a:p>
        </p:txBody>
      </p:sp>
      <p:sp>
        <p:nvSpPr>
          <p:cNvPr id="26" name="Rounded Rectangle 25"/>
          <p:cNvSpPr/>
          <p:nvPr/>
        </p:nvSpPr>
        <p:spPr>
          <a:xfrm>
            <a:off x="3131820"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r′</a:t>
            </a:r>
          </a:p>
        </p:txBody>
      </p:sp>
      <p:sp>
        <p:nvSpPr>
          <p:cNvPr id="27" name="Rounded Rectangle 26"/>
          <p:cNvSpPr/>
          <p:nvPr/>
        </p:nvSpPr>
        <p:spPr>
          <a:xfrm>
            <a:off x="4009644"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s</a:t>
            </a:r>
          </a:p>
        </p:txBody>
      </p:sp>
      <p:sp>
        <p:nvSpPr>
          <p:cNvPr id="28" name="Rounded Rectangle 27"/>
          <p:cNvSpPr/>
          <p:nvPr/>
        </p:nvSpPr>
        <p:spPr>
          <a:xfrm>
            <a:off x="4631436"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s′</a:t>
            </a:r>
          </a:p>
        </p:txBody>
      </p:sp>
      <p:sp>
        <p:nvSpPr>
          <p:cNvPr id="29" name="Rounded Rectangle 28"/>
          <p:cNvSpPr/>
          <p:nvPr/>
        </p:nvSpPr>
        <p:spPr>
          <a:xfrm>
            <a:off x="5509259"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c</a:t>
            </a:r>
          </a:p>
        </p:txBody>
      </p:sp>
      <p:sp>
        <p:nvSpPr>
          <p:cNvPr id="30" name="Rounded Rectangle 29"/>
          <p:cNvSpPr/>
          <p:nvPr/>
        </p:nvSpPr>
        <p:spPr>
          <a:xfrm>
            <a:off x="6131052"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c′</a:t>
            </a:r>
          </a:p>
        </p:txBody>
      </p:sp>
      <p:sp>
        <p:nvSpPr>
          <p:cNvPr id="31" name="Rounded Rectangle 30"/>
          <p:cNvSpPr/>
          <p:nvPr/>
        </p:nvSpPr>
        <p:spPr>
          <a:xfrm>
            <a:off x="7008876"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u</a:t>
            </a:r>
          </a:p>
        </p:txBody>
      </p:sp>
      <p:sp>
        <p:nvSpPr>
          <p:cNvPr id="32" name="Rounded Rectangle 31"/>
          <p:cNvSpPr/>
          <p:nvPr/>
        </p:nvSpPr>
        <p:spPr>
          <a:xfrm>
            <a:off x="7630667"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u′</a:t>
            </a:r>
          </a:p>
        </p:txBody>
      </p:sp>
      <p:sp>
        <p:nvSpPr>
          <p:cNvPr id="33" name="Rounded Rectangle 32"/>
          <p:cNvSpPr/>
          <p:nvPr/>
        </p:nvSpPr>
        <p:spPr>
          <a:xfrm>
            <a:off x="8508492"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v</a:t>
            </a:r>
          </a:p>
        </p:txBody>
      </p:sp>
      <p:sp>
        <p:nvSpPr>
          <p:cNvPr id="34" name="Rounded Rectangle 33"/>
          <p:cNvSpPr/>
          <p:nvPr/>
        </p:nvSpPr>
        <p:spPr>
          <a:xfrm>
            <a:off x="9130284"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v′</a:t>
            </a:r>
          </a:p>
        </p:txBody>
      </p:sp>
      <p:sp>
        <p:nvSpPr>
          <p:cNvPr id="35" name="Rounded Rectangle 34"/>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6" name="TextBox 35"/>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7" name="Rounded Rectangle 36"/>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9" name="Rounded Rectangle 38"/>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0" name="TextBox 39"/>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1" name="Rounded Rectangle 40"/>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3" name="Rounded Rectangle 42"/>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4" name="TextBox 43"/>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5" name="Rounded Rectangle 44"/>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1</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cxnSp>
        <p:nvCxnSpPr>
          <p:cNvPr id="11" name="Connector 10"/>
          <p:cNvCxnSpPr/>
          <p:nvPr/>
        </p:nvCxnSpPr>
        <p:spPr>
          <a:xfrm flipH="1">
            <a:off x="2784348" y="3803903"/>
            <a:ext cx="539496" cy="1106425"/>
          </a:xfrm>
          <a:prstGeom prst="line">
            <a:avLst/>
          </a:prstGeom>
          <a:ln w="15875">
            <a:solidFill>
              <a:srgbClr val="C9CDD3"/>
            </a:solidFill>
          </a:ln>
          <a:effectLst/>
        </p:spPr>
      </p:cxnSp>
      <p:cxnSp>
        <p:nvCxnSpPr>
          <p:cNvPr id="12" name="Connector 11"/>
          <p:cNvCxnSpPr/>
          <p:nvPr/>
        </p:nvCxnSpPr>
        <p:spPr>
          <a:xfrm>
            <a:off x="3323844" y="3803903"/>
            <a:ext cx="960120" cy="1106425"/>
          </a:xfrm>
          <a:prstGeom prst="line">
            <a:avLst/>
          </a:prstGeom>
          <a:ln w="15875">
            <a:solidFill>
              <a:srgbClr val="C9CDD3"/>
            </a:solidFill>
          </a:ln>
          <a:effectLst/>
        </p:spPr>
      </p:cxnSp>
      <p:cxnSp>
        <p:nvCxnSpPr>
          <p:cNvPr id="13" name="Connector 12"/>
          <p:cNvCxnSpPr/>
          <p:nvPr/>
        </p:nvCxnSpPr>
        <p:spPr>
          <a:xfrm flipH="1">
            <a:off x="3406139" y="3803903"/>
            <a:ext cx="1014985" cy="1106425"/>
          </a:xfrm>
          <a:prstGeom prst="line">
            <a:avLst/>
          </a:prstGeom>
          <a:ln w="15875">
            <a:solidFill>
              <a:srgbClr val="C9CDD3"/>
            </a:solidFill>
          </a:ln>
          <a:effectLst/>
        </p:spPr>
      </p:cxnSp>
      <p:cxnSp>
        <p:nvCxnSpPr>
          <p:cNvPr id="14" name="Connector 13"/>
          <p:cNvCxnSpPr/>
          <p:nvPr/>
        </p:nvCxnSpPr>
        <p:spPr>
          <a:xfrm>
            <a:off x="4421124" y="3803903"/>
            <a:ext cx="484632" cy="1106425"/>
          </a:xfrm>
          <a:prstGeom prst="line">
            <a:avLst/>
          </a:prstGeom>
          <a:ln w="15875">
            <a:solidFill>
              <a:srgbClr val="C9CDD3"/>
            </a:solidFill>
          </a:ln>
          <a:effectLst/>
        </p:spPr>
      </p:cxnSp>
      <p:cxnSp>
        <p:nvCxnSpPr>
          <p:cNvPr id="15" name="Connector 14"/>
          <p:cNvCxnSpPr/>
          <p:nvPr/>
        </p:nvCxnSpPr>
        <p:spPr>
          <a:xfrm flipH="1">
            <a:off x="7283196" y="3803903"/>
            <a:ext cx="475487" cy="1106425"/>
          </a:xfrm>
          <a:prstGeom prst="line">
            <a:avLst/>
          </a:prstGeom>
          <a:ln w="15875">
            <a:solidFill>
              <a:srgbClr val="C9CDD3"/>
            </a:solidFill>
          </a:ln>
          <a:effectLst/>
        </p:spPr>
      </p:cxnSp>
      <p:cxnSp>
        <p:nvCxnSpPr>
          <p:cNvPr id="16" name="Connector 15"/>
          <p:cNvCxnSpPr/>
          <p:nvPr/>
        </p:nvCxnSpPr>
        <p:spPr>
          <a:xfrm>
            <a:off x="7758683" y="3803903"/>
            <a:ext cx="1024129" cy="1106425"/>
          </a:xfrm>
          <a:prstGeom prst="line">
            <a:avLst/>
          </a:prstGeom>
          <a:ln w="15875">
            <a:solidFill>
              <a:srgbClr val="C9CDD3"/>
            </a:solidFill>
          </a:ln>
          <a:effectLst/>
        </p:spPr>
      </p:cxnSp>
      <p:cxnSp>
        <p:nvCxnSpPr>
          <p:cNvPr id="17" name="Connector 16"/>
          <p:cNvCxnSpPr/>
          <p:nvPr/>
        </p:nvCxnSpPr>
        <p:spPr>
          <a:xfrm flipH="1">
            <a:off x="7904988" y="3803903"/>
            <a:ext cx="950975" cy="1106425"/>
          </a:xfrm>
          <a:prstGeom prst="line">
            <a:avLst/>
          </a:prstGeom>
          <a:ln w="15875">
            <a:solidFill>
              <a:srgbClr val="C9CDD3"/>
            </a:solidFill>
          </a:ln>
          <a:effectLst/>
        </p:spPr>
      </p:cxnSp>
      <p:cxnSp>
        <p:nvCxnSpPr>
          <p:cNvPr id="18" name="Connector 17"/>
          <p:cNvCxnSpPr/>
          <p:nvPr/>
        </p:nvCxnSpPr>
        <p:spPr>
          <a:xfrm>
            <a:off x="8855963" y="3803903"/>
            <a:ext cx="548641" cy="1106425"/>
          </a:xfrm>
          <a:prstGeom prst="line">
            <a:avLst/>
          </a:prstGeom>
          <a:ln w="15875">
            <a:solidFill>
              <a:srgbClr val="C9CDD3"/>
            </a:solidFill>
          </a:ln>
          <a:effectLst/>
        </p:spPr>
      </p:cxnSp>
      <p:cxnSp>
        <p:nvCxnSpPr>
          <p:cNvPr id="19" name="Connector 18"/>
          <p:cNvCxnSpPr/>
          <p:nvPr/>
        </p:nvCxnSpPr>
        <p:spPr>
          <a:xfrm>
            <a:off x="5564124" y="2203704"/>
            <a:ext cx="219455" cy="2706624"/>
          </a:xfrm>
          <a:prstGeom prst="line">
            <a:avLst/>
          </a:prstGeom>
          <a:ln w="15875">
            <a:solidFill>
              <a:srgbClr val="C9CDD3"/>
            </a:solidFill>
          </a:ln>
          <a:effectLst/>
        </p:spPr>
      </p:cxnSp>
      <p:cxnSp>
        <p:nvCxnSpPr>
          <p:cNvPr id="20" name="Connector 19"/>
          <p:cNvCxnSpPr/>
          <p:nvPr/>
        </p:nvCxnSpPr>
        <p:spPr>
          <a:xfrm flipH="1">
            <a:off x="3323844" y="2203704"/>
            <a:ext cx="2240280" cy="749807"/>
          </a:xfrm>
          <a:prstGeom prst="line">
            <a:avLst/>
          </a:prstGeom>
          <a:ln w="15875">
            <a:solidFill>
              <a:srgbClr val="8A8F98"/>
            </a:solidFill>
          </a:ln>
          <a:effectLst/>
        </p:spPr>
      </p:cxnSp>
      <p:cxnSp>
        <p:nvCxnSpPr>
          <p:cNvPr id="21" name="Connector 20"/>
          <p:cNvCxnSpPr/>
          <p:nvPr/>
        </p:nvCxnSpPr>
        <p:spPr>
          <a:xfrm>
            <a:off x="5564124" y="2203704"/>
            <a:ext cx="2194559" cy="749807"/>
          </a:xfrm>
          <a:prstGeom prst="line">
            <a:avLst/>
          </a:prstGeom>
          <a:ln w="15875">
            <a:solidFill>
              <a:srgbClr val="8A8F98"/>
            </a:solidFill>
          </a:ln>
          <a:effectLst/>
        </p:spPr>
      </p:cxnSp>
      <p:cxnSp>
        <p:nvCxnSpPr>
          <p:cNvPr id="22" name="Connector 21"/>
          <p:cNvCxnSpPr/>
          <p:nvPr/>
        </p:nvCxnSpPr>
        <p:spPr>
          <a:xfrm flipH="1">
            <a:off x="6405372" y="2203704"/>
            <a:ext cx="484632" cy="2706624"/>
          </a:xfrm>
          <a:prstGeom prst="line">
            <a:avLst/>
          </a:prstGeom>
          <a:ln w="15875">
            <a:solidFill>
              <a:srgbClr val="C9CDD3"/>
            </a:solidFill>
          </a:ln>
          <a:effectLst/>
        </p:spPr>
      </p:cxnSp>
      <p:cxnSp>
        <p:nvCxnSpPr>
          <p:cNvPr id="23" name="Connector 22"/>
          <p:cNvCxnSpPr/>
          <p:nvPr/>
        </p:nvCxnSpPr>
        <p:spPr>
          <a:xfrm flipH="1">
            <a:off x="4421124" y="2203704"/>
            <a:ext cx="2468880" cy="749807"/>
          </a:xfrm>
          <a:prstGeom prst="line">
            <a:avLst/>
          </a:prstGeom>
          <a:ln w="15875">
            <a:solidFill>
              <a:srgbClr val="8A8F98"/>
            </a:solidFill>
          </a:ln>
          <a:effectLst/>
        </p:spPr>
      </p:cxnSp>
      <p:cxnSp>
        <p:nvCxnSpPr>
          <p:cNvPr id="24" name="Connector 23"/>
          <p:cNvCxnSpPr/>
          <p:nvPr/>
        </p:nvCxnSpPr>
        <p:spPr>
          <a:xfrm>
            <a:off x="6890004" y="2203704"/>
            <a:ext cx="1965959" cy="749807"/>
          </a:xfrm>
          <a:prstGeom prst="line">
            <a:avLst/>
          </a:prstGeom>
          <a:ln w="15875">
            <a:solidFill>
              <a:srgbClr val="8A8F98"/>
            </a:solidFill>
          </a:ln>
          <a:effectLst/>
        </p:spPr>
      </p:cxnSp>
      <p:sp>
        <p:nvSpPr>
          <p:cNvPr id="25" name="Rounded Rectangle 24"/>
          <p:cNvSpPr/>
          <p:nvPr/>
        </p:nvSpPr>
        <p:spPr>
          <a:xfrm>
            <a:off x="2510028"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r</a:t>
            </a:r>
          </a:p>
        </p:txBody>
      </p:sp>
      <p:sp>
        <p:nvSpPr>
          <p:cNvPr id="26" name="Rounded Rectangle 25"/>
          <p:cNvSpPr/>
          <p:nvPr/>
        </p:nvSpPr>
        <p:spPr>
          <a:xfrm>
            <a:off x="3131820"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r′</a:t>
            </a:r>
          </a:p>
        </p:txBody>
      </p:sp>
      <p:sp>
        <p:nvSpPr>
          <p:cNvPr id="27" name="Rounded Rectangle 26"/>
          <p:cNvSpPr/>
          <p:nvPr/>
        </p:nvSpPr>
        <p:spPr>
          <a:xfrm>
            <a:off x="4009644"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s</a:t>
            </a:r>
          </a:p>
        </p:txBody>
      </p:sp>
      <p:sp>
        <p:nvSpPr>
          <p:cNvPr id="28" name="Rounded Rectangle 27"/>
          <p:cNvSpPr/>
          <p:nvPr/>
        </p:nvSpPr>
        <p:spPr>
          <a:xfrm>
            <a:off x="4631436"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s′</a:t>
            </a:r>
          </a:p>
        </p:txBody>
      </p:sp>
      <p:sp>
        <p:nvSpPr>
          <p:cNvPr id="29" name="Rounded Rectangle 28"/>
          <p:cNvSpPr/>
          <p:nvPr/>
        </p:nvSpPr>
        <p:spPr>
          <a:xfrm>
            <a:off x="5509259"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c</a:t>
            </a:r>
          </a:p>
        </p:txBody>
      </p:sp>
      <p:sp>
        <p:nvSpPr>
          <p:cNvPr id="30" name="Rounded Rectangle 29"/>
          <p:cNvSpPr/>
          <p:nvPr/>
        </p:nvSpPr>
        <p:spPr>
          <a:xfrm>
            <a:off x="6131052"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c′</a:t>
            </a:r>
          </a:p>
        </p:txBody>
      </p:sp>
      <p:sp>
        <p:nvSpPr>
          <p:cNvPr id="31" name="Rounded Rectangle 30"/>
          <p:cNvSpPr/>
          <p:nvPr/>
        </p:nvSpPr>
        <p:spPr>
          <a:xfrm>
            <a:off x="7008876"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u</a:t>
            </a:r>
          </a:p>
        </p:txBody>
      </p:sp>
      <p:sp>
        <p:nvSpPr>
          <p:cNvPr id="32" name="Rounded Rectangle 31"/>
          <p:cNvSpPr/>
          <p:nvPr/>
        </p:nvSpPr>
        <p:spPr>
          <a:xfrm>
            <a:off x="7630667"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u′</a:t>
            </a:r>
          </a:p>
        </p:txBody>
      </p:sp>
      <p:sp>
        <p:nvSpPr>
          <p:cNvPr id="33" name="Rounded Rectangle 32"/>
          <p:cNvSpPr/>
          <p:nvPr/>
        </p:nvSpPr>
        <p:spPr>
          <a:xfrm>
            <a:off x="8508492"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v</a:t>
            </a:r>
          </a:p>
        </p:txBody>
      </p:sp>
      <p:sp>
        <p:nvSpPr>
          <p:cNvPr id="34" name="Rounded Rectangle 33"/>
          <p:cNvSpPr/>
          <p:nvPr/>
        </p:nvSpPr>
        <p:spPr>
          <a:xfrm>
            <a:off x="9130284"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v′</a:t>
            </a:r>
          </a:p>
        </p:txBody>
      </p:sp>
      <p:sp>
        <p:nvSpPr>
          <p:cNvPr id="35" name="Rounded Rectangle 34"/>
          <p:cNvSpPr/>
          <p:nvPr/>
        </p:nvSpPr>
        <p:spPr>
          <a:xfrm>
            <a:off x="2921508" y="3236975"/>
            <a:ext cx="804672" cy="566928"/>
          </a:xfrm>
          <a:prstGeom prst="roundRect">
            <a:avLst>
              <a:gd name="adj" fmla="val 20000"/>
            </a:avLst>
          </a:prstGeom>
          <a:solidFill>
            <a:srgbClr val="DCEAF8"/>
          </a:solidFill>
          <a:ln w="34925">
            <a:solidFill>
              <a:srgbClr val="2E6FB0"/>
            </a:solidFill>
          </a:ln>
          <a:effectLst/>
        </p:spPr>
        <p:txBody>
          <a:bodyPr rtlCol="0" anchor="ctr" lIns="54864" rIns="54864" tIns="0" bIns="0" wrap="square"/>
          <a:lstStyle/>
          <a:p>
            <a:pPr algn="ctr"/>
            <a:r>
              <a:rPr sz="1600" b="1" i="0">
                <a:solidFill>
                  <a:srgbClr val="2B2F36"/>
                </a:solidFill>
                <a:latin typeface="Calibri"/>
              </a:rPr>
              <a:t>AND</a:t>
            </a:r>
          </a:p>
        </p:txBody>
      </p:sp>
      <p:sp>
        <p:nvSpPr>
          <p:cNvPr id="36" name="TextBox 35"/>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7" name="Rounded Rectangle 36"/>
          <p:cNvSpPr/>
          <p:nvPr/>
        </p:nvSpPr>
        <p:spPr>
          <a:xfrm>
            <a:off x="4018787" y="3236975"/>
            <a:ext cx="804672" cy="566928"/>
          </a:xfrm>
          <a:prstGeom prst="roundRect">
            <a:avLst>
              <a:gd name="adj" fmla="val 20000"/>
            </a:avLst>
          </a:prstGeom>
          <a:solidFill>
            <a:srgbClr val="DCEAF8"/>
          </a:solidFill>
          <a:ln w="34925">
            <a:solidFill>
              <a:srgbClr val="2E6FB0"/>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9" name="Rounded Rectangle 38"/>
          <p:cNvSpPr/>
          <p:nvPr/>
        </p:nvSpPr>
        <p:spPr>
          <a:xfrm>
            <a:off x="7356348" y="3236975"/>
            <a:ext cx="804672" cy="566928"/>
          </a:xfrm>
          <a:prstGeom prst="roundRect">
            <a:avLst>
              <a:gd name="adj" fmla="val 20000"/>
            </a:avLst>
          </a:prstGeom>
          <a:solidFill>
            <a:srgbClr val="DDF1E2"/>
          </a:solidFill>
          <a:ln w="34925">
            <a:solidFill>
              <a:srgbClr val="3A9A5B"/>
            </a:solidFill>
          </a:ln>
          <a:effectLst/>
        </p:spPr>
        <p:txBody>
          <a:bodyPr rtlCol="0" anchor="ctr" lIns="54864" rIns="54864" tIns="0" bIns="0" wrap="square"/>
          <a:lstStyle/>
          <a:p>
            <a:pPr algn="ctr"/>
            <a:r>
              <a:rPr sz="1600" b="1" i="0">
                <a:solidFill>
                  <a:srgbClr val="2B2F36"/>
                </a:solidFill>
                <a:latin typeface="Calibri"/>
              </a:rPr>
              <a:t>XOR</a:t>
            </a:r>
          </a:p>
        </p:txBody>
      </p:sp>
      <p:sp>
        <p:nvSpPr>
          <p:cNvPr id="40" name="TextBox 39"/>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1" name="Rounded Rectangle 40"/>
          <p:cNvSpPr/>
          <p:nvPr/>
        </p:nvSpPr>
        <p:spPr>
          <a:xfrm>
            <a:off x="8453628" y="3236975"/>
            <a:ext cx="804672" cy="566928"/>
          </a:xfrm>
          <a:prstGeom prst="roundRect">
            <a:avLst>
              <a:gd name="adj" fmla="val 20000"/>
            </a:avLst>
          </a:prstGeom>
          <a:solidFill>
            <a:srgbClr val="DDF1E2"/>
          </a:solidFill>
          <a:ln w="34925">
            <a:solidFill>
              <a:srgbClr val="3A9A5B"/>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3" name="Rounded Rectangle 42"/>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4" name="TextBox 43"/>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5" name="Rounded Rectangle 44"/>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1</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cxnSp>
        <p:nvCxnSpPr>
          <p:cNvPr id="13" name="Connector 12"/>
          <p:cNvCxnSpPr/>
          <p:nvPr/>
        </p:nvCxnSpPr>
        <p:spPr>
          <a:xfrm flipH="1">
            <a:off x="2784348" y="3803903"/>
            <a:ext cx="539496" cy="1106425"/>
          </a:xfrm>
          <a:prstGeom prst="line">
            <a:avLst/>
          </a:prstGeom>
          <a:ln w="15875">
            <a:solidFill>
              <a:srgbClr val="C9CDD3"/>
            </a:solidFill>
          </a:ln>
          <a:effectLst/>
        </p:spPr>
      </p:cxnSp>
      <p:cxnSp>
        <p:nvCxnSpPr>
          <p:cNvPr id="14" name="Connector 13"/>
          <p:cNvCxnSpPr/>
          <p:nvPr/>
        </p:nvCxnSpPr>
        <p:spPr>
          <a:xfrm>
            <a:off x="3323844" y="3803903"/>
            <a:ext cx="960120" cy="1106425"/>
          </a:xfrm>
          <a:prstGeom prst="line">
            <a:avLst/>
          </a:prstGeom>
          <a:ln w="15875">
            <a:solidFill>
              <a:srgbClr val="C9CDD3"/>
            </a:solidFill>
          </a:ln>
          <a:effectLst/>
        </p:spPr>
      </p:cxnSp>
      <p:cxnSp>
        <p:nvCxnSpPr>
          <p:cNvPr id="15" name="Connector 14"/>
          <p:cNvCxnSpPr/>
          <p:nvPr/>
        </p:nvCxnSpPr>
        <p:spPr>
          <a:xfrm flipH="1">
            <a:off x="3406139" y="3803903"/>
            <a:ext cx="1014985" cy="1106425"/>
          </a:xfrm>
          <a:prstGeom prst="line">
            <a:avLst/>
          </a:prstGeom>
          <a:ln w="15875">
            <a:solidFill>
              <a:srgbClr val="C9CDD3"/>
            </a:solidFill>
          </a:ln>
          <a:effectLst/>
        </p:spPr>
      </p:cxnSp>
      <p:cxnSp>
        <p:nvCxnSpPr>
          <p:cNvPr id="16" name="Connector 15"/>
          <p:cNvCxnSpPr/>
          <p:nvPr/>
        </p:nvCxnSpPr>
        <p:spPr>
          <a:xfrm>
            <a:off x="4421124" y="3803903"/>
            <a:ext cx="484632" cy="1106425"/>
          </a:xfrm>
          <a:prstGeom prst="line">
            <a:avLst/>
          </a:prstGeom>
          <a:ln w="15875">
            <a:solidFill>
              <a:srgbClr val="C9CDD3"/>
            </a:solidFill>
          </a:ln>
          <a:effectLst/>
        </p:spPr>
      </p:cxnSp>
      <p:cxnSp>
        <p:nvCxnSpPr>
          <p:cNvPr id="17" name="Connector 16"/>
          <p:cNvCxnSpPr/>
          <p:nvPr/>
        </p:nvCxnSpPr>
        <p:spPr>
          <a:xfrm flipH="1">
            <a:off x="7283196" y="3803903"/>
            <a:ext cx="475487" cy="1106425"/>
          </a:xfrm>
          <a:prstGeom prst="line">
            <a:avLst/>
          </a:prstGeom>
          <a:ln w="15875">
            <a:solidFill>
              <a:srgbClr val="C9CDD3"/>
            </a:solidFill>
          </a:ln>
          <a:effectLst/>
        </p:spPr>
      </p:cxnSp>
      <p:cxnSp>
        <p:nvCxnSpPr>
          <p:cNvPr id="18" name="Connector 17"/>
          <p:cNvCxnSpPr/>
          <p:nvPr/>
        </p:nvCxnSpPr>
        <p:spPr>
          <a:xfrm>
            <a:off x="7758683" y="3803903"/>
            <a:ext cx="1024129" cy="1106425"/>
          </a:xfrm>
          <a:prstGeom prst="line">
            <a:avLst/>
          </a:prstGeom>
          <a:ln w="15875">
            <a:solidFill>
              <a:srgbClr val="C9CDD3"/>
            </a:solidFill>
          </a:ln>
          <a:effectLst/>
        </p:spPr>
      </p:cxnSp>
      <p:cxnSp>
        <p:nvCxnSpPr>
          <p:cNvPr id="19" name="Connector 18"/>
          <p:cNvCxnSpPr/>
          <p:nvPr/>
        </p:nvCxnSpPr>
        <p:spPr>
          <a:xfrm flipH="1">
            <a:off x="7904988" y="3803903"/>
            <a:ext cx="950975" cy="1106425"/>
          </a:xfrm>
          <a:prstGeom prst="line">
            <a:avLst/>
          </a:prstGeom>
          <a:ln w="15875">
            <a:solidFill>
              <a:srgbClr val="C9CDD3"/>
            </a:solidFill>
          </a:ln>
          <a:effectLst/>
        </p:spPr>
      </p:cxnSp>
      <p:cxnSp>
        <p:nvCxnSpPr>
          <p:cNvPr id="20" name="Connector 19"/>
          <p:cNvCxnSpPr/>
          <p:nvPr/>
        </p:nvCxnSpPr>
        <p:spPr>
          <a:xfrm>
            <a:off x="8855963" y="3803903"/>
            <a:ext cx="548641" cy="1106425"/>
          </a:xfrm>
          <a:prstGeom prst="line">
            <a:avLst/>
          </a:prstGeom>
          <a:ln w="15875">
            <a:solidFill>
              <a:srgbClr val="C9CDD3"/>
            </a:solidFill>
          </a:ln>
          <a:effectLst/>
        </p:spPr>
      </p:cxnSp>
      <p:cxnSp>
        <p:nvCxnSpPr>
          <p:cNvPr id="21" name="Connector 20"/>
          <p:cNvCxnSpPr/>
          <p:nvPr/>
        </p:nvCxnSpPr>
        <p:spPr>
          <a:xfrm>
            <a:off x="5564124" y="2203704"/>
            <a:ext cx="219455" cy="2706624"/>
          </a:xfrm>
          <a:prstGeom prst="line">
            <a:avLst/>
          </a:prstGeom>
          <a:ln w="15875">
            <a:solidFill>
              <a:srgbClr val="C9CDD3"/>
            </a:solidFill>
          </a:ln>
          <a:effectLst/>
        </p:spPr>
      </p:cxnSp>
      <p:cxnSp>
        <p:nvCxnSpPr>
          <p:cNvPr id="22" name="Connector 21"/>
          <p:cNvCxnSpPr/>
          <p:nvPr/>
        </p:nvCxnSpPr>
        <p:spPr>
          <a:xfrm flipH="1">
            <a:off x="3323844" y="2203704"/>
            <a:ext cx="2240280" cy="749807"/>
          </a:xfrm>
          <a:prstGeom prst="line">
            <a:avLst/>
          </a:prstGeom>
          <a:ln w="15875">
            <a:solidFill>
              <a:srgbClr val="8A8F98"/>
            </a:solidFill>
          </a:ln>
          <a:effectLst/>
        </p:spPr>
      </p:cxnSp>
      <p:cxnSp>
        <p:nvCxnSpPr>
          <p:cNvPr id="23" name="Connector 22"/>
          <p:cNvCxnSpPr/>
          <p:nvPr/>
        </p:nvCxnSpPr>
        <p:spPr>
          <a:xfrm>
            <a:off x="5564124" y="2203704"/>
            <a:ext cx="2194559" cy="749807"/>
          </a:xfrm>
          <a:prstGeom prst="line">
            <a:avLst/>
          </a:prstGeom>
          <a:ln w="15875">
            <a:solidFill>
              <a:srgbClr val="8A8F98"/>
            </a:solidFill>
          </a:ln>
          <a:effectLst/>
        </p:spPr>
      </p:cxnSp>
      <p:cxnSp>
        <p:nvCxnSpPr>
          <p:cNvPr id="24" name="Connector 23"/>
          <p:cNvCxnSpPr/>
          <p:nvPr/>
        </p:nvCxnSpPr>
        <p:spPr>
          <a:xfrm flipH="1">
            <a:off x="6405372" y="2203704"/>
            <a:ext cx="484632" cy="2706624"/>
          </a:xfrm>
          <a:prstGeom prst="line">
            <a:avLst/>
          </a:prstGeom>
          <a:ln w="15875">
            <a:solidFill>
              <a:srgbClr val="C9CDD3"/>
            </a:solidFill>
          </a:ln>
          <a:effectLst/>
        </p:spPr>
      </p:cxnSp>
      <p:cxnSp>
        <p:nvCxnSpPr>
          <p:cNvPr id="25" name="Connector 24"/>
          <p:cNvCxnSpPr/>
          <p:nvPr/>
        </p:nvCxnSpPr>
        <p:spPr>
          <a:xfrm flipH="1">
            <a:off x="4421124" y="2203704"/>
            <a:ext cx="2468880" cy="749807"/>
          </a:xfrm>
          <a:prstGeom prst="line">
            <a:avLst/>
          </a:prstGeom>
          <a:ln w="15875">
            <a:solidFill>
              <a:srgbClr val="8A8F98"/>
            </a:solidFill>
          </a:ln>
          <a:effectLst/>
        </p:spPr>
      </p:cxnSp>
      <p:cxnSp>
        <p:nvCxnSpPr>
          <p:cNvPr id="26" name="Connector 25"/>
          <p:cNvCxnSpPr/>
          <p:nvPr/>
        </p:nvCxnSpPr>
        <p:spPr>
          <a:xfrm>
            <a:off x="6890004" y="2203704"/>
            <a:ext cx="1965959" cy="749807"/>
          </a:xfrm>
          <a:prstGeom prst="line">
            <a:avLst/>
          </a:prstGeom>
          <a:ln w="15875">
            <a:solidFill>
              <a:srgbClr val="8A8F98"/>
            </a:solidFill>
          </a:ln>
          <a:effectLst/>
        </p:spPr>
      </p:cxnSp>
      <p:sp>
        <p:nvSpPr>
          <p:cNvPr id="27" name="Rounded Rectangle 26"/>
          <p:cNvSpPr/>
          <p:nvPr/>
        </p:nvSpPr>
        <p:spPr>
          <a:xfrm>
            <a:off x="2510028"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r</a:t>
            </a:r>
          </a:p>
        </p:txBody>
      </p:sp>
      <p:sp>
        <p:nvSpPr>
          <p:cNvPr id="28" name="Rounded Rectangle 27"/>
          <p:cNvSpPr/>
          <p:nvPr/>
        </p:nvSpPr>
        <p:spPr>
          <a:xfrm>
            <a:off x="3131820"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r′</a:t>
            </a:r>
          </a:p>
        </p:txBody>
      </p:sp>
      <p:sp>
        <p:nvSpPr>
          <p:cNvPr id="29" name="Rounded Rectangle 28"/>
          <p:cNvSpPr/>
          <p:nvPr/>
        </p:nvSpPr>
        <p:spPr>
          <a:xfrm>
            <a:off x="4009644"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s</a:t>
            </a:r>
          </a:p>
        </p:txBody>
      </p:sp>
      <p:sp>
        <p:nvSpPr>
          <p:cNvPr id="30" name="Rounded Rectangle 29"/>
          <p:cNvSpPr/>
          <p:nvPr/>
        </p:nvSpPr>
        <p:spPr>
          <a:xfrm>
            <a:off x="4631436"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s′</a:t>
            </a:r>
          </a:p>
        </p:txBody>
      </p:sp>
      <p:sp>
        <p:nvSpPr>
          <p:cNvPr id="31" name="Rounded Rectangle 30"/>
          <p:cNvSpPr/>
          <p:nvPr/>
        </p:nvSpPr>
        <p:spPr>
          <a:xfrm>
            <a:off x="5509259"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c</a:t>
            </a:r>
          </a:p>
        </p:txBody>
      </p:sp>
      <p:sp>
        <p:nvSpPr>
          <p:cNvPr id="32" name="Rounded Rectangle 31"/>
          <p:cNvSpPr/>
          <p:nvPr/>
        </p:nvSpPr>
        <p:spPr>
          <a:xfrm>
            <a:off x="6131052"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c′</a:t>
            </a:r>
          </a:p>
        </p:txBody>
      </p:sp>
      <p:sp>
        <p:nvSpPr>
          <p:cNvPr id="33" name="Rounded Rectangle 32"/>
          <p:cNvSpPr/>
          <p:nvPr/>
        </p:nvSpPr>
        <p:spPr>
          <a:xfrm>
            <a:off x="7008876"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u</a:t>
            </a:r>
          </a:p>
        </p:txBody>
      </p:sp>
      <p:sp>
        <p:nvSpPr>
          <p:cNvPr id="34" name="Rounded Rectangle 33"/>
          <p:cNvSpPr/>
          <p:nvPr/>
        </p:nvSpPr>
        <p:spPr>
          <a:xfrm>
            <a:off x="7630667"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u′</a:t>
            </a:r>
          </a:p>
        </p:txBody>
      </p:sp>
      <p:sp>
        <p:nvSpPr>
          <p:cNvPr id="35" name="Rounded Rectangle 34"/>
          <p:cNvSpPr/>
          <p:nvPr/>
        </p:nvSpPr>
        <p:spPr>
          <a:xfrm>
            <a:off x="8508492"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v</a:t>
            </a:r>
          </a:p>
        </p:txBody>
      </p:sp>
      <p:sp>
        <p:nvSpPr>
          <p:cNvPr id="36" name="Rounded Rectangle 35"/>
          <p:cNvSpPr/>
          <p:nvPr/>
        </p:nvSpPr>
        <p:spPr>
          <a:xfrm>
            <a:off x="9130284"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v′</a:t>
            </a:r>
          </a:p>
        </p:txBody>
      </p:sp>
      <p:sp>
        <p:nvSpPr>
          <p:cNvPr id="37" name="Rounded Rectangle 36"/>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9" name="Rounded Rectangle 38"/>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1" name="Rounded Rectangle 40"/>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3" name="Rounded Rectangle 42"/>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5" name="Rounded Rectangle 44"/>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7" name="Rounded Rectangle 46"/>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9" name="TextBox 48"/>
          <p:cNvSpPr txBox="1"/>
          <p:nvPr/>
        </p:nvSpPr>
        <p:spPr>
          <a:xfrm>
            <a:off x="3506723" y="32461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
        <p:nvSpPr>
          <p:cNvPr id="50" name="TextBox 49"/>
          <p:cNvSpPr txBox="1"/>
          <p:nvPr/>
        </p:nvSpPr>
        <p:spPr>
          <a:xfrm>
            <a:off x="7941563" y="32461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2</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cxnSp>
        <p:nvCxnSpPr>
          <p:cNvPr id="13" name="Connector 12"/>
          <p:cNvCxnSpPr/>
          <p:nvPr/>
        </p:nvCxnSpPr>
        <p:spPr>
          <a:xfrm flipH="1">
            <a:off x="2784348" y="3803903"/>
            <a:ext cx="539496" cy="1106425"/>
          </a:xfrm>
          <a:prstGeom prst="line">
            <a:avLst/>
          </a:prstGeom>
          <a:ln w="15875">
            <a:solidFill>
              <a:srgbClr val="C9CDD3"/>
            </a:solidFill>
          </a:ln>
          <a:effectLst/>
        </p:spPr>
      </p:cxnSp>
      <p:cxnSp>
        <p:nvCxnSpPr>
          <p:cNvPr id="14" name="Connector 13"/>
          <p:cNvCxnSpPr/>
          <p:nvPr/>
        </p:nvCxnSpPr>
        <p:spPr>
          <a:xfrm>
            <a:off x="3323844" y="3803903"/>
            <a:ext cx="960120" cy="1106425"/>
          </a:xfrm>
          <a:prstGeom prst="line">
            <a:avLst/>
          </a:prstGeom>
          <a:ln w="15875">
            <a:solidFill>
              <a:srgbClr val="C9CDD3"/>
            </a:solidFill>
          </a:ln>
          <a:effectLst/>
        </p:spPr>
      </p:cxnSp>
      <p:cxnSp>
        <p:nvCxnSpPr>
          <p:cNvPr id="15" name="Connector 14"/>
          <p:cNvCxnSpPr/>
          <p:nvPr/>
        </p:nvCxnSpPr>
        <p:spPr>
          <a:xfrm flipH="1">
            <a:off x="3406139" y="3803903"/>
            <a:ext cx="1014985" cy="1106425"/>
          </a:xfrm>
          <a:prstGeom prst="line">
            <a:avLst/>
          </a:prstGeom>
          <a:ln w="15875">
            <a:solidFill>
              <a:srgbClr val="C9CDD3"/>
            </a:solidFill>
          </a:ln>
          <a:effectLst/>
        </p:spPr>
      </p:cxnSp>
      <p:cxnSp>
        <p:nvCxnSpPr>
          <p:cNvPr id="16" name="Connector 15"/>
          <p:cNvCxnSpPr/>
          <p:nvPr/>
        </p:nvCxnSpPr>
        <p:spPr>
          <a:xfrm>
            <a:off x="4421124" y="3803903"/>
            <a:ext cx="484632" cy="1106425"/>
          </a:xfrm>
          <a:prstGeom prst="line">
            <a:avLst/>
          </a:prstGeom>
          <a:ln w="15875">
            <a:solidFill>
              <a:srgbClr val="C9CDD3"/>
            </a:solidFill>
          </a:ln>
          <a:effectLst/>
        </p:spPr>
      </p:cxnSp>
      <p:cxnSp>
        <p:nvCxnSpPr>
          <p:cNvPr id="17" name="Connector 16"/>
          <p:cNvCxnSpPr/>
          <p:nvPr/>
        </p:nvCxnSpPr>
        <p:spPr>
          <a:xfrm flipH="1">
            <a:off x="7283196" y="3803903"/>
            <a:ext cx="475487" cy="1106425"/>
          </a:xfrm>
          <a:prstGeom prst="line">
            <a:avLst/>
          </a:prstGeom>
          <a:ln w="15875">
            <a:solidFill>
              <a:srgbClr val="C9CDD3"/>
            </a:solidFill>
          </a:ln>
          <a:effectLst/>
        </p:spPr>
      </p:cxnSp>
      <p:cxnSp>
        <p:nvCxnSpPr>
          <p:cNvPr id="18" name="Connector 17"/>
          <p:cNvCxnSpPr/>
          <p:nvPr/>
        </p:nvCxnSpPr>
        <p:spPr>
          <a:xfrm>
            <a:off x="7758683" y="3803903"/>
            <a:ext cx="1024129" cy="1106425"/>
          </a:xfrm>
          <a:prstGeom prst="line">
            <a:avLst/>
          </a:prstGeom>
          <a:ln w="15875">
            <a:solidFill>
              <a:srgbClr val="C9CDD3"/>
            </a:solidFill>
          </a:ln>
          <a:effectLst/>
        </p:spPr>
      </p:cxnSp>
      <p:cxnSp>
        <p:nvCxnSpPr>
          <p:cNvPr id="19" name="Connector 18"/>
          <p:cNvCxnSpPr/>
          <p:nvPr/>
        </p:nvCxnSpPr>
        <p:spPr>
          <a:xfrm flipH="1">
            <a:off x="7904988" y="3803903"/>
            <a:ext cx="950975" cy="1106425"/>
          </a:xfrm>
          <a:prstGeom prst="line">
            <a:avLst/>
          </a:prstGeom>
          <a:ln w="15875">
            <a:solidFill>
              <a:srgbClr val="C9CDD3"/>
            </a:solidFill>
          </a:ln>
          <a:effectLst/>
        </p:spPr>
      </p:cxnSp>
      <p:cxnSp>
        <p:nvCxnSpPr>
          <p:cNvPr id="20" name="Connector 19"/>
          <p:cNvCxnSpPr/>
          <p:nvPr/>
        </p:nvCxnSpPr>
        <p:spPr>
          <a:xfrm>
            <a:off x="8855963" y="3803903"/>
            <a:ext cx="548641" cy="1106425"/>
          </a:xfrm>
          <a:prstGeom prst="line">
            <a:avLst/>
          </a:prstGeom>
          <a:ln w="15875">
            <a:solidFill>
              <a:srgbClr val="C9CDD3"/>
            </a:solidFill>
          </a:ln>
          <a:effectLst/>
        </p:spPr>
      </p:cxnSp>
      <p:cxnSp>
        <p:nvCxnSpPr>
          <p:cNvPr id="21" name="Connector 20"/>
          <p:cNvCxnSpPr/>
          <p:nvPr/>
        </p:nvCxnSpPr>
        <p:spPr>
          <a:xfrm>
            <a:off x="5564124" y="2203704"/>
            <a:ext cx="219455" cy="2706624"/>
          </a:xfrm>
          <a:prstGeom prst="line">
            <a:avLst/>
          </a:prstGeom>
          <a:ln w="15875">
            <a:solidFill>
              <a:srgbClr val="C9CDD3"/>
            </a:solidFill>
          </a:ln>
          <a:effectLst/>
        </p:spPr>
      </p:cxnSp>
      <p:cxnSp>
        <p:nvCxnSpPr>
          <p:cNvPr id="22" name="Connector 21"/>
          <p:cNvCxnSpPr/>
          <p:nvPr/>
        </p:nvCxnSpPr>
        <p:spPr>
          <a:xfrm flipH="1">
            <a:off x="3323844" y="2203704"/>
            <a:ext cx="2240280" cy="749807"/>
          </a:xfrm>
          <a:prstGeom prst="line">
            <a:avLst/>
          </a:prstGeom>
          <a:ln w="15875">
            <a:solidFill>
              <a:srgbClr val="C9CDD3"/>
            </a:solidFill>
          </a:ln>
          <a:effectLst/>
        </p:spPr>
      </p:cxnSp>
      <p:cxnSp>
        <p:nvCxnSpPr>
          <p:cNvPr id="23" name="Connector 22"/>
          <p:cNvCxnSpPr/>
          <p:nvPr/>
        </p:nvCxnSpPr>
        <p:spPr>
          <a:xfrm>
            <a:off x="5564124" y="2203704"/>
            <a:ext cx="2194559" cy="749807"/>
          </a:xfrm>
          <a:prstGeom prst="line">
            <a:avLst/>
          </a:prstGeom>
          <a:ln w="15875">
            <a:solidFill>
              <a:srgbClr val="C9CDD3"/>
            </a:solidFill>
          </a:ln>
          <a:effectLst/>
        </p:spPr>
      </p:cxnSp>
      <p:cxnSp>
        <p:nvCxnSpPr>
          <p:cNvPr id="24" name="Connector 23"/>
          <p:cNvCxnSpPr/>
          <p:nvPr/>
        </p:nvCxnSpPr>
        <p:spPr>
          <a:xfrm flipH="1">
            <a:off x="6405372" y="2203704"/>
            <a:ext cx="484632" cy="2706624"/>
          </a:xfrm>
          <a:prstGeom prst="line">
            <a:avLst/>
          </a:prstGeom>
          <a:ln w="15875">
            <a:solidFill>
              <a:srgbClr val="C9CDD3"/>
            </a:solidFill>
          </a:ln>
          <a:effectLst/>
        </p:spPr>
      </p:cxnSp>
      <p:cxnSp>
        <p:nvCxnSpPr>
          <p:cNvPr id="25" name="Connector 24"/>
          <p:cNvCxnSpPr/>
          <p:nvPr/>
        </p:nvCxnSpPr>
        <p:spPr>
          <a:xfrm flipH="1">
            <a:off x="4421124" y="2203704"/>
            <a:ext cx="2468880" cy="749807"/>
          </a:xfrm>
          <a:prstGeom prst="line">
            <a:avLst/>
          </a:prstGeom>
          <a:ln w="15875">
            <a:solidFill>
              <a:srgbClr val="C9CDD3"/>
            </a:solidFill>
          </a:ln>
          <a:effectLst/>
        </p:spPr>
      </p:cxnSp>
      <p:cxnSp>
        <p:nvCxnSpPr>
          <p:cNvPr id="26" name="Connector 25"/>
          <p:cNvCxnSpPr/>
          <p:nvPr/>
        </p:nvCxnSpPr>
        <p:spPr>
          <a:xfrm>
            <a:off x="6890004" y="2203704"/>
            <a:ext cx="1965959" cy="749807"/>
          </a:xfrm>
          <a:prstGeom prst="line">
            <a:avLst/>
          </a:prstGeom>
          <a:ln w="15875">
            <a:solidFill>
              <a:srgbClr val="C9CDD3"/>
            </a:solidFill>
          </a:ln>
          <a:effectLst/>
        </p:spPr>
      </p:cxnSp>
      <p:sp>
        <p:nvSpPr>
          <p:cNvPr id="27" name="Rounded Rectangle 26"/>
          <p:cNvSpPr/>
          <p:nvPr/>
        </p:nvSpPr>
        <p:spPr>
          <a:xfrm>
            <a:off x="2510028"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r</a:t>
            </a:r>
          </a:p>
        </p:txBody>
      </p:sp>
      <p:sp>
        <p:nvSpPr>
          <p:cNvPr id="28" name="Rounded Rectangle 27"/>
          <p:cNvSpPr/>
          <p:nvPr/>
        </p:nvSpPr>
        <p:spPr>
          <a:xfrm>
            <a:off x="3131820"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r′</a:t>
            </a:r>
          </a:p>
        </p:txBody>
      </p:sp>
      <p:sp>
        <p:nvSpPr>
          <p:cNvPr id="29" name="Rounded Rectangle 28"/>
          <p:cNvSpPr/>
          <p:nvPr/>
        </p:nvSpPr>
        <p:spPr>
          <a:xfrm>
            <a:off x="4009644"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s</a:t>
            </a:r>
          </a:p>
        </p:txBody>
      </p:sp>
      <p:sp>
        <p:nvSpPr>
          <p:cNvPr id="30" name="Rounded Rectangle 29"/>
          <p:cNvSpPr/>
          <p:nvPr/>
        </p:nvSpPr>
        <p:spPr>
          <a:xfrm>
            <a:off x="4631436"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s′</a:t>
            </a:r>
          </a:p>
        </p:txBody>
      </p:sp>
      <p:sp>
        <p:nvSpPr>
          <p:cNvPr id="31" name="Rounded Rectangle 30"/>
          <p:cNvSpPr/>
          <p:nvPr/>
        </p:nvSpPr>
        <p:spPr>
          <a:xfrm>
            <a:off x="5509259"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c</a:t>
            </a:r>
          </a:p>
        </p:txBody>
      </p:sp>
      <p:sp>
        <p:nvSpPr>
          <p:cNvPr id="32" name="Rounded Rectangle 31"/>
          <p:cNvSpPr/>
          <p:nvPr/>
        </p:nvSpPr>
        <p:spPr>
          <a:xfrm>
            <a:off x="6131052"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c′</a:t>
            </a:r>
          </a:p>
        </p:txBody>
      </p:sp>
      <p:sp>
        <p:nvSpPr>
          <p:cNvPr id="33" name="Rounded Rectangle 32"/>
          <p:cNvSpPr/>
          <p:nvPr/>
        </p:nvSpPr>
        <p:spPr>
          <a:xfrm>
            <a:off x="7008876"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u</a:t>
            </a:r>
          </a:p>
        </p:txBody>
      </p:sp>
      <p:sp>
        <p:nvSpPr>
          <p:cNvPr id="34" name="Rounded Rectangle 33"/>
          <p:cNvSpPr/>
          <p:nvPr/>
        </p:nvSpPr>
        <p:spPr>
          <a:xfrm>
            <a:off x="7630667"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u′</a:t>
            </a:r>
          </a:p>
        </p:txBody>
      </p:sp>
      <p:sp>
        <p:nvSpPr>
          <p:cNvPr id="35" name="Rounded Rectangle 34"/>
          <p:cNvSpPr/>
          <p:nvPr/>
        </p:nvSpPr>
        <p:spPr>
          <a:xfrm>
            <a:off x="8508492"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v</a:t>
            </a:r>
          </a:p>
        </p:txBody>
      </p:sp>
      <p:sp>
        <p:nvSpPr>
          <p:cNvPr id="36" name="Rounded Rectangle 35"/>
          <p:cNvSpPr/>
          <p:nvPr/>
        </p:nvSpPr>
        <p:spPr>
          <a:xfrm>
            <a:off x="9130284"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v′</a:t>
            </a:r>
          </a:p>
        </p:txBody>
      </p:sp>
      <p:sp>
        <p:nvSpPr>
          <p:cNvPr id="37" name="Rounded Rectangle 36"/>
          <p:cNvSpPr/>
          <p:nvPr/>
        </p:nvSpPr>
        <p:spPr>
          <a:xfrm>
            <a:off x="2921508" y="3236975"/>
            <a:ext cx="804672" cy="566928"/>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600" b="1" i="0">
                <a:solidFill>
                  <a:srgbClr val="C9CDD3"/>
                </a:solidFill>
                <a:latin typeface="Calibri"/>
              </a:rPr>
              <a:t>AND</a:t>
            </a:r>
          </a:p>
        </p:txBody>
      </p:sp>
      <p:sp>
        <p:nvSpPr>
          <p:cNvPr id="38" name="TextBox 37"/>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a₁</a:t>
            </a:r>
          </a:p>
        </p:txBody>
      </p:sp>
      <p:sp>
        <p:nvSpPr>
          <p:cNvPr id="39" name="Rounded Rectangle 38"/>
          <p:cNvSpPr/>
          <p:nvPr/>
        </p:nvSpPr>
        <p:spPr>
          <a:xfrm>
            <a:off x="4018787" y="3236975"/>
            <a:ext cx="804672" cy="566928"/>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600" b="1" i="0">
                <a:solidFill>
                  <a:srgbClr val="C9CDD3"/>
                </a:solidFill>
                <a:latin typeface="Calibri"/>
              </a:rPr>
              <a:t>AND</a:t>
            </a:r>
          </a:p>
        </p:txBody>
      </p:sp>
      <p:sp>
        <p:nvSpPr>
          <p:cNvPr id="40" name="TextBox 39"/>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a₂</a:t>
            </a:r>
          </a:p>
        </p:txBody>
      </p:sp>
      <p:sp>
        <p:nvSpPr>
          <p:cNvPr id="41" name="Rounded Rectangle 40"/>
          <p:cNvSpPr/>
          <p:nvPr/>
        </p:nvSpPr>
        <p:spPr>
          <a:xfrm>
            <a:off x="7356348" y="3236975"/>
            <a:ext cx="804672" cy="566928"/>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600" b="1" i="0">
                <a:solidFill>
                  <a:srgbClr val="C9CDD3"/>
                </a:solidFill>
                <a:latin typeface="Calibri"/>
              </a:rPr>
              <a:t>XOR</a:t>
            </a:r>
          </a:p>
        </p:txBody>
      </p:sp>
      <p:sp>
        <p:nvSpPr>
          <p:cNvPr id="42" name="TextBox 41"/>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x₁</a:t>
            </a:r>
          </a:p>
        </p:txBody>
      </p:sp>
      <p:sp>
        <p:nvSpPr>
          <p:cNvPr id="43" name="Rounded Rectangle 42"/>
          <p:cNvSpPr/>
          <p:nvPr/>
        </p:nvSpPr>
        <p:spPr>
          <a:xfrm>
            <a:off x="8453628" y="3236975"/>
            <a:ext cx="804672" cy="566928"/>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600" b="1" i="0">
                <a:solidFill>
                  <a:srgbClr val="C9CDD3"/>
                </a:solidFill>
                <a:latin typeface="Calibri"/>
              </a:rPr>
              <a:t>XOR</a:t>
            </a:r>
          </a:p>
        </p:txBody>
      </p:sp>
      <p:sp>
        <p:nvSpPr>
          <p:cNvPr id="44" name="TextBox 43"/>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x₂</a:t>
            </a:r>
          </a:p>
        </p:txBody>
      </p:sp>
      <p:sp>
        <p:nvSpPr>
          <p:cNvPr id="45" name="Rounded Rectangle 44"/>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7" name="Rounded Rectangle 46"/>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2</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C9CDD3"/>
            </a:solidFill>
          </a:ln>
          <a:effectLst/>
        </p:spPr>
      </p:cxnSp>
      <p:cxnSp>
        <p:nvCxnSpPr>
          <p:cNvPr id="15" name="Connector 14"/>
          <p:cNvCxnSpPr/>
          <p:nvPr/>
        </p:nvCxnSpPr>
        <p:spPr>
          <a:xfrm>
            <a:off x="3323844" y="3803903"/>
            <a:ext cx="960120" cy="1106425"/>
          </a:xfrm>
          <a:prstGeom prst="line">
            <a:avLst/>
          </a:prstGeom>
          <a:ln w="15875">
            <a:solidFill>
              <a:srgbClr val="C9CDD3"/>
            </a:solidFill>
          </a:ln>
          <a:effectLst/>
        </p:spPr>
      </p:cxnSp>
      <p:cxnSp>
        <p:nvCxnSpPr>
          <p:cNvPr id="16" name="Connector 15"/>
          <p:cNvCxnSpPr/>
          <p:nvPr/>
        </p:nvCxnSpPr>
        <p:spPr>
          <a:xfrm flipH="1">
            <a:off x="3406139" y="3803903"/>
            <a:ext cx="1014985" cy="1106425"/>
          </a:xfrm>
          <a:prstGeom prst="line">
            <a:avLst/>
          </a:prstGeom>
          <a:ln w="15875">
            <a:solidFill>
              <a:srgbClr val="C9CDD3"/>
            </a:solidFill>
          </a:ln>
          <a:effectLst/>
        </p:spPr>
      </p:cxnSp>
      <p:cxnSp>
        <p:nvCxnSpPr>
          <p:cNvPr id="17" name="Connector 16"/>
          <p:cNvCxnSpPr/>
          <p:nvPr/>
        </p:nvCxnSpPr>
        <p:spPr>
          <a:xfrm>
            <a:off x="4421124" y="3803903"/>
            <a:ext cx="484632" cy="1106425"/>
          </a:xfrm>
          <a:prstGeom prst="line">
            <a:avLst/>
          </a:prstGeom>
          <a:ln w="15875">
            <a:solidFill>
              <a:srgbClr val="C9CDD3"/>
            </a:solidFill>
          </a:ln>
          <a:effectLst/>
        </p:spPr>
      </p:cxnSp>
      <p:cxnSp>
        <p:nvCxnSpPr>
          <p:cNvPr id="18" name="Connector 17"/>
          <p:cNvCxnSpPr/>
          <p:nvPr/>
        </p:nvCxnSpPr>
        <p:spPr>
          <a:xfrm flipH="1">
            <a:off x="7283196" y="3803903"/>
            <a:ext cx="475487" cy="1106425"/>
          </a:xfrm>
          <a:prstGeom prst="line">
            <a:avLst/>
          </a:prstGeom>
          <a:ln w="15875">
            <a:solidFill>
              <a:srgbClr val="C9CDD3"/>
            </a:solidFill>
          </a:ln>
          <a:effectLst/>
        </p:spPr>
      </p:cxnSp>
      <p:cxnSp>
        <p:nvCxnSpPr>
          <p:cNvPr id="19" name="Connector 18"/>
          <p:cNvCxnSpPr/>
          <p:nvPr/>
        </p:nvCxnSpPr>
        <p:spPr>
          <a:xfrm>
            <a:off x="7758683" y="3803903"/>
            <a:ext cx="1024129" cy="1106425"/>
          </a:xfrm>
          <a:prstGeom prst="line">
            <a:avLst/>
          </a:prstGeom>
          <a:ln w="15875">
            <a:solidFill>
              <a:srgbClr val="C9CDD3"/>
            </a:solidFill>
          </a:ln>
          <a:effectLst/>
        </p:spPr>
      </p:cxnSp>
      <p:cxnSp>
        <p:nvCxnSpPr>
          <p:cNvPr id="20" name="Connector 19"/>
          <p:cNvCxnSpPr/>
          <p:nvPr/>
        </p:nvCxnSpPr>
        <p:spPr>
          <a:xfrm flipH="1">
            <a:off x="7904988" y="3803903"/>
            <a:ext cx="950975" cy="1106425"/>
          </a:xfrm>
          <a:prstGeom prst="line">
            <a:avLst/>
          </a:prstGeom>
          <a:ln w="15875">
            <a:solidFill>
              <a:srgbClr val="C9CDD3"/>
            </a:solidFill>
          </a:ln>
          <a:effectLst/>
        </p:spPr>
      </p:cxnSp>
      <p:cxnSp>
        <p:nvCxnSpPr>
          <p:cNvPr id="21" name="Connector 20"/>
          <p:cNvCxnSpPr/>
          <p:nvPr/>
        </p:nvCxnSpPr>
        <p:spPr>
          <a:xfrm>
            <a:off x="8855963" y="3803903"/>
            <a:ext cx="548641" cy="1106425"/>
          </a:xfrm>
          <a:prstGeom prst="line">
            <a:avLst/>
          </a:prstGeom>
          <a:ln w="15875">
            <a:solidFill>
              <a:srgbClr val="C9CDD3"/>
            </a:solidFill>
          </a:ln>
          <a:effectLst/>
        </p:spPr>
      </p:cxnSp>
      <p:cxnSp>
        <p:nvCxnSpPr>
          <p:cNvPr id="22" name="Connector 21"/>
          <p:cNvCxnSpPr/>
          <p:nvPr/>
        </p:nvCxnSpPr>
        <p:spPr>
          <a:xfrm>
            <a:off x="5564124" y="2203704"/>
            <a:ext cx="219455" cy="2706624"/>
          </a:xfrm>
          <a:prstGeom prst="line">
            <a:avLst/>
          </a:prstGeom>
          <a:ln w="15875">
            <a:solidFill>
              <a:srgbClr val="C9CDD3"/>
            </a:solidFill>
          </a:ln>
          <a:effectLst/>
        </p:spPr>
      </p:cxnSp>
      <p:cxnSp>
        <p:nvCxnSpPr>
          <p:cNvPr id="23" name="Connector 22"/>
          <p:cNvCxnSpPr/>
          <p:nvPr/>
        </p:nvCxnSpPr>
        <p:spPr>
          <a:xfrm flipH="1">
            <a:off x="3323844" y="2203704"/>
            <a:ext cx="2240280" cy="749807"/>
          </a:xfrm>
          <a:prstGeom prst="line">
            <a:avLst/>
          </a:prstGeom>
          <a:ln w="15875">
            <a:solidFill>
              <a:srgbClr val="C9CDD3"/>
            </a:solidFill>
          </a:ln>
          <a:effectLst/>
        </p:spPr>
      </p:cxnSp>
      <p:cxnSp>
        <p:nvCxnSpPr>
          <p:cNvPr id="24" name="Connector 23"/>
          <p:cNvCxnSpPr/>
          <p:nvPr/>
        </p:nvCxnSpPr>
        <p:spPr>
          <a:xfrm>
            <a:off x="5564124" y="2203704"/>
            <a:ext cx="2194559" cy="749807"/>
          </a:xfrm>
          <a:prstGeom prst="line">
            <a:avLst/>
          </a:prstGeom>
          <a:ln w="15875">
            <a:solidFill>
              <a:srgbClr val="C9CDD3"/>
            </a:solidFill>
          </a:ln>
          <a:effectLst/>
        </p:spPr>
      </p:cxnSp>
      <p:cxnSp>
        <p:nvCxnSpPr>
          <p:cNvPr id="25" name="Connector 24"/>
          <p:cNvCxnSpPr/>
          <p:nvPr/>
        </p:nvCxnSpPr>
        <p:spPr>
          <a:xfrm flipH="1">
            <a:off x="6405372" y="2203704"/>
            <a:ext cx="484632" cy="2706624"/>
          </a:xfrm>
          <a:prstGeom prst="line">
            <a:avLst/>
          </a:prstGeom>
          <a:ln w="15875">
            <a:solidFill>
              <a:srgbClr val="C9CDD3"/>
            </a:solidFill>
          </a:ln>
          <a:effectLst/>
        </p:spPr>
      </p:cxnSp>
      <p:cxnSp>
        <p:nvCxnSpPr>
          <p:cNvPr id="26" name="Connector 25"/>
          <p:cNvCxnSpPr/>
          <p:nvPr/>
        </p:nvCxnSpPr>
        <p:spPr>
          <a:xfrm flipH="1">
            <a:off x="4421124" y="2203704"/>
            <a:ext cx="2468880" cy="749807"/>
          </a:xfrm>
          <a:prstGeom prst="line">
            <a:avLst/>
          </a:prstGeom>
          <a:ln w="15875">
            <a:solidFill>
              <a:srgbClr val="C9CDD3"/>
            </a:solidFill>
          </a:ln>
          <a:effectLst/>
        </p:spPr>
      </p:cxnSp>
      <p:cxnSp>
        <p:nvCxnSpPr>
          <p:cNvPr id="27" name="Connector 26"/>
          <p:cNvCxnSpPr/>
          <p:nvPr/>
        </p:nvCxnSpPr>
        <p:spPr>
          <a:xfrm>
            <a:off x="6890004" y="2203704"/>
            <a:ext cx="1965959" cy="749807"/>
          </a:xfrm>
          <a:prstGeom prst="line">
            <a:avLst/>
          </a:prstGeom>
          <a:ln w="15875">
            <a:solidFill>
              <a:srgbClr val="C9CDD3"/>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600" b="1" i="0">
                <a:solidFill>
                  <a:srgbClr val="C9CDD3"/>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600" b="1" i="0">
                <a:solidFill>
                  <a:srgbClr val="C9CDD3"/>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600" b="1" i="0">
                <a:solidFill>
                  <a:srgbClr val="C9CDD3"/>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600" b="1" i="0">
                <a:solidFill>
                  <a:srgbClr val="C9CDD3"/>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TextBox 49"/>
          <p:cNvSpPr txBox="1"/>
          <p:nvPr/>
        </p:nvSpPr>
        <p:spPr>
          <a:xfrm>
            <a:off x="5861304" y="16459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done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1" name="TextBox 50"/>
          <p:cNvSpPr txBox="1"/>
          <p:nvPr/>
        </p:nvSpPr>
        <p:spPr>
          <a:xfrm>
            <a:off x="10017252" y="493775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0</a:t>
            </a:r>
          </a:p>
        </p:txBody>
      </p:sp>
      <p:sp>
        <p:nvSpPr>
          <p:cNvPr id="52" name="Rounded Rectangle 51"/>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3" name="TextBox 52"/>
          <p:cNvSpPr txBox="1"/>
          <p:nvPr/>
        </p:nvSpPr>
        <p:spPr>
          <a:xfrm>
            <a:off x="9596628" y="320039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1</a:t>
            </a:r>
          </a:p>
        </p:txBody>
      </p:sp>
      <p:sp>
        <p:nvSpPr>
          <p:cNvPr id="54" name="Rounded Rectangle 53"/>
          <p:cNvSpPr/>
          <p:nvPr/>
        </p:nvSpPr>
        <p:spPr>
          <a:xfrm>
            <a:off x="4576572" y="1389888"/>
            <a:ext cx="3300984" cy="106070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5" name="TextBox 54"/>
          <p:cNvSpPr txBox="1"/>
          <p:nvPr/>
        </p:nvSpPr>
        <p:spPr>
          <a:xfrm>
            <a:off x="7968996" y="1737360"/>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2</a:t>
            </a:r>
          </a:p>
        </p:txBody>
      </p:sp>
      <p:sp>
        <p:nvSpPr>
          <p:cNvPr id="56" name="Rounded Rectangle 55"/>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600" b="1" i="0">
                <a:solidFill>
                  <a:srgbClr val="FFFFFF"/>
                </a:solidFill>
                <a:latin typeface="Calibri"/>
              </a:rPr>
              <a:t>Round 3: no candidates.  Done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Correctness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731520" y="2148840"/>
            <a:ext cx="3108960" cy="914400"/>
          </a:xfrm>
          <a:prstGeom prst="roundRect">
            <a:avLst>
              <a:gd name="adj" fmla="val 15000"/>
            </a:avLst>
          </a:prstGeom>
          <a:solidFill>
            <a:srgbClr val="1F2A44"/>
          </a:solidFill>
          <a:ln>
            <a:noFill/>
          </a:ln>
          <a:effectLst/>
        </p:spPr>
        <p:txBody>
          <a:bodyPr rtlCol="0" anchor="ctr" lIns="54864" rIns="54864" tIns="27432" bIns="27432" wrap="square"/>
          <a:lstStyle/>
          <a:p>
            <a:pPr algn="ctr"/>
            <a:r>
              <a:rPr sz="2200" b="1" i="0">
                <a:solidFill>
                  <a:srgbClr val="FFFFFF"/>
                </a:solidFill>
                <a:latin typeface="Calibri"/>
              </a:rPr>
              <a:t>Soundness</a:t>
            </a:r>
          </a:p>
        </p:txBody>
      </p:sp>
      <p:sp>
        <p:nvSpPr>
          <p:cNvPr id="7" name="Rectangle 6"/>
          <p:cNvSpPr/>
          <p:nvPr/>
        </p:nvSpPr>
        <p:spPr>
          <a:xfrm>
            <a:off x="3840480" y="2148840"/>
            <a:ext cx="7589520" cy="914400"/>
          </a:xfrm>
          <a:prstGeom prst="rect">
            <a:avLst/>
          </a:prstGeom>
          <a:solidFill>
            <a:srgbClr val="F4F5F7"/>
          </a:solidFill>
          <a:ln>
            <a:noFill/>
          </a:ln>
          <a:effectLst/>
        </p:spPr>
        <p:txBody>
          <a:bodyPr rtlCol="0" anchor="ctr" lIns="54864" rIns="54864" tIns="27432" bIns="27432" wrap="square"/>
          <a:lstStyle/>
          <a:p>
            <a:pPr algn="ctr"/>
            <a:r>
              <a:rPr sz="2000" b="0" i="0">
                <a:solidFill>
                  <a:srgbClr val="2B2F36"/>
                </a:solidFill>
                <a:latin typeface="Calibri"/>
              </a:rPr>
              <a:t>each merge is an instance of the congruence rule</a:t>
            </a:r>
          </a:p>
        </p:txBody>
      </p:sp>
      <p:sp>
        <p:nvSpPr>
          <p:cNvPr id="8" name="Rounded Rectangle 7"/>
          <p:cNvSpPr/>
          <p:nvPr/>
        </p:nvSpPr>
        <p:spPr>
          <a:xfrm>
            <a:off x="731520" y="3337560"/>
            <a:ext cx="3108960" cy="914400"/>
          </a:xfrm>
          <a:prstGeom prst="roundRect">
            <a:avLst>
              <a:gd name="adj" fmla="val 15000"/>
            </a:avLst>
          </a:prstGeom>
          <a:solidFill>
            <a:srgbClr val="1F2A44"/>
          </a:solidFill>
          <a:ln>
            <a:noFill/>
          </a:ln>
          <a:effectLst/>
        </p:spPr>
        <p:txBody>
          <a:bodyPr rtlCol="0" anchor="ctr" lIns="54864" rIns="54864" tIns="27432" bIns="27432" wrap="square"/>
          <a:lstStyle/>
          <a:p>
            <a:pPr algn="ctr"/>
            <a:r>
              <a:rPr sz="2200" b="1" i="0">
                <a:solidFill>
                  <a:srgbClr val="FFFFFF"/>
                </a:solidFill>
                <a:latin typeface="Calibri"/>
              </a:rPr>
              <a:t>Completeness</a:t>
            </a:r>
          </a:p>
        </p:txBody>
      </p:sp>
      <p:sp>
        <p:nvSpPr>
          <p:cNvPr id="9" name="Rectangle 8"/>
          <p:cNvSpPr/>
          <p:nvPr/>
        </p:nvSpPr>
        <p:spPr>
          <a:xfrm>
            <a:off x="3840480" y="3337560"/>
            <a:ext cx="7589520" cy="914400"/>
          </a:xfrm>
          <a:prstGeom prst="rect">
            <a:avLst/>
          </a:prstGeom>
          <a:solidFill>
            <a:srgbClr val="F4F5F7"/>
          </a:solidFill>
          <a:ln>
            <a:noFill/>
          </a:ln>
          <a:effectLst/>
        </p:spPr>
        <p:txBody>
          <a:bodyPr rtlCol="0" anchor="ctr" lIns="54864" rIns="54864" tIns="27432" bIns="27432" wrap="square"/>
          <a:lstStyle/>
          <a:p>
            <a:pPr algn="ctr"/>
            <a:r>
              <a:rPr sz="2000" b="0" i="0">
                <a:solidFill>
                  <a:srgbClr val="2B2F36"/>
                </a:solidFill>
                <a:latin typeface="Calibri"/>
              </a:rPr>
              <a:t>a newly congruent pair is a candidate next round</a:t>
            </a:r>
          </a:p>
        </p:txBody>
      </p:sp>
      <p:sp>
        <p:nvSpPr>
          <p:cNvPr id="10" name="Rounded Rectangle 9"/>
          <p:cNvSpPr/>
          <p:nvPr/>
        </p:nvSpPr>
        <p:spPr>
          <a:xfrm>
            <a:off x="731520" y="4526280"/>
            <a:ext cx="3108960" cy="914400"/>
          </a:xfrm>
          <a:prstGeom prst="roundRect">
            <a:avLst>
              <a:gd name="adj" fmla="val 15000"/>
            </a:avLst>
          </a:prstGeom>
          <a:solidFill>
            <a:srgbClr val="1F2A44"/>
          </a:solidFill>
          <a:ln>
            <a:noFill/>
          </a:ln>
          <a:effectLst/>
        </p:spPr>
        <p:txBody>
          <a:bodyPr rtlCol="0" anchor="ctr" lIns="54864" rIns="54864" tIns="27432" bIns="27432" wrap="square"/>
          <a:lstStyle/>
          <a:p>
            <a:pPr algn="ctr"/>
            <a:r>
              <a:rPr sz="2200" b="1" i="0">
                <a:solidFill>
                  <a:srgbClr val="FFFFFF"/>
                </a:solidFill>
                <a:latin typeface="Calibri"/>
              </a:rPr>
              <a:t>Termination</a:t>
            </a:r>
          </a:p>
        </p:txBody>
      </p:sp>
      <p:sp>
        <p:nvSpPr>
          <p:cNvPr id="11" name="Rectangle 10"/>
          <p:cNvSpPr/>
          <p:nvPr/>
        </p:nvSpPr>
        <p:spPr>
          <a:xfrm>
            <a:off x="3840480" y="4526280"/>
            <a:ext cx="7589520" cy="914400"/>
          </a:xfrm>
          <a:prstGeom prst="rect">
            <a:avLst/>
          </a:prstGeom>
          <a:solidFill>
            <a:srgbClr val="F4F5F7"/>
          </a:solidFill>
          <a:ln>
            <a:noFill/>
          </a:ln>
          <a:effectLst/>
        </p:spPr>
        <p:txBody>
          <a:bodyPr rtlCol="0" anchor="ctr" lIns="54864" rIns="54864" tIns="27432" bIns="27432" wrap="square"/>
          <a:lstStyle/>
          <a:p>
            <a:pPr algn="ctr"/>
            <a:r>
              <a:rPr sz="2000" b="0" i="0">
                <a:solidFill>
                  <a:srgbClr val="2B2F36"/>
                </a:solidFill>
                <a:latin typeface="Calibri"/>
              </a:rPr>
              <a:t>every productive round removes a class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FilterCC: same rounds, no parent lists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50</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548640" y="1371600"/>
            <a:ext cx="5486400" cy="251460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7" name="TextBox 6"/>
          <p:cNvSpPr txBox="1"/>
          <p:nvPr/>
        </p:nvSpPr>
        <p:spPr>
          <a:xfrm>
            <a:off x="731520" y="1463040"/>
            <a:ext cx="5120640" cy="411480"/>
          </a:xfrm>
          <a:prstGeom prst="rect">
            <a:avLst/>
          </a:prstGeom>
          <a:noFill/>
        </p:spPr>
        <p:txBody>
          <a:bodyPr wrap="square" anchor="t" lIns="45720" rIns="45720" tIns="27432" bIns="27432">
            <a:spAutoFit/>
          </a:bodyPr>
          <a:lstStyle/>
          <a:p>
            <a:pPr algn="l"/>
            <a:r>
              <a:rPr sz="2100" b="1" i="0">
                <a:solidFill>
                  <a:srgbClr val="1F2A44"/>
                </a:solidFill>
                <a:latin typeface="Calibri"/>
              </a:rPr>
              <a:t>ParentCC</a:t>
            </a:r>
          </a:p>
        </p:txBody>
      </p:sp>
      <p:sp>
        <p:nvSpPr>
          <p:cNvPr id="8" name="TextBox 7"/>
          <p:cNvSpPr txBox="1"/>
          <p:nvPr/>
        </p:nvSpPr>
        <p:spPr>
          <a:xfrm>
            <a:off x="640080" y="2057400"/>
            <a:ext cx="5303520" cy="2194560"/>
          </a:xfrm>
          <a:prstGeom prst="rect">
            <a:avLst/>
          </a:prstGeom>
          <a:noFill/>
        </p:spPr>
        <p:txBody>
          <a:bodyPr wrap="square" lIns="45720" rIns="45720">
            <a:spAutoFit/>
          </a:bodyPr>
          <a:lstStyle/>
          <a:p>
            <a:pPr marL="274320" indent="-237744">
              <a:spcBef>
                <a:spcPts val="1000"/>
              </a:spcBef>
              <a:buClr>
                <a:srgbClr val="6B717A"/>
              </a:buClr>
              <a:buChar char="•"/>
            </a:pPr>
            <a:r>
              <a:rPr sz="1800" b="1" i="0">
                <a:solidFill>
                  <a:srgbClr val="2B2F36"/>
                </a:solidFill>
                <a:latin typeface="Calibri"/>
              </a:rPr>
              <a:t>parent list per class</a:t>
            </a:r>
          </a:p>
          <a:p>
            <a:pPr marL="274320" indent="-237744">
              <a:spcBef>
                <a:spcPts val="1000"/>
              </a:spcBef>
              <a:buClr>
                <a:srgbClr val="6B717A"/>
              </a:buClr>
              <a:buChar char="•"/>
            </a:pPr>
            <a:r>
              <a:rPr sz="1800" b="0" i="0">
                <a:solidFill>
                  <a:srgbClr val="2B2F36"/>
                </a:solidFill>
                <a:latin typeface="Calibri"/>
              </a:rPr>
              <a:t>every merge appends: allocation</a:t>
            </a:r>
          </a:p>
          <a:p>
            <a:pPr marL="274320" indent="-237744">
              <a:spcBef>
                <a:spcPts val="1000"/>
              </a:spcBef>
              <a:buClr>
                <a:srgbClr val="6B717A"/>
              </a:buClr>
              <a:buChar char="•"/>
            </a:pPr>
            <a:r>
              <a:rPr sz="1800" b="0" i="0">
                <a:solidFill>
                  <a:srgbClr val="2B2F36"/>
                </a:solidFill>
                <a:latin typeface="Calibri"/>
              </a:rPr>
              <a:t>candidates: parents of merged classes</a:t>
            </a:r>
          </a:p>
        </p:txBody>
      </p:sp>
      <p:sp>
        <p:nvSpPr>
          <p:cNvPr id="9" name="Rounded Rectangle 8"/>
          <p:cNvSpPr/>
          <p:nvPr/>
        </p:nvSpPr>
        <p:spPr>
          <a:xfrm>
            <a:off x="6263640" y="1371600"/>
            <a:ext cx="5394960" cy="251460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0" name="TextBox 9"/>
          <p:cNvSpPr txBox="1"/>
          <p:nvPr/>
        </p:nvSpPr>
        <p:spPr>
          <a:xfrm>
            <a:off x="6446520" y="1463040"/>
            <a:ext cx="5029200" cy="411480"/>
          </a:xfrm>
          <a:prstGeom prst="rect">
            <a:avLst/>
          </a:prstGeom>
          <a:noFill/>
        </p:spPr>
        <p:txBody>
          <a:bodyPr wrap="square" anchor="t" lIns="45720" rIns="45720" tIns="27432" bIns="27432">
            <a:spAutoFit/>
          </a:bodyPr>
          <a:lstStyle/>
          <a:p>
            <a:pPr algn="l"/>
            <a:r>
              <a:rPr sz="2100" b="1" i="0">
                <a:solidFill>
                  <a:srgbClr val="1F2A44"/>
                </a:solidFill>
                <a:latin typeface="Calibri"/>
              </a:rPr>
              <a:t>FilterCC</a:t>
            </a:r>
          </a:p>
        </p:txBody>
      </p:sp>
      <p:sp>
        <p:nvSpPr>
          <p:cNvPr id="11" name="TextBox 10"/>
          <p:cNvSpPr txBox="1"/>
          <p:nvPr/>
        </p:nvSpPr>
        <p:spPr>
          <a:xfrm>
            <a:off x="6355080" y="2057400"/>
            <a:ext cx="5212080" cy="2194560"/>
          </a:xfrm>
          <a:prstGeom prst="rect">
            <a:avLst/>
          </a:prstGeom>
          <a:noFill/>
        </p:spPr>
        <p:txBody>
          <a:bodyPr wrap="square" lIns="45720" rIns="45720">
            <a:spAutoFit/>
          </a:bodyPr>
          <a:lstStyle/>
          <a:p>
            <a:pPr marL="274320" indent="-237744">
              <a:spcBef>
                <a:spcPts val="1000"/>
              </a:spcBef>
              <a:buClr>
                <a:srgbClr val="6B717A"/>
              </a:buClr>
              <a:buChar char="•"/>
            </a:pPr>
            <a:r>
              <a:rPr sz="1800" b="1" i="0">
                <a:solidFill>
                  <a:srgbClr val="2B2F36"/>
                </a:solidFill>
                <a:latin typeface="Calibri"/>
              </a:rPr>
              <a:t>one dirty bit per class</a:t>
            </a:r>
          </a:p>
          <a:p>
            <a:pPr marL="274320" indent="-237744">
              <a:spcBef>
                <a:spcPts val="1000"/>
              </a:spcBef>
              <a:buClr>
                <a:srgbClr val="6B717A"/>
              </a:buClr>
              <a:buChar char="•"/>
            </a:pPr>
            <a:r>
              <a:rPr sz="1800" b="0" i="0">
                <a:solidFill>
                  <a:srgbClr val="2B2F36"/>
                </a:solidFill>
                <a:latin typeface="Calibri"/>
              </a:rPr>
              <a:t>a merge marks its classes dirty</a:t>
            </a:r>
          </a:p>
          <a:p>
            <a:pPr marL="274320" indent="-237744">
              <a:spcBef>
                <a:spcPts val="1000"/>
              </a:spcBef>
              <a:buClr>
                <a:srgbClr val="6B717A"/>
              </a:buClr>
              <a:buChar char="•"/>
            </a:pPr>
            <a:r>
              <a:rPr sz="1800" b="0" i="0">
                <a:solidFill>
                  <a:srgbClr val="2B2F36"/>
                </a:solidFill>
                <a:latin typeface="Calibri"/>
              </a:rPr>
              <a:t>candidates: filter all terms for a dirty child</a:t>
            </a:r>
          </a:p>
          <a:p>
            <a:pPr marL="274320" indent="-237744">
              <a:spcBef>
                <a:spcPts val="1000"/>
              </a:spcBef>
              <a:buClr>
                <a:srgbClr val="6B717A"/>
              </a:buClr>
              <a:buChar char="•"/>
            </a:pPr>
            <a:r>
              <a:rPr sz="1800" b="0" i="0">
                <a:solidFill>
                  <a:srgbClr val="2B2F36"/>
                </a:solidFill>
                <a:latin typeface="Calibri"/>
              </a:rPr>
              <a:t>racing marks are fine: setting a bit is idempotent</a:t>
            </a:r>
          </a:p>
        </p:txBody>
      </p:sp>
      <p:sp>
        <p:nvSpPr>
          <p:cNvPr id="12" name="TextBox 11"/>
          <p:cNvSpPr txBox="1"/>
          <p:nvPr/>
        </p:nvSpPr>
        <p:spPr>
          <a:xfrm>
            <a:off x="548640" y="4114800"/>
            <a:ext cx="11155680" cy="411480"/>
          </a:xfrm>
          <a:prstGeom prst="rect">
            <a:avLst/>
          </a:prstGeom>
          <a:noFill/>
        </p:spPr>
        <p:txBody>
          <a:bodyPr wrap="square" anchor="t" lIns="45720" rIns="45720" tIns="27432" bIns="27432">
            <a:spAutoFit/>
          </a:bodyPr>
          <a:lstStyle/>
          <a:p>
            <a:pPr algn="l"/>
            <a:r>
              <a:rPr sz="1800" b="0" i="0">
                <a:solidFill>
                  <a:srgbClr val="6B717A"/>
                </a:solidFill>
                <a:latin typeface="Calibri"/>
              </a:rPr>
              <a:t>Same candidates every round, same merges, same proofs</a:t>
            </a:r>
          </a:p>
        </p:txBody>
      </p:sp>
      <p:sp>
        <p:nvSpPr>
          <p:cNvPr id="13" name="Rounded Rectangle 12"/>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200" b="1" i="0">
                <a:solidFill>
                  <a:srgbClr val="FFFFFF"/>
                </a:solidFill>
                <a:latin typeface="Calibri"/>
              </a:rPr>
              <a:t>no allocation, but a scan of every term per round: wins when rounds are few</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Implementation</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51</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548640" y="1371600"/>
            <a:ext cx="5486400" cy="237744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7" name="TextBox 6"/>
          <p:cNvSpPr txBox="1"/>
          <p:nvPr/>
        </p:nvSpPr>
        <p:spPr>
          <a:xfrm>
            <a:off x="731520" y="1463040"/>
            <a:ext cx="5120640" cy="411480"/>
          </a:xfrm>
          <a:prstGeom prst="rect">
            <a:avLst/>
          </a:prstGeom>
          <a:noFill/>
        </p:spPr>
        <p:txBody>
          <a:bodyPr wrap="square" anchor="t" lIns="45720" rIns="45720" tIns="27432" bIns="27432">
            <a:spAutoFit/>
          </a:bodyPr>
          <a:lstStyle/>
          <a:p>
            <a:pPr algn="l"/>
            <a:r>
              <a:rPr sz="2100" b="1" i="0">
                <a:solidFill>
                  <a:srgbClr val="1F2A44"/>
                </a:solidFill>
                <a:latin typeface="Calibri"/>
              </a:rPr>
              <a:t>Parallel algorithms</a:t>
            </a:r>
          </a:p>
        </p:txBody>
      </p:sp>
      <p:sp>
        <p:nvSpPr>
          <p:cNvPr id="8" name="TextBox 7"/>
          <p:cNvSpPr txBox="1"/>
          <p:nvPr/>
        </p:nvSpPr>
        <p:spPr>
          <a:xfrm>
            <a:off x="640080" y="2057400"/>
            <a:ext cx="5303520" cy="3108960"/>
          </a:xfrm>
          <a:prstGeom prst="rect">
            <a:avLst/>
          </a:prstGeom>
          <a:noFill/>
        </p:spPr>
        <p:txBody>
          <a:bodyPr wrap="square" lIns="45720" rIns="45720">
            <a:spAutoFit/>
          </a:bodyPr>
          <a:lstStyle/>
          <a:p>
            <a:pPr marL="274320" indent="-237744">
              <a:spcBef>
                <a:spcPts val="1000"/>
              </a:spcBef>
              <a:buClr>
                <a:srgbClr val="6B717A"/>
              </a:buClr>
              <a:buChar char="•"/>
            </a:pPr>
            <a:r>
              <a:rPr sz="1800" b="1" i="0">
                <a:solidFill>
                  <a:srgbClr val="2B2F36"/>
                </a:solidFill>
                <a:latin typeface="Calibri"/>
              </a:rPr>
              <a:t>grouping</a:t>
            </a:r>
            <a:r>
              <a:rPr sz="1800" b="0" i="0">
                <a:solidFill>
                  <a:srgbClr val="2B2F36"/>
                </a:solidFill>
                <a:latin typeface="Calibri"/>
              </a:rPr>
              <a:t>: integer sort on signature hashes</a:t>
            </a:r>
          </a:p>
          <a:p>
            <a:pPr marL="274320" indent="-237744">
              <a:spcBef>
                <a:spcPts val="1000"/>
              </a:spcBef>
              <a:buClr>
                <a:srgbClr val="6B717A"/>
              </a:buClr>
              <a:buChar char="•"/>
            </a:pPr>
            <a:r>
              <a:rPr sz="1800" b="1" i="0">
                <a:solidFill>
                  <a:srgbClr val="2B2F36"/>
                </a:solidFill>
                <a:latin typeface="Calibri"/>
              </a:rPr>
              <a:t>merging a group</a:t>
            </a:r>
            <a:r>
              <a:rPr sz="1800" b="0" i="0">
                <a:solidFill>
                  <a:srgbClr val="2B2F36"/>
                </a:solidFill>
                <a:latin typeface="Calibri"/>
              </a:rPr>
              <a:t>: divide-and-conquer unions</a:t>
            </a:r>
          </a:p>
          <a:p>
            <a:pPr marL="274320" indent="-237744">
              <a:spcBef>
                <a:spcPts val="1000"/>
              </a:spcBef>
              <a:buClr>
                <a:srgbClr val="6B717A"/>
              </a:buClr>
              <a:buChar char="•"/>
            </a:pPr>
            <a:r>
              <a:rPr sz="1800" b="1" i="0">
                <a:solidFill>
                  <a:srgbClr val="2B2F36"/>
                </a:solidFill>
                <a:latin typeface="Calibri"/>
              </a:rPr>
              <a:t>ParlayLib</a:t>
            </a:r>
            <a:r>
              <a:rPr sz="1800" b="0" i="0">
                <a:solidFill>
                  <a:srgbClr val="2B2F36"/>
                </a:solidFill>
                <a:latin typeface="Calibri"/>
              </a:rPr>
              <a:t> for scheduling and primitives</a:t>
            </a:r>
          </a:p>
        </p:txBody>
      </p:sp>
      <p:sp>
        <p:nvSpPr>
          <p:cNvPr id="9" name="Rounded Rectangle 8"/>
          <p:cNvSpPr/>
          <p:nvPr/>
        </p:nvSpPr>
        <p:spPr>
          <a:xfrm>
            <a:off x="6263640" y="1371600"/>
            <a:ext cx="5394960" cy="237744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0" name="TextBox 9"/>
          <p:cNvSpPr txBox="1"/>
          <p:nvPr/>
        </p:nvSpPr>
        <p:spPr>
          <a:xfrm>
            <a:off x="6446520" y="1463040"/>
            <a:ext cx="5029200" cy="411480"/>
          </a:xfrm>
          <a:prstGeom prst="rect">
            <a:avLst/>
          </a:prstGeom>
          <a:noFill/>
        </p:spPr>
        <p:txBody>
          <a:bodyPr wrap="square" anchor="t" lIns="45720" rIns="45720" tIns="27432" bIns="27432">
            <a:spAutoFit/>
          </a:bodyPr>
          <a:lstStyle/>
          <a:p>
            <a:pPr algn="l"/>
            <a:r>
              <a:rPr sz="2100" b="1" i="0">
                <a:solidFill>
                  <a:srgbClr val="1F2A44"/>
                </a:solidFill>
                <a:latin typeface="Calibri"/>
              </a:rPr>
              <a:t>Sequential baseline, tuned</a:t>
            </a:r>
          </a:p>
        </p:txBody>
      </p:sp>
      <p:sp>
        <p:nvSpPr>
          <p:cNvPr id="11" name="TextBox 10"/>
          <p:cNvSpPr txBox="1"/>
          <p:nvPr/>
        </p:nvSpPr>
        <p:spPr>
          <a:xfrm>
            <a:off x="6355080" y="2057400"/>
            <a:ext cx="5212080" cy="3108960"/>
          </a:xfrm>
          <a:prstGeom prst="rect">
            <a:avLst/>
          </a:prstGeom>
          <a:noFill/>
        </p:spPr>
        <p:txBody>
          <a:bodyPr wrap="square" lIns="45720" rIns="45720">
            <a:spAutoFit/>
          </a:bodyPr>
          <a:lstStyle/>
          <a:p>
            <a:pPr marL="274320" indent="-237744">
              <a:spcBef>
                <a:spcPts val="1000"/>
              </a:spcBef>
              <a:buClr>
                <a:srgbClr val="6B717A"/>
              </a:buClr>
              <a:buChar char="•"/>
            </a:pPr>
            <a:r>
              <a:rPr sz="1800" b="1" i="0">
                <a:solidFill>
                  <a:srgbClr val="2B2F36"/>
                </a:solidFill>
                <a:latin typeface="Calibri"/>
              </a:rPr>
              <a:t>worklist algorithm</a:t>
            </a:r>
            <a:r>
              <a:rPr sz="1800" b="0" i="0">
                <a:solidFill>
                  <a:srgbClr val="2B2F36"/>
                </a:solidFill>
                <a:latin typeface="Calibri"/>
              </a:rPr>
              <a:t> of Nieuwenhuis &amp; Oliveras, fastest of three variants</a:t>
            </a:r>
          </a:p>
          <a:p>
            <a:pPr marL="274320" indent="-237744">
              <a:spcBef>
                <a:spcPts val="1000"/>
              </a:spcBef>
              <a:buClr>
                <a:srgbClr val="6B717A"/>
              </a:buClr>
              <a:buChar char="•"/>
            </a:pPr>
            <a:r>
              <a:rPr sz="1800" b="1" i="0">
                <a:solidFill>
                  <a:srgbClr val="2B2F36"/>
                </a:solidFill>
                <a:latin typeface="Calibri"/>
              </a:rPr>
              <a:t>signature tables specialized by arity</a:t>
            </a:r>
          </a:p>
          <a:p>
            <a:pPr marL="274320" indent="-237744">
              <a:spcBef>
                <a:spcPts val="1000"/>
              </a:spcBef>
              <a:buClr>
                <a:srgbClr val="6B717A"/>
              </a:buClr>
              <a:buChar char="•"/>
            </a:pPr>
            <a:r>
              <a:rPr sz="1800" b="1" i="0">
                <a:solidFill>
                  <a:srgbClr val="2B2F36"/>
                </a:solidFill>
                <a:latin typeface="Calibri"/>
              </a:rPr>
              <a:t>bump allocator</a:t>
            </a:r>
          </a:p>
        </p:txBody>
      </p:sp>
      <p:sp>
        <p:nvSpPr>
          <p:cNvPr id="12" name="TextBox 11"/>
          <p:cNvSpPr txBox="1"/>
          <p:nvPr/>
        </p:nvSpPr>
        <p:spPr>
          <a:xfrm>
            <a:off x="548640" y="3858768"/>
            <a:ext cx="11155680" cy="365760"/>
          </a:xfrm>
          <a:prstGeom prst="rect">
            <a:avLst/>
          </a:prstGeom>
          <a:noFill/>
        </p:spPr>
        <p:txBody>
          <a:bodyPr wrap="square" anchor="t" lIns="45720" rIns="45720" tIns="27432" bIns="27432">
            <a:spAutoFit/>
          </a:bodyPr>
          <a:lstStyle/>
          <a:p>
            <a:pPr algn="l"/>
            <a:r>
              <a:rPr sz="1400" b="0" i="0">
                <a:solidFill>
                  <a:srgbClr val="6B717A"/>
                </a:solidFill>
                <a:latin typeface="Calibri"/>
              </a:rPr>
              <a:t>semisort: Gu, Shun, Sun &amp; Blelloch, SPAA 2015   ·   concurrent union-find: Alistarh, Fedorov &amp; Koval, OPODIS 2019</a:t>
            </a:r>
          </a:p>
        </p:txBody>
      </p:sp>
      <p:sp>
        <p:nvSpPr>
          <p:cNvPr id="13" name="TextBox 12"/>
          <p:cNvSpPr txBox="1"/>
          <p:nvPr/>
        </p:nvSpPr>
        <p:spPr>
          <a:xfrm>
            <a:off x="548640" y="4224528"/>
            <a:ext cx="11155680" cy="365760"/>
          </a:xfrm>
          <a:prstGeom prst="rect">
            <a:avLst/>
          </a:prstGeom>
          <a:noFill/>
        </p:spPr>
        <p:txBody>
          <a:bodyPr wrap="square" anchor="t" lIns="45720" rIns="45720" tIns="27432" bIns="27432">
            <a:spAutoFit/>
          </a:bodyPr>
          <a:lstStyle/>
          <a:p>
            <a:pPr algn="l"/>
            <a:r>
              <a:rPr sz="1400" b="0" i="0">
                <a:solidFill>
                  <a:srgbClr val="6B717A"/>
                </a:solidFill>
                <a:latin typeface="Calibri"/>
              </a:rPr>
              <a:t>C++ with g++ -O3.  Code and benchmarks: github.com/amarshah10/ParallelEgraph</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4"/>
          </a:solidFill>
          <a:ln>
            <a:noFill/>
          </a:ln>
          <a:effectLst/>
        </p:spPr>
        <p:txBody>
          <a:bodyPr rtlCol="0" anchor="ctr" lIns="54864" rIns="54864" tIns="27432" bIns="27432" wrap="square"/>
          <a:lstStyle/>
          <a:p>
            <a:pPr algn="ctr"/>
          </a:p>
        </p:txBody>
      </p:sp>
      <p:cxnSp>
        <p:nvCxnSpPr>
          <p:cNvPr id="3" name="Connector 2"/>
          <p:cNvCxnSpPr/>
          <p:nvPr/>
        </p:nvCxnSpPr>
        <p:spPr>
          <a:xfrm>
            <a:off x="822960" y="3246120"/>
            <a:ext cx="3017520" cy="0"/>
          </a:xfrm>
          <a:prstGeom prst="line">
            <a:avLst/>
          </a:prstGeom>
          <a:ln w="38100">
            <a:solidFill>
              <a:srgbClr val="C8501E"/>
            </a:solidFill>
          </a:ln>
          <a:effectLst/>
        </p:spPr>
      </p:cxnSp>
      <p:sp>
        <p:nvSpPr>
          <p:cNvPr id="4" name="TextBox 3"/>
          <p:cNvSpPr txBox="1"/>
          <p:nvPr/>
        </p:nvSpPr>
        <p:spPr>
          <a:xfrm>
            <a:off x="777240" y="2011680"/>
            <a:ext cx="10515600" cy="1188720"/>
          </a:xfrm>
          <a:prstGeom prst="rect">
            <a:avLst/>
          </a:prstGeom>
          <a:noFill/>
        </p:spPr>
        <p:txBody>
          <a:bodyPr wrap="square" anchor="b" lIns="45720" rIns="45720" tIns="27432" bIns="27432">
            <a:spAutoFit/>
          </a:bodyPr>
          <a:lstStyle/>
          <a:p>
            <a:pPr algn="l"/>
            <a:r>
              <a:rPr sz="4400" b="1" i="0">
                <a:solidFill>
                  <a:srgbClr val="FFFFFF"/>
                </a:solidFill>
                <a:latin typeface="Calibri"/>
              </a:rPr>
              <a:t>Evaluation</a:t>
            </a:r>
          </a:p>
        </p:txBody>
      </p:sp>
      <p:sp>
        <p:nvSpPr>
          <p:cNvPr id="5" name="TextBox 4"/>
          <p:cNvSpPr txBox="1"/>
          <p:nvPr/>
        </p:nvSpPr>
        <p:spPr>
          <a:xfrm>
            <a:off x="777240" y="3429000"/>
            <a:ext cx="10058400" cy="548640"/>
          </a:xfrm>
          <a:prstGeom prst="rect">
            <a:avLst/>
          </a:prstGeom>
          <a:noFill/>
        </p:spPr>
        <p:txBody>
          <a:bodyPr wrap="square" anchor="t" lIns="45720" rIns="45720" tIns="27432" bIns="27432">
            <a:spAutoFit/>
          </a:bodyPr>
          <a:lstStyle/>
          <a:p>
            <a:pPr algn="l"/>
            <a:r>
              <a:rPr sz="2600" b="1" i="0">
                <a:solidFill>
                  <a:srgbClr val="FFFFFF"/>
                </a:solidFill>
                <a:latin typeface="Calibri"/>
              </a:rPr>
              <a:t>Do real instances have width?</a:t>
            </a:r>
          </a:p>
        </p:txBody>
      </p:sp>
      <p:sp>
        <p:nvSpPr>
          <p:cNvPr id="6" name="TextBox 5"/>
          <p:cNvSpPr txBox="1"/>
          <p:nvPr/>
        </p:nvSpPr>
        <p:spPr>
          <a:xfrm>
            <a:off x="777240" y="4023360"/>
            <a:ext cx="10058400" cy="548640"/>
          </a:xfrm>
          <a:prstGeom prst="rect">
            <a:avLst/>
          </a:prstGeom>
          <a:noFill/>
        </p:spPr>
        <p:txBody>
          <a:bodyPr wrap="square" anchor="t" lIns="45720" rIns="45720" tIns="27432" bIns="27432">
            <a:spAutoFit/>
          </a:bodyPr>
          <a:lstStyle/>
          <a:p>
            <a:pPr algn="l"/>
            <a:r>
              <a:rPr sz="2200" b="0" i="0">
                <a:solidFill>
                  <a:srgbClr val="C9D3E6"/>
                </a:solidFill>
                <a:latin typeface="Calibri"/>
              </a:rPr>
              <a:t>random, synthetic, and circuit-equivalence benchmarks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Backup: ParentCC pseudocode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Rounded Rectangle 3"/>
          <p:cNvSpPr/>
          <p:nvPr/>
        </p:nvSpPr>
        <p:spPr>
          <a:xfrm>
            <a:off x="1463040" y="1325880"/>
            <a:ext cx="9235440" cy="4892040"/>
          </a:xfrm>
          <a:prstGeom prst="roundRect">
            <a:avLst>
              <a:gd name="adj" fmla="val 5000"/>
            </a:avLst>
          </a:prstGeom>
          <a:solidFill>
            <a:srgbClr val="F7F7F9"/>
          </a:solidFill>
          <a:ln>
            <a:noFill/>
          </a:ln>
          <a:effectLst/>
        </p:spPr>
        <p:txBody>
          <a:bodyPr rtlCol="0" anchor="ctr" lIns="54864" rIns="54864" tIns="27432" bIns="27432" wrap="square"/>
          <a:lstStyle/>
          <a:p>
            <a:pPr algn="ctr"/>
          </a:p>
        </p:txBody>
      </p:sp>
      <p:sp>
        <p:nvSpPr>
          <p:cNvPr id="5" name="TextBox 4"/>
          <p:cNvSpPr txBox="1"/>
          <p:nvPr/>
        </p:nvSpPr>
        <p:spPr>
          <a:xfrm>
            <a:off x="1737360" y="1417320"/>
            <a:ext cx="8778240" cy="4754880"/>
          </a:xfrm>
          <a:prstGeom prst="rect">
            <a:avLst/>
          </a:prstGeom>
          <a:noFill/>
        </p:spPr>
        <p:txBody>
          <a:bodyPr wrap="none">
            <a:spAutoFit/>
          </a:bodyPr>
          <a:lstStyle/>
          <a:p>
            <a:pPr>
              <a:spcAft>
                <a:spcPts val="150"/>
              </a:spcAft>
            </a:pPr>
            <a:r>
              <a:rPr sz="1400" b="1" i="0">
                <a:solidFill>
                  <a:srgbClr val="2B2F36"/>
                </a:solidFill>
                <a:latin typeface="Consolas"/>
              </a:rPr>
              <a:t>ParentCC(E):</a:t>
            </a:r>
          </a:p>
          <a:p>
            <a:pPr>
              <a:spcAft>
                <a:spcPts val="150"/>
              </a:spcAft>
            </a:pPr>
            <a:r>
              <a:rPr sz="1400" b="0" i="0">
                <a:solidFill>
                  <a:srgbClr val="2B2F36"/>
                </a:solidFill>
                <a:latin typeface="Consolas"/>
              </a:rPr>
              <a:t>    parfor (u = v) ∈ E:  Union(u, v)</a:t>
            </a:r>
          </a:p>
          <a:p>
            <a:pPr>
              <a:spcAft>
                <a:spcPts val="150"/>
              </a:spcAft>
            </a:pPr>
            <a:r>
              <a:rPr sz="1400" b="0" i="0">
                <a:solidFill>
                  <a:srgbClr val="2B2F36"/>
                </a:solidFill>
                <a:latin typeface="Consolas"/>
              </a:rPr>
              <a:t>    Work ← terms of E</a:t>
            </a:r>
          </a:p>
          <a:p>
            <a:pPr>
              <a:spcAft>
                <a:spcPts val="150"/>
              </a:spcAft>
            </a:pPr>
            <a:r>
              <a:rPr sz="1400" b="0" i="0">
                <a:solidFill>
                  <a:srgbClr val="2B2F36"/>
                </a:solidFill>
                <a:latin typeface="Consolas"/>
              </a:rPr>
              <a:t>    while Work ≠ ∅:</a:t>
            </a:r>
          </a:p>
          <a:p>
            <a:pPr>
              <a:spcAft>
                <a:spcPts val="150"/>
              </a:spcAft>
            </a:pPr>
            <a:r>
              <a:rPr sz="1400" b="0" i="0">
                <a:solidFill>
                  <a:srgbClr val="2B2F36"/>
                </a:solidFill>
                <a:latin typeface="Consolas"/>
              </a:rPr>
              <a:t>        parfor c ∈ Work with c ≠ Find(c):                 </a:t>
            </a:r>
            <a:r>
              <a:rPr sz="1400" b="0" i="0">
                <a:solidFill>
                  <a:srgbClr val="6B717A"/>
                </a:solidFill>
                <a:latin typeface="Consolas"/>
              </a:rPr>
              <a:t>▹ fold parent lists</a:t>
            </a:r>
          </a:p>
          <a:p>
            <a:pPr>
              <a:spcAft>
                <a:spcPts val="150"/>
              </a:spcAft>
            </a:pPr>
            <a:r>
              <a:rPr sz="1400" b="0" i="0">
                <a:solidFill>
                  <a:srgbClr val="2B2F36"/>
                </a:solidFill>
                <a:latin typeface="Consolas"/>
              </a:rPr>
              <a:t>            Parents[Find(c)] ← Parents[Find(c)] ∪ Parents[c]</a:t>
            </a:r>
          </a:p>
          <a:p>
            <a:pPr>
              <a:spcAft>
                <a:spcPts val="150"/>
              </a:spcAft>
            </a:pPr>
            <a:r>
              <a:rPr sz="1400" b="0" i="0">
                <a:solidFill>
                  <a:srgbClr val="2B2F36"/>
                </a:solidFill>
                <a:latin typeface="Consolas"/>
              </a:rPr>
              <a:t>        Frontier ← all compound terms          on round 0   </a:t>
            </a:r>
            <a:r>
              <a:rPr sz="1400" b="0" i="0">
                <a:solidFill>
                  <a:srgbClr val="6B717A"/>
                </a:solidFill>
                <a:latin typeface="Consolas"/>
              </a:rPr>
              <a:t>▹ seed round</a:t>
            </a:r>
          </a:p>
          <a:p>
            <a:pPr>
              <a:spcAft>
                <a:spcPts val="150"/>
              </a:spcAft>
            </a:pPr>
            <a:r>
              <a:rPr sz="1400" b="0" i="0">
                <a:solidFill>
                  <a:srgbClr val="2B2F36"/>
                </a:solidFill>
                <a:latin typeface="Consolas"/>
              </a:rPr>
              <a:t>        Frontier ← ⋃ Parents[Find(c)] for c ∈ Work   otherwise</a:t>
            </a:r>
          </a:p>
          <a:p>
            <a:pPr>
              <a:spcAft>
                <a:spcPts val="150"/>
              </a:spcAft>
            </a:pPr>
            <a:r>
              <a:rPr sz="1400" b="0" i="0">
                <a:solidFill>
                  <a:srgbClr val="2B2F36"/>
                </a:solidFill>
                <a:latin typeface="Consolas"/>
              </a:rPr>
              <a:t>        groups ← GroupBy(Congruent, Frontier)          </a:t>
            </a:r>
            <a:r>
              <a:rPr sz="1400" b="0" i="0">
                <a:solidFill>
                  <a:srgbClr val="6B717A"/>
                </a:solidFill>
                <a:latin typeface="Consolas"/>
              </a:rPr>
              <a:t>▹ semisort on sigs</a:t>
            </a:r>
          </a:p>
          <a:p>
            <a:pPr>
              <a:spcAft>
                <a:spcPts val="150"/>
              </a:spcAft>
            </a:pPr>
            <a:r>
              <a:rPr sz="1400" b="0" i="0">
                <a:solidFill>
                  <a:srgbClr val="2B2F36"/>
                </a:solidFill>
                <a:latin typeface="Consolas"/>
              </a:rPr>
              <a:t>        Work ← ∅</a:t>
            </a:r>
          </a:p>
          <a:p>
            <a:pPr>
              <a:spcAft>
                <a:spcPts val="150"/>
              </a:spcAft>
            </a:pPr>
            <a:r>
              <a:rPr sz="1400" b="0" i="0">
                <a:solidFill>
                  <a:srgbClr val="2B2F36"/>
                </a:solidFill>
                <a:latin typeface="Consolas"/>
              </a:rPr>
              <a:t>        parfor g ∈ groups spanning &gt; 1 class:</a:t>
            </a:r>
          </a:p>
          <a:p>
            <a:pPr>
              <a:spcAft>
                <a:spcPts val="150"/>
              </a:spcAft>
            </a:pPr>
            <a:r>
              <a:rPr sz="1400" b="0" i="0">
                <a:solidFill>
                  <a:srgbClr val="2B2F36"/>
                </a:solidFill>
                <a:latin typeface="Consolas"/>
              </a:rPr>
              <a:t>            MergeCongruenceClass(g)                          </a:t>
            </a:r>
            <a:r>
              <a:rPr sz="1400" b="0" i="0">
                <a:solidFill>
                  <a:srgbClr val="6B717A"/>
                </a:solidFill>
                <a:latin typeface="Consolas"/>
              </a:rPr>
              <a:t>▹ parallel unions</a:t>
            </a:r>
          </a:p>
          <a:p>
            <a:pPr>
              <a:spcAft>
                <a:spcPts val="150"/>
              </a:spcAft>
            </a:pPr>
            <a:r>
              <a:rPr sz="1400" b="0" i="0">
                <a:solidFill>
                  <a:srgbClr val="2B2F36"/>
                </a:solidFill>
                <a:latin typeface="Consolas"/>
              </a:rPr>
              <a:t>            Work ← Work ∪ pre-merge roots of g</a:t>
            </a:r>
          </a:p>
          <a:p>
            <a:pPr>
              <a:spcAft>
                <a:spcPts val="150"/>
              </a:spcAft>
            </a:pPr>
          </a:p>
          <a:p>
            <a:pPr>
              <a:spcAft>
                <a:spcPts val="150"/>
              </a:spcAft>
            </a:pPr>
            <a:r>
              <a:rPr sz="1400" b="0" i="0">
                <a:solidFill>
                  <a:srgbClr val="2B2F36"/>
                </a:solidFill>
                <a:latin typeface="Consolas"/>
              </a:rPr>
              <a:t>MergeCongruenceClass(S):                             </a:t>
            </a:r>
            <a:r>
              <a:rPr sz="1400" b="0" i="0">
                <a:solidFill>
                  <a:srgbClr val="6B717A"/>
                </a:solidFill>
                <a:latin typeface="Consolas"/>
              </a:rPr>
              <a:t>▹ divide and conquer</a:t>
            </a:r>
          </a:p>
          <a:p>
            <a:pPr>
              <a:spcAft>
                <a:spcPts val="150"/>
              </a:spcAft>
            </a:pPr>
            <a:r>
              <a:rPr sz="1400" b="0" i="0">
                <a:solidFill>
                  <a:srgbClr val="2B2F36"/>
                </a:solidFill>
                <a:latin typeface="Consolas"/>
              </a:rPr>
              <a:t>    if |S| = 1: return the element</a:t>
            </a:r>
          </a:p>
          <a:p>
            <a:pPr>
              <a:spcAft>
                <a:spcPts val="150"/>
              </a:spcAft>
            </a:pPr>
            <a:r>
              <a:rPr sz="1400" b="0" i="0">
                <a:solidFill>
                  <a:srgbClr val="2B2F36"/>
                </a:solidFill>
                <a:latin typeface="Consolas"/>
              </a:rPr>
              <a:t>    l, r ← MergeCongruenceClass(S[0..n/2]) ∥ MergeCongruenceClass(S[n/2..n])</a:t>
            </a:r>
          </a:p>
          <a:p>
            <a:pPr>
              <a:spcAft>
                <a:spcPts val="150"/>
              </a:spcAft>
            </a:pPr>
            <a:r>
              <a:rPr sz="1400" b="0" i="0">
                <a:solidFill>
                  <a:srgbClr val="2B2F36"/>
                </a:solidFill>
                <a:latin typeface="Consolas"/>
              </a:rPr>
              <a:t>    return Union(l, 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