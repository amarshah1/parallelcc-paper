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Joint work with Amar Shah, equal contribution. I will cover the problem, the two algorithms, and implementation; Amar covers the evaluation.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the problem: given ground equalities over uninterpreted function terms, compute the smallest equivalence relation containing them that is closed under congruence. The tiny example shows transitivity followed by congruence refuting a disequality. Standard implementation: union-find plus a signature table, i.e. an e-graph.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is a core, performance-critical component in many engines and hence in the applications built on them. Decades of engineering have gone into sequential implementations.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implementation we know of is sequential. Machines are wide. Theory is discouraging: congruence closure is P-complete, so a polylog-span algorithm is unlikely. The question we ask is whether practical instances still parallelize well.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contributions plus open-source code. Emphasize that the algorithms replace the sequential worklist with bulk-synchronous rounds.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the running example comes from. A miter feeds the same inputs to two circuits, XORs the corresponding outputs, and asserts the result is 1. The circuits agree on every input exactly when that assertion is unsatisfiable. Encoding a miter to CNF destroys the gate structure, so Biere et al. recover the gates and close them under congruence, which often decides the instance outright. Gates become terms under this grammar: input wires are leaves, every gate is a function symbol applied to its inputs.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Miter adapted from Biere et al., Clausal Congruence Closure, SAT 2024. Two copies of the same three-gate circuit, side by side. Each copy has its own input wires. Nodes are terms, one per gate; edges point to children. Say out loud that the left half is copy one and the right half is copy two, and that the two ITE gates at the top are the two outputs.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Assert that the two outputs differ. If that is unsatisfiable the circuits are equivalent. The query is the only thing on the slide, sitting between the two output gates.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equalities tie the two copies together: each input wire of copy one equals the corresponding wire of copy two. These are the only given equalities, and they are what we union first.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on a single node before the trace starts. The box carries the operator, the name sits alongside, and the three outgoing edges are its children in argument order. Everything else is greyed out so only this term and its children are in view.</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relationship the algorithms are built around. An edge goes from a term to the arguments it is applied to. m2 is the parent, its three arguments are the children. Every term is the parent of its arguments and a child of every term that mentions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trace, state the procedure. Put every input equality into the union-find, then repeatedly look for two terms with the same operator whose children are pairwise in the same class, merge them, and re-examine the parents of whatever just merged. Stop when no pair matches. That fixpoint is the congruence closure. The next four slides run exactly this loop on the miter, one merge per slide.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record the input equalities. The dashed boxes are equivalence classes.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Examine the two AND gates. Same symbol, and their children are pairwise in the same class, so the congruence rule applies. Yellow means we are looking at them.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Congruence fires, so union the two classes. The new dashed box is the merged class.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Examine the two XOR gates: same symbol, children pairwise equivalent.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Union them.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Examine the two ITE gates. Only now are their children pairwise equivalent, because steps 1 and 2 merged the AND and XOR classes.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Union them, which refutes the query. Note that step 3 depended on steps 1 and 2, but 1 and 2 did not depend on each other.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just did by hand is the classical worklist algorithm, in the variant of Nieuwenhuis and Oliveras. The signature table detects congruences in O(1). Each merge pushes the loser's parents back onto the worklist. We compared three sequential variants and this was the fastest, so it is our baseline.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pivot of the talk. Go back over the trace we just did and ask what forced its order. The ITE merge waited for the AND merge and the XOR merge, and for nothing else. Why: congruence tests the classes of the children, so a term can only become mergeable when one of its children changes class. That is exactly an edge of the diagram, traversed upward. Dependences in congruence closure are not hidden in a data structure, they are the term structure itself, which is what makes the problem tractable to parallelize. Say the caveat out loud rather than putting it on the slide: a child can also change class through a chain of earlier merges, so the dependence is the transitive closure of the parent-child relation.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other half. Nothing connects the AND merge to the XOR merge: neither is an ancestor of the other, so neither can change the other’s signature. They can run at the same time, on different cores, in either order, with the same result. That is the parallelism we are after, and the algorithms are built to find all of it at once instead of one merge at a time.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two quantities the evaluation turns on. Depth is the number of rounds, width is the most merges available in one round. Here depth 2 and width 2, which is why the example is a toy. On the circuit benchmarks width reaches millions while depth stays small, and Amar will show that width is the factor that predicts speedup.</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dependences as a schedule. Everything with no unmet dependence goes in the current round, all at once; a barrier; then everything the round just enabled. Round 0 is the input equalities, round 1 the two gate merges, round 2 the output merge. This is Valiant’s bulk-synchronous model, and it falls straight out of the term structure.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schedule tells us when. Two questions remain about how. First, how do we find every merge a round allows, all at once, rather than one at a time? Semisort: compute each term’s signature, the symbol plus the classes of its children, and group equal signatures together; every group is a set of congruent terms. Second, how do we perform thousands of unions from many threads and still end up with the right classes? A concurrent union-find: lock-free, linearizable, so the result is the same as if the unions had happened one after another. Both come from the parallel algorithms literature and both are in ParlayLib.</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algorithm, at the level of a round. Three phases. Who might have become congruent? Only a term whose child just changed class, so: the parents of whatever merged last round. Of those, who actually is congruent? Group them by signature. Then merge every group, in parallel. Repeat while a round merged something. The very first round has no previous merges to look at, so it considers every term; that also catches terms that were congruent before any equality was applied.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five input unions run in parallel.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round, so every gate is a candidate. Group by signature: the ANDs match, the XORs match, the ITEs do not yet because a1 and a2 are still in different classes.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two-member groups merge concurrently.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Candidates are the parents of what just merged: the two ITEs. Their signatures now agree.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union.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ITEs have no parents, so round 3 has no candidates and the loop stops. Three rounds instead of eight sequential merges, and the query is refuted.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three phases, precisely. Work is the set of classes that changed last round; the frontier is their parents; groups come from a semisort on signatures; each group merges by divide and conquer. Barriers separate the phases, so signatures are always computed against a union-find no thread is modifying. This slide is for the record; do not read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line each; the paper has the proofs. Deterministic: the union-find is linearizable and a set of unions yields the same partition in any order. Terminates: a round that merges anything reduces the number of classes. Sound: every group has equal symbol and equal child classes, so each merge is an instance of the congruence rule. Complete: when the last of a pair’s children merge, both parents are candidates next round.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Parent lists cost allocation: every round appends lists. FilterCC keeps one dirty bit per class instead and recomputes the candidates by filtering all terms for a child in a dirty class. It touches every term each round, but the filter is a cheap parallel scan with no allocation. Which wins depends on how many rounds the input needs; Amar has the numbers.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round: every gate is a candidate, exactly as in ParentCC. Groups and merges are the same; afterwards the two merged classes are marked dirty.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the two gate classes are dirty. Filter every term for a child in a dirty class: the two ITEs. Merge them. The next filter finds nothing, so stop.</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Grouping: ParlayLib integer sort on the signature hashes followed by a bucket pass per hash, which beat the library semisort on the small buckets we see. Merging a group: divide and conquer unions. The sequential baseline got the same care: arity-specialized signature tables and a bump allocator, so speedups are against a strong baseline.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 off to Amar for the evaluation.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4"/>
          </a:solidFill>
          <a:ln>
            <a:noFill/>
          </a:ln>
          <a:effectLst/>
        </p:spPr>
        <p:txBody>
          <a:bodyPr rtlCol="0" anchor="ctr" lIns="54864" rIns="54864" tIns="27432" bIns="27432" wrap="square"/>
          <a:lstStyle/>
          <a:p>
            <a:pPr algn="ctr"/>
          </a:p>
        </p:txBody>
      </p:sp>
      <p:cxnSp>
        <p:nvCxnSpPr>
          <p:cNvPr id="3" name="Connector 2"/>
          <p:cNvCxnSpPr/>
          <p:nvPr/>
        </p:nvCxnSpPr>
        <p:spPr>
          <a:xfrm>
            <a:off x="822960" y="3246120"/>
            <a:ext cx="3017520" cy="0"/>
          </a:xfrm>
          <a:prstGeom prst="line">
            <a:avLst/>
          </a:prstGeom>
          <a:ln w="38100">
            <a:solidFill>
              <a:srgbClr val="C8501E"/>
            </a:solidFill>
          </a:ln>
          <a:effectLst/>
        </p:spPr>
      </p:cxnSp>
      <p:sp>
        <p:nvSpPr>
          <p:cNvPr id="4" name="TextBox 3"/>
          <p:cNvSpPr txBox="1"/>
          <p:nvPr/>
        </p:nvSpPr>
        <p:spPr>
          <a:xfrm>
            <a:off x="777240" y="2011680"/>
            <a:ext cx="10515600" cy="1188720"/>
          </a:xfrm>
          <a:prstGeom prst="rect">
            <a:avLst/>
          </a:prstGeom>
          <a:noFill/>
        </p:spPr>
        <p:txBody>
          <a:bodyPr wrap="square" anchor="b" lIns="45720" rIns="45720" tIns="27432" bIns="27432">
            <a:spAutoFit/>
          </a:bodyPr>
          <a:lstStyle/>
          <a:p>
            <a:pPr algn="l"/>
            <a:r>
              <a:rPr sz="4400" b="1" i="0">
                <a:solidFill>
                  <a:srgbClr val="FFFFFF"/>
                </a:solidFill>
                <a:latin typeface="Calibri"/>
              </a:rPr>
              <a:t>Parallelizing Congruence Closure</a:t>
            </a:r>
          </a:p>
        </p:txBody>
      </p:sp>
      <p:sp>
        <p:nvSpPr>
          <p:cNvPr id="5" name="TextBox 4"/>
          <p:cNvSpPr txBox="1"/>
          <p:nvPr/>
        </p:nvSpPr>
        <p:spPr>
          <a:xfrm>
            <a:off x="777240" y="3429000"/>
            <a:ext cx="10058400" cy="548640"/>
          </a:xfrm>
          <a:prstGeom prst="rect">
            <a:avLst/>
          </a:prstGeom>
          <a:noFill/>
        </p:spPr>
        <p:txBody>
          <a:bodyPr wrap="square" anchor="t" lIns="45720" rIns="45720" tIns="27432" bIns="27432">
            <a:spAutoFit/>
          </a:bodyPr>
          <a:lstStyle/>
          <a:p>
            <a:pPr algn="l"/>
            <a:r>
              <a:rPr sz="2400" b="0" i="0">
                <a:solidFill>
                  <a:srgbClr val="FFFFFF"/>
                </a:solidFill>
                <a:latin typeface="Calibri"/>
              </a:rPr>
              <a:t>Zachary Kent*   ·   Amar Shah*</a:t>
            </a:r>
          </a:p>
        </p:txBody>
      </p:sp>
      <p:sp>
        <p:nvSpPr>
          <p:cNvPr id="6" name="TextBox 5"/>
          <p:cNvSpPr txBox="1"/>
          <p:nvPr/>
        </p:nvSpPr>
        <p:spPr>
          <a:xfrm>
            <a:off x="777240" y="3977639"/>
            <a:ext cx="10058400" cy="457200"/>
          </a:xfrm>
          <a:prstGeom prst="rect">
            <a:avLst/>
          </a:prstGeom>
          <a:noFill/>
        </p:spPr>
        <p:txBody>
          <a:bodyPr wrap="square" anchor="t" lIns="45720" rIns="45720" tIns="27432" bIns="27432">
            <a:spAutoFit/>
          </a:bodyPr>
          <a:lstStyle/>
          <a:p>
            <a:pPr algn="l"/>
            <a:r>
              <a:rPr sz="2000" b="0" i="0">
                <a:solidFill>
                  <a:srgbClr val="C9D3E6"/>
                </a:solidFill>
                <a:latin typeface="Calibri"/>
              </a:rPr>
              <a:t>Carnegie Mellon University</a:t>
            </a:r>
          </a:p>
        </p:txBody>
      </p:sp>
      <p:sp>
        <p:nvSpPr>
          <p:cNvPr id="7" name="TextBox 6"/>
          <p:cNvSpPr txBox="1"/>
          <p:nvPr/>
        </p:nvSpPr>
        <p:spPr>
          <a:xfrm>
            <a:off x="777240" y="4572000"/>
            <a:ext cx="10058400" cy="457200"/>
          </a:xfrm>
          <a:prstGeom prst="rect">
            <a:avLst/>
          </a:prstGeom>
          <a:noFill/>
        </p:spPr>
        <p:txBody>
          <a:bodyPr wrap="square" anchor="t" lIns="45720" rIns="45720" tIns="27432" bIns="27432">
            <a:spAutoFit/>
          </a:bodyPr>
          <a:lstStyle/>
          <a:p>
            <a:pPr algn="l"/>
            <a:r>
              <a:rPr sz="2000" b="0" i="0">
                <a:solidFill>
                  <a:srgbClr val="C9D3E6"/>
                </a:solidFill>
                <a:latin typeface="Calibri"/>
              </a:rPr>
              <a:t>FMCAD 2026</a:t>
            </a:r>
          </a:p>
        </p:txBody>
      </p:sp>
      <p:sp>
        <p:nvSpPr>
          <p:cNvPr id="8" name="TextBox 7"/>
          <p:cNvSpPr txBox="1"/>
          <p:nvPr/>
        </p:nvSpPr>
        <p:spPr>
          <a:xfrm>
            <a:off x="777240" y="6035040"/>
            <a:ext cx="5486400" cy="365760"/>
          </a:xfrm>
          <a:prstGeom prst="rect">
            <a:avLst/>
          </a:prstGeom>
          <a:noFill/>
        </p:spPr>
        <p:txBody>
          <a:bodyPr wrap="square" anchor="t" lIns="45720" rIns="45720" tIns="27432" bIns="27432">
            <a:spAutoFit/>
          </a:bodyPr>
          <a:lstStyle/>
          <a:p>
            <a:pPr algn="l"/>
            <a:r>
              <a:rPr sz="1300" b="0" i="0">
                <a:solidFill>
                  <a:srgbClr val="9AA8C4"/>
                </a:solidFill>
                <a:latin typeface="Calibri"/>
              </a:rPr>
              <a:t>* equal contribution</a:t>
            </a:r>
          </a:p>
        </p:txBody>
      </p:sp>
      <p:sp>
        <p:nvSpPr>
          <p:cNvPr id="9" name="TextBox 8"/>
          <p:cNvSpPr txBox="1"/>
          <p:nvPr/>
        </p:nvSpPr>
        <p:spPr>
          <a:xfrm>
            <a:off x="6675120" y="6035040"/>
            <a:ext cx="5120640" cy="365760"/>
          </a:xfrm>
          <a:prstGeom prst="rect">
            <a:avLst/>
          </a:prstGeom>
          <a:noFill/>
        </p:spPr>
        <p:txBody>
          <a:bodyPr wrap="square" anchor="t" lIns="45720" rIns="45720" tIns="27432" bIns="27432">
            <a:spAutoFit/>
          </a:bodyPr>
          <a:lstStyle/>
          <a:p>
            <a:pPr algn="r"/>
            <a:r>
              <a:rPr sz="1300" b="0" i="0">
                <a:solidFill>
                  <a:srgbClr val="9AA8C4"/>
                </a:solidFill>
                <a:latin typeface="Calibri"/>
              </a:rPr>
              <a:t>github.com/amarshah10/ParallelEgraph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548640" y="1371600"/>
            <a:ext cx="6400800" cy="4114800"/>
          </a:xfrm>
          <a:prstGeom prst="rect">
            <a:avLst/>
          </a:prstGeom>
          <a:noFill/>
        </p:spPr>
        <p:txBody>
          <a:bodyPr wrap="square" lIns="45720" rIns="45720">
            <a:spAutoFit/>
          </a:bodyPr>
          <a:lstStyle/>
          <a:p>
            <a:pPr marL="274320" indent="-237744">
              <a:spcBef>
                <a:spcPts val="600"/>
              </a:spcBef>
              <a:buClr>
                <a:srgbClr val="6B717A"/>
              </a:buClr>
              <a:buChar char="•"/>
            </a:pPr>
            <a:r>
              <a:rPr sz="2000" b="1" i="0">
                <a:solidFill>
                  <a:srgbClr val="2B2F36"/>
                </a:solidFill>
                <a:latin typeface="Calibri"/>
              </a:rPr>
              <a:t>Input:</a:t>
            </a:r>
            <a:r>
              <a:rPr sz="2000" b="0" i="0">
                <a:solidFill>
                  <a:srgbClr val="2B2F36"/>
                </a:solidFill>
                <a:latin typeface="Calibri"/>
              </a:rPr>
              <a:t> terms over uninterpreted functions, equalities E</a:t>
            </a:r>
          </a:p>
          <a:p>
            <a:pPr marL="274320" indent="-237744">
              <a:spcBef>
                <a:spcPts val="600"/>
              </a:spcBef>
              <a:buClr>
                <a:srgbClr val="6B717A"/>
              </a:buClr>
              <a:buChar char="•"/>
            </a:pPr>
            <a:r>
              <a:rPr sz="2000" b="1" i="0">
                <a:solidFill>
                  <a:srgbClr val="2B2F36"/>
                </a:solidFill>
                <a:latin typeface="Calibri"/>
              </a:rPr>
              <a:t>Output:</a:t>
            </a:r>
            <a:r>
              <a:rPr sz="2000" b="0" i="0">
                <a:solidFill>
                  <a:srgbClr val="2B2F36"/>
                </a:solidFill>
                <a:latin typeface="Calibri"/>
              </a:rPr>
              <a:t> smallest equivalence relation ⊇ E closed under congruence</a:t>
            </a:r>
          </a:p>
          <a:p>
            <a:pPr marL="274320" indent="-237744">
              <a:spcBef>
                <a:spcPts val="600"/>
              </a:spcBef>
              <a:buClr>
                <a:srgbClr val="6B717A"/>
              </a:buClr>
              <a:buChar char="•"/>
            </a:pPr>
            <a:r>
              <a:rPr sz="2000" b="1" i="0">
                <a:solidFill>
                  <a:srgbClr val="2B2F36"/>
                </a:solidFill>
                <a:latin typeface="Calibri"/>
              </a:rPr>
              <a:t>Deciding a query</a:t>
            </a:r>
            <a:r>
              <a:rPr sz="2000" b="0" i="0">
                <a:solidFill>
                  <a:srgbClr val="2B2F36"/>
                </a:solidFill>
                <a:latin typeface="Calibri"/>
              </a:rPr>
              <a:t> s ≠ t: unsatisfiable iff s ≡ t</a:t>
            </a:r>
          </a:p>
          <a:p>
            <a:pPr marL="274320" indent="-237744">
              <a:spcBef>
                <a:spcPts val="600"/>
              </a:spcBef>
              <a:buClr>
                <a:srgbClr val="6B717A"/>
              </a:buClr>
              <a:buChar char="•"/>
            </a:pPr>
            <a:r>
              <a:rPr sz="2000" b="1" i="0">
                <a:solidFill>
                  <a:srgbClr val="2B2F36"/>
                </a:solidFill>
                <a:latin typeface="Calibri"/>
              </a:rPr>
              <a:t>Standard engine:</a:t>
            </a:r>
            <a:r>
              <a:rPr sz="2000" b="0" i="0">
                <a:solidFill>
                  <a:srgbClr val="2B2F36"/>
                </a:solidFill>
                <a:latin typeface="Calibri"/>
              </a:rPr>
              <a:t> union-find + signature table (an e-graph)</a:t>
            </a:r>
          </a:p>
          <a:p>
            <a:pPr marL="585216" indent="-237744">
              <a:spcBef>
                <a:spcPts val="200"/>
              </a:spcBef>
              <a:buClr>
                <a:srgbClr val="6B717A"/>
              </a:buClr>
              <a:buChar char="–"/>
            </a:pPr>
            <a:r>
              <a:rPr sz="1700" b="0" i="0">
                <a:solidFill>
                  <a:srgbClr val="2B2F36"/>
                </a:solidFill>
                <a:latin typeface="Calibri"/>
              </a:rPr>
              <a:t>Nelson &amp; Oppen 1980, Downey, Sethi &amp; Tarjan 1980, Nieuwenhuis &amp; Oliveras 2007</a:t>
            </a:r>
          </a:p>
        </p:txBody>
      </p:sp>
      <p:sp>
        <p:nvSpPr>
          <p:cNvPr id="7" name="Rounded Rectangle 6"/>
          <p:cNvSpPr/>
          <p:nvPr/>
        </p:nvSpPr>
        <p:spPr>
          <a:xfrm>
            <a:off x="822960" y="4709160"/>
            <a:ext cx="5669280" cy="123444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8" name="TextBox 7"/>
          <p:cNvSpPr txBox="1"/>
          <p:nvPr/>
        </p:nvSpPr>
        <p:spPr>
          <a:xfrm>
            <a:off x="960120" y="4754880"/>
            <a:ext cx="2743200" cy="320040"/>
          </a:xfrm>
          <a:prstGeom prst="rect">
            <a:avLst/>
          </a:prstGeom>
          <a:noFill/>
        </p:spPr>
        <p:txBody>
          <a:bodyPr wrap="square" anchor="t" lIns="45720" rIns="45720" tIns="27432" bIns="27432">
            <a:spAutoFit/>
          </a:bodyPr>
          <a:lstStyle/>
          <a:p>
            <a:pPr algn="l"/>
            <a:r>
              <a:rPr sz="1300" b="1" i="0">
                <a:solidFill>
                  <a:srgbClr val="6B717A"/>
                </a:solidFill>
                <a:latin typeface="Calibri"/>
              </a:rPr>
              <a:t>Congruence rule</a:t>
            </a:r>
          </a:p>
        </p:txBody>
      </p:sp>
      <p:sp>
        <p:nvSpPr>
          <p:cNvPr id="9" name="TextBox 8"/>
          <p:cNvSpPr txBox="1"/>
          <p:nvPr/>
        </p:nvSpPr>
        <p:spPr>
          <a:xfrm>
            <a:off x="960120" y="5029200"/>
            <a:ext cx="5394960" cy="365760"/>
          </a:xfrm>
          <a:prstGeom prst="rect">
            <a:avLst/>
          </a:prstGeom>
          <a:noFill/>
        </p:spPr>
        <p:txBody>
          <a:bodyPr wrap="square" anchor="t" lIns="45720" rIns="45720" tIns="27432" bIns="27432">
            <a:spAutoFit/>
          </a:bodyPr>
          <a:lstStyle/>
          <a:p>
            <a:pPr algn="ctr"/>
            <a:r>
              <a:rPr sz="2000" b="0" i="0">
                <a:solidFill>
                  <a:srgbClr val="2B2F36"/>
                </a:solidFill>
                <a:latin typeface="Calibri"/>
              </a:rPr>
              <a:t>s₁ ≡ t₁    …    sₖ ≡ tₖ</a:t>
            </a:r>
          </a:p>
        </p:txBody>
      </p:sp>
      <p:cxnSp>
        <p:nvCxnSpPr>
          <p:cNvPr id="10" name="Connector 9"/>
          <p:cNvCxnSpPr/>
          <p:nvPr/>
        </p:nvCxnSpPr>
        <p:spPr>
          <a:xfrm>
            <a:off x="1554480" y="5440680"/>
            <a:ext cx="4297680" cy="0"/>
          </a:xfrm>
          <a:prstGeom prst="line">
            <a:avLst/>
          </a:prstGeom>
          <a:ln w="19050">
            <a:solidFill>
              <a:srgbClr val="2B2F36"/>
            </a:solidFill>
          </a:ln>
          <a:effectLst/>
        </p:spPr>
      </p:cxnSp>
      <p:sp>
        <p:nvSpPr>
          <p:cNvPr id="11" name="TextBox 10"/>
          <p:cNvSpPr txBox="1"/>
          <p:nvPr/>
        </p:nvSpPr>
        <p:spPr>
          <a:xfrm>
            <a:off x="960120" y="5486400"/>
            <a:ext cx="5394960" cy="365760"/>
          </a:xfrm>
          <a:prstGeom prst="rect">
            <a:avLst/>
          </a:prstGeom>
          <a:noFill/>
        </p:spPr>
        <p:txBody>
          <a:bodyPr wrap="square" anchor="t" lIns="45720" rIns="45720" tIns="27432" bIns="27432">
            <a:spAutoFit/>
          </a:bodyPr>
          <a:lstStyle/>
          <a:p>
            <a:pPr algn="ctr"/>
            <a:r>
              <a:rPr sz="2000" b="0" i="0">
                <a:solidFill>
                  <a:srgbClr val="2B2F36"/>
                </a:solidFill>
                <a:latin typeface="Calibri"/>
              </a:rPr>
              <a:t>f(s₁, …, sₖ) ≡ f(t₁, …, tₖ)</a:t>
            </a:r>
          </a:p>
        </p:txBody>
      </p:sp>
      <p:sp>
        <p:nvSpPr>
          <p:cNvPr id="12" name="Rounded Rectangle 11"/>
          <p:cNvSpPr/>
          <p:nvPr/>
        </p:nvSpPr>
        <p:spPr>
          <a:xfrm>
            <a:off x="7223760" y="1463040"/>
            <a:ext cx="4480560" cy="320040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3" name="TextBox 12"/>
          <p:cNvSpPr txBox="1"/>
          <p:nvPr/>
        </p:nvSpPr>
        <p:spPr>
          <a:xfrm>
            <a:off x="7406640" y="1554480"/>
            <a:ext cx="2743200" cy="365760"/>
          </a:xfrm>
          <a:prstGeom prst="rect">
            <a:avLst/>
          </a:prstGeom>
          <a:noFill/>
        </p:spPr>
        <p:txBody>
          <a:bodyPr wrap="square" anchor="t" lIns="45720" rIns="45720" tIns="27432" bIns="27432">
            <a:spAutoFit/>
          </a:bodyPr>
          <a:lstStyle/>
          <a:p>
            <a:pPr algn="l"/>
            <a:r>
              <a:rPr sz="1600" b="1" i="0">
                <a:solidFill>
                  <a:srgbClr val="1F2A44"/>
                </a:solidFill>
                <a:latin typeface="Calibri"/>
              </a:rPr>
              <a:t>Example</a:t>
            </a:r>
          </a:p>
        </p:txBody>
      </p:sp>
      <p:sp>
        <p:nvSpPr>
          <p:cNvPr id="14" name="TextBox 13"/>
          <p:cNvSpPr txBox="1"/>
          <p:nvPr/>
        </p:nvSpPr>
        <p:spPr>
          <a:xfrm>
            <a:off x="7406640" y="2011680"/>
            <a:ext cx="4114800" cy="457200"/>
          </a:xfrm>
          <a:prstGeom prst="rect">
            <a:avLst/>
          </a:prstGeom>
          <a:noFill/>
        </p:spPr>
        <p:txBody>
          <a:bodyPr wrap="square" anchor="t" lIns="45720" rIns="45720" tIns="27432" bIns="27432">
            <a:spAutoFit/>
          </a:bodyPr>
          <a:lstStyle/>
          <a:p>
            <a:pPr algn="l"/>
            <a:r>
              <a:rPr sz="2200" b="1" i="0">
                <a:solidFill>
                  <a:srgbClr val="2B2F36"/>
                </a:solidFill>
                <a:latin typeface="Calibri"/>
              </a:rPr>
              <a:t>a = b        b = c        f(a) ≠ f(c)</a:t>
            </a:r>
          </a:p>
        </p:txBody>
      </p:sp>
      <p:sp>
        <p:nvSpPr>
          <p:cNvPr id="15" name="TextBox 14"/>
          <p:cNvSpPr txBox="1"/>
          <p:nvPr/>
        </p:nvSpPr>
        <p:spPr>
          <a:xfrm>
            <a:off x="7406640" y="2651760"/>
            <a:ext cx="4114800" cy="2743200"/>
          </a:xfrm>
          <a:prstGeom prst="rect">
            <a:avLst/>
          </a:prstGeom>
          <a:noFill/>
        </p:spPr>
        <p:txBody>
          <a:bodyPr wrap="square" lIns="45720" rIns="45720">
            <a:spAutoFit/>
          </a:bodyPr>
          <a:lstStyle/>
          <a:p>
            <a:pPr marL="274320" indent="-237744">
              <a:spcBef>
                <a:spcPts val="1000"/>
              </a:spcBef>
              <a:buClr>
                <a:srgbClr val="6B717A"/>
              </a:buClr>
              <a:buChar char="•"/>
            </a:pPr>
            <a:r>
              <a:rPr sz="1900" b="0" i="0">
                <a:solidFill>
                  <a:srgbClr val="2B2F36"/>
                </a:solidFill>
                <a:latin typeface="Calibri"/>
              </a:rPr>
              <a:t>transitivity:   a ≡ c</a:t>
            </a:r>
          </a:p>
          <a:p>
            <a:pPr marL="274320" indent="-237744">
              <a:spcBef>
                <a:spcPts val="1000"/>
              </a:spcBef>
              <a:buClr>
                <a:srgbClr val="6B717A"/>
              </a:buClr>
              <a:buChar char="•"/>
            </a:pPr>
            <a:r>
              <a:rPr sz="1900" b="0" i="0">
                <a:solidFill>
                  <a:srgbClr val="2B2F36"/>
                </a:solidFill>
                <a:latin typeface="Calibri"/>
              </a:rPr>
              <a:t>congruence:   f(a) ≡ f(c)</a:t>
            </a:r>
          </a:p>
          <a:p>
            <a:pPr marL="274320" indent="-237744">
              <a:spcBef>
                <a:spcPts val="1000"/>
              </a:spcBef>
              <a:buClr>
                <a:srgbClr val="6B717A"/>
              </a:buClr>
              <a:buChar char="•"/>
            </a:pPr>
            <a:r>
              <a:rPr sz="1900" b="0" i="0">
                <a:solidFill>
                  <a:srgbClr val="2B2F36"/>
                </a:solidFill>
                <a:latin typeface="Calibri"/>
              </a:rPr>
              <a:t>contradicts f(a) ≠ f(c)</a:t>
            </a:r>
          </a:p>
          <a:p>
            <a:pPr marL="274320" indent="-237744">
              <a:spcBef>
                <a:spcPts val="1000"/>
              </a:spcBef>
              <a:buClr>
                <a:srgbClr val="6B717A"/>
              </a:buClr>
              <a:buChar char="•"/>
            </a:pPr>
            <a:r>
              <a:rPr sz="1900" b="1" i="0">
                <a:solidFill>
                  <a:srgbClr val="2B2F36"/>
                </a:solidFill>
                <a:latin typeface="Calibri"/>
              </a:rPr>
              <a:t>⇒ unsatisfiable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Where congruence closure runs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640080" y="1371600"/>
            <a:ext cx="4572000" cy="411480"/>
          </a:xfrm>
          <a:prstGeom prst="rect">
            <a:avLst/>
          </a:prstGeom>
          <a:noFill/>
        </p:spPr>
        <p:txBody>
          <a:bodyPr wrap="square" anchor="t" lIns="45720" rIns="45720" tIns="27432" bIns="27432">
            <a:spAutoFit/>
          </a:bodyPr>
          <a:lstStyle/>
          <a:p>
            <a:pPr algn="l"/>
            <a:r>
              <a:rPr sz="2200" b="1" i="0">
                <a:solidFill>
                  <a:srgbClr val="1F2A44"/>
                </a:solidFill>
                <a:latin typeface="Calibri"/>
              </a:rPr>
              <a:t>Engines</a:t>
            </a:r>
          </a:p>
        </p:txBody>
      </p:sp>
      <p:sp>
        <p:nvSpPr>
          <p:cNvPr id="7" name="TextBox 6"/>
          <p:cNvSpPr txBox="1"/>
          <p:nvPr/>
        </p:nvSpPr>
        <p:spPr>
          <a:xfrm>
            <a:off x="548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SMT solvers</a:t>
            </a:r>
            <a:r>
              <a:rPr sz="1900" b="0" i="0">
                <a:solidFill>
                  <a:srgbClr val="2B2F36"/>
                </a:solidFill>
                <a:latin typeface="Calibri"/>
              </a:rPr>
              <a:t>: Z3, cvc5 (theory of uninterpreted functions)</a:t>
            </a:r>
          </a:p>
          <a:p>
            <a:pPr marL="274320" indent="-237744">
              <a:spcBef>
                <a:spcPts val="600"/>
              </a:spcBef>
              <a:buClr>
                <a:srgbClr val="6B717A"/>
              </a:buClr>
              <a:buChar char="•"/>
            </a:pPr>
            <a:r>
              <a:rPr sz="1900" b="1" i="0">
                <a:solidFill>
                  <a:srgbClr val="2B2F36"/>
                </a:solidFill>
                <a:latin typeface="Calibri"/>
              </a:rPr>
              <a:t>SAT solvers</a:t>
            </a:r>
            <a:r>
              <a:rPr sz="1900" b="0" i="0">
                <a:solidFill>
                  <a:srgbClr val="2B2F36"/>
                </a:solidFill>
                <a:latin typeface="Calibri"/>
              </a:rPr>
              <a:t>: Kissat (clausal congruence closure)</a:t>
            </a:r>
          </a:p>
          <a:p>
            <a:pPr marL="274320" indent="-237744">
              <a:spcBef>
                <a:spcPts val="600"/>
              </a:spcBef>
              <a:buClr>
                <a:srgbClr val="6B717A"/>
              </a:buClr>
              <a:buChar char="•"/>
            </a:pPr>
            <a:r>
              <a:rPr sz="1900" b="1" i="0">
                <a:solidFill>
                  <a:srgbClr val="2B2F36"/>
                </a:solidFill>
                <a:latin typeface="Calibri"/>
              </a:rPr>
              <a:t>Equality saturation</a:t>
            </a:r>
            <a:r>
              <a:rPr sz="1900" b="0" i="0">
                <a:solidFill>
                  <a:srgbClr val="2B2F36"/>
                </a:solidFill>
                <a:latin typeface="Calibri"/>
              </a:rPr>
              <a:t>: egg, egglog</a:t>
            </a:r>
          </a:p>
          <a:p>
            <a:pPr marL="274320" indent="-237744">
              <a:spcBef>
                <a:spcPts val="600"/>
              </a:spcBef>
              <a:buClr>
                <a:srgbClr val="6B717A"/>
              </a:buClr>
              <a:buChar char="•"/>
            </a:pPr>
            <a:r>
              <a:rPr sz="1900" b="1" i="0">
                <a:solidFill>
                  <a:srgbClr val="2B2F36"/>
                </a:solidFill>
                <a:latin typeface="Calibri"/>
              </a:rPr>
              <a:t>Type unification</a:t>
            </a:r>
          </a:p>
        </p:txBody>
      </p:sp>
      <p:sp>
        <p:nvSpPr>
          <p:cNvPr id="8" name="TextBox 7"/>
          <p:cNvSpPr txBox="1"/>
          <p:nvPr/>
        </p:nvSpPr>
        <p:spPr>
          <a:xfrm>
            <a:off x="6355080" y="1371600"/>
            <a:ext cx="4572000" cy="411480"/>
          </a:xfrm>
          <a:prstGeom prst="rect">
            <a:avLst/>
          </a:prstGeom>
          <a:noFill/>
        </p:spPr>
        <p:txBody>
          <a:bodyPr wrap="square" anchor="t" lIns="45720" rIns="45720" tIns="27432" bIns="27432">
            <a:spAutoFit/>
          </a:bodyPr>
          <a:lstStyle/>
          <a:p>
            <a:pPr algn="l"/>
            <a:r>
              <a:rPr sz="2200" b="1" i="0">
                <a:solidFill>
                  <a:srgbClr val="1F2A44"/>
                </a:solidFill>
                <a:latin typeface="Calibri"/>
              </a:rPr>
              <a:t>Applications</a:t>
            </a:r>
          </a:p>
        </p:txBody>
      </p:sp>
      <p:sp>
        <p:nvSpPr>
          <p:cNvPr id="9" name="TextBox 8"/>
          <p:cNvSpPr txBox="1"/>
          <p:nvPr/>
        </p:nvSpPr>
        <p:spPr>
          <a:xfrm>
            <a:off x="6263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Circuit equivalence checking</a:t>
            </a:r>
          </a:p>
          <a:p>
            <a:pPr marL="274320" indent="-237744">
              <a:spcBef>
                <a:spcPts val="600"/>
              </a:spcBef>
              <a:buClr>
                <a:srgbClr val="6B717A"/>
              </a:buClr>
              <a:buChar char="•"/>
            </a:pPr>
            <a:r>
              <a:rPr sz="1900" b="1" i="0">
                <a:solidFill>
                  <a:srgbClr val="2B2F36"/>
                </a:solidFill>
                <a:latin typeface="Calibri"/>
              </a:rPr>
              <a:t>Software verification</a:t>
            </a:r>
            <a:r>
              <a:rPr sz="1900" b="0" i="0">
                <a:solidFill>
                  <a:srgbClr val="2B2F36"/>
                </a:solidFill>
                <a:latin typeface="Calibri"/>
              </a:rPr>
              <a:t>: Dafny, Verus</a:t>
            </a:r>
          </a:p>
          <a:p>
            <a:pPr marL="274320" indent="-237744">
              <a:spcBef>
                <a:spcPts val="600"/>
              </a:spcBef>
              <a:buClr>
                <a:srgbClr val="6B717A"/>
              </a:buClr>
              <a:buChar char="•"/>
            </a:pPr>
            <a:r>
              <a:rPr sz="1900" b="1" i="0">
                <a:solidFill>
                  <a:srgbClr val="2B2F36"/>
                </a:solidFill>
                <a:latin typeface="Calibri"/>
              </a:rPr>
              <a:t>Hardware design</a:t>
            </a:r>
          </a:p>
          <a:p>
            <a:pPr marL="274320" indent="-237744">
              <a:spcBef>
                <a:spcPts val="600"/>
              </a:spcBef>
              <a:buClr>
                <a:srgbClr val="6B717A"/>
              </a:buClr>
              <a:buChar char="•"/>
            </a:pPr>
            <a:r>
              <a:rPr sz="1900" b="1" i="0">
                <a:solidFill>
                  <a:srgbClr val="2B2F36"/>
                </a:solidFill>
                <a:latin typeface="Calibri"/>
              </a:rPr>
              <a:t>Theorem proving</a:t>
            </a:r>
            <a:r>
              <a:rPr sz="1900" b="0" i="0">
                <a:solidFill>
                  <a:srgbClr val="2B2F36"/>
                </a:solidFill>
                <a:latin typeface="Calibri"/>
              </a:rPr>
              <a:t>: Lean grind</a:t>
            </a:r>
          </a:p>
        </p:txBody>
      </p:sp>
      <p:sp>
        <p:nvSpPr>
          <p:cNvPr id="10" name="Rounded Rectangle 9"/>
          <p:cNvSpPr/>
          <p:nvPr/>
        </p:nvSpPr>
        <p:spPr>
          <a:xfrm>
            <a:off x="548640" y="4297680"/>
            <a:ext cx="11064240" cy="914400"/>
          </a:xfrm>
          <a:prstGeom prst="roundRect">
            <a:avLst>
              <a:gd name="adj" fmla="val 15000"/>
            </a:avLst>
          </a:prstGeom>
          <a:solidFill>
            <a:srgbClr val="F4F5F7"/>
          </a:solidFill>
          <a:ln>
            <a:noFill/>
          </a:ln>
          <a:effectLst/>
        </p:spPr>
        <p:txBody>
          <a:bodyPr rtlCol="0" anchor="ctr" lIns="54864" rIns="54864" tIns="27432" bIns="27432" wrap="square"/>
          <a:lstStyle/>
          <a:p>
            <a:pPr algn="ctr"/>
            <a:r>
              <a:rPr sz="2000" b="1" i="0">
                <a:solidFill>
                  <a:srgbClr val="1F2A44"/>
                </a:solidFill>
                <a:latin typeface="Calibri"/>
              </a:rPr>
              <a:t>Performance critical: called millions of times inside a solver run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Sequential in practice, hard in theory</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548640" y="1371600"/>
            <a:ext cx="10972800" cy="3657600"/>
          </a:xfrm>
          <a:prstGeom prst="rect">
            <a:avLst/>
          </a:prstGeom>
          <a:noFill/>
        </p:spPr>
        <p:txBody>
          <a:bodyPr wrap="square" lIns="45720" rIns="45720">
            <a:spAutoFit/>
          </a:bodyPr>
          <a:lstStyle/>
          <a:p>
            <a:pPr marL="274320" indent="-237744">
              <a:spcBef>
                <a:spcPts val="1000"/>
              </a:spcBef>
              <a:buClr>
                <a:srgbClr val="6B717A"/>
              </a:buClr>
              <a:buChar char="•"/>
            </a:pPr>
            <a:r>
              <a:rPr sz="2100" b="1" i="0">
                <a:solidFill>
                  <a:srgbClr val="2B2F36"/>
                </a:solidFill>
                <a:latin typeface="Calibri"/>
              </a:rPr>
              <a:t>All existing congruence closure implementations are sequential</a:t>
            </a:r>
          </a:p>
          <a:p>
            <a:pPr marL="585216" indent="-237744">
              <a:spcBef>
                <a:spcPts val="200"/>
              </a:spcBef>
              <a:buClr>
                <a:srgbClr val="6B717A"/>
              </a:buClr>
              <a:buChar char="–"/>
            </a:pPr>
            <a:r>
              <a:rPr sz="1800" b="0" i="0">
                <a:solidFill>
                  <a:srgbClr val="2B2F36"/>
                </a:solidFill>
                <a:latin typeface="Calibri"/>
              </a:rPr>
              <a:t>worklist algorithms in the style of Nelson &amp; Oppen</a:t>
            </a:r>
          </a:p>
          <a:p>
            <a:pPr marL="274320" indent="-237744">
              <a:spcBef>
                <a:spcPts val="1000"/>
              </a:spcBef>
              <a:buClr>
                <a:srgbClr val="6B717A"/>
              </a:buClr>
              <a:buChar char="•"/>
            </a:pPr>
            <a:r>
              <a:rPr sz="2100" b="1" i="0">
                <a:solidFill>
                  <a:srgbClr val="2B2F36"/>
                </a:solidFill>
                <a:latin typeface="Calibri"/>
              </a:rPr>
              <a:t>Multicore is the default</a:t>
            </a:r>
            <a:r>
              <a:rPr sz="2100" b="0" i="0">
                <a:solidFill>
                  <a:srgbClr val="2B2F36"/>
                </a:solidFill>
                <a:latin typeface="Calibri"/>
              </a:rPr>
              <a:t>: our test machine has 96 cores, 192 hardware threads</a:t>
            </a:r>
          </a:p>
          <a:p>
            <a:pPr marL="274320" indent="-237744">
              <a:spcBef>
                <a:spcPts val="1000"/>
              </a:spcBef>
              <a:buClr>
                <a:srgbClr val="6B717A"/>
              </a:buClr>
              <a:buChar char="•"/>
            </a:pPr>
            <a:r>
              <a:rPr sz="2100" b="1" i="0">
                <a:solidFill>
                  <a:srgbClr val="2B2F36"/>
                </a:solidFill>
                <a:latin typeface="Calibri"/>
              </a:rPr>
              <a:t>P-complete</a:t>
            </a:r>
            <a:r>
              <a:rPr sz="2100" b="0" i="0">
                <a:solidFill>
                  <a:srgbClr val="2B2F36"/>
                </a:solidFill>
                <a:latin typeface="Calibri"/>
              </a:rPr>
              <a:t> (Kanellakis &amp; Revesz 1989)</a:t>
            </a:r>
          </a:p>
          <a:p>
            <a:pPr marL="585216" indent="-237744">
              <a:spcBef>
                <a:spcPts val="200"/>
              </a:spcBef>
              <a:buClr>
                <a:srgbClr val="6B717A"/>
              </a:buClr>
              <a:buChar char="–"/>
            </a:pPr>
            <a:r>
              <a:rPr sz="1800" b="0" i="0">
                <a:solidFill>
                  <a:srgbClr val="2B2F36"/>
                </a:solidFill>
                <a:latin typeface="Calibri"/>
              </a:rPr>
              <a:t>polylogarithmic span with polynomial work is not expected</a:t>
            </a:r>
          </a:p>
          <a:p>
            <a:pPr marL="585216" indent="-237744">
              <a:spcBef>
                <a:spcPts val="200"/>
              </a:spcBef>
              <a:buClr>
                <a:srgbClr val="6B717A"/>
              </a:buClr>
              <a:buChar char="–"/>
            </a:pPr>
            <a:r>
              <a:rPr sz="1800" b="0" i="0">
                <a:solidFill>
                  <a:srgbClr val="2B2F36"/>
                </a:solidFill>
                <a:latin typeface="Calibri"/>
              </a:rPr>
              <a:t>worst-case instances force a long chain of dependent merges</a:t>
            </a:r>
          </a:p>
        </p:txBody>
      </p:sp>
      <p:sp>
        <p:nvSpPr>
          <p:cNvPr id="7" name="Rounded Rectangle 6"/>
          <p:cNvSpPr/>
          <p:nvPr/>
        </p:nvSpPr>
        <p:spPr>
          <a:xfrm>
            <a:off x="548640" y="4572000"/>
            <a:ext cx="11064240" cy="1097280"/>
          </a:xfrm>
          <a:prstGeom prst="roundRect">
            <a:avLst>
              <a:gd name="adj" fmla="val 15000"/>
            </a:avLst>
          </a:prstGeom>
          <a:solidFill>
            <a:srgbClr val="1F2A44"/>
          </a:solidFill>
          <a:ln>
            <a:noFill/>
          </a:ln>
          <a:effectLst/>
        </p:spPr>
        <p:txBody>
          <a:bodyPr rtlCol="0" anchor="ctr" lIns="54864" rIns="54864" tIns="27432" bIns="27432" wrap="square"/>
          <a:lstStyle/>
          <a:p>
            <a:pPr algn="ctr"/>
            <a:r>
              <a:rPr sz="2100" b="1" i="0">
                <a:solidFill>
                  <a:srgbClr val="FFFFFF"/>
                </a:solidFill>
                <a:latin typeface="Calibri"/>
              </a:rPr>
              <a:t>Question: do practical instances expose enough independent merges for real speedups?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Contributions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40080" y="1463040"/>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1</a:t>
            </a:r>
          </a:p>
        </p:txBody>
      </p:sp>
      <p:sp>
        <p:nvSpPr>
          <p:cNvPr id="7" name="TextBox 6"/>
          <p:cNvSpPr txBox="1"/>
          <p:nvPr/>
        </p:nvSpPr>
        <p:spPr>
          <a:xfrm>
            <a:off x="1417320" y="1399032"/>
            <a:ext cx="10058400" cy="457200"/>
          </a:xfrm>
          <a:prstGeom prst="rect">
            <a:avLst/>
          </a:prstGeom>
          <a:noFill/>
        </p:spPr>
        <p:txBody>
          <a:bodyPr wrap="square" anchor="t" lIns="45720" rIns="45720" tIns="27432" bIns="27432">
            <a:spAutoFit/>
          </a:bodyPr>
          <a:lstStyle/>
          <a:p>
            <a:pPr algn="l"/>
            <a:r>
              <a:rPr sz="2200" b="1" i="0">
                <a:solidFill>
                  <a:srgbClr val="1F2A44"/>
                </a:solidFill>
                <a:latin typeface="Calibri"/>
              </a:rPr>
              <a:t>Two parallel algorithms: ParentCC and FilterCC</a:t>
            </a:r>
          </a:p>
        </p:txBody>
      </p:sp>
      <p:sp>
        <p:nvSpPr>
          <p:cNvPr id="8" name="TextBox 7"/>
          <p:cNvSpPr txBox="1"/>
          <p:nvPr/>
        </p:nvSpPr>
        <p:spPr>
          <a:xfrm>
            <a:off x="1417320" y="1828800"/>
            <a:ext cx="10058400" cy="457200"/>
          </a:xfrm>
          <a:prstGeom prst="rect">
            <a:avLst/>
          </a:prstGeom>
          <a:noFill/>
        </p:spPr>
        <p:txBody>
          <a:bodyPr wrap="square" anchor="t" lIns="45720" rIns="45720" tIns="27432" bIns="27432">
            <a:spAutoFit/>
          </a:bodyPr>
          <a:lstStyle/>
          <a:p>
            <a:pPr algn="l"/>
            <a:r>
              <a:rPr sz="1700" b="0" i="0">
                <a:solidFill>
                  <a:srgbClr val="6B717A"/>
                </a:solidFill>
                <a:latin typeface="Calibri"/>
              </a:rPr>
              <a:t>bulk-synchronous rounds of data-parallel primitives over a lock-free concurrent union-find</a:t>
            </a:r>
          </a:p>
        </p:txBody>
      </p:sp>
      <p:sp>
        <p:nvSpPr>
          <p:cNvPr id="9" name="Rounded Rectangle 8"/>
          <p:cNvSpPr/>
          <p:nvPr/>
        </p:nvSpPr>
        <p:spPr>
          <a:xfrm>
            <a:off x="640080" y="2651760"/>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2</a:t>
            </a:r>
          </a:p>
        </p:txBody>
      </p:sp>
      <p:sp>
        <p:nvSpPr>
          <p:cNvPr id="10" name="TextBox 9"/>
          <p:cNvSpPr txBox="1"/>
          <p:nvPr/>
        </p:nvSpPr>
        <p:spPr>
          <a:xfrm>
            <a:off x="1417320" y="2587752"/>
            <a:ext cx="10058400" cy="457200"/>
          </a:xfrm>
          <a:prstGeom prst="rect">
            <a:avLst/>
          </a:prstGeom>
          <a:noFill/>
        </p:spPr>
        <p:txBody>
          <a:bodyPr wrap="square" anchor="t" lIns="45720" rIns="45720" tIns="27432" bIns="27432">
            <a:spAutoFit/>
          </a:bodyPr>
          <a:lstStyle/>
          <a:p>
            <a:pPr algn="l"/>
            <a:r>
              <a:rPr sz="2200" b="1" i="0">
                <a:solidFill>
                  <a:srgbClr val="1F2A44"/>
                </a:solidFill>
                <a:latin typeface="Calibri"/>
              </a:rPr>
              <a:t>Workload characterization: congruence depth and width</a:t>
            </a:r>
          </a:p>
        </p:txBody>
      </p:sp>
      <p:sp>
        <p:nvSpPr>
          <p:cNvPr id="11" name="TextBox 10"/>
          <p:cNvSpPr txBox="1"/>
          <p:nvPr/>
        </p:nvSpPr>
        <p:spPr>
          <a:xfrm>
            <a:off x="1417320" y="3017520"/>
            <a:ext cx="10058400" cy="457200"/>
          </a:xfrm>
          <a:prstGeom prst="rect">
            <a:avLst/>
          </a:prstGeom>
          <a:noFill/>
        </p:spPr>
        <p:txBody>
          <a:bodyPr wrap="square" anchor="t" lIns="45720" rIns="45720" tIns="27432" bIns="27432">
            <a:spAutoFit/>
          </a:bodyPr>
          <a:lstStyle/>
          <a:p>
            <a:pPr algn="l"/>
            <a:r>
              <a:rPr sz="1700" b="0" i="0">
                <a:solidFill>
                  <a:srgbClr val="6B717A"/>
                </a:solidFill>
                <a:latin typeface="Calibri"/>
              </a:rPr>
              <a:t>width, the number of independent merges per round, is the dominant factor empirically</a:t>
            </a:r>
          </a:p>
        </p:txBody>
      </p:sp>
      <p:sp>
        <p:nvSpPr>
          <p:cNvPr id="12" name="Rounded Rectangle 11"/>
          <p:cNvSpPr/>
          <p:nvPr/>
        </p:nvSpPr>
        <p:spPr>
          <a:xfrm>
            <a:off x="640080" y="3840480"/>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3</a:t>
            </a:r>
          </a:p>
        </p:txBody>
      </p:sp>
      <p:sp>
        <p:nvSpPr>
          <p:cNvPr id="13" name="TextBox 12"/>
          <p:cNvSpPr txBox="1"/>
          <p:nvPr/>
        </p:nvSpPr>
        <p:spPr>
          <a:xfrm>
            <a:off x="1417320" y="3776472"/>
            <a:ext cx="10058400" cy="457200"/>
          </a:xfrm>
          <a:prstGeom prst="rect">
            <a:avLst/>
          </a:prstGeom>
          <a:noFill/>
        </p:spPr>
        <p:txBody>
          <a:bodyPr wrap="square" anchor="t" lIns="45720" rIns="45720" tIns="27432" bIns="27432">
            <a:spAutoFit/>
          </a:bodyPr>
          <a:lstStyle/>
          <a:p>
            <a:pPr algn="l"/>
            <a:r>
              <a:rPr sz="2200" b="1" i="0">
                <a:solidFill>
                  <a:srgbClr val="1F2A44"/>
                </a:solidFill>
                <a:latin typeface="Calibri"/>
              </a:rPr>
              <a:t>Evaluation on random, synthetic, and circuit-equivalence benchmarks</a:t>
            </a:r>
          </a:p>
        </p:txBody>
      </p:sp>
      <p:sp>
        <p:nvSpPr>
          <p:cNvPr id="14" name="TextBox 13"/>
          <p:cNvSpPr txBox="1"/>
          <p:nvPr/>
        </p:nvSpPr>
        <p:spPr>
          <a:xfrm>
            <a:off x="1417320" y="4206240"/>
            <a:ext cx="10058400" cy="457200"/>
          </a:xfrm>
          <a:prstGeom prst="rect">
            <a:avLst/>
          </a:prstGeom>
          <a:noFill/>
        </p:spPr>
        <p:txBody>
          <a:bodyPr wrap="square" anchor="t" lIns="45720" rIns="45720" tIns="27432" bIns="27432">
            <a:spAutoFit/>
          </a:bodyPr>
          <a:lstStyle/>
          <a:p>
            <a:pPr algn="l"/>
            <a:r>
              <a:rPr sz="1700" b="0" i="0">
                <a:solidFill>
                  <a:srgbClr val="6B717A"/>
                </a:solidFill>
                <a:latin typeface="Calibri"/>
              </a:rPr>
              <a:t>near-linear speedup up to 32 cores over a tuned sequential baseline</a:t>
            </a:r>
          </a:p>
        </p:txBody>
      </p:sp>
      <p:sp>
        <p:nvSpPr>
          <p:cNvPr id="15" name="Rounded Rectangle 14"/>
          <p:cNvSpPr/>
          <p:nvPr/>
        </p:nvSpPr>
        <p:spPr>
          <a:xfrm>
            <a:off x="640080" y="5029200"/>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4</a:t>
            </a:r>
          </a:p>
        </p:txBody>
      </p:sp>
      <p:sp>
        <p:nvSpPr>
          <p:cNvPr id="16" name="TextBox 15"/>
          <p:cNvSpPr txBox="1"/>
          <p:nvPr/>
        </p:nvSpPr>
        <p:spPr>
          <a:xfrm>
            <a:off x="1417320" y="4965192"/>
            <a:ext cx="10058400" cy="457200"/>
          </a:xfrm>
          <a:prstGeom prst="rect">
            <a:avLst/>
          </a:prstGeom>
          <a:noFill/>
        </p:spPr>
        <p:txBody>
          <a:bodyPr wrap="square" anchor="t" lIns="45720" rIns="45720" tIns="27432" bIns="27432">
            <a:spAutoFit/>
          </a:bodyPr>
          <a:lstStyle/>
          <a:p>
            <a:pPr algn="l"/>
            <a:r>
              <a:rPr sz="2200" b="1" i="0">
                <a:solidFill>
                  <a:srgbClr val="1F2A44"/>
                </a:solidFill>
                <a:latin typeface="Calibri"/>
              </a:rPr>
              <a:t>Open source implementation and benchmarks</a:t>
            </a:r>
          </a:p>
        </p:txBody>
      </p:sp>
      <p:sp>
        <p:nvSpPr>
          <p:cNvPr id="17" name="TextBox 16"/>
          <p:cNvSpPr txBox="1"/>
          <p:nvPr/>
        </p:nvSpPr>
        <p:spPr>
          <a:xfrm>
            <a:off x="1417320" y="5394960"/>
            <a:ext cx="10058400" cy="457200"/>
          </a:xfrm>
          <a:prstGeom prst="rect">
            <a:avLst/>
          </a:prstGeom>
          <a:noFill/>
        </p:spPr>
        <p:txBody>
          <a:bodyPr wrap="square" anchor="t" lIns="45720" rIns="45720" tIns="27432" bIns="27432">
            <a:spAutoFit/>
          </a:bodyPr>
          <a:lstStyle/>
          <a:p>
            <a:pPr algn="l"/>
            <a:r>
              <a:rPr sz="1700" b="0" i="0">
                <a:solidFill>
                  <a:srgbClr val="6B717A"/>
                </a:solidFill>
                <a:latin typeface="Calibri"/>
              </a:rPr>
              <a:t>github.com/amarshah10/ParallelEgraph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Setting: combinational 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1874519" y="5230368"/>
            <a:ext cx="2834640" cy="411480"/>
          </a:xfrm>
          <a:prstGeom prst="roundRect">
            <a:avLst>
              <a:gd name="adj" fmla="val 15000"/>
            </a:avLst>
          </a:prstGeom>
          <a:solidFill>
            <a:srgbClr val="EEF0F3"/>
          </a:solidFill>
          <a:ln w="15875">
            <a:solidFill>
              <a:srgbClr val="9AA0A8"/>
            </a:solidFill>
          </a:ln>
          <a:effectLst/>
        </p:spPr>
        <p:txBody>
          <a:bodyPr rtlCol="0" anchor="ctr" lIns="54864" rIns="54864" tIns="27432" bIns="27432" wrap="square"/>
          <a:lstStyle/>
          <a:p>
            <a:pPr algn="ctr"/>
            <a:r>
              <a:rPr sz="1300" b="0" i="0">
                <a:solidFill>
                  <a:srgbClr val="2B2F36"/>
                </a:solidFill>
                <a:latin typeface="Calibri"/>
              </a:rPr>
              <a:t>shared inputs  r, s, u, v, c</a:t>
            </a:r>
          </a:p>
        </p:txBody>
      </p:sp>
      <p:sp>
        <p:nvSpPr>
          <p:cNvPr id="7" name="Rounded Rectangle 6"/>
          <p:cNvSpPr/>
          <p:nvPr/>
        </p:nvSpPr>
        <p:spPr>
          <a:xfrm>
            <a:off x="1417320" y="3977639"/>
            <a:ext cx="1554480" cy="77724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1900" b="1" i="0">
                <a:solidFill>
                  <a:srgbClr val="1F2A44"/>
                </a:solidFill>
                <a:latin typeface="Calibri"/>
              </a:rPr>
              <a:t>C₁</a:t>
            </a:r>
          </a:p>
        </p:txBody>
      </p:sp>
      <p:sp>
        <p:nvSpPr>
          <p:cNvPr id="8" name="Rounded Rectangle 7"/>
          <p:cNvSpPr/>
          <p:nvPr/>
        </p:nvSpPr>
        <p:spPr>
          <a:xfrm>
            <a:off x="3611880" y="3977639"/>
            <a:ext cx="1554480" cy="77724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1900" b="1" i="0">
                <a:solidFill>
                  <a:srgbClr val="1F2A44"/>
                </a:solidFill>
                <a:latin typeface="Calibri"/>
              </a:rPr>
              <a:t>C₂</a:t>
            </a:r>
          </a:p>
        </p:txBody>
      </p:sp>
      <p:cxnSp>
        <p:nvCxnSpPr>
          <p:cNvPr id="9" name="Connector 8"/>
          <p:cNvCxnSpPr/>
          <p:nvPr/>
        </p:nvCxnSpPr>
        <p:spPr>
          <a:xfrm flipV="1">
            <a:off x="2194560" y="4754880"/>
            <a:ext cx="0" cy="475488"/>
          </a:xfrm>
          <a:prstGeom prst="line">
            <a:avLst/>
          </a:prstGeom>
          <a:ln w="15875">
            <a:solidFill>
              <a:srgbClr val="8A8F98"/>
            </a:solidFill>
            <a:tailEnd type="triangle" w="med" len="med"/>
          </a:ln>
          <a:effectLst/>
        </p:spPr>
      </p:cxnSp>
      <p:cxnSp>
        <p:nvCxnSpPr>
          <p:cNvPr id="10" name="Connector 9"/>
          <p:cNvCxnSpPr/>
          <p:nvPr/>
        </p:nvCxnSpPr>
        <p:spPr>
          <a:xfrm flipV="1">
            <a:off x="4389120" y="4754880"/>
            <a:ext cx="0" cy="475488"/>
          </a:xfrm>
          <a:prstGeom prst="line">
            <a:avLst/>
          </a:prstGeom>
          <a:ln w="15875">
            <a:solidFill>
              <a:srgbClr val="8A8F98"/>
            </a:solidFill>
            <a:tailEnd type="triangle" w="med" len="med"/>
          </a:ln>
          <a:effectLst/>
        </p:spPr>
      </p:cxnSp>
      <p:sp>
        <p:nvSpPr>
          <p:cNvPr id="11" name="Rounded Rectangle 10"/>
          <p:cNvSpPr/>
          <p:nvPr/>
        </p:nvSpPr>
        <p:spPr>
          <a:xfrm>
            <a:off x="2560320" y="2697480"/>
            <a:ext cx="1463040" cy="658368"/>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r>
              <a:rPr sz="1700" b="1" i="0">
                <a:solidFill>
                  <a:srgbClr val="1F2A44"/>
                </a:solidFill>
                <a:latin typeface="Calibri"/>
              </a:rPr>
              <a:t>XOR</a:t>
            </a:r>
          </a:p>
        </p:txBody>
      </p:sp>
      <p:cxnSp>
        <p:nvCxnSpPr>
          <p:cNvPr id="12" name="Connector 11"/>
          <p:cNvCxnSpPr/>
          <p:nvPr/>
        </p:nvCxnSpPr>
        <p:spPr>
          <a:xfrm flipV="1">
            <a:off x="2194560" y="3355848"/>
            <a:ext cx="731520" cy="621791"/>
          </a:xfrm>
          <a:prstGeom prst="line">
            <a:avLst/>
          </a:prstGeom>
          <a:ln w="15875">
            <a:solidFill>
              <a:srgbClr val="8A8F98"/>
            </a:solidFill>
            <a:tailEnd type="triangle" w="med" len="med"/>
          </a:ln>
          <a:effectLst/>
        </p:spPr>
      </p:cxnSp>
      <p:cxnSp>
        <p:nvCxnSpPr>
          <p:cNvPr id="13" name="Connector 12"/>
          <p:cNvCxnSpPr/>
          <p:nvPr/>
        </p:nvCxnSpPr>
        <p:spPr>
          <a:xfrm flipH="1" flipV="1">
            <a:off x="3657600" y="3355848"/>
            <a:ext cx="731520" cy="621791"/>
          </a:xfrm>
          <a:prstGeom prst="line">
            <a:avLst/>
          </a:prstGeom>
          <a:ln w="15875">
            <a:solidFill>
              <a:srgbClr val="8A8F98"/>
            </a:solidFill>
            <a:tailEnd type="triangle" w="med" len="med"/>
          </a:ln>
          <a:effectLst/>
        </p:spPr>
      </p:cxnSp>
      <p:sp>
        <p:nvSpPr>
          <p:cNvPr id="14" name="TextBox 13"/>
          <p:cNvSpPr txBox="1"/>
          <p:nvPr/>
        </p:nvSpPr>
        <p:spPr>
          <a:xfrm>
            <a:off x="2176272" y="3520440"/>
            <a:ext cx="457200" cy="274320"/>
          </a:xfrm>
          <a:prstGeom prst="rect">
            <a:avLst/>
          </a:prstGeom>
          <a:noFill/>
        </p:spPr>
        <p:txBody>
          <a:bodyPr wrap="square" anchor="t" lIns="45720" rIns="45720" tIns="27432" bIns="27432">
            <a:spAutoFit/>
          </a:bodyPr>
          <a:lstStyle/>
          <a:p>
            <a:pPr algn="l"/>
            <a:r>
              <a:rPr sz="1400" b="1" i="0">
                <a:solidFill>
                  <a:srgbClr val="6B717A"/>
                </a:solidFill>
                <a:latin typeface="Calibri"/>
              </a:rPr>
              <a:t>m₁</a:t>
            </a:r>
          </a:p>
        </p:txBody>
      </p:sp>
      <p:sp>
        <p:nvSpPr>
          <p:cNvPr id="15" name="TextBox 14"/>
          <p:cNvSpPr txBox="1"/>
          <p:nvPr/>
        </p:nvSpPr>
        <p:spPr>
          <a:xfrm>
            <a:off x="4133087" y="3520440"/>
            <a:ext cx="457200" cy="274320"/>
          </a:xfrm>
          <a:prstGeom prst="rect">
            <a:avLst/>
          </a:prstGeom>
          <a:noFill/>
        </p:spPr>
        <p:txBody>
          <a:bodyPr wrap="square" anchor="t" lIns="45720" rIns="45720" tIns="27432" bIns="27432">
            <a:spAutoFit/>
          </a:bodyPr>
          <a:lstStyle/>
          <a:p>
            <a:pPr algn="l"/>
            <a:r>
              <a:rPr sz="1400" b="1" i="0">
                <a:solidFill>
                  <a:srgbClr val="6B717A"/>
                </a:solidFill>
                <a:latin typeface="Calibri"/>
              </a:rPr>
              <a:t>m₂</a:t>
            </a:r>
          </a:p>
        </p:txBody>
      </p:sp>
      <p:cxnSp>
        <p:nvCxnSpPr>
          <p:cNvPr id="16" name="Connector 15"/>
          <p:cNvCxnSpPr/>
          <p:nvPr/>
        </p:nvCxnSpPr>
        <p:spPr>
          <a:xfrm flipV="1">
            <a:off x="3291840" y="2240280"/>
            <a:ext cx="0" cy="457200"/>
          </a:xfrm>
          <a:prstGeom prst="line">
            <a:avLst/>
          </a:prstGeom>
          <a:ln w="15875">
            <a:solidFill>
              <a:srgbClr val="8A8F98"/>
            </a:solidFill>
            <a:tailEnd type="triangle" w="med" len="med"/>
          </a:ln>
          <a:effectLst/>
        </p:spPr>
      </p:cxnSp>
      <p:sp>
        <p:nvSpPr>
          <p:cNvPr id="17" name="TextBox 16"/>
          <p:cNvSpPr txBox="1"/>
          <p:nvPr/>
        </p:nvSpPr>
        <p:spPr>
          <a:xfrm>
            <a:off x="3017520" y="1901952"/>
            <a:ext cx="457200" cy="320040"/>
          </a:xfrm>
          <a:prstGeom prst="rect">
            <a:avLst/>
          </a:prstGeom>
          <a:noFill/>
        </p:spPr>
        <p:txBody>
          <a:bodyPr wrap="square" anchor="t" lIns="45720" rIns="45720" tIns="27432" bIns="27432">
            <a:spAutoFit/>
          </a:bodyPr>
          <a:lstStyle/>
          <a:p>
            <a:pPr algn="ctr"/>
            <a:r>
              <a:rPr sz="1600" b="1" i="0">
                <a:solidFill>
                  <a:srgbClr val="1F2A44"/>
                </a:solidFill>
                <a:latin typeface="Calibri"/>
              </a:rPr>
              <a:t>p</a:t>
            </a:r>
          </a:p>
        </p:txBody>
      </p:sp>
      <p:sp>
        <p:nvSpPr>
          <p:cNvPr id="18" name="Rounded Rectangle 17"/>
          <p:cNvSpPr/>
          <p:nvPr/>
        </p:nvSpPr>
        <p:spPr>
          <a:xfrm>
            <a:off x="3657600" y="1874519"/>
            <a:ext cx="1691640" cy="384048"/>
          </a:xfrm>
          <a:prstGeom prst="roundRect">
            <a:avLst>
              <a:gd name="adj" fmla="val 15000"/>
            </a:avLst>
          </a:prstGeom>
          <a:solidFill>
            <a:srgbClr val="1F2A44"/>
          </a:solidFill>
          <a:ln>
            <a:noFill/>
          </a:ln>
          <a:effectLst/>
        </p:spPr>
        <p:txBody>
          <a:bodyPr rtlCol="0" anchor="ctr" lIns="54864" rIns="54864" tIns="27432" bIns="27432" wrap="square"/>
          <a:lstStyle/>
          <a:p>
            <a:pPr algn="ctr"/>
            <a:r>
              <a:rPr sz="1400" b="1" i="0">
                <a:solidFill>
                  <a:srgbClr val="FFFFFF"/>
                </a:solidFill>
                <a:latin typeface="Calibri"/>
              </a:rPr>
              <a:t>assert p = 1</a:t>
            </a:r>
          </a:p>
        </p:txBody>
      </p:sp>
      <p:sp>
        <p:nvSpPr>
          <p:cNvPr id="19" name="TextBox 18"/>
          <p:cNvSpPr txBox="1"/>
          <p:nvPr/>
        </p:nvSpPr>
        <p:spPr>
          <a:xfrm>
            <a:off x="5715000" y="1298448"/>
            <a:ext cx="5943600" cy="2011680"/>
          </a:xfrm>
          <a:prstGeom prst="rect">
            <a:avLst/>
          </a:prstGeom>
          <a:noFill/>
        </p:spPr>
        <p:txBody>
          <a:bodyPr wrap="square" lIns="45720" rIns="45720">
            <a:spAutoFit/>
          </a:bodyPr>
          <a:lstStyle/>
          <a:p>
            <a:pPr>
              <a:spcBef>
                <a:spcPts val="1100"/>
              </a:spcBef>
              <a:spcAft>
                <a:spcPts val="200"/>
              </a:spcAft>
            </a:pPr>
            <a:r>
              <a:rPr sz="1800" b="1" i="0">
                <a:solidFill>
                  <a:srgbClr val="1F2A44"/>
                </a:solidFill>
                <a:latin typeface="Calibri"/>
              </a:rPr>
              <a:t>Miter</a:t>
            </a:r>
          </a:p>
          <a:p>
            <a:pPr marL="274320" indent="-237744">
              <a:spcBef>
                <a:spcPts val="500"/>
              </a:spcBef>
              <a:buClr>
                <a:srgbClr val="6B717A"/>
              </a:buClr>
              <a:buChar char="•"/>
            </a:pPr>
            <a:r>
              <a:rPr sz="1800" b="0" i="0">
                <a:solidFill>
                  <a:srgbClr val="2B2F36"/>
                </a:solidFill>
                <a:latin typeface="Calibri"/>
              </a:rPr>
              <a:t>two circuits, same inputs</a:t>
            </a:r>
          </a:p>
          <a:p>
            <a:pPr marL="274320" indent="-237744">
              <a:spcBef>
                <a:spcPts val="500"/>
              </a:spcBef>
              <a:buClr>
                <a:srgbClr val="6B717A"/>
              </a:buClr>
              <a:buChar char="•"/>
            </a:pPr>
            <a:r>
              <a:rPr sz="1800" b="0" i="0">
                <a:solidFill>
                  <a:srgbClr val="2B2F36"/>
                </a:solidFill>
                <a:latin typeface="Calibri"/>
              </a:rPr>
              <a:t>XOR the corresponding outputs</a:t>
            </a:r>
          </a:p>
          <a:p>
            <a:pPr marL="274320" indent="-237744">
              <a:spcBef>
                <a:spcPts val="500"/>
              </a:spcBef>
              <a:buClr>
                <a:srgbClr val="6B717A"/>
              </a:buClr>
              <a:buChar char="•"/>
            </a:pPr>
            <a:r>
              <a:rPr sz="1800" b="0" i="0">
                <a:solidFill>
                  <a:srgbClr val="2B2F36"/>
                </a:solidFill>
                <a:latin typeface="Calibri"/>
              </a:rPr>
              <a:t>p = 1  ⟺  the circuits disagree</a:t>
            </a:r>
          </a:p>
          <a:p>
            <a:pPr marL="274320" indent="-237744">
              <a:spcBef>
                <a:spcPts val="500"/>
              </a:spcBef>
              <a:buClr>
                <a:srgbClr val="6B717A"/>
              </a:buClr>
              <a:buChar char="•"/>
            </a:pPr>
            <a:r>
              <a:rPr sz="1800" b="1" i="0">
                <a:solidFill>
                  <a:srgbClr val="2B2F36"/>
                </a:solidFill>
                <a:latin typeface="Calibri"/>
              </a:rPr>
              <a:t>equivalent  ⟺  p = 1 unsatisfiable</a:t>
            </a:r>
          </a:p>
        </p:txBody>
      </p:sp>
      <p:sp>
        <p:nvSpPr>
          <p:cNvPr id="20" name="Rounded Rectangle 19"/>
          <p:cNvSpPr/>
          <p:nvPr/>
        </p:nvSpPr>
        <p:spPr>
          <a:xfrm>
            <a:off x="5806440" y="3154680"/>
            <a:ext cx="5806440" cy="132588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21" name="TextBox 20"/>
          <p:cNvSpPr txBox="1"/>
          <p:nvPr/>
        </p:nvSpPr>
        <p:spPr>
          <a:xfrm>
            <a:off x="5989320" y="3218688"/>
            <a:ext cx="2743200" cy="320040"/>
          </a:xfrm>
          <a:prstGeom prst="rect">
            <a:avLst/>
          </a:prstGeom>
          <a:noFill/>
        </p:spPr>
        <p:txBody>
          <a:bodyPr wrap="square" anchor="t" lIns="45720" rIns="45720" tIns="27432" bIns="27432">
            <a:spAutoFit/>
          </a:bodyPr>
          <a:lstStyle/>
          <a:p>
            <a:pPr algn="l"/>
            <a:r>
              <a:rPr sz="1500" b="1" i="0">
                <a:solidFill>
                  <a:srgbClr val="1F2A44"/>
                </a:solidFill>
                <a:latin typeface="Calibri"/>
              </a:rPr>
              <a:t>Terms</a:t>
            </a:r>
          </a:p>
        </p:txBody>
      </p:sp>
      <p:sp>
        <p:nvSpPr>
          <p:cNvPr id="22" name="TextBox 21"/>
          <p:cNvSpPr txBox="1"/>
          <p:nvPr/>
        </p:nvSpPr>
        <p:spPr>
          <a:xfrm>
            <a:off x="5989320" y="3529584"/>
            <a:ext cx="5486400" cy="914400"/>
          </a:xfrm>
          <a:prstGeom prst="rect">
            <a:avLst/>
          </a:prstGeom>
          <a:noFill/>
        </p:spPr>
        <p:txBody>
          <a:bodyPr wrap="none">
            <a:spAutoFit/>
          </a:bodyPr>
          <a:lstStyle/>
          <a:p>
            <a:pPr>
              <a:spcAft>
                <a:spcPts val="200"/>
              </a:spcAft>
            </a:pPr>
            <a:r>
              <a:rPr sz="1400" b="0" i="0">
                <a:solidFill>
                  <a:srgbClr val="2B2F36"/>
                </a:solidFill>
                <a:latin typeface="Consolas"/>
              </a:rPr>
              <a:t>t  ::=  x             </a:t>
            </a:r>
            <a:r>
              <a:rPr sz="1300" b="0" i="0">
                <a:solidFill>
                  <a:srgbClr val="6B717A"/>
                </a:solidFill>
                <a:latin typeface="Calibri"/>
              </a:rPr>
              <a:t>leaf: an input wire</a:t>
            </a:r>
          </a:p>
          <a:p>
            <a:pPr>
              <a:spcAft>
                <a:spcPts val="200"/>
              </a:spcAft>
            </a:pPr>
            <a:r>
              <a:rPr sz="1400" b="0" i="0">
                <a:solidFill>
                  <a:srgbClr val="2B2F36"/>
                </a:solidFill>
                <a:latin typeface="Consolas"/>
              </a:rPr>
              <a:t>   |   f(t₁, …, tₖ)   </a:t>
            </a:r>
            <a:r>
              <a:rPr sz="1300" b="0" i="0">
                <a:solidFill>
                  <a:srgbClr val="6B717A"/>
                </a:solidFill>
                <a:latin typeface="Calibri"/>
              </a:rPr>
              <a:t>gate: f ∈ F,  arity k</a:t>
            </a:r>
          </a:p>
          <a:p>
            <a:pPr>
              <a:spcAft>
                <a:spcPts val="200"/>
              </a:spcAft>
            </a:pPr>
            <a:r>
              <a:rPr sz="1400" b="0" i="0">
                <a:solidFill>
                  <a:srgbClr val="2B2F36"/>
                </a:solidFill>
                <a:latin typeface="Consolas"/>
              </a:rPr>
              <a:t>F = {AND, OR, XOR, ITE,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Running example: a miter</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8A8F98"/>
            </a:solidFill>
          </a:ln>
          <a:effectLst/>
        </p:spPr>
      </p:cxnSp>
      <p:cxnSp>
        <p:nvCxnSpPr>
          <p:cNvPr id="7" name="Connector 6"/>
          <p:cNvCxnSpPr/>
          <p:nvPr/>
        </p:nvCxnSpPr>
        <p:spPr>
          <a:xfrm>
            <a:off x="3323844" y="3803903"/>
            <a:ext cx="960120" cy="1106425"/>
          </a:xfrm>
          <a:prstGeom prst="line">
            <a:avLst/>
          </a:prstGeom>
          <a:ln w="15875">
            <a:solidFill>
              <a:srgbClr val="8A8F98"/>
            </a:solidFill>
          </a:ln>
          <a:effectLst/>
        </p:spPr>
      </p:cxnSp>
      <p:cxnSp>
        <p:nvCxnSpPr>
          <p:cNvPr id="8" name="Connector 7"/>
          <p:cNvCxnSpPr/>
          <p:nvPr/>
        </p:nvCxnSpPr>
        <p:spPr>
          <a:xfrm flipH="1">
            <a:off x="3406139" y="3803903"/>
            <a:ext cx="1014985" cy="1106425"/>
          </a:xfrm>
          <a:prstGeom prst="line">
            <a:avLst/>
          </a:prstGeom>
          <a:ln w="15875">
            <a:solidFill>
              <a:srgbClr val="8A8F98"/>
            </a:solidFill>
          </a:ln>
          <a:effectLst/>
        </p:spPr>
      </p:cxnSp>
      <p:cxnSp>
        <p:nvCxnSpPr>
          <p:cNvPr id="9" name="Connector 8"/>
          <p:cNvCxnSpPr/>
          <p:nvPr/>
        </p:nvCxnSpPr>
        <p:spPr>
          <a:xfrm>
            <a:off x="4421124" y="3803903"/>
            <a:ext cx="484632" cy="1106425"/>
          </a:xfrm>
          <a:prstGeom prst="line">
            <a:avLst/>
          </a:prstGeom>
          <a:ln w="15875">
            <a:solidFill>
              <a:srgbClr val="8A8F98"/>
            </a:solidFill>
          </a:ln>
          <a:effectLst/>
        </p:spPr>
      </p:cxnSp>
      <p:cxnSp>
        <p:nvCxnSpPr>
          <p:cNvPr id="10" name="Connector 9"/>
          <p:cNvCxnSpPr/>
          <p:nvPr/>
        </p:nvCxnSpPr>
        <p:spPr>
          <a:xfrm flipH="1">
            <a:off x="7283196" y="3803903"/>
            <a:ext cx="475487" cy="1106425"/>
          </a:xfrm>
          <a:prstGeom prst="line">
            <a:avLst/>
          </a:prstGeom>
          <a:ln w="15875">
            <a:solidFill>
              <a:srgbClr val="8A8F98"/>
            </a:solidFill>
          </a:ln>
          <a:effectLst/>
        </p:spPr>
      </p:cxnSp>
      <p:cxnSp>
        <p:nvCxnSpPr>
          <p:cNvPr id="11" name="Connector 10"/>
          <p:cNvCxnSpPr/>
          <p:nvPr/>
        </p:nvCxnSpPr>
        <p:spPr>
          <a:xfrm>
            <a:off x="7758683" y="3803903"/>
            <a:ext cx="1024129" cy="1106425"/>
          </a:xfrm>
          <a:prstGeom prst="line">
            <a:avLst/>
          </a:prstGeom>
          <a:ln w="15875">
            <a:solidFill>
              <a:srgbClr val="8A8F98"/>
            </a:solidFill>
          </a:ln>
          <a:effectLst/>
        </p:spPr>
      </p:cxnSp>
      <p:cxnSp>
        <p:nvCxnSpPr>
          <p:cNvPr id="12" name="Connector 11"/>
          <p:cNvCxnSpPr/>
          <p:nvPr/>
        </p:nvCxnSpPr>
        <p:spPr>
          <a:xfrm flipH="1">
            <a:off x="7904988" y="3803903"/>
            <a:ext cx="950975" cy="1106425"/>
          </a:xfrm>
          <a:prstGeom prst="line">
            <a:avLst/>
          </a:prstGeom>
          <a:ln w="15875">
            <a:solidFill>
              <a:srgbClr val="8A8F98"/>
            </a:solidFill>
          </a:ln>
          <a:effectLst/>
        </p:spPr>
      </p:cxnSp>
      <p:cxnSp>
        <p:nvCxnSpPr>
          <p:cNvPr id="13" name="Connector 12"/>
          <p:cNvCxnSpPr/>
          <p:nvPr/>
        </p:nvCxnSpPr>
        <p:spPr>
          <a:xfrm>
            <a:off x="8855963" y="3803903"/>
            <a:ext cx="548641" cy="1106425"/>
          </a:xfrm>
          <a:prstGeom prst="line">
            <a:avLst/>
          </a:prstGeom>
          <a:ln w="15875">
            <a:solidFill>
              <a:srgbClr val="8A8F98"/>
            </a:solidFill>
          </a:ln>
          <a:effectLst/>
        </p:spPr>
      </p:cxnSp>
      <p:cxnSp>
        <p:nvCxnSpPr>
          <p:cNvPr id="14" name="Connector 13"/>
          <p:cNvCxnSpPr/>
          <p:nvPr/>
        </p:nvCxnSpPr>
        <p:spPr>
          <a:xfrm>
            <a:off x="5564124" y="2203704"/>
            <a:ext cx="219455" cy="2706624"/>
          </a:xfrm>
          <a:prstGeom prst="line">
            <a:avLst/>
          </a:prstGeom>
          <a:ln w="15875">
            <a:solidFill>
              <a:srgbClr val="8A8F98"/>
            </a:solidFill>
          </a:ln>
          <a:effectLst/>
        </p:spPr>
      </p:cxnSp>
      <p:cxnSp>
        <p:nvCxnSpPr>
          <p:cNvPr id="15" name="Connector 14"/>
          <p:cNvCxnSpPr/>
          <p:nvPr/>
        </p:nvCxnSpPr>
        <p:spPr>
          <a:xfrm flipH="1">
            <a:off x="3323844" y="2203704"/>
            <a:ext cx="2240280" cy="749807"/>
          </a:xfrm>
          <a:prstGeom prst="line">
            <a:avLst/>
          </a:prstGeom>
          <a:ln w="15875">
            <a:solidFill>
              <a:srgbClr val="8A8F98"/>
            </a:solidFill>
          </a:ln>
          <a:effectLst/>
        </p:spPr>
      </p:cxnSp>
      <p:cxnSp>
        <p:nvCxnSpPr>
          <p:cNvPr id="16" name="Connector 15"/>
          <p:cNvCxnSpPr/>
          <p:nvPr/>
        </p:nvCxnSpPr>
        <p:spPr>
          <a:xfrm>
            <a:off x="5564124" y="2203704"/>
            <a:ext cx="2194559" cy="749807"/>
          </a:xfrm>
          <a:prstGeom prst="line">
            <a:avLst/>
          </a:prstGeom>
          <a:ln w="15875">
            <a:solidFill>
              <a:srgbClr val="8A8F98"/>
            </a:solidFill>
          </a:ln>
          <a:effectLst/>
        </p:spPr>
      </p:cxnSp>
      <p:cxnSp>
        <p:nvCxnSpPr>
          <p:cNvPr id="17" name="Connector 16"/>
          <p:cNvCxnSpPr/>
          <p:nvPr/>
        </p:nvCxnSpPr>
        <p:spPr>
          <a:xfrm flipH="1">
            <a:off x="6405372" y="2203704"/>
            <a:ext cx="484632" cy="2706624"/>
          </a:xfrm>
          <a:prstGeom prst="line">
            <a:avLst/>
          </a:prstGeom>
          <a:ln w="15875">
            <a:solidFill>
              <a:srgbClr val="8A8F98"/>
            </a:solidFill>
          </a:ln>
          <a:effectLst/>
        </p:spPr>
      </p:cxnSp>
      <p:cxnSp>
        <p:nvCxnSpPr>
          <p:cNvPr id="18" name="Connector 17"/>
          <p:cNvCxnSpPr/>
          <p:nvPr/>
        </p:nvCxnSpPr>
        <p:spPr>
          <a:xfrm flipH="1">
            <a:off x="4421124" y="2203704"/>
            <a:ext cx="2468880" cy="749807"/>
          </a:xfrm>
          <a:prstGeom prst="line">
            <a:avLst/>
          </a:prstGeom>
          <a:ln w="15875">
            <a:solidFill>
              <a:srgbClr val="8A8F98"/>
            </a:solidFill>
          </a:ln>
          <a:effectLst/>
        </p:spPr>
      </p:cxnSp>
      <p:cxnSp>
        <p:nvCxnSpPr>
          <p:cNvPr id="19" name="Connector 18"/>
          <p:cNvCxnSpPr/>
          <p:nvPr/>
        </p:nvCxnSpPr>
        <p:spPr>
          <a:xfrm>
            <a:off x="6890004" y="2203704"/>
            <a:ext cx="1965959" cy="749807"/>
          </a:xfrm>
          <a:prstGeom prst="line">
            <a:avLst/>
          </a:prstGeom>
          <a:ln w="15875">
            <a:solidFill>
              <a:srgbClr val="8A8F98"/>
            </a:solidFill>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Running example: the query</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8A8F98"/>
            </a:solidFill>
          </a:ln>
          <a:effectLst/>
        </p:spPr>
      </p:cxnSp>
      <p:cxnSp>
        <p:nvCxnSpPr>
          <p:cNvPr id="7" name="Connector 6"/>
          <p:cNvCxnSpPr/>
          <p:nvPr/>
        </p:nvCxnSpPr>
        <p:spPr>
          <a:xfrm>
            <a:off x="3323844" y="3803903"/>
            <a:ext cx="960120" cy="1106425"/>
          </a:xfrm>
          <a:prstGeom prst="line">
            <a:avLst/>
          </a:prstGeom>
          <a:ln w="15875">
            <a:solidFill>
              <a:srgbClr val="8A8F98"/>
            </a:solidFill>
          </a:ln>
          <a:effectLst/>
        </p:spPr>
      </p:cxnSp>
      <p:cxnSp>
        <p:nvCxnSpPr>
          <p:cNvPr id="8" name="Connector 7"/>
          <p:cNvCxnSpPr/>
          <p:nvPr/>
        </p:nvCxnSpPr>
        <p:spPr>
          <a:xfrm flipH="1">
            <a:off x="3406139" y="3803903"/>
            <a:ext cx="1014985" cy="1106425"/>
          </a:xfrm>
          <a:prstGeom prst="line">
            <a:avLst/>
          </a:prstGeom>
          <a:ln w="15875">
            <a:solidFill>
              <a:srgbClr val="8A8F98"/>
            </a:solidFill>
          </a:ln>
          <a:effectLst/>
        </p:spPr>
      </p:cxnSp>
      <p:cxnSp>
        <p:nvCxnSpPr>
          <p:cNvPr id="9" name="Connector 8"/>
          <p:cNvCxnSpPr/>
          <p:nvPr/>
        </p:nvCxnSpPr>
        <p:spPr>
          <a:xfrm>
            <a:off x="4421124" y="3803903"/>
            <a:ext cx="484632" cy="1106425"/>
          </a:xfrm>
          <a:prstGeom prst="line">
            <a:avLst/>
          </a:prstGeom>
          <a:ln w="15875">
            <a:solidFill>
              <a:srgbClr val="8A8F98"/>
            </a:solidFill>
          </a:ln>
          <a:effectLst/>
        </p:spPr>
      </p:cxnSp>
      <p:cxnSp>
        <p:nvCxnSpPr>
          <p:cNvPr id="10" name="Connector 9"/>
          <p:cNvCxnSpPr/>
          <p:nvPr/>
        </p:nvCxnSpPr>
        <p:spPr>
          <a:xfrm flipH="1">
            <a:off x="7283196" y="3803903"/>
            <a:ext cx="475487" cy="1106425"/>
          </a:xfrm>
          <a:prstGeom prst="line">
            <a:avLst/>
          </a:prstGeom>
          <a:ln w="15875">
            <a:solidFill>
              <a:srgbClr val="8A8F98"/>
            </a:solidFill>
          </a:ln>
          <a:effectLst/>
        </p:spPr>
      </p:cxnSp>
      <p:cxnSp>
        <p:nvCxnSpPr>
          <p:cNvPr id="11" name="Connector 10"/>
          <p:cNvCxnSpPr/>
          <p:nvPr/>
        </p:nvCxnSpPr>
        <p:spPr>
          <a:xfrm>
            <a:off x="7758683" y="3803903"/>
            <a:ext cx="1024129" cy="1106425"/>
          </a:xfrm>
          <a:prstGeom prst="line">
            <a:avLst/>
          </a:prstGeom>
          <a:ln w="15875">
            <a:solidFill>
              <a:srgbClr val="8A8F98"/>
            </a:solidFill>
          </a:ln>
          <a:effectLst/>
        </p:spPr>
      </p:cxnSp>
      <p:cxnSp>
        <p:nvCxnSpPr>
          <p:cNvPr id="12" name="Connector 11"/>
          <p:cNvCxnSpPr/>
          <p:nvPr/>
        </p:nvCxnSpPr>
        <p:spPr>
          <a:xfrm flipH="1">
            <a:off x="7904988" y="3803903"/>
            <a:ext cx="950975" cy="1106425"/>
          </a:xfrm>
          <a:prstGeom prst="line">
            <a:avLst/>
          </a:prstGeom>
          <a:ln w="15875">
            <a:solidFill>
              <a:srgbClr val="8A8F98"/>
            </a:solidFill>
          </a:ln>
          <a:effectLst/>
        </p:spPr>
      </p:cxnSp>
      <p:cxnSp>
        <p:nvCxnSpPr>
          <p:cNvPr id="13" name="Connector 12"/>
          <p:cNvCxnSpPr/>
          <p:nvPr/>
        </p:nvCxnSpPr>
        <p:spPr>
          <a:xfrm>
            <a:off x="8855963" y="3803903"/>
            <a:ext cx="548641" cy="1106425"/>
          </a:xfrm>
          <a:prstGeom prst="line">
            <a:avLst/>
          </a:prstGeom>
          <a:ln w="15875">
            <a:solidFill>
              <a:srgbClr val="8A8F98"/>
            </a:solidFill>
          </a:ln>
          <a:effectLst/>
        </p:spPr>
      </p:cxnSp>
      <p:cxnSp>
        <p:nvCxnSpPr>
          <p:cNvPr id="14" name="Connector 13"/>
          <p:cNvCxnSpPr/>
          <p:nvPr/>
        </p:nvCxnSpPr>
        <p:spPr>
          <a:xfrm>
            <a:off x="5564124" y="2203704"/>
            <a:ext cx="219455" cy="2706624"/>
          </a:xfrm>
          <a:prstGeom prst="line">
            <a:avLst/>
          </a:prstGeom>
          <a:ln w="15875">
            <a:solidFill>
              <a:srgbClr val="8A8F98"/>
            </a:solidFill>
          </a:ln>
          <a:effectLst/>
        </p:spPr>
      </p:cxnSp>
      <p:cxnSp>
        <p:nvCxnSpPr>
          <p:cNvPr id="15" name="Connector 14"/>
          <p:cNvCxnSpPr/>
          <p:nvPr/>
        </p:nvCxnSpPr>
        <p:spPr>
          <a:xfrm flipH="1">
            <a:off x="3323844" y="2203704"/>
            <a:ext cx="2240280" cy="749807"/>
          </a:xfrm>
          <a:prstGeom prst="line">
            <a:avLst/>
          </a:prstGeom>
          <a:ln w="15875">
            <a:solidFill>
              <a:srgbClr val="8A8F98"/>
            </a:solidFill>
          </a:ln>
          <a:effectLst/>
        </p:spPr>
      </p:cxnSp>
      <p:cxnSp>
        <p:nvCxnSpPr>
          <p:cNvPr id="16" name="Connector 15"/>
          <p:cNvCxnSpPr/>
          <p:nvPr/>
        </p:nvCxnSpPr>
        <p:spPr>
          <a:xfrm>
            <a:off x="5564124" y="2203704"/>
            <a:ext cx="2194559" cy="749807"/>
          </a:xfrm>
          <a:prstGeom prst="line">
            <a:avLst/>
          </a:prstGeom>
          <a:ln w="15875">
            <a:solidFill>
              <a:srgbClr val="8A8F98"/>
            </a:solidFill>
          </a:ln>
          <a:effectLst/>
        </p:spPr>
      </p:cxnSp>
      <p:cxnSp>
        <p:nvCxnSpPr>
          <p:cNvPr id="17" name="Connector 16"/>
          <p:cNvCxnSpPr/>
          <p:nvPr/>
        </p:nvCxnSpPr>
        <p:spPr>
          <a:xfrm flipH="1">
            <a:off x="6405372" y="2203704"/>
            <a:ext cx="484632" cy="2706624"/>
          </a:xfrm>
          <a:prstGeom prst="line">
            <a:avLst/>
          </a:prstGeom>
          <a:ln w="15875">
            <a:solidFill>
              <a:srgbClr val="8A8F98"/>
            </a:solidFill>
          </a:ln>
          <a:effectLst/>
        </p:spPr>
      </p:cxnSp>
      <p:cxnSp>
        <p:nvCxnSpPr>
          <p:cNvPr id="18" name="Connector 17"/>
          <p:cNvCxnSpPr/>
          <p:nvPr/>
        </p:nvCxnSpPr>
        <p:spPr>
          <a:xfrm flipH="1">
            <a:off x="4421124" y="2203704"/>
            <a:ext cx="2468880" cy="749807"/>
          </a:xfrm>
          <a:prstGeom prst="line">
            <a:avLst/>
          </a:prstGeom>
          <a:ln w="15875">
            <a:solidFill>
              <a:srgbClr val="8A8F98"/>
            </a:solidFill>
          </a:ln>
          <a:effectLst/>
        </p:spPr>
      </p:cxnSp>
      <p:cxnSp>
        <p:nvCxnSpPr>
          <p:cNvPr id="19" name="Connector 18"/>
          <p:cNvCxnSpPr/>
          <p:nvPr/>
        </p:nvCxnSpPr>
        <p:spPr>
          <a:xfrm>
            <a:off x="6890004" y="2203704"/>
            <a:ext cx="1965959" cy="749807"/>
          </a:xfrm>
          <a:prstGeom prst="line">
            <a:avLst/>
          </a:prstGeom>
          <a:ln w="15875">
            <a:solidFill>
              <a:srgbClr val="8A8F98"/>
            </a:solidFill>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TextBox 41"/>
          <p:cNvSpPr txBox="1"/>
          <p:nvPr/>
        </p:nvSpPr>
        <p:spPr>
          <a:xfrm>
            <a:off x="5724144" y="1316736"/>
            <a:ext cx="1005840" cy="274320"/>
          </a:xfrm>
          <a:prstGeom prst="rect">
            <a:avLst/>
          </a:prstGeom>
          <a:noFill/>
        </p:spPr>
        <p:txBody>
          <a:bodyPr wrap="square" anchor="t" lIns="45720" rIns="45720" tIns="27432" bIns="27432">
            <a:spAutoFit/>
          </a:bodyPr>
          <a:lstStyle/>
          <a:p>
            <a:pPr algn="ctr"/>
            <a:r>
              <a:rPr sz="1200" b="1" i="0">
                <a:solidFill>
                  <a:srgbClr val="6B717A"/>
                </a:solidFill>
                <a:latin typeface="Calibri"/>
              </a:rPr>
              <a:t>Query</a:t>
            </a:r>
          </a:p>
        </p:txBody>
      </p:sp>
      <p:sp>
        <p:nvSpPr>
          <p:cNvPr id="43" name="TextBox 42"/>
          <p:cNvSpPr txBox="1"/>
          <p:nvPr/>
        </p:nvSpPr>
        <p:spPr>
          <a:xfrm>
            <a:off x="5724144" y="1682496"/>
            <a:ext cx="1005840" cy="475488"/>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Running example: input equalities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8A8F98"/>
            </a:solidFill>
          </a:ln>
          <a:effectLst/>
        </p:spPr>
      </p:cxnSp>
      <p:cxnSp>
        <p:nvCxnSpPr>
          <p:cNvPr id="7" name="Connector 6"/>
          <p:cNvCxnSpPr/>
          <p:nvPr/>
        </p:nvCxnSpPr>
        <p:spPr>
          <a:xfrm>
            <a:off x="3323844" y="3803903"/>
            <a:ext cx="960120" cy="1106425"/>
          </a:xfrm>
          <a:prstGeom prst="line">
            <a:avLst/>
          </a:prstGeom>
          <a:ln w="15875">
            <a:solidFill>
              <a:srgbClr val="8A8F98"/>
            </a:solidFill>
          </a:ln>
          <a:effectLst/>
        </p:spPr>
      </p:cxnSp>
      <p:cxnSp>
        <p:nvCxnSpPr>
          <p:cNvPr id="8" name="Connector 7"/>
          <p:cNvCxnSpPr/>
          <p:nvPr/>
        </p:nvCxnSpPr>
        <p:spPr>
          <a:xfrm flipH="1">
            <a:off x="3406139" y="3803903"/>
            <a:ext cx="1014985" cy="1106425"/>
          </a:xfrm>
          <a:prstGeom prst="line">
            <a:avLst/>
          </a:prstGeom>
          <a:ln w="15875">
            <a:solidFill>
              <a:srgbClr val="8A8F98"/>
            </a:solidFill>
          </a:ln>
          <a:effectLst/>
        </p:spPr>
      </p:cxnSp>
      <p:cxnSp>
        <p:nvCxnSpPr>
          <p:cNvPr id="9" name="Connector 8"/>
          <p:cNvCxnSpPr/>
          <p:nvPr/>
        </p:nvCxnSpPr>
        <p:spPr>
          <a:xfrm>
            <a:off x="4421124" y="3803903"/>
            <a:ext cx="484632" cy="1106425"/>
          </a:xfrm>
          <a:prstGeom prst="line">
            <a:avLst/>
          </a:prstGeom>
          <a:ln w="15875">
            <a:solidFill>
              <a:srgbClr val="8A8F98"/>
            </a:solidFill>
          </a:ln>
          <a:effectLst/>
        </p:spPr>
      </p:cxnSp>
      <p:cxnSp>
        <p:nvCxnSpPr>
          <p:cNvPr id="10" name="Connector 9"/>
          <p:cNvCxnSpPr/>
          <p:nvPr/>
        </p:nvCxnSpPr>
        <p:spPr>
          <a:xfrm flipH="1">
            <a:off x="7283196" y="3803903"/>
            <a:ext cx="475487" cy="1106425"/>
          </a:xfrm>
          <a:prstGeom prst="line">
            <a:avLst/>
          </a:prstGeom>
          <a:ln w="15875">
            <a:solidFill>
              <a:srgbClr val="8A8F98"/>
            </a:solidFill>
          </a:ln>
          <a:effectLst/>
        </p:spPr>
      </p:cxnSp>
      <p:cxnSp>
        <p:nvCxnSpPr>
          <p:cNvPr id="11" name="Connector 10"/>
          <p:cNvCxnSpPr/>
          <p:nvPr/>
        </p:nvCxnSpPr>
        <p:spPr>
          <a:xfrm>
            <a:off x="7758683" y="3803903"/>
            <a:ext cx="1024129" cy="1106425"/>
          </a:xfrm>
          <a:prstGeom prst="line">
            <a:avLst/>
          </a:prstGeom>
          <a:ln w="15875">
            <a:solidFill>
              <a:srgbClr val="8A8F98"/>
            </a:solidFill>
          </a:ln>
          <a:effectLst/>
        </p:spPr>
      </p:cxnSp>
      <p:cxnSp>
        <p:nvCxnSpPr>
          <p:cNvPr id="12" name="Connector 11"/>
          <p:cNvCxnSpPr/>
          <p:nvPr/>
        </p:nvCxnSpPr>
        <p:spPr>
          <a:xfrm flipH="1">
            <a:off x="7904988" y="3803903"/>
            <a:ext cx="950975" cy="1106425"/>
          </a:xfrm>
          <a:prstGeom prst="line">
            <a:avLst/>
          </a:prstGeom>
          <a:ln w="15875">
            <a:solidFill>
              <a:srgbClr val="8A8F98"/>
            </a:solidFill>
          </a:ln>
          <a:effectLst/>
        </p:spPr>
      </p:cxnSp>
      <p:cxnSp>
        <p:nvCxnSpPr>
          <p:cNvPr id="13" name="Connector 12"/>
          <p:cNvCxnSpPr/>
          <p:nvPr/>
        </p:nvCxnSpPr>
        <p:spPr>
          <a:xfrm>
            <a:off x="8855963" y="3803903"/>
            <a:ext cx="548641" cy="1106425"/>
          </a:xfrm>
          <a:prstGeom prst="line">
            <a:avLst/>
          </a:prstGeom>
          <a:ln w="15875">
            <a:solidFill>
              <a:srgbClr val="8A8F98"/>
            </a:solidFill>
          </a:ln>
          <a:effectLst/>
        </p:spPr>
      </p:cxnSp>
      <p:cxnSp>
        <p:nvCxnSpPr>
          <p:cNvPr id="14" name="Connector 13"/>
          <p:cNvCxnSpPr/>
          <p:nvPr/>
        </p:nvCxnSpPr>
        <p:spPr>
          <a:xfrm>
            <a:off x="5564124" y="2203704"/>
            <a:ext cx="219455" cy="2706624"/>
          </a:xfrm>
          <a:prstGeom prst="line">
            <a:avLst/>
          </a:prstGeom>
          <a:ln w="15875">
            <a:solidFill>
              <a:srgbClr val="8A8F98"/>
            </a:solidFill>
          </a:ln>
          <a:effectLst/>
        </p:spPr>
      </p:cxnSp>
      <p:cxnSp>
        <p:nvCxnSpPr>
          <p:cNvPr id="15" name="Connector 14"/>
          <p:cNvCxnSpPr/>
          <p:nvPr/>
        </p:nvCxnSpPr>
        <p:spPr>
          <a:xfrm flipH="1">
            <a:off x="3323844" y="2203704"/>
            <a:ext cx="2240280" cy="749807"/>
          </a:xfrm>
          <a:prstGeom prst="line">
            <a:avLst/>
          </a:prstGeom>
          <a:ln w="15875">
            <a:solidFill>
              <a:srgbClr val="8A8F98"/>
            </a:solidFill>
          </a:ln>
          <a:effectLst/>
        </p:spPr>
      </p:cxnSp>
      <p:cxnSp>
        <p:nvCxnSpPr>
          <p:cNvPr id="16" name="Connector 15"/>
          <p:cNvCxnSpPr/>
          <p:nvPr/>
        </p:nvCxnSpPr>
        <p:spPr>
          <a:xfrm>
            <a:off x="5564124" y="2203704"/>
            <a:ext cx="2194559" cy="749807"/>
          </a:xfrm>
          <a:prstGeom prst="line">
            <a:avLst/>
          </a:prstGeom>
          <a:ln w="15875">
            <a:solidFill>
              <a:srgbClr val="8A8F98"/>
            </a:solidFill>
          </a:ln>
          <a:effectLst/>
        </p:spPr>
      </p:cxnSp>
      <p:cxnSp>
        <p:nvCxnSpPr>
          <p:cNvPr id="17" name="Connector 16"/>
          <p:cNvCxnSpPr/>
          <p:nvPr/>
        </p:nvCxnSpPr>
        <p:spPr>
          <a:xfrm flipH="1">
            <a:off x="6405372" y="2203704"/>
            <a:ext cx="484632" cy="2706624"/>
          </a:xfrm>
          <a:prstGeom prst="line">
            <a:avLst/>
          </a:prstGeom>
          <a:ln w="15875">
            <a:solidFill>
              <a:srgbClr val="8A8F98"/>
            </a:solidFill>
          </a:ln>
          <a:effectLst/>
        </p:spPr>
      </p:cxnSp>
      <p:cxnSp>
        <p:nvCxnSpPr>
          <p:cNvPr id="18" name="Connector 17"/>
          <p:cNvCxnSpPr/>
          <p:nvPr/>
        </p:nvCxnSpPr>
        <p:spPr>
          <a:xfrm flipH="1">
            <a:off x="4421124" y="2203704"/>
            <a:ext cx="2468880" cy="749807"/>
          </a:xfrm>
          <a:prstGeom prst="line">
            <a:avLst/>
          </a:prstGeom>
          <a:ln w="15875">
            <a:solidFill>
              <a:srgbClr val="8A8F98"/>
            </a:solidFill>
          </a:ln>
          <a:effectLst/>
        </p:spPr>
      </p:cxnSp>
      <p:cxnSp>
        <p:nvCxnSpPr>
          <p:cNvPr id="19" name="Connector 18"/>
          <p:cNvCxnSpPr/>
          <p:nvPr/>
        </p:nvCxnSpPr>
        <p:spPr>
          <a:xfrm>
            <a:off x="6890004" y="2203704"/>
            <a:ext cx="1965959" cy="749807"/>
          </a:xfrm>
          <a:prstGeom prst="line">
            <a:avLst/>
          </a:prstGeom>
          <a:ln w="15875">
            <a:solidFill>
              <a:srgbClr val="8A8F98"/>
            </a:solidFill>
          </a:ln>
          <a:effectLst/>
        </p:spPr>
      </p:cxnSp>
      <p:sp>
        <p:nvSpPr>
          <p:cNvPr id="20" name="Rounded Rectangle 19"/>
          <p:cNvSpPr/>
          <p:nvPr/>
        </p:nvSpPr>
        <p:spPr>
          <a:xfrm>
            <a:off x="2510028"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TextBox 41"/>
          <p:cNvSpPr txBox="1"/>
          <p:nvPr/>
        </p:nvSpPr>
        <p:spPr>
          <a:xfrm>
            <a:off x="2775203" y="5330952"/>
            <a:ext cx="640080" cy="365760"/>
          </a:xfrm>
          <a:prstGeom prst="rect">
            <a:avLst/>
          </a:prstGeom>
          <a:noFill/>
        </p:spPr>
        <p:txBody>
          <a:bodyPr wrap="square" anchor="t" lIns="45720" rIns="45720" tIns="27432" bIns="27432">
            <a:spAutoFit/>
          </a:bodyPr>
          <a:lstStyle/>
          <a:p>
            <a:pPr algn="ctr"/>
            <a:r>
              <a:rPr sz="3200" b="1" i="0">
                <a:solidFill>
                  <a:srgbClr val="C8501E"/>
                </a:solidFill>
                <a:latin typeface="Calibri"/>
              </a:rPr>
              <a:t>=</a:t>
            </a:r>
          </a:p>
        </p:txBody>
      </p:sp>
      <p:sp>
        <p:nvSpPr>
          <p:cNvPr id="43" name="TextBox 42"/>
          <p:cNvSpPr txBox="1"/>
          <p:nvPr/>
        </p:nvSpPr>
        <p:spPr>
          <a:xfrm>
            <a:off x="4274820" y="5330952"/>
            <a:ext cx="640080" cy="365760"/>
          </a:xfrm>
          <a:prstGeom prst="rect">
            <a:avLst/>
          </a:prstGeom>
          <a:noFill/>
        </p:spPr>
        <p:txBody>
          <a:bodyPr wrap="square" anchor="t" lIns="45720" rIns="45720" tIns="27432" bIns="27432">
            <a:spAutoFit/>
          </a:bodyPr>
          <a:lstStyle/>
          <a:p>
            <a:pPr algn="ctr"/>
            <a:r>
              <a:rPr sz="3200" b="1" i="0">
                <a:solidFill>
                  <a:srgbClr val="C8501E"/>
                </a:solidFill>
                <a:latin typeface="Calibri"/>
              </a:rPr>
              <a:t>=</a:t>
            </a:r>
          </a:p>
        </p:txBody>
      </p:sp>
      <p:sp>
        <p:nvSpPr>
          <p:cNvPr id="44" name="TextBox 43"/>
          <p:cNvSpPr txBox="1"/>
          <p:nvPr/>
        </p:nvSpPr>
        <p:spPr>
          <a:xfrm>
            <a:off x="5774436" y="5330952"/>
            <a:ext cx="640080" cy="365760"/>
          </a:xfrm>
          <a:prstGeom prst="rect">
            <a:avLst/>
          </a:prstGeom>
          <a:noFill/>
        </p:spPr>
        <p:txBody>
          <a:bodyPr wrap="square" anchor="t" lIns="45720" rIns="45720" tIns="27432" bIns="27432">
            <a:spAutoFit/>
          </a:bodyPr>
          <a:lstStyle/>
          <a:p>
            <a:pPr algn="ctr"/>
            <a:r>
              <a:rPr sz="3200" b="1" i="0">
                <a:solidFill>
                  <a:srgbClr val="C8501E"/>
                </a:solidFill>
                <a:latin typeface="Calibri"/>
              </a:rPr>
              <a:t>=</a:t>
            </a:r>
          </a:p>
        </p:txBody>
      </p:sp>
      <p:sp>
        <p:nvSpPr>
          <p:cNvPr id="45" name="TextBox 44"/>
          <p:cNvSpPr txBox="1"/>
          <p:nvPr/>
        </p:nvSpPr>
        <p:spPr>
          <a:xfrm>
            <a:off x="7274052" y="5330952"/>
            <a:ext cx="640080" cy="365760"/>
          </a:xfrm>
          <a:prstGeom prst="rect">
            <a:avLst/>
          </a:prstGeom>
          <a:noFill/>
        </p:spPr>
        <p:txBody>
          <a:bodyPr wrap="square" anchor="t" lIns="45720" rIns="45720" tIns="27432" bIns="27432">
            <a:spAutoFit/>
          </a:bodyPr>
          <a:lstStyle/>
          <a:p>
            <a:pPr algn="ctr"/>
            <a:r>
              <a:rPr sz="3200" b="1" i="0">
                <a:solidFill>
                  <a:srgbClr val="C8501E"/>
                </a:solidFill>
                <a:latin typeface="Calibri"/>
              </a:rPr>
              <a:t>=</a:t>
            </a:r>
          </a:p>
        </p:txBody>
      </p:sp>
      <p:sp>
        <p:nvSpPr>
          <p:cNvPr id="46" name="TextBox 45"/>
          <p:cNvSpPr txBox="1"/>
          <p:nvPr/>
        </p:nvSpPr>
        <p:spPr>
          <a:xfrm>
            <a:off x="8773668" y="5330952"/>
            <a:ext cx="640080" cy="365760"/>
          </a:xfrm>
          <a:prstGeom prst="rect">
            <a:avLst/>
          </a:prstGeom>
          <a:noFill/>
        </p:spPr>
        <p:txBody>
          <a:bodyPr wrap="square" anchor="t" lIns="45720" rIns="45720" tIns="27432" bIns="27432">
            <a:spAutoFit/>
          </a:bodyPr>
          <a:lstStyle/>
          <a:p>
            <a:pPr algn="ctr"/>
            <a:r>
              <a:rPr sz="3200" b="1" i="0">
                <a:solidFill>
                  <a:srgbClr val="C8501E"/>
                </a:solidFill>
                <a:latin typeface="Calibri"/>
              </a:rP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Reading the diagram: one node, one term</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10</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C9CDD3"/>
            </a:solidFill>
          </a:ln>
          <a:effectLst/>
        </p:spPr>
      </p:cxnSp>
      <p:cxnSp>
        <p:nvCxnSpPr>
          <p:cNvPr id="7" name="Connector 6"/>
          <p:cNvCxnSpPr/>
          <p:nvPr/>
        </p:nvCxnSpPr>
        <p:spPr>
          <a:xfrm>
            <a:off x="3323844" y="3803903"/>
            <a:ext cx="960120" cy="1106425"/>
          </a:xfrm>
          <a:prstGeom prst="line">
            <a:avLst/>
          </a:prstGeom>
          <a:ln w="15875">
            <a:solidFill>
              <a:srgbClr val="C9CDD3"/>
            </a:solidFill>
          </a:ln>
          <a:effectLst/>
        </p:spPr>
      </p:cxnSp>
      <p:cxnSp>
        <p:nvCxnSpPr>
          <p:cNvPr id="8" name="Connector 7"/>
          <p:cNvCxnSpPr/>
          <p:nvPr/>
        </p:nvCxnSpPr>
        <p:spPr>
          <a:xfrm flipH="1">
            <a:off x="3406139" y="3803903"/>
            <a:ext cx="1014985" cy="1106425"/>
          </a:xfrm>
          <a:prstGeom prst="line">
            <a:avLst/>
          </a:prstGeom>
          <a:ln w="15875">
            <a:solidFill>
              <a:srgbClr val="C9CDD3"/>
            </a:solidFill>
          </a:ln>
          <a:effectLst/>
        </p:spPr>
      </p:cxnSp>
      <p:cxnSp>
        <p:nvCxnSpPr>
          <p:cNvPr id="9" name="Connector 8"/>
          <p:cNvCxnSpPr/>
          <p:nvPr/>
        </p:nvCxnSpPr>
        <p:spPr>
          <a:xfrm>
            <a:off x="4421124" y="3803903"/>
            <a:ext cx="484632" cy="1106425"/>
          </a:xfrm>
          <a:prstGeom prst="line">
            <a:avLst/>
          </a:prstGeom>
          <a:ln w="15875">
            <a:solidFill>
              <a:srgbClr val="C9CDD3"/>
            </a:solidFill>
          </a:ln>
          <a:effectLst/>
        </p:spPr>
      </p:cxnSp>
      <p:cxnSp>
        <p:nvCxnSpPr>
          <p:cNvPr id="10" name="Connector 9"/>
          <p:cNvCxnSpPr/>
          <p:nvPr/>
        </p:nvCxnSpPr>
        <p:spPr>
          <a:xfrm flipH="1">
            <a:off x="7283196" y="3803903"/>
            <a:ext cx="475487" cy="1106425"/>
          </a:xfrm>
          <a:prstGeom prst="line">
            <a:avLst/>
          </a:prstGeom>
          <a:ln w="15875">
            <a:solidFill>
              <a:srgbClr val="C9CDD3"/>
            </a:solidFill>
          </a:ln>
          <a:effectLst/>
        </p:spPr>
      </p:cxnSp>
      <p:cxnSp>
        <p:nvCxnSpPr>
          <p:cNvPr id="11" name="Connector 10"/>
          <p:cNvCxnSpPr/>
          <p:nvPr/>
        </p:nvCxnSpPr>
        <p:spPr>
          <a:xfrm>
            <a:off x="7758683" y="3803903"/>
            <a:ext cx="1024129" cy="1106425"/>
          </a:xfrm>
          <a:prstGeom prst="line">
            <a:avLst/>
          </a:prstGeom>
          <a:ln w="15875">
            <a:solidFill>
              <a:srgbClr val="C9CDD3"/>
            </a:solidFill>
          </a:ln>
          <a:effectLst/>
        </p:spPr>
      </p:cxnSp>
      <p:cxnSp>
        <p:nvCxnSpPr>
          <p:cNvPr id="12" name="Connector 11"/>
          <p:cNvCxnSpPr/>
          <p:nvPr/>
        </p:nvCxnSpPr>
        <p:spPr>
          <a:xfrm flipH="1">
            <a:off x="7904988" y="3803903"/>
            <a:ext cx="950975" cy="1106425"/>
          </a:xfrm>
          <a:prstGeom prst="line">
            <a:avLst/>
          </a:prstGeom>
          <a:ln w="15875">
            <a:solidFill>
              <a:srgbClr val="C9CDD3"/>
            </a:solidFill>
          </a:ln>
          <a:effectLst/>
        </p:spPr>
      </p:cxnSp>
      <p:cxnSp>
        <p:nvCxnSpPr>
          <p:cNvPr id="13" name="Connector 12"/>
          <p:cNvCxnSpPr/>
          <p:nvPr/>
        </p:nvCxnSpPr>
        <p:spPr>
          <a:xfrm>
            <a:off x="8855963" y="3803903"/>
            <a:ext cx="548641" cy="1106425"/>
          </a:xfrm>
          <a:prstGeom prst="line">
            <a:avLst/>
          </a:prstGeom>
          <a:ln w="15875">
            <a:solidFill>
              <a:srgbClr val="C9CDD3"/>
            </a:solidFill>
          </a:ln>
          <a:effectLst/>
        </p:spPr>
      </p:cxnSp>
      <p:cxnSp>
        <p:nvCxnSpPr>
          <p:cNvPr id="14" name="Connector 13"/>
          <p:cNvCxnSpPr/>
          <p:nvPr/>
        </p:nvCxnSpPr>
        <p:spPr>
          <a:xfrm>
            <a:off x="5564124" y="2203704"/>
            <a:ext cx="219455" cy="2706624"/>
          </a:xfrm>
          <a:prstGeom prst="line">
            <a:avLst/>
          </a:prstGeom>
          <a:ln w="15875">
            <a:solidFill>
              <a:srgbClr val="C9CDD3"/>
            </a:solidFill>
          </a:ln>
          <a:effectLst/>
        </p:spPr>
      </p:cxnSp>
      <p:cxnSp>
        <p:nvCxnSpPr>
          <p:cNvPr id="15" name="Connector 14"/>
          <p:cNvCxnSpPr/>
          <p:nvPr/>
        </p:nvCxnSpPr>
        <p:spPr>
          <a:xfrm flipH="1">
            <a:off x="3323844" y="2203704"/>
            <a:ext cx="2240280" cy="749807"/>
          </a:xfrm>
          <a:prstGeom prst="line">
            <a:avLst/>
          </a:prstGeom>
          <a:ln w="15875">
            <a:solidFill>
              <a:srgbClr val="C9CDD3"/>
            </a:solidFill>
          </a:ln>
          <a:effectLst/>
        </p:spPr>
      </p:cxnSp>
      <p:cxnSp>
        <p:nvCxnSpPr>
          <p:cNvPr id="16" name="Connector 15"/>
          <p:cNvCxnSpPr/>
          <p:nvPr/>
        </p:nvCxnSpPr>
        <p:spPr>
          <a:xfrm>
            <a:off x="5564124" y="2203704"/>
            <a:ext cx="2194559" cy="749807"/>
          </a:xfrm>
          <a:prstGeom prst="line">
            <a:avLst/>
          </a:prstGeom>
          <a:ln w="15875">
            <a:solidFill>
              <a:srgbClr val="C9CDD3"/>
            </a:solidFill>
          </a:ln>
          <a:effectLst/>
        </p:spPr>
      </p:cxnSp>
      <p:cxnSp>
        <p:nvCxnSpPr>
          <p:cNvPr id="17" name="Connector 16"/>
          <p:cNvCxnSpPr/>
          <p:nvPr/>
        </p:nvCxnSpPr>
        <p:spPr>
          <a:xfrm flipH="1">
            <a:off x="6405372" y="2203704"/>
            <a:ext cx="484632" cy="2706624"/>
          </a:xfrm>
          <a:prstGeom prst="line">
            <a:avLst/>
          </a:prstGeom>
          <a:ln w="31750">
            <a:solidFill>
              <a:srgbClr val="C8501E"/>
            </a:solidFill>
            <a:tailEnd type="triangle" w="med" len="med"/>
          </a:ln>
          <a:effectLst/>
        </p:spPr>
      </p:cxnSp>
      <p:cxnSp>
        <p:nvCxnSpPr>
          <p:cNvPr id="18" name="Connector 17"/>
          <p:cNvCxnSpPr/>
          <p:nvPr/>
        </p:nvCxnSpPr>
        <p:spPr>
          <a:xfrm flipH="1">
            <a:off x="4421124" y="2203704"/>
            <a:ext cx="2468880" cy="749807"/>
          </a:xfrm>
          <a:prstGeom prst="line">
            <a:avLst/>
          </a:prstGeom>
          <a:ln w="31750">
            <a:solidFill>
              <a:srgbClr val="C8501E"/>
            </a:solidFill>
            <a:tailEnd type="triangle" w="med" len="med"/>
          </a:ln>
          <a:effectLst/>
        </p:spPr>
      </p:cxnSp>
      <p:cxnSp>
        <p:nvCxnSpPr>
          <p:cNvPr id="19" name="Connector 18"/>
          <p:cNvCxnSpPr/>
          <p:nvPr/>
        </p:nvCxnSpPr>
        <p:spPr>
          <a:xfrm>
            <a:off x="6890004" y="2203704"/>
            <a:ext cx="1965959" cy="749807"/>
          </a:xfrm>
          <a:prstGeom prst="line">
            <a:avLst/>
          </a:prstGeom>
          <a:ln w="31750">
            <a:solidFill>
              <a:srgbClr val="C8501E"/>
            </a:solidFill>
            <a:tailEnd type="triangle" w="med" len="med"/>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C9CDD3"/>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Rounded Rectangle 41"/>
          <p:cNvSpPr/>
          <p:nvPr/>
        </p:nvSpPr>
        <p:spPr>
          <a:xfrm>
            <a:off x="7575804" y="1115568"/>
            <a:ext cx="2286000" cy="420624"/>
          </a:xfrm>
          <a:prstGeom prst="roundRect">
            <a:avLst>
              <a:gd name="adj" fmla="val 15000"/>
            </a:avLst>
          </a:prstGeom>
          <a:solidFill>
            <a:srgbClr val="FFF3CC"/>
          </a:solidFill>
          <a:ln w="19050">
            <a:solidFill>
              <a:srgbClr val="E0A300"/>
            </a:solidFill>
          </a:ln>
          <a:effectLst/>
        </p:spPr>
        <p:txBody>
          <a:bodyPr rtlCol="0" anchor="ctr" lIns="54864" rIns="54864" tIns="27432" bIns="27432" wrap="square"/>
          <a:lstStyle/>
          <a:p>
            <a:pPr algn="ctr"/>
            <a:r>
              <a:rPr sz="1500" b="1" i="0">
                <a:solidFill>
                  <a:srgbClr val="2B2F36"/>
                </a:solidFill>
                <a:latin typeface="Calibri"/>
              </a:rPr>
              <a:t>m₂ = ITE(c′, a₂, x₂)</a:t>
            </a:r>
          </a:p>
        </p:txBody>
      </p:sp>
      <p:cxnSp>
        <p:nvCxnSpPr>
          <p:cNvPr id="43" name="Connector 42"/>
          <p:cNvCxnSpPr/>
          <p:nvPr/>
        </p:nvCxnSpPr>
        <p:spPr>
          <a:xfrm flipH="1">
            <a:off x="7091172" y="1325880"/>
            <a:ext cx="484632" cy="292608"/>
          </a:xfrm>
          <a:prstGeom prst="line">
            <a:avLst/>
          </a:prstGeom>
          <a:ln w="28575">
            <a:solidFill>
              <a:srgbClr val="E0A300"/>
            </a:solidFill>
            <a:tailEnd type="triangle" w="med" len="med"/>
          </a:ln>
          <a:effectLst/>
        </p:spPr>
      </p:cxn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Reading the diagram: parent and children</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11</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C9CDD3"/>
            </a:solidFill>
          </a:ln>
          <a:effectLst/>
        </p:spPr>
      </p:cxnSp>
      <p:cxnSp>
        <p:nvCxnSpPr>
          <p:cNvPr id="7" name="Connector 6"/>
          <p:cNvCxnSpPr/>
          <p:nvPr/>
        </p:nvCxnSpPr>
        <p:spPr>
          <a:xfrm>
            <a:off x="3323844" y="3803903"/>
            <a:ext cx="960120" cy="1106425"/>
          </a:xfrm>
          <a:prstGeom prst="line">
            <a:avLst/>
          </a:prstGeom>
          <a:ln w="15875">
            <a:solidFill>
              <a:srgbClr val="C9CDD3"/>
            </a:solidFill>
          </a:ln>
          <a:effectLst/>
        </p:spPr>
      </p:cxnSp>
      <p:cxnSp>
        <p:nvCxnSpPr>
          <p:cNvPr id="8" name="Connector 7"/>
          <p:cNvCxnSpPr/>
          <p:nvPr/>
        </p:nvCxnSpPr>
        <p:spPr>
          <a:xfrm flipH="1">
            <a:off x="3406139" y="3803903"/>
            <a:ext cx="1014985" cy="1106425"/>
          </a:xfrm>
          <a:prstGeom prst="line">
            <a:avLst/>
          </a:prstGeom>
          <a:ln w="15875">
            <a:solidFill>
              <a:srgbClr val="C9CDD3"/>
            </a:solidFill>
          </a:ln>
          <a:effectLst/>
        </p:spPr>
      </p:cxnSp>
      <p:cxnSp>
        <p:nvCxnSpPr>
          <p:cNvPr id="9" name="Connector 8"/>
          <p:cNvCxnSpPr/>
          <p:nvPr/>
        </p:nvCxnSpPr>
        <p:spPr>
          <a:xfrm>
            <a:off x="4421124" y="3803903"/>
            <a:ext cx="484632" cy="1106425"/>
          </a:xfrm>
          <a:prstGeom prst="line">
            <a:avLst/>
          </a:prstGeom>
          <a:ln w="15875">
            <a:solidFill>
              <a:srgbClr val="C9CDD3"/>
            </a:solidFill>
          </a:ln>
          <a:effectLst/>
        </p:spPr>
      </p:cxnSp>
      <p:cxnSp>
        <p:nvCxnSpPr>
          <p:cNvPr id="10" name="Connector 9"/>
          <p:cNvCxnSpPr/>
          <p:nvPr/>
        </p:nvCxnSpPr>
        <p:spPr>
          <a:xfrm flipH="1">
            <a:off x="7283196" y="3803903"/>
            <a:ext cx="475487" cy="1106425"/>
          </a:xfrm>
          <a:prstGeom prst="line">
            <a:avLst/>
          </a:prstGeom>
          <a:ln w="15875">
            <a:solidFill>
              <a:srgbClr val="C9CDD3"/>
            </a:solidFill>
          </a:ln>
          <a:effectLst/>
        </p:spPr>
      </p:cxnSp>
      <p:cxnSp>
        <p:nvCxnSpPr>
          <p:cNvPr id="11" name="Connector 10"/>
          <p:cNvCxnSpPr/>
          <p:nvPr/>
        </p:nvCxnSpPr>
        <p:spPr>
          <a:xfrm>
            <a:off x="7758683" y="3803903"/>
            <a:ext cx="1024129" cy="1106425"/>
          </a:xfrm>
          <a:prstGeom prst="line">
            <a:avLst/>
          </a:prstGeom>
          <a:ln w="15875">
            <a:solidFill>
              <a:srgbClr val="C9CDD3"/>
            </a:solidFill>
          </a:ln>
          <a:effectLst/>
        </p:spPr>
      </p:cxnSp>
      <p:cxnSp>
        <p:nvCxnSpPr>
          <p:cNvPr id="12" name="Connector 11"/>
          <p:cNvCxnSpPr/>
          <p:nvPr/>
        </p:nvCxnSpPr>
        <p:spPr>
          <a:xfrm flipH="1">
            <a:off x="7904988" y="3803903"/>
            <a:ext cx="950975" cy="1106425"/>
          </a:xfrm>
          <a:prstGeom prst="line">
            <a:avLst/>
          </a:prstGeom>
          <a:ln w="15875">
            <a:solidFill>
              <a:srgbClr val="C9CDD3"/>
            </a:solidFill>
          </a:ln>
          <a:effectLst/>
        </p:spPr>
      </p:cxnSp>
      <p:cxnSp>
        <p:nvCxnSpPr>
          <p:cNvPr id="13" name="Connector 12"/>
          <p:cNvCxnSpPr/>
          <p:nvPr/>
        </p:nvCxnSpPr>
        <p:spPr>
          <a:xfrm>
            <a:off x="8855963" y="3803903"/>
            <a:ext cx="548641" cy="1106425"/>
          </a:xfrm>
          <a:prstGeom prst="line">
            <a:avLst/>
          </a:prstGeom>
          <a:ln w="15875">
            <a:solidFill>
              <a:srgbClr val="C9CDD3"/>
            </a:solidFill>
          </a:ln>
          <a:effectLst/>
        </p:spPr>
      </p:cxnSp>
      <p:cxnSp>
        <p:nvCxnSpPr>
          <p:cNvPr id="14" name="Connector 13"/>
          <p:cNvCxnSpPr/>
          <p:nvPr/>
        </p:nvCxnSpPr>
        <p:spPr>
          <a:xfrm>
            <a:off x="5564124" y="2203704"/>
            <a:ext cx="219455" cy="2706624"/>
          </a:xfrm>
          <a:prstGeom prst="line">
            <a:avLst/>
          </a:prstGeom>
          <a:ln w="15875">
            <a:solidFill>
              <a:srgbClr val="C9CDD3"/>
            </a:solidFill>
          </a:ln>
          <a:effectLst/>
        </p:spPr>
      </p:cxnSp>
      <p:cxnSp>
        <p:nvCxnSpPr>
          <p:cNvPr id="15" name="Connector 14"/>
          <p:cNvCxnSpPr/>
          <p:nvPr/>
        </p:nvCxnSpPr>
        <p:spPr>
          <a:xfrm flipH="1">
            <a:off x="3323844" y="2203704"/>
            <a:ext cx="2240280" cy="749807"/>
          </a:xfrm>
          <a:prstGeom prst="line">
            <a:avLst/>
          </a:prstGeom>
          <a:ln w="15875">
            <a:solidFill>
              <a:srgbClr val="C9CDD3"/>
            </a:solidFill>
          </a:ln>
          <a:effectLst/>
        </p:spPr>
      </p:cxnSp>
      <p:cxnSp>
        <p:nvCxnSpPr>
          <p:cNvPr id="16" name="Connector 15"/>
          <p:cNvCxnSpPr/>
          <p:nvPr/>
        </p:nvCxnSpPr>
        <p:spPr>
          <a:xfrm>
            <a:off x="5564124" y="2203704"/>
            <a:ext cx="2194559" cy="749807"/>
          </a:xfrm>
          <a:prstGeom prst="line">
            <a:avLst/>
          </a:prstGeom>
          <a:ln w="15875">
            <a:solidFill>
              <a:srgbClr val="C9CDD3"/>
            </a:solidFill>
          </a:ln>
          <a:effectLst/>
        </p:spPr>
      </p:cxnSp>
      <p:cxnSp>
        <p:nvCxnSpPr>
          <p:cNvPr id="17" name="Connector 16"/>
          <p:cNvCxnSpPr/>
          <p:nvPr/>
        </p:nvCxnSpPr>
        <p:spPr>
          <a:xfrm flipH="1">
            <a:off x="6405372" y="2203704"/>
            <a:ext cx="484632" cy="2706624"/>
          </a:xfrm>
          <a:prstGeom prst="line">
            <a:avLst/>
          </a:prstGeom>
          <a:ln w="31750">
            <a:solidFill>
              <a:srgbClr val="C8501E"/>
            </a:solidFill>
            <a:tailEnd type="triangle" w="med" len="med"/>
          </a:ln>
          <a:effectLst/>
        </p:spPr>
      </p:cxnSp>
      <p:cxnSp>
        <p:nvCxnSpPr>
          <p:cNvPr id="18" name="Connector 17"/>
          <p:cNvCxnSpPr/>
          <p:nvPr/>
        </p:nvCxnSpPr>
        <p:spPr>
          <a:xfrm flipH="1">
            <a:off x="4421124" y="2203704"/>
            <a:ext cx="2468880" cy="749807"/>
          </a:xfrm>
          <a:prstGeom prst="line">
            <a:avLst/>
          </a:prstGeom>
          <a:ln w="31750">
            <a:solidFill>
              <a:srgbClr val="C8501E"/>
            </a:solidFill>
            <a:tailEnd type="triangle" w="med" len="med"/>
          </a:ln>
          <a:effectLst/>
        </p:spPr>
      </p:cxnSp>
      <p:cxnSp>
        <p:nvCxnSpPr>
          <p:cNvPr id="19" name="Connector 18"/>
          <p:cNvCxnSpPr/>
          <p:nvPr/>
        </p:nvCxnSpPr>
        <p:spPr>
          <a:xfrm>
            <a:off x="6890004" y="2203704"/>
            <a:ext cx="1965959" cy="749807"/>
          </a:xfrm>
          <a:prstGeom prst="line">
            <a:avLst/>
          </a:prstGeom>
          <a:ln w="31750">
            <a:solidFill>
              <a:srgbClr val="C8501E"/>
            </a:solidFill>
            <a:tailEnd type="triangle" w="med" len="med"/>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C9CDD3"/>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TextBox 41"/>
          <p:cNvSpPr txBox="1"/>
          <p:nvPr/>
        </p:nvSpPr>
        <p:spPr>
          <a:xfrm>
            <a:off x="7712964" y="1764792"/>
            <a:ext cx="822960" cy="310896"/>
          </a:xfrm>
          <a:prstGeom prst="rect">
            <a:avLst/>
          </a:prstGeom>
          <a:noFill/>
        </p:spPr>
        <p:txBody>
          <a:bodyPr wrap="square" anchor="ctr" lIns="45720" rIns="45720" tIns="27432" bIns="27432">
            <a:spAutoFit/>
          </a:bodyPr>
          <a:lstStyle/>
          <a:p>
            <a:pPr algn="ctr"/>
            <a:r>
              <a:rPr sz="1700" b="1" i="0">
                <a:solidFill>
                  <a:srgbClr val="C8501E"/>
                </a:solidFill>
                <a:latin typeface="Calibri"/>
              </a:rPr>
              <a:t>parent</a:t>
            </a:r>
          </a:p>
        </p:txBody>
      </p:sp>
      <p:sp>
        <p:nvSpPr>
          <p:cNvPr id="43" name="TextBox 42"/>
          <p:cNvSpPr txBox="1"/>
          <p:nvPr/>
        </p:nvSpPr>
        <p:spPr>
          <a:xfrm>
            <a:off x="5993892" y="5358383"/>
            <a:ext cx="822960" cy="292608"/>
          </a:xfrm>
          <a:prstGeom prst="rect">
            <a:avLst/>
          </a:prstGeom>
          <a:noFill/>
        </p:spPr>
        <p:txBody>
          <a:bodyPr wrap="square" anchor="ctr" lIns="45720" rIns="45720" tIns="27432" bIns="27432">
            <a:spAutoFit/>
          </a:bodyPr>
          <a:lstStyle/>
          <a:p>
            <a:pPr algn="ctr"/>
            <a:r>
              <a:rPr sz="1500" b="1" i="0">
                <a:solidFill>
                  <a:srgbClr val="C8501E"/>
                </a:solidFill>
                <a:latin typeface="Calibri"/>
              </a:rPr>
              <a:t>child</a:t>
            </a:r>
          </a:p>
        </p:txBody>
      </p:sp>
      <p:sp>
        <p:nvSpPr>
          <p:cNvPr id="44" name="TextBox 43"/>
          <p:cNvSpPr txBox="1"/>
          <p:nvPr/>
        </p:nvSpPr>
        <p:spPr>
          <a:xfrm>
            <a:off x="4814316" y="3374135"/>
            <a:ext cx="822960" cy="292608"/>
          </a:xfrm>
          <a:prstGeom prst="rect">
            <a:avLst/>
          </a:prstGeom>
          <a:noFill/>
        </p:spPr>
        <p:txBody>
          <a:bodyPr wrap="square" anchor="ctr" lIns="45720" rIns="45720" tIns="27432" bIns="27432">
            <a:spAutoFit/>
          </a:bodyPr>
          <a:lstStyle/>
          <a:p>
            <a:pPr algn="ctr"/>
            <a:r>
              <a:rPr sz="1500" b="1" i="0">
                <a:solidFill>
                  <a:srgbClr val="C8501E"/>
                </a:solidFill>
                <a:latin typeface="Calibri"/>
              </a:rPr>
              <a:t>child</a:t>
            </a:r>
          </a:p>
        </p:txBody>
      </p:sp>
      <p:sp>
        <p:nvSpPr>
          <p:cNvPr id="45" name="TextBox 44"/>
          <p:cNvSpPr txBox="1"/>
          <p:nvPr/>
        </p:nvSpPr>
        <p:spPr>
          <a:xfrm>
            <a:off x="9249156" y="3374135"/>
            <a:ext cx="822960" cy="292608"/>
          </a:xfrm>
          <a:prstGeom prst="rect">
            <a:avLst/>
          </a:prstGeom>
          <a:noFill/>
        </p:spPr>
        <p:txBody>
          <a:bodyPr wrap="square" anchor="ctr" lIns="45720" rIns="45720" tIns="27432" bIns="27432">
            <a:spAutoFit/>
          </a:bodyPr>
          <a:lstStyle/>
          <a:p>
            <a:pPr algn="ctr"/>
            <a:r>
              <a:rPr sz="1500" b="1" i="0">
                <a:solidFill>
                  <a:srgbClr val="C8501E"/>
                </a:solidFill>
                <a:latin typeface="Calibri"/>
              </a:rPr>
              <a:t>child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What we do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40080" y="1435608"/>
            <a:ext cx="502920" cy="502920"/>
          </a:xfrm>
          <a:prstGeom prst="roundRect">
            <a:avLst>
              <a:gd name="adj" fmla="val 50000"/>
            </a:avLst>
          </a:prstGeom>
          <a:solidFill>
            <a:srgbClr val="C8501E"/>
          </a:solidFill>
          <a:ln>
            <a:noFill/>
          </a:ln>
          <a:effectLst/>
        </p:spPr>
        <p:txBody>
          <a:bodyPr rtlCol="0" anchor="ctr" lIns="54864" rIns="54864" tIns="27432" bIns="27432" wrap="square"/>
          <a:lstStyle/>
          <a:p>
            <a:pPr algn="ctr"/>
            <a:r>
              <a:rPr sz="1800" b="1" i="0">
                <a:solidFill>
                  <a:srgbClr val="FFFFFF"/>
                </a:solidFill>
                <a:latin typeface="Calibri"/>
              </a:rPr>
              <a:t>1</a:t>
            </a:r>
          </a:p>
        </p:txBody>
      </p:sp>
      <p:sp>
        <p:nvSpPr>
          <p:cNvPr id="7" name="TextBox 6"/>
          <p:cNvSpPr txBox="1"/>
          <p:nvPr/>
        </p:nvSpPr>
        <p:spPr>
          <a:xfrm>
            <a:off x="1325880" y="1380744"/>
            <a:ext cx="6035040" cy="457200"/>
          </a:xfrm>
          <a:prstGeom prst="rect">
            <a:avLst/>
          </a:prstGeom>
          <a:noFill/>
        </p:spPr>
        <p:txBody>
          <a:bodyPr wrap="square" anchor="t" lIns="45720" rIns="45720" tIns="27432" bIns="27432">
            <a:spAutoFit/>
          </a:bodyPr>
          <a:lstStyle/>
          <a:p>
            <a:pPr algn="l"/>
            <a:r>
              <a:rPr sz="1900" b="1" i="0">
                <a:solidFill>
                  <a:srgbClr val="1F2A44"/>
                </a:solidFill>
                <a:latin typeface="Calibri"/>
              </a:rPr>
              <a:t>Union every input equality</a:t>
            </a:r>
          </a:p>
        </p:txBody>
      </p:sp>
      <p:sp>
        <p:nvSpPr>
          <p:cNvPr id="8" name="TextBox 7"/>
          <p:cNvSpPr txBox="1"/>
          <p:nvPr/>
        </p:nvSpPr>
        <p:spPr>
          <a:xfrm>
            <a:off x="1325880" y="1764792"/>
            <a:ext cx="6035040" cy="365760"/>
          </a:xfrm>
          <a:prstGeom prst="rect">
            <a:avLst/>
          </a:prstGeom>
          <a:noFill/>
        </p:spPr>
        <p:txBody>
          <a:bodyPr wrap="square" anchor="t" lIns="45720" rIns="45720" tIns="27432" bIns="27432">
            <a:spAutoFit/>
          </a:bodyPr>
          <a:lstStyle/>
          <a:p>
            <a:pPr algn="l"/>
            <a:r>
              <a:rPr sz="1500" b="0" i="0">
                <a:solidFill>
                  <a:srgbClr val="6B717A"/>
                </a:solidFill>
                <a:latin typeface="Calibri"/>
              </a:rPr>
              <a:t>r ≡ r′,  s ≡ s′,  u ≡ u′,  v ≡ v′,  c ≡ c′</a:t>
            </a:r>
          </a:p>
        </p:txBody>
      </p:sp>
      <p:sp>
        <p:nvSpPr>
          <p:cNvPr id="9" name="Rounded Rectangle 8"/>
          <p:cNvSpPr/>
          <p:nvPr/>
        </p:nvSpPr>
        <p:spPr>
          <a:xfrm>
            <a:off x="640080" y="2322576"/>
            <a:ext cx="502920" cy="502920"/>
          </a:xfrm>
          <a:prstGeom prst="roundRect">
            <a:avLst>
              <a:gd name="adj" fmla="val 50000"/>
            </a:avLst>
          </a:prstGeom>
          <a:solidFill>
            <a:srgbClr val="C8501E"/>
          </a:solidFill>
          <a:ln>
            <a:noFill/>
          </a:ln>
          <a:effectLst/>
        </p:spPr>
        <p:txBody>
          <a:bodyPr rtlCol="0" anchor="ctr" lIns="54864" rIns="54864" tIns="27432" bIns="27432" wrap="square"/>
          <a:lstStyle/>
          <a:p>
            <a:pPr algn="ctr"/>
            <a:r>
              <a:rPr sz="1800" b="1" i="0">
                <a:solidFill>
                  <a:srgbClr val="FFFFFF"/>
                </a:solidFill>
                <a:latin typeface="Calibri"/>
              </a:rPr>
              <a:t>2</a:t>
            </a:r>
          </a:p>
        </p:txBody>
      </p:sp>
      <p:sp>
        <p:nvSpPr>
          <p:cNvPr id="10" name="TextBox 9"/>
          <p:cNvSpPr txBox="1"/>
          <p:nvPr/>
        </p:nvSpPr>
        <p:spPr>
          <a:xfrm>
            <a:off x="1325880" y="2267712"/>
            <a:ext cx="6035040" cy="457200"/>
          </a:xfrm>
          <a:prstGeom prst="rect">
            <a:avLst/>
          </a:prstGeom>
          <a:noFill/>
        </p:spPr>
        <p:txBody>
          <a:bodyPr wrap="square" anchor="t" lIns="45720" rIns="45720" tIns="27432" bIns="27432">
            <a:spAutoFit/>
          </a:bodyPr>
          <a:lstStyle/>
          <a:p>
            <a:pPr algn="l"/>
            <a:r>
              <a:rPr sz="1900" b="1" i="0">
                <a:solidFill>
                  <a:srgbClr val="1F2A44"/>
                </a:solidFill>
                <a:latin typeface="Calibri"/>
              </a:rPr>
              <a:t>Look for a congruent pair</a:t>
            </a:r>
          </a:p>
        </p:txBody>
      </p:sp>
      <p:sp>
        <p:nvSpPr>
          <p:cNvPr id="11" name="TextBox 10"/>
          <p:cNvSpPr txBox="1"/>
          <p:nvPr/>
        </p:nvSpPr>
        <p:spPr>
          <a:xfrm>
            <a:off x="1325880" y="2651760"/>
            <a:ext cx="6035040" cy="365760"/>
          </a:xfrm>
          <a:prstGeom prst="rect">
            <a:avLst/>
          </a:prstGeom>
          <a:noFill/>
        </p:spPr>
        <p:txBody>
          <a:bodyPr wrap="square" anchor="t" lIns="45720" rIns="45720" tIns="27432" bIns="27432">
            <a:spAutoFit/>
          </a:bodyPr>
          <a:lstStyle/>
          <a:p>
            <a:pPr algn="l"/>
            <a:r>
              <a:rPr sz="1500" b="0" i="0">
                <a:solidFill>
                  <a:srgbClr val="6B717A"/>
                </a:solidFill>
                <a:latin typeface="Calibri"/>
              </a:rPr>
              <a:t>same operator, children pairwise equivalent</a:t>
            </a:r>
          </a:p>
        </p:txBody>
      </p:sp>
      <p:sp>
        <p:nvSpPr>
          <p:cNvPr id="12" name="Rounded Rectangle 11"/>
          <p:cNvSpPr/>
          <p:nvPr/>
        </p:nvSpPr>
        <p:spPr>
          <a:xfrm>
            <a:off x="640080" y="3209544"/>
            <a:ext cx="502920" cy="502920"/>
          </a:xfrm>
          <a:prstGeom prst="roundRect">
            <a:avLst>
              <a:gd name="adj" fmla="val 50000"/>
            </a:avLst>
          </a:prstGeom>
          <a:solidFill>
            <a:srgbClr val="C8501E"/>
          </a:solidFill>
          <a:ln>
            <a:noFill/>
          </a:ln>
          <a:effectLst/>
        </p:spPr>
        <p:txBody>
          <a:bodyPr rtlCol="0" anchor="ctr" lIns="54864" rIns="54864" tIns="27432" bIns="27432" wrap="square"/>
          <a:lstStyle/>
          <a:p>
            <a:pPr algn="ctr"/>
            <a:r>
              <a:rPr sz="1800" b="1" i="0">
                <a:solidFill>
                  <a:srgbClr val="FFFFFF"/>
                </a:solidFill>
                <a:latin typeface="Calibri"/>
              </a:rPr>
              <a:t>3</a:t>
            </a:r>
          </a:p>
        </p:txBody>
      </p:sp>
      <p:sp>
        <p:nvSpPr>
          <p:cNvPr id="13" name="TextBox 12"/>
          <p:cNvSpPr txBox="1"/>
          <p:nvPr/>
        </p:nvSpPr>
        <p:spPr>
          <a:xfrm>
            <a:off x="1325880" y="3154680"/>
            <a:ext cx="6035040" cy="457200"/>
          </a:xfrm>
          <a:prstGeom prst="rect">
            <a:avLst/>
          </a:prstGeom>
          <a:noFill/>
        </p:spPr>
        <p:txBody>
          <a:bodyPr wrap="square" anchor="t" lIns="45720" rIns="45720" tIns="27432" bIns="27432">
            <a:spAutoFit/>
          </a:bodyPr>
          <a:lstStyle/>
          <a:p>
            <a:pPr algn="l"/>
            <a:r>
              <a:rPr sz="1900" b="1" i="0">
                <a:solidFill>
                  <a:srgbClr val="1F2A44"/>
                </a:solidFill>
                <a:latin typeface="Calibri"/>
              </a:rPr>
              <a:t>Merge their two classes</a:t>
            </a:r>
          </a:p>
        </p:txBody>
      </p:sp>
      <p:sp>
        <p:nvSpPr>
          <p:cNvPr id="14" name="TextBox 13"/>
          <p:cNvSpPr txBox="1"/>
          <p:nvPr/>
        </p:nvSpPr>
        <p:spPr>
          <a:xfrm>
            <a:off x="1325880" y="3538728"/>
            <a:ext cx="6035040" cy="365760"/>
          </a:xfrm>
          <a:prstGeom prst="rect">
            <a:avLst/>
          </a:prstGeom>
          <a:noFill/>
        </p:spPr>
        <p:txBody>
          <a:bodyPr wrap="square" anchor="t" lIns="45720" rIns="45720" tIns="27432" bIns="27432">
            <a:spAutoFit/>
          </a:bodyPr>
          <a:lstStyle/>
          <a:p>
            <a:pPr algn="l"/>
            <a:r>
              <a:rPr sz="1500" b="0" i="0">
                <a:solidFill>
                  <a:srgbClr val="6B717A"/>
                </a:solidFill>
                <a:latin typeface="Calibri"/>
              </a:rPr>
              <a:t>one merge at a time, in whatever order we pick</a:t>
            </a:r>
          </a:p>
        </p:txBody>
      </p:sp>
      <p:sp>
        <p:nvSpPr>
          <p:cNvPr id="15" name="Rounded Rectangle 14"/>
          <p:cNvSpPr/>
          <p:nvPr/>
        </p:nvSpPr>
        <p:spPr>
          <a:xfrm>
            <a:off x="640080" y="4096511"/>
            <a:ext cx="502920" cy="502920"/>
          </a:xfrm>
          <a:prstGeom prst="roundRect">
            <a:avLst>
              <a:gd name="adj" fmla="val 50000"/>
            </a:avLst>
          </a:prstGeom>
          <a:solidFill>
            <a:srgbClr val="C8501E"/>
          </a:solidFill>
          <a:ln>
            <a:noFill/>
          </a:ln>
          <a:effectLst/>
        </p:spPr>
        <p:txBody>
          <a:bodyPr rtlCol="0" anchor="ctr" lIns="54864" rIns="54864" tIns="27432" bIns="27432" wrap="square"/>
          <a:lstStyle/>
          <a:p>
            <a:pPr algn="ctr"/>
            <a:r>
              <a:rPr sz="1800" b="1" i="0">
                <a:solidFill>
                  <a:srgbClr val="FFFFFF"/>
                </a:solidFill>
                <a:latin typeface="Calibri"/>
              </a:rPr>
              <a:t>4</a:t>
            </a:r>
          </a:p>
        </p:txBody>
      </p:sp>
      <p:sp>
        <p:nvSpPr>
          <p:cNvPr id="16" name="TextBox 15"/>
          <p:cNvSpPr txBox="1"/>
          <p:nvPr/>
        </p:nvSpPr>
        <p:spPr>
          <a:xfrm>
            <a:off x="1325880" y="4041648"/>
            <a:ext cx="6035040" cy="457200"/>
          </a:xfrm>
          <a:prstGeom prst="rect">
            <a:avLst/>
          </a:prstGeom>
          <a:noFill/>
        </p:spPr>
        <p:txBody>
          <a:bodyPr wrap="square" anchor="t" lIns="45720" rIns="45720" tIns="27432" bIns="27432">
            <a:spAutoFit/>
          </a:bodyPr>
          <a:lstStyle/>
          <a:p>
            <a:pPr algn="l"/>
            <a:r>
              <a:rPr sz="1900" b="1" i="0">
                <a:solidFill>
                  <a:srgbClr val="1F2A44"/>
                </a:solidFill>
                <a:latin typeface="Calibri"/>
              </a:rPr>
              <a:t>Re-examine the parents of what just merged</a:t>
            </a:r>
          </a:p>
        </p:txBody>
      </p:sp>
      <p:sp>
        <p:nvSpPr>
          <p:cNvPr id="17" name="TextBox 16"/>
          <p:cNvSpPr txBox="1"/>
          <p:nvPr/>
        </p:nvSpPr>
        <p:spPr>
          <a:xfrm>
            <a:off x="1325880" y="4425696"/>
            <a:ext cx="6035040" cy="365760"/>
          </a:xfrm>
          <a:prstGeom prst="rect">
            <a:avLst/>
          </a:prstGeom>
          <a:noFill/>
        </p:spPr>
        <p:txBody>
          <a:bodyPr wrap="square" anchor="t" lIns="45720" rIns="45720" tIns="27432" bIns="27432">
            <a:spAutoFit/>
          </a:bodyPr>
          <a:lstStyle/>
          <a:p>
            <a:pPr algn="l"/>
            <a:r>
              <a:rPr sz="1500" b="0" i="0">
                <a:solidFill>
                  <a:srgbClr val="6B717A"/>
                </a:solidFill>
                <a:latin typeface="Calibri"/>
              </a:rPr>
              <a:t>a merge can make new pairs congruent</a:t>
            </a:r>
          </a:p>
        </p:txBody>
      </p:sp>
      <p:sp>
        <p:nvSpPr>
          <p:cNvPr id="18" name="Rounded Rectangle 17"/>
          <p:cNvSpPr/>
          <p:nvPr/>
        </p:nvSpPr>
        <p:spPr>
          <a:xfrm>
            <a:off x="640080" y="4983479"/>
            <a:ext cx="502920" cy="502920"/>
          </a:xfrm>
          <a:prstGeom prst="roundRect">
            <a:avLst>
              <a:gd name="adj" fmla="val 50000"/>
            </a:avLst>
          </a:prstGeom>
          <a:solidFill>
            <a:srgbClr val="C8501E"/>
          </a:solidFill>
          <a:ln>
            <a:noFill/>
          </a:ln>
          <a:effectLst/>
        </p:spPr>
        <p:txBody>
          <a:bodyPr rtlCol="0" anchor="ctr" lIns="54864" rIns="54864" tIns="27432" bIns="27432" wrap="square"/>
          <a:lstStyle/>
          <a:p>
            <a:pPr algn="ctr"/>
            <a:r>
              <a:rPr sz="1800" b="1" i="0">
                <a:solidFill>
                  <a:srgbClr val="FFFFFF"/>
                </a:solidFill>
                <a:latin typeface="Calibri"/>
              </a:rPr>
              <a:t>5</a:t>
            </a:r>
          </a:p>
        </p:txBody>
      </p:sp>
      <p:sp>
        <p:nvSpPr>
          <p:cNvPr id="19" name="TextBox 18"/>
          <p:cNvSpPr txBox="1"/>
          <p:nvPr/>
        </p:nvSpPr>
        <p:spPr>
          <a:xfrm>
            <a:off x="1325880" y="4928616"/>
            <a:ext cx="6035040" cy="457200"/>
          </a:xfrm>
          <a:prstGeom prst="rect">
            <a:avLst/>
          </a:prstGeom>
          <a:noFill/>
        </p:spPr>
        <p:txBody>
          <a:bodyPr wrap="square" anchor="t" lIns="45720" rIns="45720" tIns="27432" bIns="27432">
            <a:spAutoFit/>
          </a:bodyPr>
          <a:lstStyle/>
          <a:p>
            <a:pPr algn="l"/>
            <a:r>
              <a:rPr sz="1900" b="1" i="0">
                <a:solidFill>
                  <a:srgbClr val="1F2A44"/>
                </a:solidFill>
                <a:latin typeface="Calibri"/>
              </a:rPr>
              <a:t>Stop when no pair matches</a:t>
            </a:r>
          </a:p>
        </p:txBody>
      </p:sp>
      <p:sp>
        <p:nvSpPr>
          <p:cNvPr id="20" name="TextBox 19"/>
          <p:cNvSpPr txBox="1"/>
          <p:nvPr/>
        </p:nvSpPr>
        <p:spPr>
          <a:xfrm>
            <a:off x="1325880" y="5312664"/>
            <a:ext cx="6035040" cy="365760"/>
          </a:xfrm>
          <a:prstGeom prst="rect">
            <a:avLst/>
          </a:prstGeom>
          <a:noFill/>
        </p:spPr>
        <p:txBody>
          <a:bodyPr wrap="square" anchor="t" lIns="45720" rIns="45720" tIns="27432" bIns="27432">
            <a:spAutoFit/>
          </a:bodyPr>
          <a:lstStyle/>
          <a:p>
            <a:pPr algn="l"/>
            <a:r>
              <a:rPr sz="1500" b="0" i="0">
                <a:solidFill>
                  <a:srgbClr val="6B717A"/>
                </a:solidFill>
                <a:latin typeface="Calibri"/>
              </a:rPr>
              <a:t>that fixpoint is the congruence closure</a:t>
            </a:r>
          </a:p>
        </p:txBody>
      </p:sp>
      <p:sp>
        <p:nvSpPr>
          <p:cNvPr id="21" name="Rounded Rectangle 20"/>
          <p:cNvSpPr/>
          <p:nvPr/>
        </p:nvSpPr>
        <p:spPr>
          <a:xfrm>
            <a:off x="7635240" y="1417320"/>
            <a:ext cx="3977639" cy="288036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22" name="TextBox 21"/>
          <p:cNvSpPr txBox="1"/>
          <p:nvPr/>
        </p:nvSpPr>
        <p:spPr>
          <a:xfrm>
            <a:off x="7818120" y="1508760"/>
            <a:ext cx="3657600" cy="365760"/>
          </a:xfrm>
          <a:prstGeom prst="rect">
            <a:avLst/>
          </a:prstGeom>
          <a:noFill/>
        </p:spPr>
        <p:txBody>
          <a:bodyPr wrap="square" anchor="t" lIns="45720" rIns="45720" tIns="27432" bIns="27432">
            <a:spAutoFit/>
          </a:bodyPr>
          <a:lstStyle/>
          <a:p>
            <a:pPr algn="l"/>
            <a:r>
              <a:rPr sz="1700" b="1" i="0">
                <a:solidFill>
                  <a:srgbClr val="1F2A44"/>
                </a:solidFill>
                <a:latin typeface="Calibri"/>
              </a:rPr>
              <a:t>Test in step 2</a:t>
            </a:r>
          </a:p>
        </p:txBody>
      </p:sp>
      <p:sp>
        <p:nvSpPr>
          <p:cNvPr id="23" name="TextBox 22"/>
          <p:cNvSpPr txBox="1"/>
          <p:nvPr/>
        </p:nvSpPr>
        <p:spPr>
          <a:xfrm>
            <a:off x="7772400" y="1920240"/>
            <a:ext cx="3703320" cy="365760"/>
          </a:xfrm>
          <a:prstGeom prst="rect">
            <a:avLst/>
          </a:prstGeom>
          <a:noFill/>
        </p:spPr>
        <p:txBody>
          <a:bodyPr wrap="square" anchor="t" lIns="45720" rIns="45720" tIns="27432" bIns="27432">
            <a:spAutoFit/>
          </a:bodyPr>
          <a:lstStyle/>
          <a:p>
            <a:pPr algn="ctr"/>
            <a:r>
              <a:rPr sz="1600" b="0" i="0">
                <a:solidFill>
                  <a:srgbClr val="2B2F36"/>
                </a:solidFill>
                <a:latin typeface="Calibri"/>
              </a:rPr>
              <a:t>f(M₁, …, Mₙ)   and   f(N₁, …, Nₙ)</a:t>
            </a:r>
          </a:p>
        </p:txBody>
      </p:sp>
      <p:sp>
        <p:nvSpPr>
          <p:cNvPr id="24" name="TextBox 23"/>
          <p:cNvSpPr txBox="1"/>
          <p:nvPr/>
        </p:nvSpPr>
        <p:spPr>
          <a:xfrm>
            <a:off x="7772400" y="2304288"/>
            <a:ext cx="3703320" cy="292608"/>
          </a:xfrm>
          <a:prstGeom prst="rect">
            <a:avLst/>
          </a:prstGeom>
          <a:noFill/>
        </p:spPr>
        <p:txBody>
          <a:bodyPr wrap="square" anchor="t" lIns="45720" rIns="45720" tIns="27432" bIns="27432">
            <a:spAutoFit/>
          </a:bodyPr>
          <a:lstStyle/>
          <a:p>
            <a:pPr algn="ctr"/>
            <a:r>
              <a:rPr sz="1300" b="0" i="0">
                <a:solidFill>
                  <a:srgbClr val="6B717A"/>
                </a:solidFill>
                <a:latin typeface="Calibri"/>
              </a:rPr>
              <a:t>congruent when</a:t>
            </a:r>
          </a:p>
        </p:txBody>
      </p:sp>
      <p:sp>
        <p:nvSpPr>
          <p:cNvPr id="25" name="TextBox 24"/>
          <p:cNvSpPr txBox="1"/>
          <p:nvPr/>
        </p:nvSpPr>
        <p:spPr>
          <a:xfrm>
            <a:off x="7772400" y="2615184"/>
            <a:ext cx="3703320" cy="365760"/>
          </a:xfrm>
          <a:prstGeom prst="rect">
            <a:avLst/>
          </a:prstGeom>
          <a:noFill/>
        </p:spPr>
        <p:txBody>
          <a:bodyPr wrap="square" anchor="t" lIns="45720" rIns="45720" tIns="27432" bIns="27432">
            <a:spAutoFit/>
          </a:bodyPr>
          <a:lstStyle/>
          <a:p>
            <a:pPr algn="ctr"/>
            <a:r>
              <a:rPr sz="1600" b="0" i="0">
                <a:solidFill>
                  <a:srgbClr val="2B2F36"/>
                </a:solidFill>
                <a:latin typeface="Calibri"/>
              </a:rPr>
              <a:t>Find(Mᵢ) = Find(Nᵢ)  for every i</a:t>
            </a:r>
          </a:p>
        </p:txBody>
      </p:sp>
      <p:sp>
        <p:nvSpPr>
          <p:cNvPr id="26" name="TextBox 25"/>
          <p:cNvSpPr txBox="1"/>
          <p:nvPr/>
        </p:nvSpPr>
        <p:spPr>
          <a:xfrm>
            <a:off x="7726679" y="3108960"/>
            <a:ext cx="3794760" cy="1097280"/>
          </a:xfrm>
          <a:prstGeom prst="rect">
            <a:avLst/>
          </a:prstGeom>
          <a:noFill/>
        </p:spPr>
        <p:txBody>
          <a:bodyPr wrap="square" lIns="45720" rIns="45720">
            <a:spAutoFit/>
          </a:bodyPr>
          <a:lstStyle/>
          <a:p>
            <a:pPr marL="274320" indent="-237744">
              <a:spcBef>
                <a:spcPts val="600"/>
              </a:spcBef>
              <a:buClr>
                <a:srgbClr val="6B717A"/>
              </a:buClr>
              <a:buChar char="•"/>
            </a:pPr>
            <a:r>
              <a:rPr sz="1500" b="0" i="0">
                <a:solidFill>
                  <a:srgbClr val="2B2F36"/>
                </a:solidFill>
                <a:latin typeface="Calibri"/>
              </a:rPr>
              <a:t>classes live in a union-find</a:t>
            </a:r>
          </a:p>
          <a:p>
            <a:pPr marL="274320" indent="-237744">
              <a:spcBef>
                <a:spcPts val="600"/>
              </a:spcBef>
              <a:buClr>
                <a:srgbClr val="6B717A"/>
              </a:buClr>
              <a:buChar char="•"/>
            </a:pPr>
            <a:r>
              <a:rPr sz="1500" b="0" i="0">
                <a:solidFill>
                  <a:srgbClr val="2B2F36"/>
                </a:solidFill>
                <a:latin typeface="Calibri"/>
              </a:rPr>
              <a:t>Find(t) = representative of t</a:t>
            </a:r>
          </a:p>
        </p:txBody>
      </p:sp>
      <p:sp>
        <p:nvSpPr>
          <p:cNvPr id="27" name="Rounded Rectangle 26"/>
          <p:cNvSpPr/>
          <p:nvPr/>
        </p:nvSpPr>
        <p:spPr>
          <a:xfrm>
            <a:off x="7635240" y="4526280"/>
            <a:ext cx="3977639" cy="1234440"/>
          </a:xfrm>
          <a:prstGeom prst="roundRect">
            <a:avLst>
              <a:gd name="adj" fmla="val 15000"/>
            </a:avLst>
          </a:prstGeom>
          <a:solidFill>
            <a:srgbClr val="1F2A44"/>
          </a:solidFill>
          <a:ln>
            <a:noFill/>
          </a:ln>
          <a:effectLst/>
        </p:spPr>
        <p:txBody>
          <a:bodyPr rtlCol="0" anchor="ctr" lIns="54864" rIns="54864" tIns="27432" bIns="27432" wrap="square"/>
          <a:lstStyle/>
          <a:p>
            <a:pPr algn="ctr"/>
            <a:r>
              <a:rPr sz="1700" b="1" i="0">
                <a:solidFill>
                  <a:srgbClr val="FFFFFF"/>
                </a:solidFill>
                <a:latin typeface="Calibri"/>
              </a:rPr>
              <a:t>Next: this loop on the miter,</a:t>
            </a:r>
          </a:p>
          <a:p>
            <a:pPr algn="ctr"/>
            <a:r>
              <a:rPr sz="1700" b="1" i="0">
                <a:solidFill>
                  <a:srgbClr val="FFFFFF"/>
                </a:solidFill>
                <a:latin typeface="Calibri"/>
              </a:rPr>
              <a:t>one merge per slide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 step 0</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17219"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16835"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16451"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1606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15683"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cxnSp>
        <p:nvCxnSpPr>
          <p:cNvPr id="11" name="Connector 10"/>
          <p:cNvCxnSpPr/>
          <p:nvPr/>
        </p:nvCxnSpPr>
        <p:spPr>
          <a:xfrm flipH="1">
            <a:off x="1010411" y="3803903"/>
            <a:ext cx="539496" cy="1106425"/>
          </a:xfrm>
          <a:prstGeom prst="line">
            <a:avLst/>
          </a:prstGeom>
          <a:ln w="15875">
            <a:solidFill>
              <a:srgbClr val="8A8F98"/>
            </a:solidFill>
          </a:ln>
          <a:effectLst/>
        </p:spPr>
      </p:cxnSp>
      <p:cxnSp>
        <p:nvCxnSpPr>
          <p:cNvPr id="12" name="Connector 11"/>
          <p:cNvCxnSpPr/>
          <p:nvPr/>
        </p:nvCxnSpPr>
        <p:spPr>
          <a:xfrm>
            <a:off x="1549907" y="3803903"/>
            <a:ext cx="960120" cy="1106425"/>
          </a:xfrm>
          <a:prstGeom prst="line">
            <a:avLst/>
          </a:prstGeom>
          <a:ln w="15875">
            <a:solidFill>
              <a:srgbClr val="8A8F98"/>
            </a:solidFill>
          </a:ln>
          <a:effectLst/>
        </p:spPr>
      </p:cxnSp>
      <p:cxnSp>
        <p:nvCxnSpPr>
          <p:cNvPr id="13" name="Connector 12"/>
          <p:cNvCxnSpPr/>
          <p:nvPr/>
        </p:nvCxnSpPr>
        <p:spPr>
          <a:xfrm flipH="1">
            <a:off x="1632203" y="3803903"/>
            <a:ext cx="1014984" cy="1106425"/>
          </a:xfrm>
          <a:prstGeom prst="line">
            <a:avLst/>
          </a:prstGeom>
          <a:ln w="15875">
            <a:solidFill>
              <a:srgbClr val="8A8F98"/>
            </a:solidFill>
          </a:ln>
          <a:effectLst/>
        </p:spPr>
      </p:cxnSp>
      <p:cxnSp>
        <p:nvCxnSpPr>
          <p:cNvPr id="14" name="Connector 13"/>
          <p:cNvCxnSpPr/>
          <p:nvPr/>
        </p:nvCxnSpPr>
        <p:spPr>
          <a:xfrm>
            <a:off x="2647187" y="3803903"/>
            <a:ext cx="484632" cy="1106425"/>
          </a:xfrm>
          <a:prstGeom prst="line">
            <a:avLst/>
          </a:prstGeom>
          <a:ln w="15875">
            <a:solidFill>
              <a:srgbClr val="8A8F98"/>
            </a:solidFill>
          </a:ln>
          <a:effectLst/>
        </p:spPr>
      </p:cxnSp>
      <p:cxnSp>
        <p:nvCxnSpPr>
          <p:cNvPr id="15" name="Connector 14"/>
          <p:cNvCxnSpPr/>
          <p:nvPr/>
        </p:nvCxnSpPr>
        <p:spPr>
          <a:xfrm flipH="1">
            <a:off x="5509259" y="3803903"/>
            <a:ext cx="475488" cy="1106425"/>
          </a:xfrm>
          <a:prstGeom prst="line">
            <a:avLst/>
          </a:prstGeom>
          <a:ln w="15875">
            <a:solidFill>
              <a:srgbClr val="8A8F98"/>
            </a:solidFill>
          </a:ln>
          <a:effectLst/>
        </p:spPr>
      </p:cxnSp>
      <p:cxnSp>
        <p:nvCxnSpPr>
          <p:cNvPr id="16" name="Connector 15"/>
          <p:cNvCxnSpPr/>
          <p:nvPr/>
        </p:nvCxnSpPr>
        <p:spPr>
          <a:xfrm>
            <a:off x="5984747" y="3803903"/>
            <a:ext cx="1024128" cy="1106425"/>
          </a:xfrm>
          <a:prstGeom prst="line">
            <a:avLst/>
          </a:prstGeom>
          <a:ln w="15875">
            <a:solidFill>
              <a:srgbClr val="8A8F98"/>
            </a:solidFill>
          </a:ln>
          <a:effectLst/>
        </p:spPr>
      </p:cxnSp>
      <p:cxnSp>
        <p:nvCxnSpPr>
          <p:cNvPr id="17" name="Connector 16"/>
          <p:cNvCxnSpPr/>
          <p:nvPr/>
        </p:nvCxnSpPr>
        <p:spPr>
          <a:xfrm flipH="1">
            <a:off x="6131051" y="3803903"/>
            <a:ext cx="950976" cy="1106425"/>
          </a:xfrm>
          <a:prstGeom prst="line">
            <a:avLst/>
          </a:prstGeom>
          <a:ln w="15875">
            <a:solidFill>
              <a:srgbClr val="8A8F98"/>
            </a:solidFill>
          </a:ln>
          <a:effectLst/>
        </p:spPr>
      </p:cxnSp>
      <p:cxnSp>
        <p:nvCxnSpPr>
          <p:cNvPr id="18" name="Connector 17"/>
          <p:cNvCxnSpPr/>
          <p:nvPr/>
        </p:nvCxnSpPr>
        <p:spPr>
          <a:xfrm>
            <a:off x="7082027" y="3803903"/>
            <a:ext cx="548640" cy="1106425"/>
          </a:xfrm>
          <a:prstGeom prst="line">
            <a:avLst/>
          </a:prstGeom>
          <a:ln w="15875">
            <a:solidFill>
              <a:srgbClr val="8A8F98"/>
            </a:solidFill>
          </a:ln>
          <a:effectLst/>
        </p:spPr>
      </p:cxnSp>
      <p:cxnSp>
        <p:nvCxnSpPr>
          <p:cNvPr id="19" name="Connector 18"/>
          <p:cNvCxnSpPr/>
          <p:nvPr/>
        </p:nvCxnSpPr>
        <p:spPr>
          <a:xfrm>
            <a:off x="3790187" y="2203704"/>
            <a:ext cx="219457" cy="2706624"/>
          </a:xfrm>
          <a:prstGeom prst="line">
            <a:avLst/>
          </a:prstGeom>
          <a:ln w="15875">
            <a:solidFill>
              <a:srgbClr val="8A8F98"/>
            </a:solidFill>
          </a:ln>
          <a:effectLst/>
        </p:spPr>
      </p:cxnSp>
      <p:cxnSp>
        <p:nvCxnSpPr>
          <p:cNvPr id="20" name="Connector 19"/>
          <p:cNvCxnSpPr/>
          <p:nvPr/>
        </p:nvCxnSpPr>
        <p:spPr>
          <a:xfrm flipH="1">
            <a:off x="1549907" y="2203704"/>
            <a:ext cx="2240280" cy="749807"/>
          </a:xfrm>
          <a:prstGeom prst="line">
            <a:avLst/>
          </a:prstGeom>
          <a:ln w="15875">
            <a:solidFill>
              <a:srgbClr val="8A8F98"/>
            </a:solidFill>
          </a:ln>
          <a:effectLst/>
        </p:spPr>
      </p:cxnSp>
      <p:cxnSp>
        <p:nvCxnSpPr>
          <p:cNvPr id="21" name="Connector 20"/>
          <p:cNvCxnSpPr/>
          <p:nvPr/>
        </p:nvCxnSpPr>
        <p:spPr>
          <a:xfrm>
            <a:off x="3790187" y="2203704"/>
            <a:ext cx="2194560" cy="749807"/>
          </a:xfrm>
          <a:prstGeom prst="line">
            <a:avLst/>
          </a:prstGeom>
          <a:ln w="15875">
            <a:solidFill>
              <a:srgbClr val="8A8F98"/>
            </a:solidFill>
          </a:ln>
          <a:effectLst/>
        </p:spPr>
      </p:cxnSp>
      <p:cxnSp>
        <p:nvCxnSpPr>
          <p:cNvPr id="22" name="Connector 21"/>
          <p:cNvCxnSpPr/>
          <p:nvPr/>
        </p:nvCxnSpPr>
        <p:spPr>
          <a:xfrm flipH="1">
            <a:off x="4631436" y="2203704"/>
            <a:ext cx="484632" cy="2706624"/>
          </a:xfrm>
          <a:prstGeom prst="line">
            <a:avLst/>
          </a:prstGeom>
          <a:ln w="15875">
            <a:solidFill>
              <a:srgbClr val="8A8F98"/>
            </a:solidFill>
          </a:ln>
          <a:effectLst/>
        </p:spPr>
      </p:cxnSp>
      <p:cxnSp>
        <p:nvCxnSpPr>
          <p:cNvPr id="23" name="Connector 22"/>
          <p:cNvCxnSpPr/>
          <p:nvPr/>
        </p:nvCxnSpPr>
        <p:spPr>
          <a:xfrm flipH="1">
            <a:off x="2647187" y="2203704"/>
            <a:ext cx="2468881" cy="749807"/>
          </a:xfrm>
          <a:prstGeom prst="line">
            <a:avLst/>
          </a:prstGeom>
          <a:ln w="15875">
            <a:solidFill>
              <a:srgbClr val="8A8F98"/>
            </a:solidFill>
          </a:ln>
          <a:effectLst/>
        </p:spPr>
      </p:cxnSp>
      <p:cxnSp>
        <p:nvCxnSpPr>
          <p:cNvPr id="24" name="Connector 23"/>
          <p:cNvCxnSpPr/>
          <p:nvPr/>
        </p:nvCxnSpPr>
        <p:spPr>
          <a:xfrm>
            <a:off x="5116068" y="2203704"/>
            <a:ext cx="1965959" cy="749807"/>
          </a:xfrm>
          <a:prstGeom prst="line">
            <a:avLst/>
          </a:prstGeom>
          <a:ln w="15875">
            <a:solidFill>
              <a:srgbClr val="8A8F98"/>
            </a:solidFill>
          </a:ln>
          <a:effectLst/>
        </p:spPr>
      </p:cxnSp>
      <p:sp>
        <p:nvSpPr>
          <p:cNvPr id="25" name="Rounded Rectangle 24"/>
          <p:cNvSpPr/>
          <p:nvPr/>
        </p:nvSpPr>
        <p:spPr>
          <a:xfrm>
            <a:off x="736091"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6" name="Rounded Rectangle 25"/>
          <p:cNvSpPr/>
          <p:nvPr/>
        </p:nvSpPr>
        <p:spPr>
          <a:xfrm>
            <a:off x="1357883"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223570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8" name="Rounded Rectangle 27"/>
          <p:cNvSpPr/>
          <p:nvPr/>
        </p:nvSpPr>
        <p:spPr>
          <a:xfrm>
            <a:off x="285749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373532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0" name="Rounded Rectangle 29"/>
          <p:cNvSpPr/>
          <p:nvPr/>
        </p:nvSpPr>
        <p:spPr>
          <a:xfrm>
            <a:off x="435711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523494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2" name="Rounded Rectangle 31"/>
          <p:cNvSpPr/>
          <p:nvPr/>
        </p:nvSpPr>
        <p:spPr>
          <a:xfrm>
            <a:off x="5856731"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6734555"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4" name="Rounded Rectangle 33"/>
          <p:cNvSpPr/>
          <p:nvPr/>
        </p:nvSpPr>
        <p:spPr>
          <a:xfrm>
            <a:off x="735634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1147571"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6" name="TextBox 35"/>
          <p:cNvSpPr txBox="1"/>
          <p:nvPr/>
        </p:nvSpPr>
        <p:spPr>
          <a:xfrm>
            <a:off x="113842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7" name="Rounded Rectangle 36"/>
          <p:cNvSpPr/>
          <p:nvPr/>
        </p:nvSpPr>
        <p:spPr>
          <a:xfrm>
            <a:off x="2244851"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223570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9" name="Rounded Rectangle 38"/>
          <p:cNvSpPr/>
          <p:nvPr/>
        </p:nvSpPr>
        <p:spPr>
          <a:xfrm>
            <a:off x="5582411"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0" name="TextBox 39"/>
          <p:cNvSpPr txBox="1"/>
          <p:nvPr/>
        </p:nvSpPr>
        <p:spPr>
          <a:xfrm>
            <a:off x="557326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1" name="Rounded Rectangle 40"/>
          <p:cNvSpPr/>
          <p:nvPr/>
        </p:nvSpPr>
        <p:spPr>
          <a:xfrm>
            <a:off x="6679691"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667054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3" name="Rounded Rectangle 42"/>
          <p:cNvSpPr/>
          <p:nvPr/>
        </p:nvSpPr>
        <p:spPr>
          <a:xfrm>
            <a:off x="3387851"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4" name="TextBox 43"/>
          <p:cNvSpPr txBox="1"/>
          <p:nvPr/>
        </p:nvSpPr>
        <p:spPr>
          <a:xfrm>
            <a:off x="3058667"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5" name="Rounded Rectangle 44"/>
          <p:cNvSpPr/>
          <p:nvPr/>
        </p:nvSpPr>
        <p:spPr>
          <a:xfrm>
            <a:off x="4713731"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5536692"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7" name="TextBox 46"/>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Step 0: input equalities</a:t>
            </a:r>
          </a:p>
        </p:txBody>
      </p:sp>
      <p:sp>
        <p:nvSpPr>
          <p:cNvPr id="48" name="TextBox 47"/>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Union(r, r′), Union(s, s′), Union(u, u′), Union(v, v′), Union(c, c′)</a:t>
            </a:r>
          </a:p>
          <a:p>
            <a:pPr marL="274320" indent="-237744">
              <a:spcBef>
                <a:spcPts val="500"/>
              </a:spcBef>
              <a:buClr>
                <a:srgbClr val="6B717A"/>
              </a:buClr>
              <a:buChar char="•"/>
            </a:pPr>
            <a:r>
              <a:rPr sz="1600" b="0" i="0">
                <a:solidFill>
                  <a:srgbClr val="2B2F36"/>
                </a:solidFill>
                <a:latin typeface="Calibri"/>
              </a:rPr>
              <a:t>dashed box = equivalence class</a:t>
            </a:r>
          </a:p>
          <a:p>
            <a:pPr marL="274320" indent="-237744">
              <a:spcBef>
                <a:spcPts val="500"/>
              </a:spcBef>
              <a:buClr>
                <a:srgbClr val="6B717A"/>
              </a:buClr>
              <a:buChar char="•"/>
            </a:pPr>
            <a:r>
              <a:rPr sz="1600" b="0" i="0">
                <a:solidFill>
                  <a:srgbClr val="2B2F36"/>
                </a:solidFill>
                <a:latin typeface="Calibri"/>
              </a:rPr>
              <a:t>every gate still in its own class</a:t>
            </a:r>
          </a:p>
        </p:txBody>
      </p:sp>
      <p:sp>
        <p:nvSpPr>
          <p:cNvPr id="49" name="Rounded Rectangle 48"/>
          <p:cNvSpPr/>
          <p:nvPr/>
        </p:nvSpPr>
        <p:spPr>
          <a:xfrm>
            <a:off x="502920"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0" name="TextBox 49"/>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equivalence class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 step 1</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17219"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16835"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16451"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1606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15683"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cxnSp>
        <p:nvCxnSpPr>
          <p:cNvPr id="11" name="Connector 10"/>
          <p:cNvCxnSpPr/>
          <p:nvPr/>
        </p:nvCxnSpPr>
        <p:spPr>
          <a:xfrm flipH="1">
            <a:off x="1010411" y="3803903"/>
            <a:ext cx="539496" cy="1106425"/>
          </a:xfrm>
          <a:prstGeom prst="line">
            <a:avLst/>
          </a:prstGeom>
          <a:ln w="15875">
            <a:solidFill>
              <a:srgbClr val="8A8F98"/>
            </a:solidFill>
          </a:ln>
          <a:effectLst/>
        </p:spPr>
      </p:cxnSp>
      <p:cxnSp>
        <p:nvCxnSpPr>
          <p:cNvPr id="12" name="Connector 11"/>
          <p:cNvCxnSpPr/>
          <p:nvPr/>
        </p:nvCxnSpPr>
        <p:spPr>
          <a:xfrm>
            <a:off x="1549907" y="3803903"/>
            <a:ext cx="960120" cy="1106425"/>
          </a:xfrm>
          <a:prstGeom prst="line">
            <a:avLst/>
          </a:prstGeom>
          <a:ln w="15875">
            <a:solidFill>
              <a:srgbClr val="8A8F98"/>
            </a:solidFill>
          </a:ln>
          <a:effectLst/>
        </p:spPr>
      </p:cxnSp>
      <p:cxnSp>
        <p:nvCxnSpPr>
          <p:cNvPr id="13" name="Connector 12"/>
          <p:cNvCxnSpPr/>
          <p:nvPr/>
        </p:nvCxnSpPr>
        <p:spPr>
          <a:xfrm flipH="1">
            <a:off x="1632203" y="3803903"/>
            <a:ext cx="1014984" cy="1106425"/>
          </a:xfrm>
          <a:prstGeom prst="line">
            <a:avLst/>
          </a:prstGeom>
          <a:ln w="15875">
            <a:solidFill>
              <a:srgbClr val="8A8F98"/>
            </a:solidFill>
          </a:ln>
          <a:effectLst/>
        </p:spPr>
      </p:cxnSp>
      <p:cxnSp>
        <p:nvCxnSpPr>
          <p:cNvPr id="14" name="Connector 13"/>
          <p:cNvCxnSpPr/>
          <p:nvPr/>
        </p:nvCxnSpPr>
        <p:spPr>
          <a:xfrm>
            <a:off x="2647187" y="3803903"/>
            <a:ext cx="484632" cy="1106425"/>
          </a:xfrm>
          <a:prstGeom prst="line">
            <a:avLst/>
          </a:prstGeom>
          <a:ln w="15875">
            <a:solidFill>
              <a:srgbClr val="8A8F98"/>
            </a:solidFill>
          </a:ln>
          <a:effectLst/>
        </p:spPr>
      </p:cxnSp>
      <p:cxnSp>
        <p:nvCxnSpPr>
          <p:cNvPr id="15" name="Connector 14"/>
          <p:cNvCxnSpPr/>
          <p:nvPr/>
        </p:nvCxnSpPr>
        <p:spPr>
          <a:xfrm flipH="1">
            <a:off x="5509259" y="3803903"/>
            <a:ext cx="475488" cy="1106425"/>
          </a:xfrm>
          <a:prstGeom prst="line">
            <a:avLst/>
          </a:prstGeom>
          <a:ln w="15875">
            <a:solidFill>
              <a:srgbClr val="8A8F98"/>
            </a:solidFill>
          </a:ln>
          <a:effectLst/>
        </p:spPr>
      </p:cxnSp>
      <p:cxnSp>
        <p:nvCxnSpPr>
          <p:cNvPr id="16" name="Connector 15"/>
          <p:cNvCxnSpPr/>
          <p:nvPr/>
        </p:nvCxnSpPr>
        <p:spPr>
          <a:xfrm>
            <a:off x="5984747" y="3803903"/>
            <a:ext cx="1024128" cy="1106425"/>
          </a:xfrm>
          <a:prstGeom prst="line">
            <a:avLst/>
          </a:prstGeom>
          <a:ln w="15875">
            <a:solidFill>
              <a:srgbClr val="8A8F98"/>
            </a:solidFill>
          </a:ln>
          <a:effectLst/>
        </p:spPr>
      </p:cxnSp>
      <p:cxnSp>
        <p:nvCxnSpPr>
          <p:cNvPr id="17" name="Connector 16"/>
          <p:cNvCxnSpPr/>
          <p:nvPr/>
        </p:nvCxnSpPr>
        <p:spPr>
          <a:xfrm flipH="1">
            <a:off x="6131051" y="3803903"/>
            <a:ext cx="950976" cy="1106425"/>
          </a:xfrm>
          <a:prstGeom prst="line">
            <a:avLst/>
          </a:prstGeom>
          <a:ln w="15875">
            <a:solidFill>
              <a:srgbClr val="8A8F98"/>
            </a:solidFill>
          </a:ln>
          <a:effectLst/>
        </p:spPr>
      </p:cxnSp>
      <p:cxnSp>
        <p:nvCxnSpPr>
          <p:cNvPr id="18" name="Connector 17"/>
          <p:cNvCxnSpPr/>
          <p:nvPr/>
        </p:nvCxnSpPr>
        <p:spPr>
          <a:xfrm>
            <a:off x="7082027" y="3803903"/>
            <a:ext cx="548640" cy="1106425"/>
          </a:xfrm>
          <a:prstGeom prst="line">
            <a:avLst/>
          </a:prstGeom>
          <a:ln w="15875">
            <a:solidFill>
              <a:srgbClr val="8A8F98"/>
            </a:solidFill>
          </a:ln>
          <a:effectLst/>
        </p:spPr>
      </p:cxnSp>
      <p:cxnSp>
        <p:nvCxnSpPr>
          <p:cNvPr id="19" name="Connector 18"/>
          <p:cNvCxnSpPr/>
          <p:nvPr/>
        </p:nvCxnSpPr>
        <p:spPr>
          <a:xfrm>
            <a:off x="3790187" y="2203704"/>
            <a:ext cx="219457" cy="2706624"/>
          </a:xfrm>
          <a:prstGeom prst="line">
            <a:avLst/>
          </a:prstGeom>
          <a:ln w="15875">
            <a:solidFill>
              <a:srgbClr val="8A8F98"/>
            </a:solidFill>
          </a:ln>
          <a:effectLst/>
        </p:spPr>
      </p:cxnSp>
      <p:cxnSp>
        <p:nvCxnSpPr>
          <p:cNvPr id="20" name="Connector 19"/>
          <p:cNvCxnSpPr/>
          <p:nvPr/>
        </p:nvCxnSpPr>
        <p:spPr>
          <a:xfrm flipH="1">
            <a:off x="1549907" y="2203704"/>
            <a:ext cx="2240280" cy="749807"/>
          </a:xfrm>
          <a:prstGeom prst="line">
            <a:avLst/>
          </a:prstGeom>
          <a:ln w="15875">
            <a:solidFill>
              <a:srgbClr val="8A8F98"/>
            </a:solidFill>
          </a:ln>
          <a:effectLst/>
        </p:spPr>
      </p:cxnSp>
      <p:cxnSp>
        <p:nvCxnSpPr>
          <p:cNvPr id="21" name="Connector 20"/>
          <p:cNvCxnSpPr/>
          <p:nvPr/>
        </p:nvCxnSpPr>
        <p:spPr>
          <a:xfrm>
            <a:off x="3790187" y="2203704"/>
            <a:ext cx="2194560" cy="749807"/>
          </a:xfrm>
          <a:prstGeom prst="line">
            <a:avLst/>
          </a:prstGeom>
          <a:ln w="15875">
            <a:solidFill>
              <a:srgbClr val="8A8F98"/>
            </a:solidFill>
          </a:ln>
          <a:effectLst/>
        </p:spPr>
      </p:cxnSp>
      <p:cxnSp>
        <p:nvCxnSpPr>
          <p:cNvPr id="22" name="Connector 21"/>
          <p:cNvCxnSpPr/>
          <p:nvPr/>
        </p:nvCxnSpPr>
        <p:spPr>
          <a:xfrm flipH="1">
            <a:off x="4631436" y="2203704"/>
            <a:ext cx="484632" cy="2706624"/>
          </a:xfrm>
          <a:prstGeom prst="line">
            <a:avLst/>
          </a:prstGeom>
          <a:ln w="15875">
            <a:solidFill>
              <a:srgbClr val="8A8F98"/>
            </a:solidFill>
          </a:ln>
          <a:effectLst/>
        </p:spPr>
      </p:cxnSp>
      <p:cxnSp>
        <p:nvCxnSpPr>
          <p:cNvPr id="23" name="Connector 22"/>
          <p:cNvCxnSpPr/>
          <p:nvPr/>
        </p:nvCxnSpPr>
        <p:spPr>
          <a:xfrm flipH="1">
            <a:off x="2647187" y="2203704"/>
            <a:ext cx="2468881" cy="749807"/>
          </a:xfrm>
          <a:prstGeom prst="line">
            <a:avLst/>
          </a:prstGeom>
          <a:ln w="15875">
            <a:solidFill>
              <a:srgbClr val="8A8F98"/>
            </a:solidFill>
          </a:ln>
          <a:effectLst/>
        </p:spPr>
      </p:cxnSp>
      <p:cxnSp>
        <p:nvCxnSpPr>
          <p:cNvPr id="24" name="Connector 23"/>
          <p:cNvCxnSpPr/>
          <p:nvPr/>
        </p:nvCxnSpPr>
        <p:spPr>
          <a:xfrm>
            <a:off x="5116068" y="2203704"/>
            <a:ext cx="1965959" cy="749807"/>
          </a:xfrm>
          <a:prstGeom prst="line">
            <a:avLst/>
          </a:prstGeom>
          <a:ln w="15875">
            <a:solidFill>
              <a:srgbClr val="8A8F98"/>
            </a:solidFill>
          </a:ln>
          <a:effectLst/>
        </p:spPr>
      </p:cxnSp>
      <p:sp>
        <p:nvSpPr>
          <p:cNvPr id="25" name="Rounded Rectangle 24"/>
          <p:cNvSpPr/>
          <p:nvPr/>
        </p:nvSpPr>
        <p:spPr>
          <a:xfrm>
            <a:off x="736091"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6" name="Rounded Rectangle 25"/>
          <p:cNvSpPr/>
          <p:nvPr/>
        </p:nvSpPr>
        <p:spPr>
          <a:xfrm>
            <a:off x="1357883"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223570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8" name="Rounded Rectangle 27"/>
          <p:cNvSpPr/>
          <p:nvPr/>
        </p:nvSpPr>
        <p:spPr>
          <a:xfrm>
            <a:off x="285749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373532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0" name="Rounded Rectangle 29"/>
          <p:cNvSpPr/>
          <p:nvPr/>
        </p:nvSpPr>
        <p:spPr>
          <a:xfrm>
            <a:off x="435711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523494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2" name="Rounded Rectangle 31"/>
          <p:cNvSpPr/>
          <p:nvPr/>
        </p:nvSpPr>
        <p:spPr>
          <a:xfrm>
            <a:off x="5856731"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6734555"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4" name="Rounded Rectangle 33"/>
          <p:cNvSpPr/>
          <p:nvPr/>
        </p:nvSpPr>
        <p:spPr>
          <a:xfrm>
            <a:off x="735634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1147571"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6" name="TextBox 35"/>
          <p:cNvSpPr txBox="1"/>
          <p:nvPr/>
        </p:nvSpPr>
        <p:spPr>
          <a:xfrm>
            <a:off x="113842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7" name="Rounded Rectangle 36"/>
          <p:cNvSpPr/>
          <p:nvPr/>
        </p:nvSpPr>
        <p:spPr>
          <a:xfrm>
            <a:off x="2244851"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223570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9" name="Rounded Rectangle 38"/>
          <p:cNvSpPr/>
          <p:nvPr/>
        </p:nvSpPr>
        <p:spPr>
          <a:xfrm>
            <a:off x="5582411"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0" name="TextBox 39"/>
          <p:cNvSpPr txBox="1"/>
          <p:nvPr/>
        </p:nvSpPr>
        <p:spPr>
          <a:xfrm>
            <a:off x="557326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1" name="Rounded Rectangle 40"/>
          <p:cNvSpPr/>
          <p:nvPr/>
        </p:nvSpPr>
        <p:spPr>
          <a:xfrm>
            <a:off x="6679691"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667054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3" name="Rounded Rectangle 42"/>
          <p:cNvSpPr/>
          <p:nvPr/>
        </p:nvSpPr>
        <p:spPr>
          <a:xfrm>
            <a:off x="3387851"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4" name="TextBox 43"/>
          <p:cNvSpPr txBox="1"/>
          <p:nvPr/>
        </p:nvSpPr>
        <p:spPr>
          <a:xfrm>
            <a:off x="3058667"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5" name="Rounded Rectangle 44"/>
          <p:cNvSpPr/>
          <p:nvPr/>
        </p:nvSpPr>
        <p:spPr>
          <a:xfrm>
            <a:off x="4713731"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5536692"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7" name="TextBox 46"/>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Step 1: the AND gates</a:t>
            </a:r>
          </a:p>
        </p:txBody>
      </p:sp>
      <p:sp>
        <p:nvSpPr>
          <p:cNvPr id="48" name="TextBox 47"/>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a₁ = AND(r, s)     a₂ = AND(r′, s′)</a:t>
            </a:r>
          </a:p>
          <a:p>
            <a:pPr marL="274320" indent="-237744">
              <a:spcBef>
                <a:spcPts val="500"/>
              </a:spcBef>
              <a:buClr>
                <a:srgbClr val="6B717A"/>
              </a:buClr>
              <a:buChar char="•"/>
            </a:pPr>
            <a:r>
              <a:rPr sz="1600" b="0" i="0">
                <a:solidFill>
                  <a:srgbClr val="2B2F36"/>
                </a:solidFill>
                <a:latin typeface="Calibri"/>
              </a:rPr>
              <a:t>same symbol, children pairwise equivalent</a:t>
            </a:r>
          </a:p>
        </p:txBody>
      </p:sp>
      <p:sp>
        <p:nvSpPr>
          <p:cNvPr id="49" name="Rounded Rectangle 48"/>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0" name="TextBox 49"/>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terms compared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 step 1</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17219"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16835"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16451"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1606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15683"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28699"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cxnSp>
        <p:nvCxnSpPr>
          <p:cNvPr id="12" name="Connector 11"/>
          <p:cNvCxnSpPr/>
          <p:nvPr/>
        </p:nvCxnSpPr>
        <p:spPr>
          <a:xfrm flipH="1">
            <a:off x="1010411" y="3803903"/>
            <a:ext cx="539496" cy="1106425"/>
          </a:xfrm>
          <a:prstGeom prst="line">
            <a:avLst/>
          </a:prstGeom>
          <a:ln w="15875">
            <a:solidFill>
              <a:srgbClr val="8A8F98"/>
            </a:solidFill>
          </a:ln>
          <a:effectLst/>
        </p:spPr>
      </p:cxnSp>
      <p:cxnSp>
        <p:nvCxnSpPr>
          <p:cNvPr id="13" name="Connector 12"/>
          <p:cNvCxnSpPr/>
          <p:nvPr/>
        </p:nvCxnSpPr>
        <p:spPr>
          <a:xfrm>
            <a:off x="1549907" y="3803903"/>
            <a:ext cx="960120" cy="1106425"/>
          </a:xfrm>
          <a:prstGeom prst="line">
            <a:avLst/>
          </a:prstGeom>
          <a:ln w="15875">
            <a:solidFill>
              <a:srgbClr val="8A8F98"/>
            </a:solidFill>
          </a:ln>
          <a:effectLst/>
        </p:spPr>
      </p:cxnSp>
      <p:cxnSp>
        <p:nvCxnSpPr>
          <p:cNvPr id="14" name="Connector 13"/>
          <p:cNvCxnSpPr/>
          <p:nvPr/>
        </p:nvCxnSpPr>
        <p:spPr>
          <a:xfrm flipH="1">
            <a:off x="1632203" y="3803903"/>
            <a:ext cx="1014984" cy="1106425"/>
          </a:xfrm>
          <a:prstGeom prst="line">
            <a:avLst/>
          </a:prstGeom>
          <a:ln w="15875">
            <a:solidFill>
              <a:srgbClr val="8A8F98"/>
            </a:solidFill>
          </a:ln>
          <a:effectLst/>
        </p:spPr>
      </p:cxnSp>
      <p:cxnSp>
        <p:nvCxnSpPr>
          <p:cNvPr id="15" name="Connector 14"/>
          <p:cNvCxnSpPr/>
          <p:nvPr/>
        </p:nvCxnSpPr>
        <p:spPr>
          <a:xfrm>
            <a:off x="2647187" y="3803903"/>
            <a:ext cx="484632" cy="1106425"/>
          </a:xfrm>
          <a:prstGeom prst="line">
            <a:avLst/>
          </a:prstGeom>
          <a:ln w="15875">
            <a:solidFill>
              <a:srgbClr val="8A8F98"/>
            </a:solidFill>
          </a:ln>
          <a:effectLst/>
        </p:spPr>
      </p:cxnSp>
      <p:cxnSp>
        <p:nvCxnSpPr>
          <p:cNvPr id="16" name="Connector 15"/>
          <p:cNvCxnSpPr/>
          <p:nvPr/>
        </p:nvCxnSpPr>
        <p:spPr>
          <a:xfrm flipH="1">
            <a:off x="5509259" y="3803903"/>
            <a:ext cx="475488" cy="1106425"/>
          </a:xfrm>
          <a:prstGeom prst="line">
            <a:avLst/>
          </a:prstGeom>
          <a:ln w="15875">
            <a:solidFill>
              <a:srgbClr val="8A8F98"/>
            </a:solidFill>
          </a:ln>
          <a:effectLst/>
        </p:spPr>
      </p:cxnSp>
      <p:cxnSp>
        <p:nvCxnSpPr>
          <p:cNvPr id="17" name="Connector 16"/>
          <p:cNvCxnSpPr/>
          <p:nvPr/>
        </p:nvCxnSpPr>
        <p:spPr>
          <a:xfrm>
            <a:off x="5984747" y="3803903"/>
            <a:ext cx="1024128" cy="1106425"/>
          </a:xfrm>
          <a:prstGeom prst="line">
            <a:avLst/>
          </a:prstGeom>
          <a:ln w="15875">
            <a:solidFill>
              <a:srgbClr val="8A8F98"/>
            </a:solidFill>
          </a:ln>
          <a:effectLst/>
        </p:spPr>
      </p:cxnSp>
      <p:cxnSp>
        <p:nvCxnSpPr>
          <p:cNvPr id="18" name="Connector 17"/>
          <p:cNvCxnSpPr/>
          <p:nvPr/>
        </p:nvCxnSpPr>
        <p:spPr>
          <a:xfrm flipH="1">
            <a:off x="6131051" y="3803903"/>
            <a:ext cx="950976" cy="1106425"/>
          </a:xfrm>
          <a:prstGeom prst="line">
            <a:avLst/>
          </a:prstGeom>
          <a:ln w="15875">
            <a:solidFill>
              <a:srgbClr val="8A8F98"/>
            </a:solidFill>
          </a:ln>
          <a:effectLst/>
        </p:spPr>
      </p:cxnSp>
      <p:cxnSp>
        <p:nvCxnSpPr>
          <p:cNvPr id="19" name="Connector 18"/>
          <p:cNvCxnSpPr/>
          <p:nvPr/>
        </p:nvCxnSpPr>
        <p:spPr>
          <a:xfrm>
            <a:off x="7082027" y="3803903"/>
            <a:ext cx="548640" cy="1106425"/>
          </a:xfrm>
          <a:prstGeom prst="line">
            <a:avLst/>
          </a:prstGeom>
          <a:ln w="15875">
            <a:solidFill>
              <a:srgbClr val="8A8F98"/>
            </a:solidFill>
          </a:ln>
          <a:effectLst/>
        </p:spPr>
      </p:cxnSp>
      <p:cxnSp>
        <p:nvCxnSpPr>
          <p:cNvPr id="20" name="Connector 19"/>
          <p:cNvCxnSpPr/>
          <p:nvPr/>
        </p:nvCxnSpPr>
        <p:spPr>
          <a:xfrm>
            <a:off x="3790187" y="2203704"/>
            <a:ext cx="219457" cy="2706624"/>
          </a:xfrm>
          <a:prstGeom prst="line">
            <a:avLst/>
          </a:prstGeom>
          <a:ln w="15875">
            <a:solidFill>
              <a:srgbClr val="8A8F98"/>
            </a:solidFill>
          </a:ln>
          <a:effectLst/>
        </p:spPr>
      </p:cxnSp>
      <p:cxnSp>
        <p:nvCxnSpPr>
          <p:cNvPr id="21" name="Connector 20"/>
          <p:cNvCxnSpPr/>
          <p:nvPr/>
        </p:nvCxnSpPr>
        <p:spPr>
          <a:xfrm flipH="1">
            <a:off x="1549907" y="2203704"/>
            <a:ext cx="2240280" cy="749807"/>
          </a:xfrm>
          <a:prstGeom prst="line">
            <a:avLst/>
          </a:prstGeom>
          <a:ln w="15875">
            <a:solidFill>
              <a:srgbClr val="8A8F98"/>
            </a:solidFill>
          </a:ln>
          <a:effectLst/>
        </p:spPr>
      </p:cxnSp>
      <p:cxnSp>
        <p:nvCxnSpPr>
          <p:cNvPr id="22" name="Connector 21"/>
          <p:cNvCxnSpPr/>
          <p:nvPr/>
        </p:nvCxnSpPr>
        <p:spPr>
          <a:xfrm>
            <a:off x="3790187" y="2203704"/>
            <a:ext cx="2194560" cy="749807"/>
          </a:xfrm>
          <a:prstGeom prst="line">
            <a:avLst/>
          </a:prstGeom>
          <a:ln w="15875">
            <a:solidFill>
              <a:srgbClr val="8A8F98"/>
            </a:solidFill>
          </a:ln>
          <a:effectLst/>
        </p:spPr>
      </p:cxnSp>
      <p:cxnSp>
        <p:nvCxnSpPr>
          <p:cNvPr id="23" name="Connector 22"/>
          <p:cNvCxnSpPr/>
          <p:nvPr/>
        </p:nvCxnSpPr>
        <p:spPr>
          <a:xfrm flipH="1">
            <a:off x="4631436" y="2203704"/>
            <a:ext cx="484632" cy="2706624"/>
          </a:xfrm>
          <a:prstGeom prst="line">
            <a:avLst/>
          </a:prstGeom>
          <a:ln w="15875">
            <a:solidFill>
              <a:srgbClr val="8A8F98"/>
            </a:solidFill>
          </a:ln>
          <a:effectLst/>
        </p:spPr>
      </p:cxnSp>
      <p:cxnSp>
        <p:nvCxnSpPr>
          <p:cNvPr id="24" name="Connector 23"/>
          <p:cNvCxnSpPr/>
          <p:nvPr/>
        </p:nvCxnSpPr>
        <p:spPr>
          <a:xfrm flipH="1">
            <a:off x="2647187" y="2203704"/>
            <a:ext cx="2468881" cy="749807"/>
          </a:xfrm>
          <a:prstGeom prst="line">
            <a:avLst/>
          </a:prstGeom>
          <a:ln w="15875">
            <a:solidFill>
              <a:srgbClr val="8A8F98"/>
            </a:solidFill>
          </a:ln>
          <a:effectLst/>
        </p:spPr>
      </p:cxnSp>
      <p:cxnSp>
        <p:nvCxnSpPr>
          <p:cNvPr id="25" name="Connector 24"/>
          <p:cNvCxnSpPr/>
          <p:nvPr/>
        </p:nvCxnSpPr>
        <p:spPr>
          <a:xfrm>
            <a:off x="5116068" y="2203704"/>
            <a:ext cx="1965959" cy="749807"/>
          </a:xfrm>
          <a:prstGeom prst="line">
            <a:avLst/>
          </a:prstGeom>
          <a:ln w="15875">
            <a:solidFill>
              <a:srgbClr val="8A8F98"/>
            </a:solidFill>
          </a:ln>
          <a:effectLst/>
        </p:spPr>
      </p:cxnSp>
      <p:sp>
        <p:nvSpPr>
          <p:cNvPr id="26" name="Rounded Rectangle 25"/>
          <p:cNvSpPr/>
          <p:nvPr/>
        </p:nvSpPr>
        <p:spPr>
          <a:xfrm>
            <a:off x="736091"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1357883"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223570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285749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373532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435711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523494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5856731"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6734555"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735634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1147571"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7" name="TextBox 36"/>
          <p:cNvSpPr txBox="1"/>
          <p:nvPr/>
        </p:nvSpPr>
        <p:spPr>
          <a:xfrm>
            <a:off x="113842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8" name="Rounded Rectangle 37"/>
          <p:cNvSpPr/>
          <p:nvPr/>
        </p:nvSpPr>
        <p:spPr>
          <a:xfrm>
            <a:off x="2244851"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23570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0" name="Rounded Rectangle 39"/>
          <p:cNvSpPr/>
          <p:nvPr/>
        </p:nvSpPr>
        <p:spPr>
          <a:xfrm>
            <a:off x="5582411"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1" name="TextBox 40"/>
          <p:cNvSpPr txBox="1"/>
          <p:nvPr/>
        </p:nvSpPr>
        <p:spPr>
          <a:xfrm>
            <a:off x="557326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2" name="Rounded Rectangle 41"/>
          <p:cNvSpPr/>
          <p:nvPr/>
        </p:nvSpPr>
        <p:spPr>
          <a:xfrm>
            <a:off x="6679691"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667054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4" name="Rounded Rectangle 43"/>
          <p:cNvSpPr/>
          <p:nvPr/>
        </p:nvSpPr>
        <p:spPr>
          <a:xfrm>
            <a:off x="3387851"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5" name="TextBox 44"/>
          <p:cNvSpPr txBox="1"/>
          <p:nvPr/>
        </p:nvSpPr>
        <p:spPr>
          <a:xfrm>
            <a:off x="3058667"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6" name="Rounded Rectangle 45"/>
          <p:cNvSpPr/>
          <p:nvPr/>
        </p:nvSpPr>
        <p:spPr>
          <a:xfrm>
            <a:off x="4713731"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5536692"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8" name="TextBox 47"/>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Step 1: the AND gates</a:t>
            </a:r>
          </a:p>
        </p:txBody>
      </p:sp>
      <p:sp>
        <p:nvSpPr>
          <p:cNvPr id="49" name="TextBox 48"/>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1" i="0">
                <a:solidFill>
                  <a:srgbClr val="2B2F36"/>
                </a:solidFill>
                <a:latin typeface="Calibri"/>
              </a:rPr>
              <a:t>congruence ⇒ a₁ ≡ a₂</a:t>
            </a:r>
          </a:p>
          <a:p>
            <a:pPr marL="274320" indent="-237744">
              <a:spcBef>
                <a:spcPts val="500"/>
              </a:spcBef>
              <a:buClr>
                <a:srgbClr val="6B717A"/>
              </a:buClr>
              <a:buChar char="•"/>
            </a:pPr>
            <a:r>
              <a:rPr sz="1600" b="0" i="0">
                <a:solidFill>
                  <a:srgbClr val="2B2F36"/>
                </a:solidFill>
                <a:latin typeface="Calibri"/>
              </a:rPr>
              <a:t>Union(a₁, a₂)</a:t>
            </a:r>
          </a:p>
        </p:txBody>
      </p:sp>
      <p:sp>
        <p:nvSpPr>
          <p:cNvPr id="50" name="Rounded Rectangle 49"/>
          <p:cNvSpPr/>
          <p:nvPr/>
        </p:nvSpPr>
        <p:spPr>
          <a:xfrm>
            <a:off x="502920"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1" name="TextBox 50"/>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equivalence class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 step 2</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17219"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16835"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16451"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1606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15683"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28699"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cxnSp>
        <p:nvCxnSpPr>
          <p:cNvPr id="12" name="Connector 11"/>
          <p:cNvCxnSpPr/>
          <p:nvPr/>
        </p:nvCxnSpPr>
        <p:spPr>
          <a:xfrm flipH="1">
            <a:off x="1010411" y="3803903"/>
            <a:ext cx="539496" cy="1106425"/>
          </a:xfrm>
          <a:prstGeom prst="line">
            <a:avLst/>
          </a:prstGeom>
          <a:ln w="15875">
            <a:solidFill>
              <a:srgbClr val="8A8F98"/>
            </a:solidFill>
          </a:ln>
          <a:effectLst/>
        </p:spPr>
      </p:cxnSp>
      <p:cxnSp>
        <p:nvCxnSpPr>
          <p:cNvPr id="13" name="Connector 12"/>
          <p:cNvCxnSpPr/>
          <p:nvPr/>
        </p:nvCxnSpPr>
        <p:spPr>
          <a:xfrm>
            <a:off x="1549907" y="3803903"/>
            <a:ext cx="960120" cy="1106425"/>
          </a:xfrm>
          <a:prstGeom prst="line">
            <a:avLst/>
          </a:prstGeom>
          <a:ln w="15875">
            <a:solidFill>
              <a:srgbClr val="8A8F98"/>
            </a:solidFill>
          </a:ln>
          <a:effectLst/>
        </p:spPr>
      </p:cxnSp>
      <p:cxnSp>
        <p:nvCxnSpPr>
          <p:cNvPr id="14" name="Connector 13"/>
          <p:cNvCxnSpPr/>
          <p:nvPr/>
        </p:nvCxnSpPr>
        <p:spPr>
          <a:xfrm flipH="1">
            <a:off x="1632203" y="3803903"/>
            <a:ext cx="1014984" cy="1106425"/>
          </a:xfrm>
          <a:prstGeom prst="line">
            <a:avLst/>
          </a:prstGeom>
          <a:ln w="15875">
            <a:solidFill>
              <a:srgbClr val="8A8F98"/>
            </a:solidFill>
          </a:ln>
          <a:effectLst/>
        </p:spPr>
      </p:cxnSp>
      <p:cxnSp>
        <p:nvCxnSpPr>
          <p:cNvPr id="15" name="Connector 14"/>
          <p:cNvCxnSpPr/>
          <p:nvPr/>
        </p:nvCxnSpPr>
        <p:spPr>
          <a:xfrm>
            <a:off x="2647187" y="3803903"/>
            <a:ext cx="484632" cy="1106425"/>
          </a:xfrm>
          <a:prstGeom prst="line">
            <a:avLst/>
          </a:prstGeom>
          <a:ln w="15875">
            <a:solidFill>
              <a:srgbClr val="8A8F98"/>
            </a:solidFill>
          </a:ln>
          <a:effectLst/>
        </p:spPr>
      </p:cxnSp>
      <p:cxnSp>
        <p:nvCxnSpPr>
          <p:cNvPr id="16" name="Connector 15"/>
          <p:cNvCxnSpPr/>
          <p:nvPr/>
        </p:nvCxnSpPr>
        <p:spPr>
          <a:xfrm flipH="1">
            <a:off x="5509259" y="3803903"/>
            <a:ext cx="475488" cy="1106425"/>
          </a:xfrm>
          <a:prstGeom prst="line">
            <a:avLst/>
          </a:prstGeom>
          <a:ln w="15875">
            <a:solidFill>
              <a:srgbClr val="8A8F98"/>
            </a:solidFill>
          </a:ln>
          <a:effectLst/>
        </p:spPr>
      </p:cxnSp>
      <p:cxnSp>
        <p:nvCxnSpPr>
          <p:cNvPr id="17" name="Connector 16"/>
          <p:cNvCxnSpPr/>
          <p:nvPr/>
        </p:nvCxnSpPr>
        <p:spPr>
          <a:xfrm>
            <a:off x="5984747" y="3803903"/>
            <a:ext cx="1024128" cy="1106425"/>
          </a:xfrm>
          <a:prstGeom prst="line">
            <a:avLst/>
          </a:prstGeom>
          <a:ln w="15875">
            <a:solidFill>
              <a:srgbClr val="8A8F98"/>
            </a:solidFill>
          </a:ln>
          <a:effectLst/>
        </p:spPr>
      </p:cxnSp>
      <p:cxnSp>
        <p:nvCxnSpPr>
          <p:cNvPr id="18" name="Connector 17"/>
          <p:cNvCxnSpPr/>
          <p:nvPr/>
        </p:nvCxnSpPr>
        <p:spPr>
          <a:xfrm flipH="1">
            <a:off x="6131051" y="3803903"/>
            <a:ext cx="950976" cy="1106425"/>
          </a:xfrm>
          <a:prstGeom prst="line">
            <a:avLst/>
          </a:prstGeom>
          <a:ln w="15875">
            <a:solidFill>
              <a:srgbClr val="8A8F98"/>
            </a:solidFill>
          </a:ln>
          <a:effectLst/>
        </p:spPr>
      </p:cxnSp>
      <p:cxnSp>
        <p:nvCxnSpPr>
          <p:cNvPr id="19" name="Connector 18"/>
          <p:cNvCxnSpPr/>
          <p:nvPr/>
        </p:nvCxnSpPr>
        <p:spPr>
          <a:xfrm>
            <a:off x="7082027" y="3803903"/>
            <a:ext cx="548640" cy="1106425"/>
          </a:xfrm>
          <a:prstGeom prst="line">
            <a:avLst/>
          </a:prstGeom>
          <a:ln w="15875">
            <a:solidFill>
              <a:srgbClr val="8A8F98"/>
            </a:solidFill>
          </a:ln>
          <a:effectLst/>
        </p:spPr>
      </p:cxnSp>
      <p:cxnSp>
        <p:nvCxnSpPr>
          <p:cNvPr id="20" name="Connector 19"/>
          <p:cNvCxnSpPr/>
          <p:nvPr/>
        </p:nvCxnSpPr>
        <p:spPr>
          <a:xfrm>
            <a:off x="3790187" y="2203704"/>
            <a:ext cx="219457" cy="2706624"/>
          </a:xfrm>
          <a:prstGeom prst="line">
            <a:avLst/>
          </a:prstGeom>
          <a:ln w="15875">
            <a:solidFill>
              <a:srgbClr val="8A8F98"/>
            </a:solidFill>
          </a:ln>
          <a:effectLst/>
        </p:spPr>
      </p:cxnSp>
      <p:cxnSp>
        <p:nvCxnSpPr>
          <p:cNvPr id="21" name="Connector 20"/>
          <p:cNvCxnSpPr/>
          <p:nvPr/>
        </p:nvCxnSpPr>
        <p:spPr>
          <a:xfrm flipH="1">
            <a:off x="1549907" y="2203704"/>
            <a:ext cx="2240280" cy="749807"/>
          </a:xfrm>
          <a:prstGeom prst="line">
            <a:avLst/>
          </a:prstGeom>
          <a:ln w="15875">
            <a:solidFill>
              <a:srgbClr val="8A8F98"/>
            </a:solidFill>
          </a:ln>
          <a:effectLst/>
        </p:spPr>
      </p:cxnSp>
      <p:cxnSp>
        <p:nvCxnSpPr>
          <p:cNvPr id="22" name="Connector 21"/>
          <p:cNvCxnSpPr/>
          <p:nvPr/>
        </p:nvCxnSpPr>
        <p:spPr>
          <a:xfrm>
            <a:off x="3790187" y="2203704"/>
            <a:ext cx="2194560" cy="749807"/>
          </a:xfrm>
          <a:prstGeom prst="line">
            <a:avLst/>
          </a:prstGeom>
          <a:ln w="15875">
            <a:solidFill>
              <a:srgbClr val="8A8F98"/>
            </a:solidFill>
          </a:ln>
          <a:effectLst/>
        </p:spPr>
      </p:cxnSp>
      <p:cxnSp>
        <p:nvCxnSpPr>
          <p:cNvPr id="23" name="Connector 22"/>
          <p:cNvCxnSpPr/>
          <p:nvPr/>
        </p:nvCxnSpPr>
        <p:spPr>
          <a:xfrm flipH="1">
            <a:off x="4631436" y="2203704"/>
            <a:ext cx="484632" cy="2706624"/>
          </a:xfrm>
          <a:prstGeom prst="line">
            <a:avLst/>
          </a:prstGeom>
          <a:ln w="15875">
            <a:solidFill>
              <a:srgbClr val="8A8F98"/>
            </a:solidFill>
          </a:ln>
          <a:effectLst/>
        </p:spPr>
      </p:cxnSp>
      <p:cxnSp>
        <p:nvCxnSpPr>
          <p:cNvPr id="24" name="Connector 23"/>
          <p:cNvCxnSpPr/>
          <p:nvPr/>
        </p:nvCxnSpPr>
        <p:spPr>
          <a:xfrm flipH="1">
            <a:off x="2647187" y="2203704"/>
            <a:ext cx="2468881" cy="749807"/>
          </a:xfrm>
          <a:prstGeom prst="line">
            <a:avLst/>
          </a:prstGeom>
          <a:ln w="15875">
            <a:solidFill>
              <a:srgbClr val="8A8F98"/>
            </a:solidFill>
          </a:ln>
          <a:effectLst/>
        </p:spPr>
      </p:cxnSp>
      <p:cxnSp>
        <p:nvCxnSpPr>
          <p:cNvPr id="25" name="Connector 24"/>
          <p:cNvCxnSpPr/>
          <p:nvPr/>
        </p:nvCxnSpPr>
        <p:spPr>
          <a:xfrm>
            <a:off x="5116068" y="2203704"/>
            <a:ext cx="1965959" cy="749807"/>
          </a:xfrm>
          <a:prstGeom prst="line">
            <a:avLst/>
          </a:prstGeom>
          <a:ln w="15875">
            <a:solidFill>
              <a:srgbClr val="8A8F98"/>
            </a:solidFill>
          </a:ln>
          <a:effectLst/>
        </p:spPr>
      </p:cxnSp>
      <p:sp>
        <p:nvSpPr>
          <p:cNvPr id="26" name="Rounded Rectangle 25"/>
          <p:cNvSpPr/>
          <p:nvPr/>
        </p:nvSpPr>
        <p:spPr>
          <a:xfrm>
            <a:off x="736091"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1357883"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223570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285749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373532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435711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523494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5856731"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6734555"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735634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1147571"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7" name="TextBox 36"/>
          <p:cNvSpPr txBox="1"/>
          <p:nvPr/>
        </p:nvSpPr>
        <p:spPr>
          <a:xfrm>
            <a:off x="113842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8" name="Rounded Rectangle 37"/>
          <p:cNvSpPr/>
          <p:nvPr/>
        </p:nvSpPr>
        <p:spPr>
          <a:xfrm>
            <a:off x="2244851"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23570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0" name="Rounded Rectangle 39"/>
          <p:cNvSpPr/>
          <p:nvPr/>
        </p:nvSpPr>
        <p:spPr>
          <a:xfrm>
            <a:off x="5582411"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1" name="TextBox 40"/>
          <p:cNvSpPr txBox="1"/>
          <p:nvPr/>
        </p:nvSpPr>
        <p:spPr>
          <a:xfrm>
            <a:off x="557326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2" name="Rounded Rectangle 41"/>
          <p:cNvSpPr/>
          <p:nvPr/>
        </p:nvSpPr>
        <p:spPr>
          <a:xfrm>
            <a:off x="6679691"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667054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4" name="Rounded Rectangle 43"/>
          <p:cNvSpPr/>
          <p:nvPr/>
        </p:nvSpPr>
        <p:spPr>
          <a:xfrm>
            <a:off x="3387851"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5" name="TextBox 44"/>
          <p:cNvSpPr txBox="1"/>
          <p:nvPr/>
        </p:nvSpPr>
        <p:spPr>
          <a:xfrm>
            <a:off x="3058667"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6" name="Rounded Rectangle 45"/>
          <p:cNvSpPr/>
          <p:nvPr/>
        </p:nvSpPr>
        <p:spPr>
          <a:xfrm>
            <a:off x="4713731"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5536692"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8" name="TextBox 47"/>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Step 2: the XOR gates</a:t>
            </a:r>
          </a:p>
        </p:txBody>
      </p:sp>
      <p:sp>
        <p:nvSpPr>
          <p:cNvPr id="49" name="TextBox 48"/>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x₁ = XOR(u, v)     x₂ = XOR(u′, v′)</a:t>
            </a:r>
          </a:p>
          <a:p>
            <a:pPr marL="274320" indent="-237744">
              <a:spcBef>
                <a:spcPts val="500"/>
              </a:spcBef>
              <a:buClr>
                <a:srgbClr val="6B717A"/>
              </a:buClr>
              <a:buChar char="•"/>
            </a:pPr>
            <a:r>
              <a:rPr sz="1600" b="0" i="0">
                <a:solidFill>
                  <a:srgbClr val="2B2F36"/>
                </a:solidFill>
                <a:latin typeface="Calibri"/>
              </a:rPr>
              <a:t>same symbol, children pairwise equivalent</a:t>
            </a:r>
          </a:p>
        </p:txBody>
      </p:sp>
      <p:sp>
        <p:nvSpPr>
          <p:cNvPr id="50" name="Rounded Rectangle 49"/>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1" name="TextBox 50"/>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terms compared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 step 2</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17219"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16835"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16451"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1606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15683"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28699"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5463539"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cxnSp>
        <p:nvCxnSpPr>
          <p:cNvPr id="13" name="Connector 12"/>
          <p:cNvCxnSpPr/>
          <p:nvPr/>
        </p:nvCxnSpPr>
        <p:spPr>
          <a:xfrm flipH="1">
            <a:off x="1010411" y="3803903"/>
            <a:ext cx="539496" cy="1106425"/>
          </a:xfrm>
          <a:prstGeom prst="line">
            <a:avLst/>
          </a:prstGeom>
          <a:ln w="15875">
            <a:solidFill>
              <a:srgbClr val="8A8F98"/>
            </a:solidFill>
          </a:ln>
          <a:effectLst/>
        </p:spPr>
      </p:cxnSp>
      <p:cxnSp>
        <p:nvCxnSpPr>
          <p:cNvPr id="14" name="Connector 13"/>
          <p:cNvCxnSpPr/>
          <p:nvPr/>
        </p:nvCxnSpPr>
        <p:spPr>
          <a:xfrm>
            <a:off x="1549907" y="3803903"/>
            <a:ext cx="960120" cy="1106425"/>
          </a:xfrm>
          <a:prstGeom prst="line">
            <a:avLst/>
          </a:prstGeom>
          <a:ln w="15875">
            <a:solidFill>
              <a:srgbClr val="8A8F98"/>
            </a:solidFill>
          </a:ln>
          <a:effectLst/>
        </p:spPr>
      </p:cxnSp>
      <p:cxnSp>
        <p:nvCxnSpPr>
          <p:cNvPr id="15" name="Connector 14"/>
          <p:cNvCxnSpPr/>
          <p:nvPr/>
        </p:nvCxnSpPr>
        <p:spPr>
          <a:xfrm flipH="1">
            <a:off x="1632203" y="3803903"/>
            <a:ext cx="1014984" cy="1106425"/>
          </a:xfrm>
          <a:prstGeom prst="line">
            <a:avLst/>
          </a:prstGeom>
          <a:ln w="15875">
            <a:solidFill>
              <a:srgbClr val="8A8F98"/>
            </a:solidFill>
          </a:ln>
          <a:effectLst/>
        </p:spPr>
      </p:cxnSp>
      <p:cxnSp>
        <p:nvCxnSpPr>
          <p:cNvPr id="16" name="Connector 15"/>
          <p:cNvCxnSpPr/>
          <p:nvPr/>
        </p:nvCxnSpPr>
        <p:spPr>
          <a:xfrm>
            <a:off x="2647187" y="3803903"/>
            <a:ext cx="484632" cy="1106425"/>
          </a:xfrm>
          <a:prstGeom prst="line">
            <a:avLst/>
          </a:prstGeom>
          <a:ln w="15875">
            <a:solidFill>
              <a:srgbClr val="8A8F98"/>
            </a:solidFill>
          </a:ln>
          <a:effectLst/>
        </p:spPr>
      </p:cxnSp>
      <p:cxnSp>
        <p:nvCxnSpPr>
          <p:cNvPr id="17" name="Connector 16"/>
          <p:cNvCxnSpPr/>
          <p:nvPr/>
        </p:nvCxnSpPr>
        <p:spPr>
          <a:xfrm flipH="1">
            <a:off x="5509259" y="3803903"/>
            <a:ext cx="475488" cy="1106425"/>
          </a:xfrm>
          <a:prstGeom prst="line">
            <a:avLst/>
          </a:prstGeom>
          <a:ln w="15875">
            <a:solidFill>
              <a:srgbClr val="8A8F98"/>
            </a:solidFill>
          </a:ln>
          <a:effectLst/>
        </p:spPr>
      </p:cxnSp>
      <p:cxnSp>
        <p:nvCxnSpPr>
          <p:cNvPr id="18" name="Connector 17"/>
          <p:cNvCxnSpPr/>
          <p:nvPr/>
        </p:nvCxnSpPr>
        <p:spPr>
          <a:xfrm>
            <a:off x="5984747" y="3803903"/>
            <a:ext cx="1024128" cy="1106425"/>
          </a:xfrm>
          <a:prstGeom prst="line">
            <a:avLst/>
          </a:prstGeom>
          <a:ln w="15875">
            <a:solidFill>
              <a:srgbClr val="8A8F98"/>
            </a:solidFill>
          </a:ln>
          <a:effectLst/>
        </p:spPr>
      </p:cxnSp>
      <p:cxnSp>
        <p:nvCxnSpPr>
          <p:cNvPr id="19" name="Connector 18"/>
          <p:cNvCxnSpPr/>
          <p:nvPr/>
        </p:nvCxnSpPr>
        <p:spPr>
          <a:xfrm flipH="1">
            <a:off x="6131051" y="3803903"/>
            <a:ext cx="950976" cy="1106425"/>
          </a:xfrm>
          <a:prstGeom prst="line">
            <a:avLst/>
          </a:prstGeom>
          <a:ln w="15875">
            <a:solidFill>
              <a:srgbClr val="8A8F98"/>
            </a:solidFill>
          </a:ln>
          <a:effectLst/>
        </p:spPr>
      </p:cxnSp>
      <p:cxnSp>
        <p:nvCxnSpPr>
          <p:cNvPr id="20" name="Connector 19"/>
          <p:cNvCxnSpPr/>
          <p:nvPr/>
        </p:nvCxnSpPr>
        <p:spPr>
          <a:xfrm>
            <a:off x="7082027" y="3803903"/>
            <a:ext cx="548640" cy="1106425"/>
          </a:xfrm>
          <a:prstGeom prst="line">
            <a:avLst/>
          </a:prstGeom>
          <a:ln w="15875">
            <a:solidFill>
              <a:srgbClr val="8A8F98"/>
            </a:solidFill>
          </a:ln>
          <a:effectLst/>
        </p:spPr>
      </p:cxnSp>
      <p:cxnSp>
        <p:nvCxnSpPr>
          <p:cNvPr id="21" name="Connector 20"/>
          <p:cNvCxnSpPr/>
          <p:nvPr/>
        </p:nvCxnSpPr>
        <p:spPr>
          <a:xfrm>
            <a:off x="3790187" y="2203704"/>
            <a:ext cx="219457" cy="2706624"/>
          </a:xfrm>
          <a:prstGeom prst="line">
            <a:avLst/>
          </a:prstGeom>
          <a:ln w="15875">
            <a:solidFill>
              <a:srgbClr val="8A8F98"/>
            </a:solidFill>
          </a:ln>
          <a:effectLst/>
        </p:spPr>
      </p:cxnSp>
      <p:cxnSp>
        <p:nvCxnSpPr>
          <p:cNvPr id="22" name="Connector 21"/>
          <p:cNvCxnSpPr/>
          <p:nvPr/>
        </p:nvCxnSpPr>
        <p:spPr>
          <a:xfrm flipH="1">
            <a:off x="1549907" y="2203704"/>
            <a:ext cx="2240280" cy="749807"/>
          </a:xfrm>
          <a:prstGeom prst="line">
            <a:avLst/>
          </a:prstGeom>
          <a:ln w="15875">
            <a:solidFill>
              <a:srgbClr val="8A8F98"/>
            </a:solidFill>
          </a:ln>
          <a:effectLst/>
        </p:spPr>
      </p:cxnSp>
      <p:cxnSp>
        <p:nvCxnSpPr>
          <p:cNvPr id="23" name="Connector 22"/>
          <p:cNvCxnSpPr/>
          <p:nvPr/>
        </p:nvCxnSpPr>
        <p:spPr>
          <a:xfrm>
            <a:off x="3790187" y="2203704"/>
            <a:ext cx="2194560" cy="749807"/>
          </a:xfrm>
          <a:prstGeom prst="line">
            <a:avLst/>
          </a:prstGeom>
          <a:ln w="15875">
            <a:solidFill>
              <a:srgbClr val="8A8F98"/>
            </a:solidFill>
          </a:ln>
          <a:effectLst/>
        </p:spPr>
      </p:cxnSp>
      <p:cxnSp>
        <p:nvCxnSpPr>
          <p:cNvPr id="24" name="Connector 23"/>
          <p:cNvCxnSpPr/>
          <p:nvPr/>
        </p:nvCxnSpPr>
        <p:spPr>
          <a:xfrm flipH="1">
            <a:off x="4631436" y="2203704"/>
            <a:ext cx="484632" cy="2706624"/>
          </a:xfrm>
          <a:prstGeom prst="line">
            <a:avLst/>
          </a:prstGeom>
          <a:ln w="15875">
            <a:solidFill>
              <a:srgbClr val="8A8F98"/>
            </a:solidFill>
          </a:ln>
          <a:effectLst/>
        </p:spPr>
      </p:cxnSp>
      <p:cxnSp>
        <p:nvCxnSpPr>
          <p:cNvPr id="25" name="Connector 24"/>
          <p:cNvCxnSpPr/>
          <p:nvPr/>
        </p:nvCxnSpPr>
        <p:spPr>
          <a:xfrm flipH="1">
            <a:off x="2647187" y="2203704"/>
            <a:ext cx="2468881" cy="749807"/>
          </a:xfrm>
          <a:prstGeom prst="line">
            <a:avLst/>
          </a:prstGeom>
          <a:ln w="15875">
            <a:solidFill>
              <a:srgbClr val="8A8F98"/>
            </a:solidFill>
          </a:ln>
          <a:effectLst/>
        </p:spPr>
      </p:cxnSp>
      <p:cxnSp>
        <p:nvCxnSpPr>
          <p:cNvPr id="26" name="Connector 25"/>
          <p:cNvCxnSpPr/>
          <p:nvPr/>
        </p:nvCxnSpPr>
        <p:spPr>
          <a:xfrm>
            <a:off x="5116068" y="2203704"/>
            <a:ext cx="1965959" cy="749807"/>
          </a:xfrm>
          <a:prstGeom prst="line">
            <a:avLst/>
          </a:prstGeom>
          <a:ln w="15875">
            <a:solidFill>
              <a:srgbClr val="8A8F98"/>
            </a:solidFill>
          </a:ln>
          <a:effectLst/>
        </p:spPr>
      </p:cxnSp>
      <p:sp>
        <p:nvSpPr>
          <p:cNvPr id="27" name="Rounded Rectangle 26"/>
          <p:cNvSpPr/>
          <p:nvPr/>
        </p:nvSpPr>
        <p:spPr>
          <a:xfrm>
            <a:off x="736091"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1357883"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223570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285749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373532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435711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523494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5856731"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6734555"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735634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1147571"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113842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9" name="Rounded Rectangle 38"/>
          <p:cNvSpPr/>
          <p:nvPr/>
        </p:nvSpPr>
        <p:spPr>
          <a:xfrm>
            <a:off x="2244851"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223570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1" name="Rounded Rectangle 40"/>
          <p:cNvSpPr/>
          <p:nvPr/>
        </p:nvSpPr>
        <p:spPr>
          <a:xfrm>
            <a:off x="5582411"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557326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3" name="Rounded Rectangle 42"/>
          <p:cNvSpPr/>
          <p:nvPr/>
        </p:nvSpPr>
        <p:spPr>
          <a:xfrm>
            <a:off x="6679691"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667054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5" name="Rounded Rectangle 44"/>
          <p:cNvSpPr/>
          <p:nvPr/>
        </p:nvSpPr>
        <p:spPr>
          <a:xfrm>
            <a:off x="3387851"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3058667"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7" name="Rounded Rectangle 46"/>
          <p:cNvSpPr/>
          <p:nvPr/>
        </p:nvSpPr>
        <p:spPr>
          <a:xfrm>
            <a:off x="4713731"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5536692"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9" name="TextBox 48"/>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Step 2: the XOR gates</a:t>
            </a:r>
          </a:p>
        </p:txBody>
      </p:sp>
      <p:sp>
        <p:nvSpPr>
          <p:cNvPr id="50" name="TextBox 49"/>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1" i="0">
                <a:solidFill>
                  <a:srgbClr val="2B2F36"/>
                </a:solidFill>
                <a:latin typeface="Calibri"/>
              </a:rPr>
              <a:t>congruence ⇒ x₁ ≡ x₂</a:t>
            </a:r>
          </a:p>
          <a:p>
            <a:pPr marL="274320" indent="-237744">
              <a:spcBef>
                <a:spcPts val="500"/>
              </a:spcBef>
              <a:buClr>
                <a:srgbClr val="6B717A"/>
              </a:buClr>
              <a:buChar char="•"/>
            </a:pPr>
            <a:r>
              <a:rPr sz="1600" b="0" i="0">
                <a:solidFill>
                  <a:srgbClr val="2B2F36"/>
                </a:solidFill>
                <a:latin typeface="Calibri"/>
              </a:rPr>
              <a:t>Union(x₁, x₂)</a:t>
            </a:r>
          </a:p>
        </p:txBody>
      </p:sp>
      <p:sp>
        <p:nvSpPr>
          <p:cNvPr id="51" name="Rounded Rectangle 50"/>
          <p:cNvSpPr/>
          <p:nvPr/>
        </p:nvSpPr>
        <p:spPr>
          <a:xfrm>
            <a:off x="502920"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2" name="TextBox 51"/>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equivalence class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 step 3</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17219"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16835"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16451"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1606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15683"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28699"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5463539"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cxnSp>
        <p:nvCxnSpPr>
          <p:cNvPr id="13" name="Connector 12"/>
          <p:cNvCxnSpPr/>
          <p:nvPr/>
        </p:nvCxnSpPr>
        <p:spPr>
          <a:xfrm flipH="1">
            <a:off x="1010411" y="3803903"/>
            <a:ext cx="539496" cy="1106425"/>
          </a:xfrm>
          <a:prstGeom prst="line">
            <a:avLst/>
          </a:prstGeom>
          <a:ln w="15875">
            <a:solidFill>
              <a:srgbClr val="8A8F98"/>
            </a:solidFill>
          </a:ln>
          <a:effectLst/>
        </p:spPr>
      </p:cxnSp>
      <p:cxnSp>
        <p:nvCxnSpPr>
          <p:cNvPr id="14" name="Connector 13"/>
          <p:cNvCxnSpPr/>
          <p:nvPr/>
        </p:nvCxnSpPr>
        <p:spPr>
          <a:xfrm>
            <a:off x="1549907" y="3803903"/>
            <a:ext cx="960120" cy="1106425"/>
          </a:xfrm>
          <a:prstGeom prst="line">
            <a:avLst/>
          </a:prstGeom>
          <a:ln w="15875">
            <a:solidFill>
              <a:srgbClr val="8A8F98"/>
            </a:solidFill>
          </a:ln>
          <a:effectLst/>
        </p:spPr>
      </p:cxnSp>
      <p:cxnSp>
        <p:nvCxnSpPr>
          <p:cNvPr id="15" name="Connector 14"/>
          <p:cNvCxnSpPr/>
          <p:nvPr/>
        </p:nvCxnSpPr>
        <p:spPr>
          <a:xfrm flipH="1">
            <a:off x="1632203" y="3803903"/>
            <a:ext cx="1014984" cy="1106425"/>
          </a:xfrm>
          <a:prstGeom prst="line">
            <a:avLst/>
          </a:prstGeom>
          <a:ln w="15875">
            <a:solidFill>
              <a:srgbClr val="8A8F98"/>
            </a:solidFill>
          </a:ln>
          <a:effectLst/>
        </p:spPr>
      </p:cxnSp>
      <p:cxnSp>
        <p:nvCxnSpPr>
          <p:cNvPr id="16" name="Connector 15"/>
          <p:cNvCxnSpPr/>
          <p:nvPr/>
        </p:nvCxnSpPr>
        <p:spPr>
          <a:xfrm>
            <a:off x="2647187" y="3803903"/>
            <a:ext cx="484632" cy="1106425"/>
          </a:xfrm>
          <a:prstGeom prst="line">
            <a:avLst/>
          </a:prstGeom>
          <a:ln w="15875">
            <a:solidFill>
              <a:srgbClr val="8A8F98"/>
            </a:solidFill>
          </a:ln>
          <a:effectLst/>
        </p:spPr>
      </p:cxnSp>
      <p:cxnSp>
        <p:nvCxnSpPr>
          <p:cNvPr id="17" name="Connector 16"/>
          <p:cNvCxnSpPr/>
          <p:nvPr/>
        </p:nvCxnSpPr>
        <p:spPr>
          <a:xfrm flipH="1">
            <a:off x="5509259" y="3803903"/>
            <a:ext cx="475488" cy="1106425"/>
          </a:xfrm>
          <a:prstGeom prst="line">
            <a:avLst/>
          </a:prstGeom>
          <a:ln w="15875">
            <a:solidFill>
              <a:srgbClr val="8A8F98"/>
            </a:solidFill>
          </a:ln>
          <a:effectLst/>
        </p:spPr>
      </p:cxnSp>
      <p:cxnSp>
        <p:nvCxnSpPr>
          <p:cNvPr id="18" name="Connector 17"/>
          <p:cNvCxnSpPr/>
          <p:nvPr/>
        </p:nvCxnSpPr>
        <p:spPr>
          <a:xfrm>
            <a:off x="5984747" y="3803903"/>
            <a:ext cx="1024128" cy="1106425"/>
          </a:xfrm>
          <a:prstGeom prst="line">
            <a:avLst/>
          </a:prstGeom>
          <a:ln w="15875">
            <a:solidFill>
              <a:srgbClr val="8A8F98"/>
            </a:solidFill>
          </a:ln>
          <a:effectLst/>
        </p:spPr>
      </p:cxnSp>
      <p:cxnSp>
        <p:nvCxnSpPr>
          <p:cNvPr id="19" name="Connector 18"/>
          <p:cNvCxnSpPr/>
          <p:nvPr/>
        </p:nvCxnSpPr>
        <p:spPr>
          <a:xfrm flipH="1">
            <a:off x="6131051" y="3803903"/>
            <a:ext cx="950976" cy="1106425"/>
          </a:xfrm>
          <a:prstGeom prst="line">
            <a:avLst/>
          </a:prstGeom>
          <a:ln w="15875">
            <a:solidFill>
              <a:srgbClr val="8A8F98"/>
            </a:solidFill>
          </a:ln>
          <a:effectLst/>
        </p:spPr>
      </p:cxnSp>
      <p:cxnSp>
        <p:nvCxnSpPr>
          <p:cNvPr id="20" name="Connector 19"/>
          <p:cNvCxnSpPr/>
          <p:nvPr/>
        </p:nvCxnSpPr>
        <p:spPr>
          <a:xfrm>
            <a:off x="7082027" y="3803903"/>
            <a:ext cx="548640" cy="1106425"/>
          </a:xfrm>
          <a:prstGeom prst="line">
            <a:avLst/>
          </a:prstGeom>
          <a:ln w="15875">
            <a:solidFill>
              <a:srgbClr val="8A8F98"/>
            </a:solidFill>
          </a:ln>
          <a:effectLst/>
        </p:spPr>
      </p:cxnSp>
      <p:cxnSp>
        <p:nvCxnSpPr>
          <p:cNvPr id="21" name="Connector 20"/>
          <p:cNvCxnSpPr/>
          <p:nvPr/>
        </p:nvCxnSpPr>
        <p:spPr>
          <a:xfrm>
            <a:off x="3790187" y="2203704"/>
            <a:ext cx="219457" cy="2706624"/>
          </a:xfrm>
          <a:prstGeom prst="line">
            <a:avLst/>
          </a:prstGeom>
          <a:ln w="15875">
            <a:solidFill>
              <a:srgbClr val="8A8F98"/>
            </a:solidFill>
          </a:ln>
          <a:effectLst/>
        </p:spPr>
      </p:cxnSp>
      <p:cxnSp>
        <p:nvCxnSpPr>
          <p:cNvPr id="22" name="Connector 21"/>
          <p:cNvCxnSpPr/>
          <p:nvPr/>
        </p:nvCxnSpPr>
        <p:spPr>
          <a:xfrm flipH="1">
            <a:off x="1549907" y="2203704"/>
            <a:ext cx="2240280" cy="749807"/>
          </a:xfrm>
          <a:prstGeom prst="line">
            <a:avLst/>
          </a:prstGeom>
          <a:ln w="15875">
            <a:solidFill>
              <a:srgbClr val="8A8F98"/>
            </a:solidFill>
          </a:ln>
          <a:effectLst/>
        </p:spPr>
      </p:cxnSp>
      <p:cxnSp>
        <p:nvCxnSpPr>
          <p:cNvPr id="23" name="Connector 22"/>
          <p:cNvCxnSpPr/>
          <p:nvPr/>
        </p:nvCxnSpPr>
        <p:spPr>
          <a:xfrm>
            <a:off x="3790187" y="2203704"/>
            <a:ext cx="2194560" cy="749807"/>
          </a:xfrm>
          <a:prstGeom prst="line">
            <a:avLst/>
          </a:prstGeom>
          <a:ln w="15875">
            <a:solidFill>
              <a:srgbClr val="8A8F98"/>
            </a:solidFill>
          </a:ln>
          <a:effectLst/>
        </p:spPr>
      </p:cxnSp>
      <p:cxnSp>
        <p:nvCxnSpPr>
          <p:cNvPr id="24" name="Connector 23"/>
          <p:cNvCxnSpPr/>
          <p:nvPr/>
        </p:nvCxnSpPr>
        <p:spPr>
          <a:xfrm flipH="1">
            <a:off x="4631436" y="2203704"/>
            <a:ext cx="484632" cy="2706624"/>
          </a:xfrm>
          <a:prstGeom prst="line">
            <a:avLst/>
          </a:prstGeom>
          <a:ln w="15875">
            <a:solidFill>
              <a:srgbClr val="8A8F98"/>
            </a:solidFill>
          </a:ln>
          <a:effectLst/>
        </p:spPr>
      </p:cxnSp>
      <p:cxnSp>
        <p:nvCxnSpPr>
          <p:cNvPr id="25" name="Connector 24"/>
          <p:cNvCxnSpPr/>
          <p:nvPr/>
        </p:nvCxnSpPr>
        <p:spPr>
          <a:xfrm flipH="1">
            <a:off x="2647187" y="2203704"/>
            <a:ext cx="2468881" cy="749807"/>
          </a:xfrm>
          <a:prstGeom prst="line">
            <a:avLst/>
          </a:prstGeom>
          <a:ln w="15875">
            <a:solidFill>
              <a:srgbClr val="8A8F98"/>
            </a:solidFill>
          </a:ln>
          <a:effectLst/>
        </p:spPr>
      </p:cxnSp>
      <p:cxnSp>
        <p:nvCxnSpPr>
          <p:cNvPr id="26" name="Connector 25"/>
          <p:cNvCxnSpPr/>
          <p:nvPr/>
        </p:nvCxnSpPr>
        <p:spPr>
          <a:xfrm>
            <a:off x="5116068" y="2203704"/>
            <a:ext cx="1965959" cy="749807"/>
          </a:xfrm>
          <a:prstGeom prst="line">
            <a:avLst/>
          </a:prstGeom>
          <a:ln w="15875">
            <a:solidFill>
              <a:srgbClr val="8A8F98"/>
            </a:solidFill>
          </a:ln>
          <a:effectLst/>
        </p:spPr>
      </p:cxnSp>
      <p:sp>
        <p:nvSpPr>
          <p:cNvPr id="27" name="Rounded Rectangle 26"/>
          <p:cNvSpPr/>
          <p:nvPr/>
        </p:nvSpPr>
        <p:spPr>
          <a:xfrm>
            <a:off x="736091"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1357883"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223570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285749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373532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435711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523494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5856731"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6734555"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735634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1147571"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113842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9" name="Rounded Rectangle 38"/>
          <p:cNvSpPr/>
          <p:nvPr/>
        </p:nvSpPr>
        <p:spPr>
          <a:xfrm>
            <a:off x="2244851"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223570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1" name="Rounded Rectangle 40"/>
          <p:cNvSpPr/>
          <p:nvPr/>
        </p:nvSpPr>
        <p:spPr>
          <a:xfrm>
            <a:off x="5582411"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557326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3" name="Rounded Rectangle 42"/>
          <p:cNvSpPr/>
          <p:nvPr/>
        </p:nvSpPr>
        <p:spPr>
          <a:xfrm>
            <a:off x="6679691"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667054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5" name="Rounded Rectangle 44"/>
          <p:cNvSpPr/>
          <p:nvPr/>
        </p:nvSpPr>
        <p:spPr>
          <a:xfrm>
            <a:off x="3387851"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3058667"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7" name="Rounded Rectangle 46"/>
          <p:cNvSpPr/>
          <p:nvPr/>
        </p:nvSpPr>
        <p:spPr>
          <a:xfrm>
            <a:off x="4713731"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5536692"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9" name="TextBox 48"/>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Step 3: the ITE gates</a:t>
            </a:r>
          </a:p>
        </p:txBody>
      </p:sp>
      <p:sp>
        <p:nvSpPr>
          <p:cNvPr id="50" name="TextBox 49"/>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m₁ = ITE(c, a₁, x₁)     m₂ = ITE(c′, a₂, x₂)</a:t>
            </a:r>
          </a:p>
          <a:p>
            <a:pPr marL="274320" indent="-237744">
              <a:spcBef>
                <a:spcPts val="500"/>
              </a:spcBef>
              <a:buClr>
                <a:srgbClr val="6B717A"/>
              </a:buClr>
              <a:buChar char="•"/>
            </a:pPr>
            <a:r>
              <a:rPr sz="1600" b="0" i="0">
                <a:solidFill>
                  <a:srgbClr val="2B2F36"/>
                </a:solidFill>
                <a:latin typeface="Calibri"/>
              </a:rPr>
              <a:t>children equivalent only after steps 1 and 2</a:t>
            </a:r>
          </a:p>
        </p:txBody>
      </p:sp>
      <p:sp>
        <p:nvSpPr>
          <p:cNvPr id="51" name="Rounded Rectangle 50"/>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2" name="TextBox 51"/>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terms compared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 step 3</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17219"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16835"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16451"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1606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15683"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28699"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5463539"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2930651"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1010411" y="3803903"/>
            <a:ext cx="539496" cy="1106425"/>
          </a:xfrm>
          <a:prstGeom prst="line">
            <a:avLst/>
          </a:prstGeom>
          <a:ln w="15875">
            <a:solidFill>
              <a:srgbClr val="8A8F98"/>
            </a:solidFill>
          </a:ln>
          <a:effectLst/>
        </p:spPr>
      </p:cxnSp>
      <p:cxnSp>
        <p:nvCxnSpPr>
          <p:cNvPr id="15" name="Connector 14"/>
          <p:cNvCxnSpPr/>
          <p:nvPr/>
        </p:nvCxnSpPr>
        <p:spPr>
          <a:xfrm>
            <a:off x="1549907" y="3803903"/>
            <a:ext cx="960120" cy="1106425"/>
          </a:xfrm>
          <a:prstGeom prst="line">
            <a:avLst/>
          </a:prstGeom>
          <a:ln w="15875">
            <a:solidFill>
              <a:srgbClr val="8A8F98"/>
            </a:solidFill>
          </a:ln>
          <a:effectLst/>
        </p:spPr>
      </p:cxnSp>
      <p:cxnSp>
        <p:nvCxnSpPr>
          <p:cNvPr id="16" name="Connector 15"/>
          <p:cNvCxnSpPr/>
          <p:nvPr/>
        </p:nvCxnSpPr>
        <p:spPr>
          <a:xfrm flipH="1">
            <a:off x="1632203" y="3803903"/>
            <a:ext cx="1014984" cy="1106425"/>
          </a:xfrm>
          <a:prstGeom prst="line">
            <a:avLst/>
          </a:prstGeom>
          <a:ln w="15875">
            <a:solidFill>
              <a:srgbClr val="8A8F98"/>
            </a:solidFill>
          </a:ln>
          <a:effectLst/>
        </p:spPr>
      </p:cxnSp>
      <p:cxnSp>
        <p:nvCxnSpPr>
          <p:cNvPr id="17" name="Connector 16"/>
          <p:cNvCxnSpPr/>
          <p:nvPr/>
        </p:nvCxnSpPr>
        <p:spPr>
          <a:xfrm>
            <a:off x="2647187" y="3803903"/>
            <a:ext cx="484632" cy="1106425"/>
          </a:xfrm>
          <a:prstGeom prst="line">
            <a:avLst/>
          </a:prstGeom>
          <a:ln w="15875">
            <a:solidFill>
              <a:srgbClr val="8A8F98"/>
            </a:solidFill>
          </a:ln>
          <a:effectLst/>
        </p:spPr>
      </p:cxnSp>
      <p:cxnSp>
        <p:nvCxnSpPr>
          <p:cNvPr id="18" name="Connector 17"/>
          <p:cNvCxnSpPr/>
          <p:nvPr/>
        </p:nvCxnSpPr>
        <p:spPr>
          <a:xfrm flipH="1">
            <a:off x="5509259" y="3803903"/>
            <a:ext cx="475488" cy="1106425"/>
          </a:xfrm>
          <a:prstGeom prst="line">
            <a:avLst/>
          </a:prstGeom>
          <a:ln w="15875">
            <a:solidFill>
              <a:srgbClr val="8A8F98"/>
            </a:solidFill>
          </a:ln>
          <a:effectLst/>
        </p:spPr>
      </p:cxnSp>
      <p:cxnSp>
        <p:nvCxnSpPr>
          <p:cNvPr id="19" name="Connector 18"/>
          <p:cNvCxnSpPr/>
          <p:nvPr/>
        </p:nvCxnSpPr>
        <p:spPr>
          <a:xfrm>
            <a:off x="5984747" y="3803903"/>
            <a:ext cx="1024128" cy="1106425"/>
          </a:xfrm>
          <a:prstGeom prst="line">
            <a:avLst/>
          </a:prstGeom>
          <a:ln w="15875">
            <a:solidFill>
              <a:srgbClr val="8A8F98"/>
            </a:solidFill>
          </a:ln>
          <a:effectLst/>
        </p:spPr>
      </p:cxnSp>
      <p:cxnSp>
        <p:nvCxnSpPr>
          <p:cNvPr id="20" name="Connector 19"/>
          <p:cNvCxnSpPr/>
          <p:nvPr/>
        </p:nvCxnSpPr>
        <p:spPr>
          <a:xfrm flipH="1">
            <a:off x="6131051" y="3803903"/>
            <a:ext cx="950976" cy="1106425"/>
          </a:xfrm>
          <a:prstGeom prst="line">
            <a:avLst/>
          </a:prstGeom>
          <a:ln w="15875">
            <a:solidFill>
              <a:srgbClr val="8A8F98"/>
            </a:solidFill>
          </a:ln>
          <a:effectLst/>
        </p:spPr>
      </p:cxnSp>
      <p:cxnSp>
        <p:nvCxnSpPr>
          <p:cNvPr id="21" name="Connector 20"/>
          <p:cNvCxnSpPr/>
          <p:nvPr/>
        </p:nvCxnSpPr>
        <p:spPr>
          <a:xfrm>
            <a:off x="7082027" y="3803903"/>
            <a:ext cx="548640" cy="1106425"/>
          </a:xfrm>
          <a:prstGeom prst="line">
            <a:avLst/>
          </a:prstGeom>
          <a:ln w="15875">
            <a:solidFill>
              <a:srgbClr val="8A8F98"/>
            </a:solidFill>
          </a:ln>
          <a:effectLst/>
        </p:spPr>
      </p:cxnSp>
      <p:cxnSp>
        <p:nvCxnSpPr>
          <p:cNvPr id="22" name="Connector 21"/>
          <p:cNvCxnSpPr/>
          <p:nvPr/>
        </p:nvCxnSpPr>
        <p:spPr>
          <a:xfrm>
            <a:off x="3790187" y="2203704"/>
            <a:ext cx="219457" cy="2706624"/>
          </a:xfrm>
          <a:prstGeom prst="line">
            <a:avLst/>
          </a:prstGeom>
          <a:ln w="15875">
            <a:solidFill>
              <a:srgbClr val="8A8F98"/>
            </a:solidFill>
          </a:ln>
          <a:effectLst/>
        </p:spPr>
      </p:cxnSp>
      <p:cxnSp>
        <p:nvCxnSpPr>
          <p:cNvPr id="23" name="Connector 22"/>
          <p:cNvCxnSpPr/>
          <p:nvPr/>
        </p:nvCxnSpPr>
        <p:spPr>
          <a:xfrm flipH="1">
            <a:off x="1549907" y="2203704"/>
            <a:ext cx="2240280" cy="749807"/>
          </a:xfrm>
          <a:prstGeom prst="line">
            <a:avLst/>
          </a:prstGeom>
          <a:ln w="15875">
            <a:solidFill>
              <a:srgbClr val="8A8F98"/>
            </a:solidFill>
          </a:ln>
          <a:effectLst/>
        </p:spPr>
      </p:cxnSp>
      <p:cxnSp>
        <p:nvCxnSpPr>
          <p:cNvPr id="24" name="Connector 23"/>
          <p:cNvCxnSpPr/>
          <p:nvPr/>
        </p:nvCxnSpPr>
        <p:spPr>
          <a:xfrm>
            <a:off x="3790187" y="2203704"/>
            <a:ext cx="2194560" cy="749807"/>
          </a:xfrm>
          <a:prstGeom prst="line">
            <a:avLst/>
          </a:prstGeom>
          <a:ln w="15875">
            <a:solidFill>
              <a:srgbClr val="8A8F98"/>
            </a:solidFill>
          </a:ln>
          <a:effectLst/>
        </p:spPr>
      </p:cxnSp>
      <p:cxnSp>
        <p:nvCxnSpPr>
          <p:cNvPr id="25" name="Connector 24"/>
          <p:cNvCxnSpPr/>
          <p:nvPr/>
        </p:nvCxnSpPr>
        <p:spPr>
          <a:xfrm flipH="1">
            <a:off x="4631436" y="2203704"/>
            <a:ext cx="484632" cy="2706624"/>
          </a:xfrm>
          <a:prstGeom prst="line">
            <a:avLst/>
          </a:prstGeom>
          <a:ln w="15875">
            <a:solidFill>
              <a:srgbClr val="8A8F98"/>
            </a:solidFill>
          </a:ln>
          <a:effectLst/>
        </p:spPr>
      </p:cxnSp>
      <p:cxnSp>
        <p:nvCxnSpPr>
          <p:cNvPr id="26" name="Connector 25"/>
          <p:cNvCxnSpPr/>
          <p:nvPr/>
        </p:nvCxnSpPr>
        <p:spPr>
          <a:xfrm flipH="1">
            <a:off x="2647187" y="2203704"/>
            <a:ext cx="2468881" cy="749807"/>
          </a:xfrm>
          <a:prstGeom prst="line">
            <a:avLst/>
          </a:prstGeom>
          <a:ln w="15875">
            <a:solidFill>
              <a:srgbClr val="8A8F98"/>
            </a:solidFill>
          </a:ln>
          <a:effectLst/>
        </p:spPr>
      </p:cxnSp>
      <p:cxnSp>
        <p:nvCxnSpPr>
          <p:cNvPr id="27" name="Connector 26"/>
          <p:cNvCxnSpPr/>
          <p:nvPr/>
        </p:nvCxnSpPr>
        <p:spPr>
          <a:xfrm>
            <a:off x="5116068" y="2203704"/>
            <a:ext cx="1965959" cy="749807"/>
          </a:xfrm>
          <a:prstGeom prst="line">
            <a:avLst/>
          </a:prstGeom>
          <a:ln w="15875">
            <a:solidFill>
              <a:srgbClr val="8A8F98"/>
            </a:solidFill>
          </a:ln>
          <a:effectLst/>
        </p:spPr>
      </p:cxnSp>
      <p:sp>
        <p:nvSpPr>
          <p:cNvPr id="28" name="Rounded Rectangle 27"/>
          <p:cNvSpPr/>
          <p:nvPr/>
        </p:nvSpPr>
        <p:spPr>
          <a:xfrm>
            <a:off x="736091"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1357883"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223570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285749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373532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435711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523494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5856731"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6734555"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735634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1147571"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113842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2244851"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223570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5582411"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557326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6679691"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667054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3387851"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3058667"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4713731"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5536692"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TextBox 49"/>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Step 3: the ITE gates</a:t>
            </a:r>
          </a:p>
        </p:txBody>
      </p:sp>
      <p:sp>
        <p:nvSpPr>
          <p:cNvPr id="51" name="TextBox 50"/>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1" i="0">
                <a:solidFill>
                  <a:srgbClr val="2B2F36"/>
                </a:solidFill>
                <a:latin typeface="Calibri"/>
              </a:rPr>
              <a:t>congruence ⇒ m₁ ≡ m₂</a:t>
            </a:r>
          </a:p>
          <a:p>
            <a:pPr marL="274320" indent="-237744">
              <a:spcBef>
                <a:spcPts val="500"/>
              </a:spcBef>
              <a:buClr>
                <a:srgbClr val="6B717A"/>
              </a:buClr>
              <a:buChar char="•"/>
            </a:pPr>
            <a:r>
              <a:rPr sz="1600" b="0" i="0">
                <a:solidFill>
                  <a:srgbClr val="2B2F36"/>
                </a:solidFill>
                <a:latin typeface="Calibri"/>
              </a:rPr>
              <a:t>contradicts query m₁ ≠ m₂</a:t>
            </a:r>
          </a:p>
          <a:p>
            <a:pPr marL="274320" indent="-237744">
              <a:spcBef>
                <a:spcPts val="500"/>
              </a:spcBef>
              <a:buClr>
                <a:srgbClr val="6B717A"/>
              </a:buClr>
              <a:buChar char="•"/>
            </a:pPr>
            <a:r>
              <a:rPr sz="1600" b="1" i="0">
                <a:solidFill>
                  <a:srgbClr val="2B2F36"/>
                </a:solidFill>
                <a:latin typeface="Calibri"/>
              </a:rPr>
              <a:t>⇒ circuits equivalent</a:t>
            </a:r>
          </a:p>
        </p:txBody>
      </p:sp>
      <p:sp>
        <p:nvSpPr>
          <p:cNvPr id="52" name="Rounded Rectangle 51"/>
          <p:cNvSpPr/>
          <p:nvPr/>
        </p:nvSpPr>
        <p:spPr>
          <a:xfrm>
            <a:off x="502920"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3" name="TextBox 52"/>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equivalence class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Sequential baseline: the worklist algorithm</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20</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548640" y="1371600"/>
            <a:ext cx="6949440" cy="4572000"/>
          </a:xfrm>
          <a:prstGeom prst="rect">
            <a:avLst/>
          </a:prstGeom>
          <a:noFill/>
        </p:spPr>
        <p:txBody>
          <a:bodyPr wrap="square" lIns="45720" rIns="45720">
            <a:spAutoFit/>
          </a:bodyPr>
          <a:lstStyle/>
          <a:p>
            <a:pPr marL="274320" indent="-237744">
              <a:spcBef>
                <a:spcPts val="800"/>
              </a:spcBef>
              <a:buClr>
                <a:srgbClr val="6B717A"/>
              </a:buClr>
              <a:buChar char="•"/>
            </a:pPr>
            <a:r>
              <a:rPr sz="1900" b="1" i="0">
                <a:solidFill>
                  <a:srgbClr val="2B2F36"/>
                </a:solidFill>
                <a:latin typeface="Calibri"/>
              </a:rPr>
              <a:t>Union-find</a:t>
            </a:r>
            <a:r>
              <a:rPr sz="1900" b="0" i="0">
                <a:solidFill>
                  <a:srgbClr val="2B2F36"/>
                </a:solidFill>
                <a:latin typeface="Calibri"/>
              </a:rPr>
              <a:t> over all terms</a:t>
            </a:r>
          </a:p>
          <a:p>
            <a:pPr marL="274320" indent="-237744">
              <a:spcBef>
                <a:spcPts val="800"/>
              </a:spcBef>
              <a:buClr>
                <a:srgbClr val="6B717A"/>
              </a:buClr>
              <a:buChar char="•"/>
            </a:pPr>
            <a:r>
              <a:rPr sz="1900" b="1" i="0">
                <a:solidFill>
                  <a:srgbClr val="2B2F36"/>
                </a:solidFill>
                <a:latin typeface="Calibri"/>
              </a:rPr>
              <a:t>Signature table</a:t>
            </a:r>
            <a:r>
              <a:rPr sz="1900" b="0" i="0">
                <a:solidFill>
                  <a:srgbClr val="2B2F36"/>
                </a:solidFill>
                <a:latin typeface="Calibri"/>
              </a:rPr>
              <a:t>: hash of (symbol, Find(child₁), …, Find(childₖ)) → representative</a:t>
            </a:r>
          </a:p>
          <a:p>
            <a:pPr marL="274320" indent="-237744">
              <a:spcBef>
                <a:spcPts val="800"/>
              </a:spcBef>
              <a:buClr>
                <a:srgbClr val="6B717A"/>
              </a:buClr>
              <a:buChar char="•"/>
            </a:pPr>
            <a:r>
              <a:rPr sz="1900" b="1" i="0">
                <a:solidFill>
                  <a:srgbClr val="2B2F36"/>
                </a:solidFill>
                <a:latin typeface="Calibri"/>
              </a:rPr>
              <a:t>Parents[class]</a:t>
            </a:r>
            <a:r>
              <a:rPr sz="1900" b="0" i="0">
                <a:solidFill>
                  <a:srgbClr val="2B2F36"/>
                </a:solidFill>
                <a:latin typeface="Calibri"/>
              </a:rPr>
              <a:t>: terms with a child in the class</a:t>
            </a:r>
          </a:p>
          <a:p>
            <a:pPr marL="274320" indent="-237744">
              <a:spcBef>
                <a:spcPts val="800"/>
              </a:spcBef>
              <a:buClr>
                <a:srgbClr val="6B717A"/>
              </a:buClr>
              <a:buChar char="•"/>
            </a:pPr>
            <a:r>
              <a:rPr sz="1900" b="1" i="0">
                <a:solidFill>
                  <a:srgbClr val="2B2F36"/>
                </a:solidFill>
                <a:latin typeface="Calibri"/>
              </a:rPr>
              <a:t>FIFO worklist</a:t>
            </a:r>
            <a:r>
              <a:rPr sz="1900" b="0" i="0">
                <a:solidFill>
                  <a:srgbClr val="2B2F36"/>
                </a:solidFill>
                <a:latin typeface="Calibri"/>
              </a:rPr>
              <a:t> of compound terms, seeded in reverse-topological order</a:t>
            </a:r>
          </a:p>
          <a:p>
            <a:pPr marL="274320" indent="-237744">
              <a:spcBef>
                <a:spcPts val="800"/>
              </a:spcBef>
              <a:buClr>
                <a:srgbClr val="6B717A"/>
              </a:buClr>
              <a:buChar char="•"/>
            </a:pPr>
            <a:r>
              <a:rPr sz="1900" b="1" i="0">
                <a:solidFill>
                  <a:srgbClr val="2B2F36"/>
                </a:solidFill>
                <a:latin typeface="Calibri"/>
              </a:rPr>
              <a:t>Loop</a:t>
            </a:r>
            <a:r>
              <a:rPr sz="1900" b="0" i="0">
                <a:solidFill>
                  <a:srgbClr val="2B2F36"/>
                </a:solidFill>
                <a:latin typeface="Calibri"/>
              </a:rPr>
              <a:t>: pop e; on a signature collision with e′, Union(e, e′); push Parents[loser]</a:t>
            </a:r>
          </a:p>
          <a:p>
            <a:pPr marL="274320" indent="-237744">
              <a:spcBef>
                <a:spcPts val="800"/>
              </a:spcBef>
              <a:buClr>
                <a:srgbClr val="6B717A"/>
              </a:buClr>
              <a:buChar char="•"/>
            </a:pPr>
            <a:r>
              <a:rPr sz="1900" b="0" i="0">
                <a:solidFill>
                  <a:srgbClr val="2B2F36"/>
                </a:solidFill>
                <a:latin typeface="Calibri"/>
              </a:rPr>
              <a:t>one merge at a time; each merge re-examines the parents of the losing class</a:t>
            </a:r>
          </a:p>
        </p:txBody>
      </p:sp>
      <p:sp>
        <p:nvSpPr>
          <p:cNvPr id="7" name="Rounded Rectangle 6"/>
          <p:cNvSpPr/>
          <p:nvPr/>
        </p:nvSpPr>
        <p:spPr>
          <a:xfrm>
            <a:off x="7863840" y="1463040"/>
            <a:ext cx="3840480" cy="310896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8" name="TextBox 7"/>
          <p:cNvSpPr txBox="1"/>
          <p:nvPr/>
        </p:nvSpPr>
        <p:spPr>
          <a:xfrm>
            <a:off x="8046720" y="1554480"/>
            <a:ext cx="3566160" cy="365760"/>
          </a:xfrm>
          <a:prstGeom prst="rect">
            <a:avLst/>
          </a:prstGeom>
          <a:noFill/>
        </p:spPr>
        <p:txBody>
          <a:bodyPr wrap="square" anchor="t" lIns="45720" rIns="45720" tIns="27432" bIns="27432">
            <a:spAutoFit/>
          </a:bodyPr>
          <a:lstStyle/>
          <a:p>
            <a:pPr algn="l"/>
            <a:r>
              <a:rPr sz="1500" b="1" i="0">
                <a:solidFill>
                  <a:srgbClr val="1F2A44"/>
                </a:solidFill>
                <a:latin typeface="Calibri"/>
              </a:rPr>
              <a:t>Sequential variants we tried</a:t>
            </a:r>
          </a:p>
        </p:txBody>
      </p:sp>
      <p:sp>
        <p:nvSpPr>
          <p:cNvPr id="9" name="TextBox 8"/>
          <p:cNvSpPr txBox="1"/>
          <p:nvPr/>
        </p:nvSpPr>
        <p:spPr>
          <a:xfrm>
            <a:off x="7909560" y="1965960"/>
            <a:ext cx="3749039" cy="3657600"/>
          </a:xfrm>
          <a:prstGeom prst="rect">
            <a:avLst/>
          </a:prstGeom>
          <a:noFill/>
        </p:spPr>
        <p:txBody>
          <a:bodyPr wrap="square" lIns="45720" rIns="45720">
            <a:spAutoFit/>
          </a:bodyPr>
          <a:lstStyle/>
          <a:p>
            <a:pPr marL="274320" indent="-237744">
              <a:spcBef>
                <a:spcPts val="800"/>
              </a:spcBef>
              <a:buClr>
                <a:srgbClr val="6B717A"/>
              </a:buClr>
              <a:buChar char="•"/>
            </a:pPr>
            <a:r>
              <a:rPr sz="1500" b="1" i="0">
                <a:solidFill>
                  <a:srgbClr val="2B2F36"/>
                </a:solidFill>
                <a:latin typeface="Calibri"/>
              </a:rPr>
              <a:t>Worklist</a:t>
            </a:r>
            <a:r>
              <a:rPr sz="1500" b="0" i="0">
                <a:solidFill>
                  <a:srgbClr val="2B2F36"/>
                </a:solidFill>
                <a:latin typeface="Calibri"/>
              </a:rPr>
              <a:t> (Nieuwenhuis &amp; Oliveras): fastest, used as baseline</a:t>
            </a:r>
          </a:p>
          <a:p>
            <a:pPr marL="274320" indent="-237744">
              <a:spcBef>
                <a:spcPts val="800"/>
              </a:spcBef>
              <a:buClr>
                <a:srgbClr val="6B717A"/>
              </a:buClr>
              <a:buChar char="•"/>
            </a:pPr>
            <a:r>
              <a:rPr sz="1500" b="1" i="0">
                <a:solidFill>
                  <a:srgbClr val="2B2F36"/>
                </a:solidFill>
                <a:latin typeface="Calibri"/>
              </a:rPr>
              <a:t>Topological-sort fixpoint</a:t>
            </a:r>
            <a:r>
              <a:rPr sz="1500" b="0" i="0">
                <a:solidFill>
                  <a:srgbClr val="2B2F36"/>
                </a:solidFill>
                <a:latin typeface="Calibri"/>
              </a:rPr>
              <a:t>: repeated full passes</a:t>
            </a:r>
          </a:p>
          <a:p>
            <a:pPr marL="274320" indent="-237744">
              <a:spcBef>
                <a:spcPts val="800"/>
              </a:spcBef>
              <a:buClr>
                <a:srgbClr val="6B717A"/>
              </a:buClr>
              <a:buChar char="•"/>
            </a:pPr>
            <a:r>
              <a:rPr sz="1500" b="1" i="0">
                <a:solidFill>
                  <a:srgbClr val="2B2F36"/>
                </a:solidFill>
                <a:latin typeface="Calibri"/>
              </a:rPr>
              <a:t>Downey–Sethi–Tarjan</a:t>
            </a:r>
            <a:r>
              <a:rPr sz="1500" b="0" i="0">
                <a:solidFill>
                  <a:srgbClr val="2B2F36"/>
                </a:solidFill>
                <a:latin typeface="Calibri"/>
              </a:rPr>
              <a:t>: O(n log n) work, hashtable instead of trie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Observation: what does a merge wait on?</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21</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6405372" y="2203704"/>
            <a:ext cx="484632" cy="2706624"/>
          </a:xfrm>
          <a:prstGeom prst="line">
            <a:avLst/>
          </a:prstGeom>
          <a:ln w="15875">
            <a:solidFill>
              <a:srgbClr val="8A8F98"/>
            </a:solidFill>
          </a:ln>
          <a:effectLst/>
        </p:spPr>
      </p:cxnSp>
      <p:cxnSp>
        <p:nvCxnSpPr>
          <p:cNvPr id="24" name="Connector 23"/>
          <p:cNvCxnSpPr/>
          <p:nvPr/>
        </p:nvCxnSpPr>
        <p:spPr>
          <a:xfrm flipH="1">
            <a:off x="3323844" y="2203704"/>
            <a:ext cx="2240280" cy="749807"/>
          </a:xfrm>
          <a:prstGeom prst="line">
            <a:avLst/>
          </a:prstGeom>
          <a:ln w="31750">
            <a:solidFill>
              <a:srgbClr val="C8501E"/>
            </a:solidFill>
            <a:tailEnd type="triangle" w="med" len="med"/>
          </a:ln>
          <a:effectLst/>
        </p:spPr>
      </p:cxnSp>
      <p:cxnSp>
        <p:nvCxnSpPr>
          <p:cNvPr id="25" name="Connector 24"/>
          <p:cNvCxnSpPr/>
          <p:nvPr/>
        </p:nvCxnSpPr>
        <p:spPr>
          <a:xfrm>
            <a:off x="5564124" y="2203704"/>
            <a:ext cx="2194559" cy="749807"/>
          </a:xfrm>
          <a:prstGeom prst="line">
            <a:avLst/>
          </a:prstGeom>
          <a:ln w="31750">
            <a:solidFill>
              <a:srgbClr val="C8501E"/>
            </a:solidFill>
            <a:tailEnd type="triangle" w="med" len="med"/>
          </a:ln>
          <a:effectLst/>
        </p:spPr>
      </p:cxnSp>
      <p:cxnSp>
        <p:nvCxnSpPr>
          <p:cNvPr id="26" name="Connector 25"/>
          <p:cNvCxnSpPr/>
          <p:nvPr/>
        </p:nvCxnSpPr>
        <p:spPr>
          <a:xfrm flipH="1">
            <a:off x="4421124" y="2203704"/>
            <a:ext cx="2468880" cy="749807"/>
          </a:xfrm>
          <a:prstGeom prst="line">
            <a:avLst/>
          </a:prstGeom>
          <a:ln w="31750">
            <a:solidFill>
              <a:srgbClr val="C8501E"/>
            </a:solidFill>
            <a:tailEnd type="triangle" w="med" len="med"/>
          </a:ln>
          <a:effectLst/>
        </p:spPr>
      </p:cxnSp>
      <p:cxnSp>
        <p:nvCxnSpPr>
          <p:cNvPr id="27" name="Connector 26"/>
          <p:cNvCxnSpPr/>
          <p:nvPr/>
        </p:nvCxnSpPr>
        <p:spPr>
          <a:xfrm>
            <a:off x="6890004" y="2203704"/>
            <a:ext cx="1965959" cy="749807"/>
          </a:xfrm>
          <a:prstGeom prst="line">
            <a:avLst/>
          </a:prstGeom>
          <a:ln w="31750">
            <a:solidFill>
              <a:srgbClr val="C8501E"/>
            </a:solidFill>
            <a:tailEnd type="triangle" w="med" len="med"/>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600" b="1" i="0">
                <a:solidFill>
                  <a:srgbClr val="FFFFFF"/>
                </a:solidFill>
                <a:latin typeface="Calibri"/>
              </a:rPr>
              <a:t>Data dependences are parent–child edges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Observation: unrelated merges do not wait</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TextBox 49"/>
          <p:cNvSpPr txBox="1"/>
          <p:nvPr/>
        </p:nvSpPr>
        <p:spPr>
          <a:xfrm>
            <a:off x="5678423" y="3136391"/>
            <a:ext cx="822960" cy="566928"/>
          </a:xfrm>
          <a:prstGeom prst="rect">
            <a:avLst/>
          </a:prstGeom>
          <a:noFill/>
        </p:spPr>
        <p:txBody>
          <a:bodyPr wrap="square" anchor="ctr" lIns="45720" rIns="45720" tIns="27432" bIns="27432">
            <a:spAutoFit/>
          </a:bodyPr>
          <a:lstStyle/>
          <a:p>
            <a:pPr algn="ctr"/>
            <a:r>
              <a:rPr sz="4000" b="1" i="0">
                <a:solidFill>
                  <a:srgbClr val="C8501E"/>
                </a:solidFill>
                <a:latin typeface="Calibri"/>
              </a:rPr>
              <a:t>∥</a:t>
            </a:r>
          </a:p>
        </p:txBody>
      </p:sp>
      <p:sp>
        <p:nvSpPr>
          <p:cNvPr id="51" name="TextBox 50"/>
          <p:cNvSpPr txBox="1"/>
          <p:nvPr/>
        </p:nvSpPr>
        <p:spPr>
          <a:xfrm>
            <a:off x="5404103" y="3739896"/>
            <a:ext cx="1371600" cy="274320"/>
          </a:xfrm>
          <a:prstGeom prst="rect">
            <a:avLst/>
          </a:prstGeom>
          <a:noFill/>
        </p:spPr>
        <p:txBody>
          <a:bodyPr wrap="square" anchor="t" lIns="45720" rIns="45720" tIns="27432" bIns="27432">
            <a:spAutoFit/>
          </a:bodyPr>
          <a:lstStyle/>
          <a:p>
            <a:pPr algn="ctr"/>
            <a:r>
              <a:rPr sz="1300" b="1" i="0">
                <a:solidFill>
                  <a:srgbClr val="C8501E"/>
                </a:solidFill>
                <a:latin typeface="Calibri"/>
              </a:rPr>
              <a:t>independent</a:t>
            </a:r>
          </a:p>
        </p:txBody>
      </p:sp>
      <p:sp>
        <p:nvSpPr>
          <p:cNvPr id="52" name="Rounded Rectangle 51"/>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600" b="1" i="0">
                <a:solidFill>
                  <a:srgbClr val="FFFFFF"/>
                </a:solidFill>
                <a:latin typeface="Calibri"/>
              </a:rPr>
              <a:t>Unrelated merges run in parallel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depth and width</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17219"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16835"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16451"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1606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15683"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28699"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TextBox 11"/>
          <p:cNvSpPr txBox="1"/>
          <p:nvPr/>
        </p:nvSpPr>
        <p:spPr>
          <a:xfrm>
            <a:off x="982979" y="2514599"/>
            <a:ext cx="2505456" cy="292608"/>
          </a:xfrm>
          <a:prstGeom prst="rect">
            <a:avLst/>
          </a:prstGeom>
          <a:noFill/>
        </p:spPr>
        <p:txBody>
          <a:bodyPr wrap="square" anchor="t" lIns="45720" rIns="45720" tIns="27432" bIns="27432">
            <a:spAutoFit/>
          </a:bodyPr>
          <a:lstStyle/>
          <a:p>
            <a:pPr algn="l"/>
            <a:r>
              <a:rPr sz="1200" b="1" i="0">
                <a:solidFill>
                  <a:srgbClr val="2E6FB0"/>
                </a:solidFill>
                <a:latin typeface="Calibri"/>
              </a:rPr>
              <a:t>round 1</a:t>
            </a:r>
          </a:p>
        </p:txBody>
      </p:sp>
      <p:sp>
        <p:nvSpPr>
          <p:cNvPr id="13" name="Rounded Rectangle 12"/>
          <p:cNvSpPr/>
          <p:nvPr/>
        </p:nvSpPr>
        <p:spPr>
          <a:xfrm>
            <a:off x="5463539"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4" name="TextBox 13"/>
          <p:cNvSpPr txBox="1"/>
          <p:nvPr/>
        </p:nvSpPr>
        <p:spPr>
          <a:xfrm>
            <a:off x="5417819" y="2514599"/>
            <a:ext cx="2505456" cy="292608"/>
          </a:xfrm>
          <a:prstGeom prst="rect">
            <a:avLst/>
          </a:prstGeom>
          <a:noFill/>
        </p:spPr>
        <p:txBody>
          <a:bodyPr wrap="square" anchor="t" lIns="45720" rIns="45720" tIns="27432" bIns="27432">
            <a:spAutoFit/>
          </a:bodyPr>
          <a:lstStyle/>
          <a:p>
            <a:pPr algn="l"/>
            <a:r>
              <a:rPr sz="1200" b="1" i="0">
                <a:solidFill>
                  <a:srgbClr val="3A9A5B"/>
                </a:solidFill>
                <a:latin typeface="Calibri"/>
              </a:rPr>
              <a:t>round 1</a:t>
            </a:r>
          </a:p>
        </p:txBody>
      </p:sp>
      <p:sp>
        <p:nvSpPr>
          <p:cNvPr id="15" name="Rounded Rectangle 14"/>
          <p:cNvSpPr/>
          <p:nvPr/>
        </p:nvSpPr>
        <p:spPr>
          <a:xfrm>
            <a:off x="2930651"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sp>
        <p:nvSpPr>
          <p:cNvPr id="16" name="TextBox 15"/>
          <p:cNvSpPr txBox="1"/>
          <p:nvPr/>
        </p:nvSpPr>
        <p:spPr>
          <a:xfrm>
            <a:off x="2884932" y="1188720"/>
            <a:ext cx="3410712" cy="292608"/>
          </a:xfrm>
          <a:prstGeom prst="rect">
            <a:avLst/>
          </a:prstGeom>
          <a:noFill/>
        </p:spPr>
        <p:txBody>
          <a:bodyPr wrap="square" anchor="t" lIns="45720" rIns="45720" tIns="27432" bIns="27432">
            <a:spAutoFit/>
          </a:bodyPr>
          <a:lstStyle/>
          <a:p>
            <a:pPr algn="l"/>
            <a:r>
              <a:rPr sz="1200" b="1" i="0">
                <a:solidFill>
                  <a:srgbClr val="C8501E"/>
                </a:solidFill>
                <a:latin typeface="Calibri"/>
              </a:rPr>
              <a:t>round 2</a:t>
            </a:r>
          </a:p>
        </p:txBody>
      </p:sp>
      <p:cxnSp>
        <p:nvCxnSpPr>
          <p:cNvPr id="17" name="Connector 16"/>
          <p:cNvCxnSpPr/>
          <p:nvPr/>
        </p:nvCxnSpPr>
        <p:spPr>
          <a:xfrm flipH="1">
            <a:off x="1010411" y="3803903"/>
            <a:ext cx="539496" cy="1106425"/>
          </a:xfrm>
          <a:prstGeom prst="line">
            <a:avLst/>
          </a:prstGeom>
          <a:ln w="15875">
            <a:solidFill>
              <a:srgbClr val="8A8F98"/>
            </a:solidFill>
          </a:ln>
          <a:effectLst/>
        </p:spPr>
      </p:cxnSp>
      <p:cxnSp>
        <p:nvCxnSpPr>
          <p:cNvPr id="18" name="Connector 17"/>
          <p:cNvCxnSpPr/>
          <p:nvPr/>
        </p:nvCxnSpPr>
        <p:spPr>
          <a:xfrm>
            <a:off x="1549907" y="3803903"/>
            <a:ext cx="960120" cy="1106425"/>
          </a:xfrm>
          <a:prstGeom prst="line">
            <a:avLst/>
          </a:prstGeom>
          <a:ln w="15875">
            <a:solidFill>
              <a:srgbClr val="8A8F98"/>
            </a:solidFill>
          </a:ln>
          <a:effectLst/>
        </p:spPr>
      </p:cxnSp>
      <p:cxnSp>
        <p:nvCxnSpPr>
          <p:cNvPr id="19" name="Connector 18"/>
          <p:cNvCxnSpPr/>
          <p:nvPr/>
        </p:nvCxnSpPr>
        <p:spPr>
          <a:xfrm flipH="1">
            <a:off x="1632203" y="3803903"/>
            <a:ext cx="1014984" cy="1106425"/>
          </a:xfrm>
          <a:prstGeom prst="line">
            <a:avLst/>
          </a:prstGeom>
          <a:ln w="15875">
            <a:solidFill>
              <a:srgbClr val="8A8F98"/>
            </a:solidFill>
          </a:ln>
          <a:effectLst/>
        </p:spPr>
      </p:cxnSp>
      <p:cxnSp>
        <p:nvCxnSpPr>
          <p:cNvPr id="20" name="Connector 19"/>
          <p:cNvCxnSpPr/>
          <p:nvPr/>
        </p:nvCxnSpPr>
        <p:spPr>
          <a:xfrm>
            <a:off x="2647187" y="3803903"/>
            <a:ext cx="484632" cy="1106425"/>
          </a:xfrm>
          <a:prstGeom prst="line">
            <a:avLst/>
          </a:prstGeom>
          <a:ln w="15875">
            <a:solidFill>
              <a:srgbClr val="8A8F98"/>
            </a:solidFill>
          </a:ln>
          <a:effectLst/>
        </p:spPr>
      </p:cxnSp>
      <p:cxnSp>
        <p:nvCxnSpPr>
          <p:cNvPr id="21" name="Connector 20"/>
          <p:cNvCxnSpPr/>
          <p:nvPr/>
        </p:nvCxnSpPr>
        <p:spPr>
          <a:xfrm flipH="1">
            <a:off x="5509259" y="3803903"/>
            <a:ext cx="475488" cy="1106425"/>
          </a:xfrm>
          <a:prstGeom prst="line">
            <a:avLst/>
          </a:prstGeom>
          <a:ln w="15875">
            <a:solidFill>
              <a:srgbClr val="8A8F98"/>
            </a:solidFill>
          </a:ln>
          <a:effectLst/>
        </p:spPr>
      </p:cxnSp>
      <p:cxnSp>
        <p:nvCxnSpPr>
          <p:cNvPr id="22" name="Connector 21"/>
          <p:cNvCxnSpPr/>
          <p:nvPr/>
        </p:nvCxnSpPr>
        <p:spPr>
          <a:xfrm>
            <a:off x="5984747" y="3803903"/>
            <a:ext cx="1024128" cy="1106425"/>
          </a:xfrm>
          <a:prstGeom prst="line">
            <a:avLst/>
          </a:prstGeom>
          <a:ln w="15875">
            <a:solidFill>
              <a:srgbClr val="8A8F98"/>
            </a:solidFill>
          </a:ln>
          <a:effectLst/>
        </p:spPr>
      </p:cxnSp>
      <p:cxnSp>
        <p:nvCxnSpPr>
          <p:cNvPr id="23" name="Connector 22"/>
          <p:cNvCxnSpPr/>
          <p:nvPr/>
        </p:nvCxnSpPr>
        <p:spPr>
          <a:xfrm flipH="1">
            <a:off x="6131051" y="3803903"/>
            <a:ext cx="950976" cy="1106425"/>
          </a:xfrm>
          <a:prstGeom prst="line">
            <a:avLst/>
          </a:prstGeom>
          <a:ln w="15875">
            <a:solidFill>
              <a:srgbClr val="8A8F98"/>
            </a:solidFill>
          </a:ln>
          <a:effectLst/>
        </p:spPr>
      </p:cxnSp>
      <p:cxnSp>
        <p:nvCxnSpPr>
          <p:cNvPr id="24" name="Connector 23"/>
          <p:cNvCxnSpPr/>
          <p:nvPr/>
        </p:nvCxnSpPr>
        <p:spPr>
          <a:xfrm>
            <a:off x="7082027" y="3803903"/>
            <a:ext cx="548640" cy="1106425"/>
          </a:xfrm>
          <a:prstGeom prst="line">
            <a:avLst/>
          </a:prstGeom>
          <a:ln w="15875">
            <a:solidFill>
              <a:srgbClr val="8A8F98"/>
            </a:solidFill>
          </a:ln>
          <a:effectLst/>
        </p:spPr>
      </p:cxnSp>
      <p:cxnSp>
        <p:nvCxnSpPr>
          <p:cNvPr id="25" name="Connector 24"/>
          <p:cNvCxnSpPr/>
          <p:nvPr/>
        </p:nvCxnSpPr>
        <p:spPr>
          <a:xfrm>
            <a:off x="3790187" y="2203704"/>
            <a:ext cx="219457" cy="2706624"/>
          </a:xfrm>
          <a:prstGeom prst="line">
            <a:avLst/>
          </a:prstGeom>
          <a:ln w="15875">
            <a:solidFill>
              <a:srgbClr val="8A8F98"/>
            </a:solidFill>
          </a:ln>
          <a:effectLst/>
        </p:spPr>
      </p:cxnSp>
      <p:cxnSp>
        <p:nvCxnSpPr>
          <p:cNvPr id="26" name="Connector 25"/>
          <p:cNvCxnSpPr/>
          <p:nvPr/>
        </p:nvCxnSpPr>
        <p:spPr>
          <a:xfrm flipH="1">
            <a:off x="1549907" y="2203704"/>
            <a:ext cx="2240280" cy="749807"/>
          </a:xfrm>
          <a:prstGeom prst="line">
            <a:avLst/>
          </a:prstGeom>
          <a:ln w="15875">
            <a:solidFill>
              <a:srgbClr val="8A8F98"/>
            </a:solidFill>
          </a:ln>
          <a:effectLst/>
        </p:spPr>
      </p:cxnSp>
      <p:cxnSp>
        <p:nvCxnSpPr>
          <p:cNvPr id="27" name="Connector 26"/>
          <p:cNvCxnSpPr/>
          <p:nvPr/>
        </p:nvCxnSpPr>
        <p:spPr>
          <a:xfrm>
            <a:off x="3790187" y="2203704"/>
            <a:ext cx="2194560" cy="749807"/>
          </a:xfrm>
          <a:prstGeom prst="line">
            <a:avLst/>
          </a:prstGeom>
          <a:ln w="15875">
            <a:solidFill>
              <a:srgbClr val="8A8F98"/>
            </a:solidFill>
          </a:ln>
          <a:effectLst/>
        </p:spPr>
      </p:cxnSp>
      <p:cxnSp>
        <p:nvCxnSpPr>
          <p:cNvPr id="28" name="Connector 27"/>
          <p:cNvCxnSpPr/>
          <p:nvPr/>
        </p:nvCxnSpPr>
        <p:spPr>
          <a:xfrm flipH="1">
            <a:off x="4631436" y="2203704"/>
            <a:ext cx="484632" cy="2706624"/>
          </a:xfrm>
          <a:prstGeom prst="line">
            <a:avLst/>
          </a:prstGeom>
          <a:ln w="15875">
            <a:solidFill>
              <a:srgbClr val="8A8F98"/>
            </a:solidFill>
          </a:ln>
          <a:effectLst/>
        </p:spPr>
      </p:cxnSp>
      <p:cxnSp>
        <p:nvCxnSpPr>
          <p:cNvPr id="29" name="Connector 28"/>
          <p:cNvCxnSpPr/>
          <p:nvPr/>
        </p:nvCxnSpPr>
        <p:spPr>
          <a:xfrm flipH="1">
            <a:off x="2647187" y="2203704"/>
            <a:ext cx="2468881" cy="749807"/>
          </a:xfrm>
          <a:prstGeom prst="line">
            <a:avLst/>
          </a:prstGeom>
          <a:ln w="15875">
            <a:solidFill>
              <a:srgbClr val="8A8F98"/>
            </a:solidFill>
          </a:ln>
          <a:effectLst/>
        </p:spPr>
      </p:cxnSp>
      <p:cxnSp>
        <p:nvCxnSpPr>
          <p:cNvPr id="30" name="Connector 29"/>
          <p:cNvCxnSpPr/>
          <p:nvPr/>
        </p:nvCxnSpPr>
        <p:spPr>
          <a:xfrm>
            <a:off x="5116068" y="2203704"/>
            <a:ext cx="1965959" cy="749807"/>
          </a:xfrm>
          <a:prstGeom prst="line">
            <a:avLst/>
          </a:prstGeom>
          <a:ln w="15875">
            <a:solidFill>
              <a:srgbClr val="8A8F98"/>
            </a:solidFill>
          </a:ln>
          <a:effectLst/>
        </p:spPr>
      </p:cxnSp>
      <p:sp>
        <p:nvSpPr>
          <p:cNvPr id="31" name="Rounded Rectangle 30"/>
          <p:cNvSpPr/>
          <p:nvPr/>
        </p:nvSpPr>
        <p:spPr>
          <a:xfrm>
            <a:off x="736091"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2" name="Rounded Rectangle 31"/>
          <p:cNvSpPr/>
          <p:nvPr/>
        </p:nvSpPr>
        <p:spPr>
          <a:xfrm>
            <a:off x="1357883"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3" name="Rounded Rectangle 32"/>
          <p:cNvSpPr/>
          <p:nvPr/>
        </p:nvSpPr>
        <p:spPr>
          <a:xfrm>
            <a:off x="223570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4" name="Rounded Rectangle 33"/>
          <p:cNvSpPr/>
          <p:nvPr/>
        </p:nvSpPr>
        <p:spPr>
          <a:xfrm>
            <a:off x="285749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5" name="Rounded Rectangle 34"/>
          <p:cNvSpPr/>
          <p:nvPr/>
        </p:nvSpPr>
        <p:spPr>
          <a:xfrm>
            <a:off x="373532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6" name="Rounded Rectangle 35"/>
          <p:cNvSpPr/>
          <p:nvPr/>
        </p:nvSpPr>
        <p:spPr>
          <a:xfrm>
            <a:off x="435711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7" name="Rounded Rectangle 36"/>
          <p:cNvSpPr/>
          <p:nvPr/>
        </p:nvSpPr>
        <p:spPr>
          <a:xfrm>
            <a:off x="523494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8" name="Rounded Rectangle 37"/>
          <p:cNvSpPr/>
          <p:nvPr/>
        </p:nvSpPr>
        <p:spPr>
          <a:xfrm>
            <a:off x="5856731"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9" name="Rounded Rectangle 38"/>
          <p:cNvSpPr/>
          <p:nvPr/>
        </p:nvSpPr>
        <p:spPr>
          <a:xfrm>
            <a:off x="6734555"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40" name="Rounded Rectangle 39"/>
          <p:cNvSpPr/>
          <p:nvPr/>
        </p:nvSpPr>
        <p:spPr>
          <a:xfrm>
            <a:off x="735634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41" name="Rounded Rectangle 40"/>
          <p:cNvSpPr/>
          <p:nvPr/>
        </p:nvSpPr>
        <p:spPr>
          <a:xfrm>
            <a:off x="1147571"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2" name="TextBox 41"/>
          <p:cNvSpPr txBox="1"/>
          <p:nvPr/>
        </p:nvSpPr>
        <p:spPr>
          <a:xfrm>
            <a:off x="113842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3" name="Rounded Rectangle 42"/>
          <p:cNvSpPr/>
          <p:nvPr/>
        </p:nvSpPr>
        <p:spPr>
          <a:xfrm>
            <a:off x="2244851"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4" name="TextBox 43"/>
          <p:cNvSpPr txBox="1"/>
          <p:nvPr/>
        </p:nvSpPr>
        <p:spPr>
          <a:xfrm>
            <a:off x="223570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5" name="Rounded Rectangle 44"/>
          <p:cNvSpPr/>
          <p:nvPr/>
        </p:nvSpPr>
        <p:spPr>
          <a:xfrm>
            <a:off x="5582411"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6" name="TextBox 45"/>
          <p:cNvSpPr txBox="1"/>
          <p:nvPr/>
        </p:nvSpPr>
        <p:spPr>
          <a:xfrm>
            <a:off x="557326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7" name="Rounded Rectangle 46"/>
          <p:cNvSpPr/>
          <p:nvPr/>
        </p:nvSpPr>
        <p:spPr>
          <a:xfrm>
            <a:off x="6679691"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8" name="TextBox 47"/>
          <p:cNvSpPr txBox="1"/>
          <p:nvPr/>
        </p:nvSpPr>
        <p:spPr>
          <a:xfrm>
            <a:off x="667054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9" name="Rounded Rectangle 48"/>
          <p:cNvSpPr/>
          <p:nvPr/>
        </p:nvSpPr>
        <p:spPr>
          <a:xfrm>
            <a:off x="3387851"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50" name="TextBox 49"/>
          <p:cNvSpPr txBox="1"/>
          <p:nvPr/>
        </p:nvSpPr>
        <p:spPr>
          <a:xfrm>
            <a:off x="3058667"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51" name="Rounded Rectangle 50"/>
          <p:cNvSpPr/>
          <p:nvPr/>
        </p:nvSpPr>
        <p:spPr>
          <a:xfrm>
            <a:off x="4713731"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52" name="TextBox 51"/>
          <p:cNvSpPr txBox="1"/>
          <p:nvPr/>
        </p:nvSpPr>
        <p:spPr>
          <a:xfrm>
            <a:off x="5536692"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3" name="TextBox 52"/>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Two quantities</a:t>
            </a:r>
          </a:p>
        </p:txBody>
      </p:sp>
      <p:sp>
        <p:nvSpPr>
          <p:cNvPr id="54" name="TextBox 53"/>
          <p:cNvSpPr txBox="1"/>
          <p:nvPr/>
        </p:nvSpPr>
        <p:spPr>
          <a:xfrm>
            <a:off x="8183879" y="1783080"/>
            <a:ext cx="3703320" cy="4754880"/>
          </a:xfrm>
          <a:prstGeom prst="rect">
            <a:avLst/>
          </a:prstGeom>
          <a:noFill/>
        </p:spPr>
        <p:txBody>
          <a:bodyPr wrap="square" lIns="45720" rIns="45720">
            <a:spAutoFit/>
          </a:bodyPr>
          <a:lstStyle/>
          <a:p>
            <a:pPr>
              <a:spcBef>
                <a:spcPts val="1100"/>
              </a:spcBef>
              <a:spcAft>
                <a:spcPts val="200"/>
              </a:spcAft>
            </a:pPr>
            <a:r>
              <a:rPr sz="1600" b="1" i="0">
                <a:solidFill>
                  <a:srgbClr val="1F2A44"/>
                </a:solidFill>
                <a:latin typeface="Calibri"/>
              </a:rPr>
              <a:t>Congruence depth</a:t>
            </a:r>
          </a:p>
          <a:p>
            <a:pPr marL="274320" indent="-237744">
              <a:spcBef>
                <a:spcPts val="500"/>
              </a:spcBef>
              <a:buClr>
                <a:srgbClr val="6B717A"/>
              </a:buClr>
              <a:buChar char="•"/>
            </a:pPr>
            <a:r>
              <a:rPr sz="1600" b="0" i="0">
                <a:solidFill>
                  <a:srgbClr val="2B2F36"/>
                </a:solidFill>
                <a:latin typeface="Calibri"/>
              </a:rPr>
              <a:t>rounds until fixpoint  (here 2)</a:t>
            </a:r>
          </a:p>
          <a:p>
            <a:pPr>
              <a:spcBef>
                <a:spcPts val="1100"/>
              </a:spcBef>
              <a:spcAft>
                <a:spcPts val="200"/>
              </a:spcAft>
            </a:pPr>
            <a:r>
              <a:rPr sz="1600" b="1" i="0">
                <a:solidFill>
                  <a:srgbClr val="1F2A44"/>
                </a:solidFill>
                <a:latin typeface="Calibri"/>
              </a:rPr>
              <a:t>Congruence width</a:t>
            </a:r>
          </a:p>
          <a:p>
            <a:pPr marL="274320" indent="-237744">
              <a:spcBef>
                <a:spcPts val="500"/>
              </a:spcBef>
              <a:buClr>
                <a:srgbClr val="6B717A"/>
              </a:buClr>
              <a:buChar char="•"/>
            </a:pPr>
            <a:r>
              <a:rPr sz="1600" b="0" i="0">
                <a:solidFill>
                  <a:srgbClr val="2B2F36"/>
                </a:solidFill>
                <a:latin typeface="Calibri"/>
              </a:rPr>
              <a:t>merges available in one round  (here 2)</a:t>
            </a:r>
          </a:p>
          <a:p>
            <a:pPr>
              <a:spcBef>
                <a:spcPts val="1100"/>
              </a:spcBef>
              <a:spcAft>
                <a:spcPts val="200"/>
              </a:spcAft>
            </a:pPr>
            <a:r>
              <a:rPr sz="1600" b="1" i="0">
                <a:solidFill>
                  <a:srgbClr val="1F2A44"/>
                </a:solidFill>
                <a:latin typeface="Calibri"/>
              </a:rPr>
              <a:t>On real benchmarks</a:t>
            </a:r>
          </a:p>
          <a:p>
            <a:pPr marL="274320" indent="-237744">
              <a:spcBef>
                <a:spcPts val="500"/>
              </a:spcBef>
              <a:buClr>
                <a:srgbClr val="6B717A"/>
              </a:buClr>
              <a:buChar char="•"/>
            </a:pPr>
            <a:r>
              <a:rPr sz="1600" b="0" i="0">
                <a:solidFill>
                  <a:srgbClr val="2B2F36"/>
                </a:solidFill>
                <a:latin typeface="Calibri"/>
              </a:rPr>
              <a:t>width reaches thousands to millions</a:t>
            </a:r>
          </a:p>
          <a:p>
            <a:pPr marL="274320" indent="-237744">
              <a:spcBef>
                <a:spcPts val="500"/>
              </a:spcBef>
              <a:buClr>
                <a:srgbClr val="6B717A"/>
              </a:buClr>
              <a:buChar char="•"/>
            </a:pPr>
            <a:r>
              <a:rPr sz="1600" b="0" i="0">
                <a:solidFill>
                  <a:srgbClr val="2B2F36"/>
                </a:solidFill>
                <a:latin typeface="Calibri"/>
              </a:rPr>
              <a:t>depth stays small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The structure induces a bulk-synchronous schedule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1051560" y="1325880"/>
            <a:ext cx="2743200" cy="457200"/>
          </a:xfrm>
          <a:prstGeom prst="rect">
            <a:avLst/>
          </a:prstGeom>
          <a:noFill/>
        </p:spPr>
        <p:txBody>
          <a:bodyPr wrap="square" anchor="t" lIns="45720" rIns="45720" tIns="27432" bIns="27432">
            <a:spAutoFit/>
          </a:bodyPr>
          <a:lstStyle/>
          <a:p>
            <a:pPr algn="ctr"/>
            <a:r>
              <a:rPr sz="2200" b="1" i="0">
                <a:solidFill>
                  <a:srgbClr val="1F2A44"/>
                </a:solidFill>
                <a:latin typeface="Calibri"/>
              </a:rPr>
              <a:t>Round 0</a:t>
            </a:r>
          </a:p>
        </p:txBody>
      </p:sp>
      <p:sp>
        <p:nvSpPr>
          <p:cNvPr id="7" name="TextBox 6"/>
          <p:cNvSpPr txBox="1"/>
          <p:nvPr/>
        </p:nvSpPr>
        <p:spPr>
          <a:xfrm>
            <a:off x="1051560" y="1737360"/>
            <a:ext cx="2743200" cy="320040"/>
          </a:xfrm>
          <a:prstGeom prst="rect">
            <a:avLst/>
          </a:prstGeom>
          <a:noFill/>
        </p:spPr>
        <p:txBody>
          <a:bodyPr wrap="square" anchor="t" lIns="45720" rIns="45720" tIns="27432" bIns="27432">
            <a:spAutoFit/>
          </a:bodyPr>
          <a:lstStyle/>
          <a:p>
            <a:pPr algn="ctr"/>
            <a:r>
              <a:rPr sz="1400" b="0" i="0">
                <a:solidFill>
                  <a:srgbClr val="6B717A"/>
                </a:solidFill>
                <a:latin typeface="Calibri"/>
              </a:rPr>
              <a:t>input equalities</a:t>
            </a:r>
          </a:p>
        </p:txBody>
      </p:sp>
      <p:sp>
        <p:nvSpPr>
          <p:cNvPr id="8" name="Rounded Rectangle 7"/>
          <p:cNvSpPr/>
          <p:nvPr/>
        </p:nvSpPr>
        <p:spPr>
          <a:xfrm>
            <a:off x="1463039" y="2176272"/>
            <a:ext cx="1920240" cy="475488"/>
          </a:xfrm>
          <a:prstGeom prst="roundRect">
            <a:avLst>
              <a:gd name="adj" fmla="val 15000"/>
            </a:avLst>
          </a:prstGeom>
          <a:solidFill>
            <a:srgbClr val="EEF0F3"/>
          </a:solidFill>
          <a:ln w="19050">
            <a:solidFill>
              <a:srgbClr val="9AA0A8"/>
            </a:solidFill>
          </a:ln>
          <a:effectLst/>
        </p:spPr>
        <p:txBody>
          <a:bodyPr rtlCol="0" anchor="ctr" lIns="54864" rIns="54864" tIns="27432" bIns="27432" wrap="square"/>
          <a:lstStyle/>
          <a:p>
            <a:pPr algn="ctr"/>
            <a:r>
              <a:rPr sz="1700" b="1" i="0">
                <a:solidFill>
                  <a:srgbClr val="2B2F36"/>
                </a:solidFill>
                <a:latin typeface="Calibri"/>
              </a:rPr>
              <a:t>r ≡ r′</a:t>
            </a:r>
          </a:p>
        </p:txBody>
      </p:sp>
      <p:sp>
        <p:nvSpPr>
          <p:cNvPr id="9" name="Rounded Rectangle 8"/>
          <p:cNvSpPr/>
          <p:nvPr/>
        </p:nvSpPr>
        <p:spPr>
          <a:xfrm>
            <a:off x="1463039" y="2798064"/>
            <a:ext cx="1920240" cy="475488"/>
          </a:xfrm>
          <a:prstGeom prst="roundRect">
            <a:avLst>
              <a:gd name="adj" fmla="val 15000"/>
            </a:avLst>
          </a:prstGeom>
          <a:solidFill>
            <a:srgbClr val="EEF0F3"/>
          </a:solidFill>
          <a:ln w="19050">
            <a:solidFill>
              <a:srgbClr val="9AA0A8"/>
            </a:solidFill>
          </a:ln>
          <a:effectLst/>
        </p:spPr>
        <p:txBody>
          <a:bodyPr rtlCol="0" anchor="ctr" lIns="54864" rIns="54864" tIns="27432" bIns="27432" wrap="square"/>
          <a:lstStyle/>
          <a:p>
            <a:pPr algn="ctr"/>
            <a:r>
              <a:rPr sz="1700" b="1" i="0">
                <a:solidFill>
                  <a:srgbClr val="2B2F36"/>
                </a:solidFill>
                <a:latin typeface="Calibri"/>
              </a:rPr>
              <a:t>s ≡ s′</a:t>
            </a:r>
          </a:p>
        </p:txBody>
      </p:sp>
      <p:sp>
        <p:nvSpPr>
          <p:cNvPr id="10" name="Rounded Rectangle 9"/>
          <p:cNvSpPr/>
          <p:nvPr/>
        </p:nvSpPr>
        <p:spPr>
          <a:xfrm>
            <a:off x="1463039" y="3419856"/>
            <a:ext cx="1920240" cy="475488"/>
          </a:xfrm>
          <a:prstGeom prst="roundRect">
            <a:avLst>
              <a:gd name="adj" fmla="val 15000"/>
            </a:avLst>
          </a:prstGeom>
          <a:solidFill>
            <a:srgbClr val="EEF0F3"/>
          </a:solidFill>
          <a:ln w="19050">
            <a:solidFill>
              <a:srgbClr val="9AA0A8"/>
            </a:solidFill>
          </a:ln>
          <a:effectLst/>
        </p:spPr>
        <p:txBody>
          <a:bodyPr rtlCol="0" anchor="ctr" lIns="54864" rIns="54864" tIns="27432" bIns="27432" wrap="square"/>
          <a:lstStyle/>
          <a:p>
            <a:pPr algn="ctr"/>
            <a:r>
              <a:rPr sz="1700" b="1" i="0">
                <a:solidFill>
                  <a:srgbClr val="2B2F36"/>
                </a:solidFill>
                <a:latin typeface="Calibri"/>
              </a:rPr>
              <a:t>c ≡ c′</a:t>
            </a:r>
          </a:p>
        </p:txBody>
      </p:sp>
      <p:sp>
        <p:nvSpPr>
          <p:cNvPr id="11" name="Rounded Rectangle 10"/>
          <p:cNvSpPr/>
          <p:nvPr/>
        </p:nvSpPr>
        <p:spPr>
          <a:xfrm>
            <a:off x="1463039" y="4041648"/>
            <a:ext cx="1920240" cy="475488"/>
          </a:xfrm>
          <a:prstGeom prst="roundRect">
            <a:avLst>
              <a:gd name="adj" fmla="val 15000"/>
            </a:avLst>
          </a:prstGeom>
          <a:solidFill>
            <a:srgbClr val="EEF0F3"/>
          </a:solidFill>
          <a:ln w="19050">
            <a:solidFill>
              <a:srgbClr val="9AA0A8"/>
            </a:solidFill>
          </a:ln>
          <a:effectLst/>
        </p:spPr>
        <p:txBody>
          <a:bodyPr rtlCol="0" anchor="ctr" lIns="54864" rIns="54864" tIns="27432" bIns="27432" wrap="square"/>
          <a:lstStyle/>
          <a:p>
            <a:pPr algn="ctr"/>
            <a:r>
              <a:rPr sz="1700" b="1" i="0">
                <a:solidFill>
                  <a:srgbClr val="2B2F36"/>
                </a:solidFill>
                <a:latin typeface="Calibri"/>
              </a:rPr>
              <a:t>u ≡ u′</a:t>
            </a:r>
          </a:p>
        </p:txBody>
      </p:sp>
      <p:sp>
        <p:nvSpPr>
          <p:cNvPr id="12" name="Rounded Rectangle 11"/>
          <p:cNvSpPr/>
          <p:nvPr/>
        </p:nvSpPr>
        <p:spPr>
          <a:xfrm>
            <a:off x="1463039" y="4663440"/>
            <a:ext cx="1920240" cy="475488"/>
          </a:xfrm>
          <a:prstGeom prst="roundRect">
            <a:avLst>
              <a:gd name="adj" fmla="val 15000"/>
            </a:avLst>
          </a:prstGeom>
          <a:solidFill>
            <a:srgbClr val="EEF0F3"/>
          </a:solidFill>
          <a:ln w="19050">
            <a:solidFill>
              <a:srgbClr val="9AA0A8"/>
            </a:solidFill>
          </a:ln>
          <a:effectLst/>
        </p:spPr>
        <p:txBody>
          <a:bodyPr rtlCol="0" anchor="ctr" lIns="54864" rIns="54864" tIns="27432" bIns="27432" wrap="square"/>
          <a:lstStyle/>
          <a:p>
            <a:pPr algn="ctr"/>
            <a:r>
              <a:rPr sz="1700" b="1" i="0">
                <a:solidFill>
                  <a:srgbClr val="2B2F36"/>
                </a:solidFill>
                <a:latin typeface="Calibri"/>
              </a:rPr>
              <a:t>v ≡ v′</a:t>
            </a:r>
          </a:p>
        </p:txBody>
      </p:sp>
      <p:sp>
        <p:nvSpPr>
          <p:cNvPr id="13" name="TextBox 12"/>
          <p:cNvSpPr txBox="1"/>
          <p:nvPr/>
        </p:nvSpPr>
        <p:spPr>
          <a:xfrm>
            <a:off x="4709160" y="1325880"/>
            <a:ext cx="2743200" cy="457200"/>
          </a:xfrm>
          <a:prstGeom prst="rect">
            <a:avLst/>
          </a:prstGeom>
          <a:noFill/>
        </p:spPr>
        <p:txBody>
          <a:bodyPr wrap="square" anchor="t" lIns="45720" rIns="45720" tIns="27432" bIns="27432">
            <a:spAutoFit/>
          </a:bodyPr>
          <a:lstStyle/>
          <a:p>
            <a:pPr algn="ctr"/>
            <a:r>
              <a:rPr sz="2200" b="1" i="0">
                <a:solidFill>
                  <a:srgbClr val="1F2A44"/>
                </a:solidFill>
                <a:latin typeface="Calibri"/>
              </a:rPr>
              <a:t>Round 1</a:t>
            </a:r>
          </a:p>
        </p:txBody>
      </p:sp>
      <p:sp>
        <p:nvSpPr>
          <p:cNvPr id="14" name="TextBox 13"/>
          <p:cNvSpPr txBox="1"/>
          <p:nvPr/>
        </p:nvSpPr>
        <p:spPr>
          <a:xfrm>
            <a:off x="4709160" y="1737360"/>
            <a:ext cx="2743200" cy="320040"/>
          </a:xfrm>
          <a:prstGeom prst="rect">
            <a:avLst/>
          </a:prstGeom>
          <a:noFill/>
        </p:spPr>
        <p:txBody>
          <a:bodyPr wrap="square" anchor="t" lIns="45720" rIns="45720" tIns="27432" bIns="27432">
            <a:spAutoFit/>
          </a:bodyPr>
          <a:lstStyle/>
          <a:p>
            <a:pPr algn="ctr"/>
            <a:r>
              <a:rPr sz="1400" b="0" i="0">
                <a:solidFill>
                  <a:srgbClr val="6B717A"/>
                </a:solidFill>
                <a:latin typeface="Calibri"/>
              </a:rPr>
              <a:t>independent merges</a:t>
            </a:r>
          </a:p>
        </p:txBody>
      </p:sp>
      <p:sp>
        <p:nvSpPr>
          <p:cNvPr id="15" name="Rounded Rectangle 14"/>
          <p:cNvSpPr/>
          <p:nvPr/>
        </p:nvSpPr>
        <p:spPr>
          <a:xfrm>
            <a:off x="5120640" y="3108960"/>
            <a:ext cx="1920240" cy="475488"/>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1700" b="1" i="0">
                <a:solidFill>
                  <a:srgbClr val="2B2F36"/>
                </a:solidFill>
                <a:latin typeface="Calibri"/>
              </a:rPr>
              <a:t>a₁ ≡ a₂</a:t>
            </a:r>
          </a:p>
        </p:txBody>
      </p:sp>
      <p:sp>
        <p:nvSpPr>
          <p:cNvPr id="16" name="Rounded Rectangle 15"/>
          <p:cNvSpPr/>
          <p:nvPr/>
        </p:nvSpPr>
        <p:spPr>
          <a:xfrm>
            <a:off x="5120640" y="3730752"/>
            <a:ext cx="1920240" cy="475488"/>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1700" b="1" i="0">
                <a:solidFill>
                  <a:srgbClr val="2B2F36"/>
                </a:solidFill>
                <a:latin typeface="Calibri"/>
              </a:rPr>
              <a:t>x₁ ≡ x₂</a:t>
            </a:r>
          </a:p>
        </p:txBody>
      </p:sp>
      <p:sp>
        <p:nvSpPr>
          <p:cNvPr id="17" name="TextBox 16"/>
          <p:cNvSpPr txBox="1"/>
          <p:nvPr/>
        </p:nvSpPr>
        <p:spPr>
          <a:xfrm>
            <a:off x="8366760" y="1325880"/>
            <a:ext cx="2743200" cy="457200"/>
          </a:xfrm>
          <a:prstGeom prst="rect">
            <a:avLst/>
          </a:prstGeom>
          <a:noFill/>
        </p:spPr>
        <p:txBody>
          <a:bodyPr wrap="square" anchor="t" lIns="45720" rIns="45720" tIns="27432" bIns="27432">
            <a:spAutoFit/>
          </a:bodyPr>
          <a:lstStyle/>
          <a:p>
            <a:pPr algn="ctr"/>
            <a:r>
              <a:rPr sz="2200" b="1" i="0">
                <a:solidFill>
                  <a:srgbClr val="1F2A44"/>
                </a:solidFill>
                <a:latin typeface="Calibri"/>
              </a:rPr>
              <a:t>Round 2</a:t>
            </a:r>
          </a:p>
        </p:txBody>
      </p:sp>
      <p:sp>
        <p:nvSpPr>
          <p:cNvPr id="18" name="TextBox 17"/>
          <p:cNvSpPr txBox="1"/>
          <p:nvPr/>
        </p:nvSpPr>
        <p:spPr>
          <a:xfrm>
            <a:off x="8366760" y="1737360"/>
            <a:ext cx="2743200" cy="320040"/>
          </a:xfrm>
          <a:prstGeom prst="rect">
            <a:avLst/>
          </a:prstGeom>
          <a:noFill/>
        </p:spPr>
        <p:txBody>
          <a:bodyPr wrap="square" anchor="t" lIns="45720" rIns="45720" tIns="27432" bIns="27432">
            <a:spAutoFit/>
          </a:bodyPr>
          <a:lstStyle/>
          <a:p>
            <a:pPr algn="ctr"/>
            <a:r>
              <a:rPr sz="1400" b="0" i="0">
                <a:solidFill>
                  <a:srgbClr val="6B717A"/>
                </a:solidFill>
                <a:latin typeface="Calibri"/>
              </a:rPr>
              <a:t>enabled by round 1</a:t>
            </a:r>
          </a:p>
        </p:txBody>
      </p:sp>
      <p:sp>
        <p:nvSpPr>
          <p:cNvPr id="19" name="Rounded Rectangle 18"/>
          <p:cNvSpPr/>
          <p:nvPr/>
        </p:nvSpPr>
        <p:spPr>
          <a:xfrm>
            <a:off x="8778240" y="3419856"/>
            <a:ext cx="1920240" cy="475488"/>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r>
              <a:rPr sz="1700" b="1" i="0">
                <a:solidFill>
                  <a:srgbClr val="2B2F36"/>
                </a:solidFill>
                <a:latin typeface="Calibri"/>
              </a:rPr>
              <a:t>m₁ ≡ m₂</a:t>
            </a:r>
          </a:p>
        </p:txBody>
      </p:sp>
      <p:cxnSp>
        <p:nvCxnSpPr>
          <p:cNvPr id="20" name="Connector 19"/>
          <p:cNvCxnSpPr/>
          <p:nvPr/>
        </p:nvCxnSpPr>
        <p:spPr>
          <a:xfrm>
            <a:off x="4251960" y="1371600"/>
            <a:ext cx="0" cy="3886200"/>
          </a:xfrm>
          <a:prstGeom prst="line">
            <a:avLst/>
          </a:prstGeom>
          <a:ln w="25400">
            <a:solidFill>
              <a:srgbClr val="2B2F36"/>
            </a:solidFill>
            <a:prstDash val="dash"/>
          </a:ln>
          <a:effectLst/>
        </p:spPr>
      </p:cxnSp>
      <p:sp>
        <p:nvSpPr>
          <p:cNvPr id="21" name="TextBox 20"/>
          <p:cNvSpPr txBox="1"/>
          <p:nvPr/>
        </p:nvSpPr>
        <p:spPr>
          <a:xfrm>
            <a:off x="3703320" y="5230368"/>
            <a:ext cx="1097280" cy="274320"/>
          </a:xfrm>
          <a:prstGeom prst="rect">
            <a:avLst/>
          </a:prstGeom>
          <a:noFill/>
        </p:spPr>
        <p:txBody>
          <a:bodyPr wrap="square" anchor="t" lIns="45720" rIns="45720" tIns="27432" bIns="27432">
            <a:spAutoFit/>
          </a:bodyPr>
          <a:lstStyle/>
          <a:p>
            <a:pPr algn="ctr"/>
            <a:r>
              <a:rPr sz="1200" b="1" i="0">
                <a:solidFill>
                  <a:srgbClr val="6B717A"/>
                </a:solidFill>
                <a:latin typeface="Calibri"/>
              </a:rPr>
              <a:t>barrier</a:t>
            </a:r>
          </a:p>
        </p:txBody>
      </p:sp>
      <p:cxnSp>
        <p:nvCxnSpPr>
          <p:cNvPr id="22" name="Connector 21"/>
          <p:cNvCxnSpPr/>
          <p:nvPr/>
        </p:nvCxnSpPr>
        <p:spPr>
          <a:xfrm>
            <a:off x="7909560" y="1371600"/>
            <a:ext cx="0" cy="3886200"/>
          </a:xfrm>
          <a:prstGeom prst="line">
            <a:avLst/>
          </a:prstGeom>
          <a:ln w="25400">
            <a:solidFill>
              <a:srgbClr val="2B2F36"/>
            </a:solidFill>
            <a:prstDash val="dash"/>
          </a:ln>
          <a:effectLst/>
        </p:spPr>
      </p:cxnSp>
      <p:sp>
        <p:nvSpPr>
          <p:cNvPr id="23" name="TextBox 22"/>
          <p:cNvSpPr txBox="1"/>
          <p:nvPr/>
        </p:nvSpPr>
        <p:spPr>
          <a:xfrm>
            <a:off x="7360920" y="5230368"/>
            <a:ext cx="1097280" cy="274320"/>
          </a:xfrm>
          <a:prstGeom prst="rect">
            <a:avLst/>
          </a:prstGeom>
          <a:noFill/>
        </p:spPr>
        <p:txBody>
          <a:bodyPr wrap="square" anchor="t" lIns="45720" rIns="45720" tIns="27432" bIns="27432">
            <a:spAutoFit/>
          </a:bodyPr>
          <a:lstStyle/>
          <a:p>
            <a:pPr algn="ctr"/>
            <a:r>
              <a:rPr sz="1200" b="1" i="0">
                <a:solidFill>
                  <a:srgbClr val="6B717A"/>
                </a:solidFill>
                <a:latin typeface="Calibri"/>
              </a:rPr>
              <a:t>barrier</a:t>
            </a:r>
          </a:p>
        </p:txBody>
      </p:sp>
      <p:sp>
        <p:nvSpPr>
          <p:cNvPr id="24" name="Rounded Rectangle 23"/>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600" b="1" i="0">
                <a:solidFill>
                  <a:srgbClr val="FFFFFF"/>
                </a:solidFill>
                <a:latin typeface="Calibri"/>
              </a:rPr>
              <a:t>Bulk-synchronous parallel: rounds of independent merges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Two questions per round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731520" y="1737360"/>
            <a:ext cx="10789920" cy="548640"/>
          </a:xfrm>
          <a:prstGeom prst="rect">
            <a:avLst/>
          </a:prstGeom>
          <a:noFill/>
        </p:spPr>
        <p:txBody>
          <a:bodyPr wrap="square" anchor="t" lIns="45720" rIns="45720" tIns="27432" bIns="27432">
            <a:spAutoFit/>
          </a:bodyPr>
          <a:lstStyle/>
          <a:p>
            <a:pPr algn="l"/>
            <a:r>
              <a:rPr sz="2600" b="1" i="0">
                <a:solidFill>
                  <a:srgbClr val="1F2A44"/>
                </a:solidFill>
                <a:latin typeface="Calibri"/>
              </a:rPr>
              <a:t>How do we find all the merges of a round?</a:t>
            </a:r>
          </a:p>
        </p:txBody>
      </p:sp>
      <p:sp>
        <p:nvSpPr>
          <p:cNvPr id="7" name="Rounded Rectangle 6"/>
          <p:cNvSpPr/>
          <p:nvPr/>
        </p:nvSpPr>
        <p:spPr>
          <a:xfrm>
            <a:off x="1280160" y="2514600"/>
            <a:ext cx="9692640" cy="777240"/>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r>
              <a:rPr sz="2400" b="1" i="0">
                <a:solidFill>
                  <a:srgbClr val="2B2F36"/>
                </a:solidFill>
                <a:latin typeface="Calibri"/>
              </a:rPr>
              <a:t>Semisort groups congruent terms together</a:t>
            </a:r>
          </a:p>
        </p:txBody>
      </p:sp>
      <p:sp>
        <p:nvSpPr>
          <p:cNvPr id="8" name="TextBox 7"/>
          <p:cNvSpPr txBox="1"/>
          <p:nvPr/>
        </p:nvSpPr>
        <p:spPr>
          <a:xfrm>
            <a:off x="1280160" y="3337560"/>
            <a:ext cx="9692640" cy="320040"/>
          </a:xfrm>
          <a:prstGeom prst="rect">
            <a:avLst/>
          </a:prstGeom>
          <a:noFill/>
        </p:spPr>
        <p:txBody>
          <a:bodyPr wrap="square" anchor="t" lIns="45720" rIns="45720" tIns="27432" bIns="27432">
            <a:spAutoFit/>
          </a:bodyPr>
          <a:lstStyle/>
          <a:p>
            <a:pPr algn="r"/>
            <a:r>
              <a:rPr sz="1200" b="0" i="0">
                <a:solidFill>
                  <a:srgbClr val="6B717A"/>
                </a:solidFill>
                <a:latin typeface="Calibri"/>
              </a:rPr>
              <a:t>Gu, Shun, Sun &amp; Blelloch, SPAA 2015</a:t>
            </a:r>
          </a:p>
        </p:txBody>
      </p:sp>
      <p:sp>
        <p:nvSpPr>
          <p:cNvPr id="9" name="TextBox 8"/>
          <p:cNvSpPr txBox="1"/>
          <p:nvPr/>
        </p:nvSpPr>
        <p:spPr>
          <a:xfrm>
            <a:off x="731520" y="4069079"/>
            <a:ext cx="10789920" cy="548640"/>
          </a:xfrm>
          <a:prstGeom prst="rect">
            <a:avLst/>
          </a:prstGeom>
          <a:noFill/>
        </p:spPr>
        <p:txBody>
          <a:bodyPr wrap="square" anchor="t" lIns="45720" rIns="45720" tIns="27432" bIns="27432">
            <a:spAutoFit/>
          </a:bodyPr>
          <a:lstStyle/>
          <a:p>
            <a:pPr algn="l"/>
            <a:r>
              <a:rPr sz="2600" b="1" i="0">
                <a:solidFill>
                  <a:srgbClr val="1F2A44"/>
                </a:solidFill>
                <a:latin typeface="Calibri"/>
              </a:rPr>
              <a:t>How do we perform them in parallel, correctly?</a:t>
            </a:r>
          </a:p>
        </p:txBody>
      </p:sp>
      <p:sp>
        <p:nvSpPr>
          <p:cNvPr id="10" name="Rounded Rectangle 9"/>
          <p:cNvSpPr/>
          <p:nvPr/>
        </p:nvSpPr>
        <p:spPr>
          <a:xfrm>
            <a:off x="1280160" y="4846319"/>
            <a:ext cx="9692640" cy="777240"/>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r>
              <a:rPr sz="2400" b="1" i="0">
                <a:solidFill>
                  <a:srgbClr val="2B2F36"/>
                </a:solidFill>
                <a:latin typeface="Calibri"/>
              </a:rPr>
              <a:t>A concurrent union-find</a:t>
            </a:r>
          </a:p>
        </p:txBody>
      </p:sp>
      <p:sp>
        <p:nvSpPr>
          <p:cNvPr id="11" name="TextBox 10"/>
          <p:cNvSpPr txBox="1"/>
          <p:nvPr/>
        </p:nvSpPr>
        <p:spPr>
          <a:xfrm>
            <a:off x="1280160" y="5669279"/>
            <a:ext cx="9692640" cy="320040"/>
          </a:xfrm>
          <a:prstGeom prst="rect">
            <a:avLst/>
          </a:prstGeom>
          <a:noFill/>
        </p:spPr>
        <p:txBody>
          <a:bodyPr wrap="square" anchor="t" lIns="45720" rIns="45720" tIns="27432" bIns="27432">
            <a:spAutoFit/>
          </a:bodyPr>
          <a:lstStyle/>
          <a:p>
            <a:pPr algn="r"/>
            <a:r>
              <a:rPr sz="1200" b="0" i="0">
                <a:solidFill>
                  <a:srgbClr val="6B717A"/>
                </a:solidFill>
                <a:latin typeface="Calibri"/>
              </a:rPr>
              <a:t>Alistarh, Fedorov &amp; Koval, OPODIS 2019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one round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85800" y="1691640"/>
            <a:ext cx="3291840" cy="246888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p>
        </p:txBody>
      </p:sp>
      <p:sp>
        <p:nvSpPr>
          <p:cNvPr id="7" name="Rounded Rectangle 6"/>
          <p:cNvSpPr/>
          <p:nvPr/>
        </p:nvSpPr>
        <p:spPr>
          <a:xfrm>
            <a:off x="868680" y="1874520"/>
            <a:ext cx="457200" cy="457200"/>
          </a:xfrm>
          <a:prstGeom prst="roundRect">
            <a:avLst>
              <a:gd name="adj" fmla="val 50000"/>
            </a:avLst>
          </a:prstGeom>
          <a:solidFill>
            <a:srgbClr val="2E6FB0"/>
          </a:solidFill>
          <a:ln>
            <a:noFill/>
          </a:ln>
          <a:effectLst/>
        </p:spPr>
        <p:txBody>
          <a:bodyPr rtlCol="0" anchor="ctr" lIns="54864" rIns="54864" tIns="27432" bIns="27432" wrap="square"/>
          <a:lstStyle/>
          <a:p>
            <a:pPr algn="ctr"/>
            <a:r>
              <a:rPr sz="1600" b="1" i="0">
                <a:solidFill>
                  <a:srgbClr val="FFFFFF"/>
                </a:solidFill>
                <a:latin typeface="Calibri"/>
              </a:rPr>
              <a:t>1</a:t>
            </a:r>
          </a:p>
        </p:txBody>
      </p:sp>
      <p:sp>
        <p:nvSpPr>
          <p:cNvPr id="8" name="TextBox 7"/>
          <p:cNvSpPr txBox="1"/>
          <p:nvPr/>
        </p:nvSpPr>
        <p:spPr>
          <a:xfrm>
            <a:off x="868680"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Who might have become congruent?</a:t>
            </a:r>
          </a:p>
        </p:txBody>
      </p:sp>
      <p:sp>
        <p:nvSpPr>
          <p:cNvPr id="9" name="TextBox 8"/>
          <p:cNvSpPr txBox="1"/>
          <p:nvPr/>
        </p:nvSpPr>
        <p:spPr>
          <a:xfrm>
            <a:off x="868680"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the parents of last round’s merges</a:t>
            </a:r>
          </a:p>
        </p:txBody>
      </p:sp>
      <p:sp>
        <p:nvSpPr>
          <p:cNvPr id="10" name="Rounded Rectangle 9"/>
          <p:cNvSpPr/>
          <p:nvPr/>
        </p:nvSpPr>
        <p:spPr>
          <a:xfrm>
            <a:off x="4453128" y="1691640"/>
            <a:ext cx="3291840" cy="2468880"/>
          </a:xfrm>
          <a:prstGeom prst="roundRect">
            <a:avLst>
              <a:gd name="adj" fmla="val 15000"/>
            </a:avLst>
          </a:prstGeom>
          <a:solidFill>
            <a:srgbClr val="EAE2F5"/>
          </a:solidFill>
          <a:ln w="19050">
            <a:solidFill>
              <a:srgbClr val="7B4FB5"/>
            </a:solidFill>
          </a:ln>
          <a:effectLst/>
        </p:spPr>
        <p:txBody>
          <a:bodyPr rtlCol="0" anchor="ctr" lIns="54864" rIns="54864" tIns="27432" bIns="27432" wrap="square"/>
          <a:lstStyle/>
          <a:p>
            <a:pPr algn="ctr"/>
          </a:p>
        </p:txBody>
      </p:sp>
      <p:sp>
        <p:nvSpPr>
          <p:cNvPr id="11" name="Rounded Rectangle 10"/>
          <p:cNvSpPr/>
          <p:nvPr/>
        </p:nvSpPr>
        <p:spPr>
          <a:xfrm>
            <a:off x="4636008" y="1874520"/>
            <a:ext cx="457200" cy="457200"/>
          </a:xfrm>
          <a:prstGeom prst="roundRect">
            <a:avLst>
              <a:gd name="adj" fmla="val 50000"/>
            </a:avLst>
          </a:prstGeom>
          <a:solidFill>
            <a:srgbClr val="7B4FB5"/>
          </a:solidFill>
          <a:ln>
            <a:noFill/>
          </a:ln>
          <a:effectLst/>
        </p:spPr>
        <p:txBody>
          <a:bodyPr rtlCol="0" anchor="ctr" lIns="54864" rIns="54864" tIns="27432" bIns="27432" wrap="square"/>
          <a:lstStyle/>
          <a:p>
            <a:pPr algn="ctr"/>
            <a:r>
              <a:rPr sz="1600" b="1" i="0">
                <a:solidFill>
                  <a:srgbClr val="FFFFFF"/>
                </a:solidFill>
                <a:latin typeface="Calibri"/>
              </a:rPr>
              <a:t>2</a:t>
            </a:r>
          </a:p>
        </p:txBody>
      </p:sp>
      <p:sp>
        <p:nvSpPr>
          <p:cNvPr id="12" name="TextBox 11"/>
          <p:cNvSpPr txBox="1"/>
          <p:nvPr/>
        </p:nvSpPr>
        <p:spPr>
          <a:xfrm>
            <a:off x="4636008"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Who actually is?</a:t>
            </a:r>
          </a:p>
        </p:txBody>
      </p:sp>
      <p:sp>
        <p:nvSpPr>
          <p:cNvPr id="13" name="TextBox 12"/>
          <p:cNvSpPr txBox="1"/>
          <p:nvPr/>
        </p:nvSpPr>
        <p:spPr>
          <a:xfrm>
            <a:off x="4636008"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group them by signature</a:t>
            </a:r>
          </a:p>
        </p:txBody>
      </p:sp>
      <p:sp>
        <p:nvSpPr>
          <p:cNvPr id="14" name="Rounded Rectangle 13"/>
          <p:cNvSpPr/>
          <p:nvPr/>
        </p:nvSpPr>
        <p:spPr>
          <a:xfrm>
            <a:off x="8220456" y="1691640"/>
            <a:ext cx="3291840" cy="2468880"/>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p>
        </p:txBody>
      </p:sp>
      <p:sp>
        <p:nvSpPr>
          <p:cNvPr id="15" name="Rounded Rectangle 14"/>
          <p:cNvSpPr/>
          <p:nvPr/>
        </p:nvSpPr>
        <p:spPr>
          <a:xfrm>
            <a:off x="8403336" y="1874520"/>
            <a:ext cx="457200" cy="457200"/>
          </a:xfrm>
          <a:prstGeom prst="roundRect">
            <a:avLst>
              <a:gd name="adj" fmla="val 50000"/>
            </a:avLst>
          </a:prstGeom>
          <a:solidFill>
            <a:srgbClr val="C8501E"/>
          </a:solidFill>
          <a:ln>
            <a:noFill/>
          </a:ln>
          <a:effectLst/>
        </p:spPr>
        <p:txBody>
          <a:bodyPr rtlCol="0" anchor="ctr" lIns="54864" rIns="54864" tIns="27432" bIns="27432" wrap="square"/>
          <a:lstStyle/>
          <a:p>
            <a:pPr algn="ctr"/>
            <a:r>
              <a:rPr sz="1600" b="1" i="0">
                <a:solidFill>
                  <a:srgbClr val="FFFFFF"/>
                </a:solidFill>
                <a:latin typeface="Calibri"/>
              </a:rPr>
              <a:t>3</a:t>
            </a:r>
          </a:p>
        </p:txBody>
      </p:sp>
      <p:sp>
        <p:nvSpPr>
          <p:cNvPr id="16" name="TextBox 15"/>
          <p:cNvSpPr txBox="1"/>
          <p:nvPr/>
        </p:nvSpPr>
        <p:spPr>
          <a:xfrm>
            <a:off x="8403336"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Merge</a:t>
            </a:r>
          </a:p>
        </p:txBody>
      </p:sp>
      <p:sp>
        <p:nvSpPr>
          <p:cNvPr id="17" name="TextBox 16"/>
          <p:cNvSpPr txBox="1"/>
          <p:nvPr/>
        </p:nvSpPr>
        <p:spPr>
          <a:xfrm>
            <a:off x="8403336"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every group, in parallel</a:t>
            </a:r>
          </a:p>
        </p:txBody>
      </p:sp>
      <p:cxnSp>
        <p:nvCxnSpPr>
          <p:cNvPr id="18" name="Connector 17"/>
          <p:cNvCxnSpPr/>
          <p:nvPr/>
        </p:nvCxnSpPr>
        <p:spPr>
          <a:xfrm>
            <a:off x="3977639" y="2926080"/>
            <a:ext cx="475489" cy="0"/>
          </a:xfrm>
          <a:prstGeom prst="line">
            <a:avLst/>
          </a:prstGeom>
          <a:ln w="25400">
            <a:solidFill>
              <a:srgbClr val="2B2F36"/>
            </a:solidFill>
            <a:tailEnd type="triangle" w="med" len="med"/>
          </a:ln>
          <a:effectLst/>
        </p:spPr>
      </p:cxnSp>
      <p:cxnSp>
        <p:nvCxnSpPr>
          <p:cNvPr id="19" name="Connector 18"/>
          <p:cNvCxnSpPr/>
          <p:nvPr/>
        </p:nvCxnSpPr>
        <p:spPr>
          <a:xfrm>
            <a:off x="7744968" y="2926080"/>
            <a:ext cx="475488" cy="0"/>
          </a:xfrm>
          <a:prstGeom prst="line">
            <a:avLst/>
          </a:prstGeom>
          <a:ln w="25400">
            <a:solidFill>
              <a:srgbClr val="2B2F36"/>
            </a:solidFill>
            <a:tailEnd type="triangle" w="med" len="med"/>
          </a:ln>
          <a:effectLst/>
        </p:spPr>
      </p:cxnSp>
      <p:cxnSp>
        <p:nvCxnSpPr>
          <p:cNvPr id="20" name="Connector 19"/>
          <p:cNvCxnSpPr/>
          <p:nvPr/>
        </p:nvCxnSpPr>
        <p:spPr>
          <a:xfrm>
            <a:off x="9866376" y="4160520"/>
            <a:ext cx="0" cy="502920"/>
          </a:xfrm>
          <a:prstGeom prst="line">
            <a:avLst/>
          </a:prstGeom>
          <a:ln w="25400">
            <a:solidFill>
              <a:srgbClr val="2B2F36"/>
            </a:solidFill>
          </a:ln>
          <a:effectLst/>
        </p:spPr>
      </p:cxnSp>
      <p:cxnSp>
        <p:nvCxnSpPr>
          <p:cNvPr id="21" name="Connector 20"/>
          <p:cNvCxnSpPr/>
          <p:nvPr/>
        </p:nvCxnSpPr>
        <p:spPr>
          <a:xfrm flipH="1">
            <a:off x="2331720" y="4663440"/>
            <a:ext cx="7534656" cy="0"/>
          </a:xfrm>
          <a:prstGeom prst="line">
            <a:avLst/>
          </a:prstGeom>
          <a:ln w="25400">
            <a:solidFill>
              <a:srgbClr val="2B2F36"/>
            </a:solidFill>
          </a:ln>
          <a:effectLst/>
        </p:spPr>
      </p:cxnSp>
      <p:cxnSp>
        <p:nvCxnSpPr>
          <p:cNvPr id="22" name="Connector 21"/>
          <p:cNvCxnSpPr/>
          <p:nvPr/>
        </p:nvCxnSpPr>
        <p:spPr>
          <a:xfrm flipV="1">
            <a:off x="2331720" y="4160520"/>
            <a:ext cx="0" cy="502920"/>
          </a:xfrm>
          <a:prstGeom prst="line">
            <a:avLst/>
          </a:prstGeom>
          <a:ln w="25400">
            <a:solidFill>
              <a:srgbClr val="2B2F36"/>
            </a:solidFill>
            <a:tailEnd type="triangle" w="med" len="med"/>
          </a:ln>
          <a:effectLst/>
        </p:spPr>
      </p:cxnSp>
      <p:sp>
        <p:nvSpPr>
          <p:cNvPr id="23" name="TextBox 22"/>
          <p:cNvSpPr txBox="1"/>
          <p:nvPr/>
        </p:nvSpPr>
        <p:spPr>
          <a:xfrm>
            <a:off x="3291840" y="4709160"/>
            <a:ext cx="5577840" cy="365760"/>
          </a:xfrm>
          <a:prstGeom prst="rect">
            <a:avLst/>
          </a:prstGeom>
          <a:noFill/>
        </p:spPr>
        <p:txBody>
          <a:bodyPr wrap="square" anchor="t" lIns="45720" rIns="45720" tIns="27432" bIns="27432">
            <a:spAutoFit/>
          </a:bodyPr>
          <a:lstStyle/>
          <a:p>
            <a:pPr algn="ctr"/>
            <a:r>
              <a:rPr sz="1600" b="1" i="0">
                <a:solidFill>
                  <a:srgbClr val="1F2A44"/>
                </a:solidFill>
                <a:latin typeface="Calibri"/>
              </a:rPr>
              <a:t>repeat while a round merged something</a:t>
            </a:r>
          </a:p>
        </p:txBody>
      </p:sp>
      <p:sp>
        <p:nvSpPr>
          <p:cNvPr id="24" name="TextBox 23"/>
          <p:cNvSpPr txBox="1"/>
          <p:nvPr/>
        </p:nvSpPr>
        <p:spPr>
          <a:xfrm>
            <a:off x="685800" y="5166360"/>
            <a:ext cx="10789920" cy="365760"/>
          </a:xfrm>
          <a:prstGeom prst="rect">
            <a:avLst/>
          </a:prstGeom>
          <a:noFill/>
        </p:spPr>
        <p:txBody>
          <a:bodyPr wrap="square" anchor="t" lIns="45720" rIns="45720" tIns="27432" bIns="27432">
            <a:spAutoFit/>
          </a:bodyPr>
          <a:lstStyle/>
          <a:p>
            <a:pPr algn="ctr"/>
            <a:r>
              <a:rPr sz="1500" b="0" i="0">
                <a:solidFill>
                  <a:srgbClr val="6B717A"/>
                </a:solidFill>
                <a:latin typeface="Calibri"/>
              </a:rPr>
              <a:t>first round: consider every term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0</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17219"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16835"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16451"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1606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15683"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cxnSp>
        <p:nvCxnSpPr>
          <p:cNvPr id="11" name="Connector 10"/>
          <p:cNvCxnSpPr/>
          <p:nvPr/>
        </p:nvCxnSpPr>
        <p:spPr>
          <a:xfrm flipH="1">
            <a:off x="1010411" y="3803903"/>
            <a:ext cx="539496" cy="1106425"/>
          </a:xfrm>
          <a:prstGeom prst="line">
            <a:avLst/>
          </a:prstGeom>
          <a:ln w="15875">
            <a:solidFill>
              <a:srgbClr val="8A8F98"/>
            </a:solidFill>
          </a:ln>
          <a:effectLst/>
        </p:spPr>
      </p:cxnSp>
      <p:cxnSp>
        <p:nvCxnSpPr>
          <p:cNvPr id="12" name="Connector 11"/>
          <p:cNvCxnSpPr/>
          <p:nvPr/>
        </p:nvCxnSpPr>
        <p:spPr>
          <a:xfrm>
            <a:off x="1549907" y="3803903"/>
            <a:ext cx="960120" cy="1106425"/>
          </a:xfrm>
          <a:prstGeom prst="line">
            <a:avLst/>
          </a:prstGeom>
          <a:ln w="15875">
            <a:solidFill>
              <a:srgbClr val="8A8F98"/>
            </a:solidFill>
          </a:ln>
          <a:effectLst/>
        </p:spPr>
      </p:cxnSp>
      <p:cxnSp>
        <p:nvCxnSpPr>
          <p:cNvPr id="13" name="Connector 12"/>
          <p:cNvCxnSpPr/>
          <p:nvPr/>
        </p:nvCxnSpPr>
        <p:spPr>
          <a:xfrm flipH="1">
            <a:off x="1632203" y="3803903"/>
            <a:ext cx="1014984" cy="1106425"/>
          </a:xfrm>
          <a:prstGeom prst="line">
            <a:avLst/>
          </a:prstGeom>
          <a:ln w="15875">
            <a:solidFill>
              <a:srgbClr val="8A8F98"/>
            </a:solidFill>
          </a:ln>
          <a:effectLst/>
        </p:spPr>
      </p:cxnSp>
      <p:cxnSp>
        <p:nvCxnSpPr>
          <p:cNvPr id="14" name="Connector 13"/>
          <p:cNvCxnSpPr/>
          <p:nvPr/>
        </p:nvCxnSpPr>
        <p:spPr>
          <a:xfrm>
            <a:off x="2647187" y="3803903"/>
            <a:ext cx="484632" cy="1106425"/>
          </a:xfrm>
          <a:prstGeom prst="line">
            <a:avLst/>
          </a:prstGeom>
          <a:ln w="15875">
            <a:solidFill>
              <a:srgbClr val="8A8F98"/>
            </a:solidFill>
          </a:ln>
          <a:effectLst/>
        </p:spPr>
      </p:cxnSp>
      <p:cxnSp>
        <p:nvCxnSpPr>
          <p:cNvPr id="15" name="Connector 14"/>
          <p:cNvCxnSpPr/>
          <p:nvPr/>
        </p:nvCxnSpPr>
        <p:spPr>
          <a:xfrm flipH="1">
            <a:off x="5509259" y="3803903"/>
            <a:ext cx="475488" cy="1106425"/>
          </a:xfrm>
          <a:prstGeom prst="line">
            <a:avLst/>
          </a:prstGeom>
          <a:ln w="15875">
            <a:solidFill>
              <a:srgbClr val="8A8F98"/>
            </a:solidFill>
          </a:ln>
          <a:effectLst/>
        </p:spPr>
      </p:cxnSp>
      <p:cxnSp>
        <p:nvCxnSpPr>
          <p:cNvPr id="16" name="Connector 15"/>
          <p:cNvCxnSpPr/>
          <p:nvPr/>
        </p:nvCxnSpPr>
        <p:spPr>
          <a:xfrm>
            <a:off x="5984747" y="3803903"/>
            <a:ext cx="1024128" cy="1106425"/>
          </a:xfrm>
          <a:prstGeom prst="line">
            <a:avLst/>
          </a:prstGeom>
          <a:ln w="15875">
            <a:solidFill>
              <a:srgbClr val="8A8F98"/>
            </a:solidFill>
          </a:ln>
          <a:effectLst/>
        </p:spPr>
      </p:cxnSp>
      <p:cxnSp>
        <p:nvCxnSpPr>
          <p:cNvPr id="17" name="Connector 16"/>
          <p:cNvCxnSpPr/>
          <p:nvPr/>
        </p:nvCxnSpPr>
        <p:spPr>
          <a:xfrm flipH="1">
            <a:off x="6131051" y="3803903"/>
            <a:ext cx="950976" cy="1106425"/>
          </a:xfrm>
          <a:prstGeom prst="line">
            <a:avLst/>
          </a:prstGeom>
          <a:ln w="15875">
            <a:solidFill>
              <a:srgbClr val="8A8F98"/>
            </a:solidFill>
          </a:ln>
          <a:effectLst/>
        </p:spPr>
      </p:cxnSp>
      <p:cxnSp>
        <p:nvCxnSpPr>
          <p:cNvPr id="18" name="Connector 17"/>
          <p:cNvCxnSpPr/>
          <p:nvPr/>
        </p:nvCxnSpPr>
        <p:spPr>
          <a:xfrm>
            <a:off x="7082027" y="3803903"/>
            <a:ext cx="548640" cy="1106425"/>
          </a:xfrm>
          <a:prstGeom prst="line">
            <a:avLst/>
          </a:prstGeom>
          <a:ln w="15875">
            <a:solidFill>
              <a:srgbClr val="8A8F98"/>
            </a:solidFill>
          </a:ln>
          <a:effectLst/>
        </p:spPr>
      </p:cxnSp>
      <p:cxnSp>
        <p:nvCxnSpPr>
          <p:cNvPr id="19" name="Connector 18"/>
          <p:cNvCxnSpPr/>
          <p:nvPr/>
        </p:nvCxnSpPr>
        <p:spPr>
          <a:xfrm>
            <a:off x="3790187" y="2203704"/>
            <a:ext cx="219457" cy="2706624"/>
          </a:xfrm>
          <a:prstGeom prst="line">
            <a:avLst/>
          </a:prstGeom>
          <a:ln w="15875">
            <a:solidFill>
              <a:srgbClr val="8A8F98"/>
            </a:solidFill>
          </a:ln>
          <a:effectLst/>
        </p:spPr>
      </p:cxnSp>
      <p:cxnSp>
        <p:nvCxnSpPr>
          <p:cNvPr id="20" name="Connector 19"/>
          <p:cNvCxnSpPr/>
          <p:nvPr/>
        </p:nvCxnSpPr>
        <p:spPr>
          <a:xfrm flipH="1">
            <a:off x="1549907" y="2203704"/>
            <a:ext cx="2240280" cy="749807"/>
          </a:xfrm>
          <a:prstGeom prst="line">
            <a:avLst/>
          </a:prstGeom>
          <a:ln w="15875">
            <a:solidFill>
              <a:srgbClr val="8A8F98"/>
            </a:solidFill>
          </a:ln>
          <a:effectLst/>
        </p:spPr>
      </p:cxnSp>
      <p:cxnSp>
        <p:nvCxnSpPr>
          <p:cNvPr id="21" name="Connector 20"/>
          <p:cNvCxnSpPr/>
          <p:nvPr/>
        </p:nvCxnSpPr>
        <p:spPr>
          <a:xfrm>
            <a:off x="3790187" y="2203704"/>
            <a:ext cx="2194560" cy="749807"/>
          </a:xfrm>
          <a:prstGeom prst="line">
            <a:avLst/>
          </a:prstGeom>
          <a:ln w="15875">
            <a:solidFill>
              <a:srgbClr val="8A8F98"/>
            </a:solidFill>
          </a:ln>
          <a:effectLst/>
        </p:spPr>
      </p:cxnSp>
      <p:cxnSp>
        <p:nvCxnSpPr>
          <p:cNvPr id="22" name="Connector 21"/>
          <p:cNvCxnSpPr/>
          <p:nvPr/>
        </p:nvCxnSpPr>
        <p:spPr>
          <a:xfrm flipH="1">
            <a:off x="4631436" y="2203704"/>
            <a:ext cx="484632" cy="2706624"/>
          </a:xfrm>
          <a:prstGeom prst="line">
            <a:avLst/>
          </a:prstGeom>
          <a:ln w="15875">
            <a:solidFill>
              <a:srgbClr val="8A8F98"/>
            </a:solidFill>
          </a:ln>
          <a:effectLst/>
        </p:spPr>
      </p:cxnSp>
      <p:cxnSp>
        <p:nvCxnSpPr>
          <p:cNvPr id="23" name="Connector 22"/>
          <p:cNvCxnSpPr/>
          <p:nvPr/>
        </p:nvCxnSpPr>
        <p:spPr>
          <a:xfrm flipH="1">
            <a:off x="2647187" y="2203704"/>
            <a:ext cx="2468881" cy="749807"/>
          </a:xfrm>
          <a:prstGeom prst="line">
            <a:avLst/>
          </a:prstGeom>
          <a:ln w="15875">
            <a:solidFill>
              <a:srgbClr val="8A8F98"/>
            </a:solidFill>
          </a:ln>
          <a:effectLst/>
        </p:spPr>
      </p:cxnSp>
      <p:cxnSp>
        <p:nvCxnSpPr>
          <p:cNvPr id="24" name="Connector 23"/>
          <p:cNvCxnSpPr/>
          <p:nvPr/>
        </p:nvCxnSpPr>
        <p:spPr>
          <a:xfrm>
            <a:off x="5116068" y="2203704"/>
            <a:ext cx="1965959" cy="749807"/>
          </a:xfrm>
          <a:prstGeom prst="line">
            <a:avLst/>
          </a:prstGeom>
          <a:ln w="15875">
            <a:solidFill>
              <a:srgbClr val="8A8F98"/>
            </a:solidFill>
          </a:ln>
          <a:effectLst/>
        </p:spPr>
      </p:cxnSp>
      <p:sp>
        <p:nvSpPr>
          <p:cNvPr id="25" name="Rounded Rectangle 24"/>
          <p:cNvSpPr/>
          <p:nvPr/>
        </p:nvSpPr>
        <p:spPr>
          <a:xfrm>
            <a:off x="736091"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6" name="Rounded Rectangle 25"/>
          <p:cNvSpPr/>
          <p:nvPr/>
        </p:nvSpPr>
        <p:spPr>
          <a:xfrm>
            <a:off x="1357883"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223570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8" name="Rounded Rectangle 27"/>
          <p:cNvSpPr/>
          <p:nvPr/>
        </p:nvSpPr>
        <p:spPr>
          <a:xfrm>
            <a:off x="285749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373532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0" name="Rounded Rectangle 29"/>
          <p:cNvSpPr/>
          <p:nvPr/>
        </p:nvSpPr>
        <p:spPr>
          <a:xfrm>
            <a:off x="435711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523494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2" name="Rounded Rectangle 31"/>
          <p:cNvSpPr/>
          <p:nvPr/>
        </p:nvSpPr>
        <p:spPr>
          <a:xfrm>
            <a:off x="5856731"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6734555"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4" name="Rounded Rectangle 33"/>
          <p:cNvSpPr/>
          <p:nvPr/>
        </p:nvSpPr>
        <p:spPr>
          <a:xfrm>
            <a:off x="735634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1147571"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6" name="TextBox 35"/>
          <p:cNvSpPr txBox="1"/>
          <p:nvPr/>
        </p:nvSpPr>
        <p:spPr>
          <a:xfrm>
            <a:off x="113842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7" name="Rounded Rectangle 36"/>
          <p:cNvSpPr/>
          <p:nvPr/>
        </p:nvSpPr>
        <p:spPr>
          <a:xfrm>
            <a:off x="2244851"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223570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9" name="Rounded Rectangle 38"/>
          <p:cNvSpPr/>
          <p:nvPr/>
        </p:nvSpPr>
        <p:spPr>
          <a:xfrm>
            <a:off x="5582411"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0" name="TextBox 39"/>
          <p:cNvSpPr txBox="1"/>
          <p:nvPr/>
        </p:nvSpPr>
        <p:spPr>
          <a:xfrm>
            <a:off x="557326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1" name="Rounded Rectangle 40"/>
          <p:cNvSpPr/>
          <p:nvPr/>
        </p:nvSpPr>
        <p:spPr>
          <a:xfrm>
            <a:off x="6679691"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667054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3" name="Rounded Rectangle 42"/>
          <p:cNvSpPr/>
          <p:nvPr/>
        </p:nvSpPr>
        <p:spPr>
          <a:xfrm>
            <a:off x="3387851"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4" name="TextBox 43"/>
          <p:cNvSpPr txBox="1"/>
          <p:nvPr/>
        </p:nvSpPr>
        <p:spPr>
          <a:xfrm>
            <a:off x="3058667"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5" name="Rounded Rectangle 44"/>
          <p:cNvSpPr/>
          <p:nvPr/>
        </p:nvSpPr>
        <p:spPr>
          <a:xfrm>
            <a:off x="4713731"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5536692"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7" name="TextBox 46"/>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Round 0</a:t>
            </a:r>
          </a:p>
        </p:txBody>
      </p:sp>
      <p:sp>
        <p:nvSpPr>
          <p:cNvPr id="48" name="TextBox 47"/>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union the input equalities, in parallel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1</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17219"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16835"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16451"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1606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15683"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92707" y="2907791"/>
            <a:ext cx="2011680" cy="95097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2" name="Rounded Rectangle 11"/>
          <p:cNvSpPr/>
          <p:nvPr/>
        </p:nvSpPr>
        <p:spPr>
          <a:xfrm>
            <a:off x="5527547" y="2907791"/>
            <a:ext cx="2011680" cy="95097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3" name="Rounded Rectangle 12"/>
          <p:cNvSpPr/>
          <p:nvPr/>
        </p:nvSpPr>
        <p:spPr>
          <a:xfrm>
            <a:off x="2994659" y="1581912"/>
            <a:ext cx="125272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4" name="Rounded Rectangle 13"/>
          <p:cNvSpPr/>
          <p:nvPr/>
        </p:nvSpPr>
        <p:spPr>
          <a:xfrm>
            <a:off x="4658868" y="1581912"/>
            <a:ext cx="125272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cxnSp>
        <p:nvCxnSpPr>
          <p:cNvPr id="15" name="Connector 14"/>
          <p:cNvCxnSpPr/>
          <p:nvPr/>
        </p:nvCxnSpPr>
        <p:spPr>
          <a:xfrm flipH="1">
            <a:off x="1010411" y="3803903"/>
            <a:ext cx="539496" cy="1106425"/>
          </a:xfrm>
          <a:prstGeom prst="line">
            <a:avLst/>
          </a:prstGeom>
          <a:ln w="15875">
            <a:solidFill>
              <a:srgbClr val="8A8F98"/>
            </a:solidFill>
          </a:ln>
          <a:effectLst/>
        </p:spPr>
      </p:cxnSp>
      <p:cxnSp>
        <p:nvCxnSpPr>
          <p:cNvPr id="16" name="Connector 15"/>
          <p:cNvCxnSpPr/>
          <p:nvPr/>
        </p:nvCxnSpPr>
        <p:spPr>
          <a:xfrm>
            <a:off x="1549907" y="3803903"/>
            <a:ext cx="960120" cy="1106425"/>
          </a:xfrm>
          <a:prstGeom prst="line">
            <a:avLst/>
          </a:prstGeom>
          <a:ln w="15875">
            <a:solidFill>
              <a:srgbClr val="8A8F98"/>
            </a:solidFill>
          </a:ln>
          <a:effectLst/>
        </p:spPr>
      </p:cxnSp>
      <p:cxnSp>
        <p:nvCxnSpPr>
          <p:cNvPr id="17" name="Connector 16"/>
          <p:cNvCxnSpPr/>
          <p:nvPr/>
        </p:nvCxnSpPr>
        <p:spPr>
          <a:xfrm flipH="1">
            <a:off x="1632203" y="3803903"/>
            <a:ext cx="1014984" cy="1106425"/>
          </a:xfrm>
          <a:prstGeom prst="line">
            <a:avLst/>
          </a:prstGeom>
          <a:ln w="15875">
            <a:solidFill>
              <a:srgbClr val="8A8F98"/>
            </a:solidFill>
          </a:ln>
          <a:effectLst/>
        </p:spPr>
      </p:cxnSp>
      <p:cxnSp>
        <p:nvCxnSpPr>
          <p:cNvPr id="18" name="Connector 17"/>
          <p:cNvCxnSpPr/>
          <p:nvPr/>
        </p:nvCxnSpPr>
        <p:spPr>
          <a:xfrm>
            <a:off x="2647187" y="3803903"/>
            <a:ext cx="484632" cy="1106425"/>
          </a:xfrm>
          <a:prstGeom prst="line">
            <a:avLst/>
          </a:prstGeom>
          <a:ln w="15875">
            <a:solidFill>
              <a:srgbClr val="8A8F98"/>
            </a:solidFill>
          </a:ln>
          <a:effectLst/>
        </p:spPr>
      </p:cxnSp>
      <p:cxnSp>
        <p:nvCxnSpPr>
          <p:cNvPr id="19" name="Connector 18"/>
          <p:cNvCxnSpPr/>
          <p:nvPr/>
        </p:nvCxnSpPr>
        <p:spPr>
          <a:xfrm flipH="1">
            <a:off x="5509259" y="3803903"/>
            <a:ext cx="475488" cy="1106425"/>
          </a:xfrm>
          <a:prstGeom prst="line">
            <a:avLst/>
          </a:prstGeom>
          <a:ln w="15875">
            <a:solidFill>
              <a:srgbClr val="8A8F98"/>
            </a:solidFill>
          </a:ln>
          <a:effectLst/>
        </p:spPr>
      </p:cxnSp>
      <p:cxnSp>
        <p:nvCxnSpPr>
          <p:cNvPr id="20" name="Connector 19"/>
          <p:cNvCxnSpPr/>
          <p:nvPr/>
        </p:nvCxnSpPr>
        <p:spPr>
          <a:xfrm>
            <a:off x="5984747" y="3803903"/>
            <a:ext cx="1024128" cy="1106425"/>
          </a:xfrm>
          <a:prstGeom prst="line">
            <a:avLst/>
          </a:prstGeom>
          <a:ln w="15875">
            <a:solidFill>
              <a:srgbClr val="8A8F98"/>
            </a:solidFill>
          </a:ln>
          <a:effectLst/>
        </p:spPr>
      </p:cxnSp>
      <p:cxnSp>
        <p:nvCxnSpPr>
          <p:cNvPr id="21" name="Connector 20"/>
          <p:cNvCxnSpPr/>
          <p:nvPr/>
        </p:nvCxnSpPr>
        <p:spPr>
          <a:xfrm flipH="1">
            <a:off x="6131051" y="3803903"/>
            <a:ext cx="950976" cy="1106425"/>
          </a:xfrm>
          <a:prstGeom prst="line">
            <a:avLst/>
          </a:prstGeom>
          <a:ln w="15875">
            <a:solidFill>
              <a:srgbClr val="8A8F98"/>
            </a:solidFill>
          </a:ln>
          <a:effectLst/>
        </p:spPr>
      </p:cxnSp>
      <p:cxnSp>
        <p:nvCxnSpPr>
          <p:cNvPr id="22" name="Connector 21"/>
          <p:cNvCxnSpPr/>
          <p:nvPr/>
        </p:nvCxnSpPr>
        <p:spPr>
          <a:xfrm>
            <a:off x="7082027" y="3803903"/>
            <a:ext cx="548640" cy="1106425"/>
          </a:xfrm>
          <a:prstGeom prst="line">
            <a:avLst/>
          </a:prstGeom>
          <a:ln w="15875">
            <a:solidFill>
              <a:srgbClr val="8A8F98"/>
            </a:solidFill>
          </a:ln>
          <a:effectLst/>
        </p:spPr>
      </p:cxnSp>
      <p:cxnSp>
        <p:nvCxnSpPr>
          <p:cNvPr id="23" name="Connector 22"/>
          <p:cNvCxnSpPr/>
          <p:nvPr/>
        </p:nvCxnSpPr>
        <p:spPr>
          <a:xfrm>
            <a:off x="3790187" y="2203704"/>
            <a:ext cx="219457" cy="2706624"/>
          </a:xfrm>
          <a:prstGeom prst="line">
            <a:avLst/>
          </a:prstGeom>
          <a:ln w="15875">
            <a:solidFill>
              <a:srgbClr val="8A8F98"/>
            </a:solidFill>
          </a:ln>
          <a:effectLst/>
        </p:spPr>
      </p:cxnSp>
      <p:cxnSp>
        <p:nvCxnSpPr>
          <p:cNvPr id="24" name="Connector 23"/>
          <p:cNvCxnSpPr/>
          <p:nvPr/>
        </p:nvCxnSpPr>
        <p:spPr>
          <a:xfrm flipH="1">
            <a:off x="1549907" y="2203704"/>
            <a:ext cx="2240280" cy="749807"/>
          </a:xfrm>
          <a:prstGeom prst="line">
            <a:avLst/>
          </a:prstGeom>
          <a:ln w="15875">
            <a:solidFill>
              <a:srgbClr val="8A8F98"/>
            </a:solidFill>
          </a:ln>
          <a:effectLst/>
        </p:spPr>
      </p:cxnSp>
      <p:cxnSp>
        <p:nvCxnSpPr>
          <p:cNvPr id="25" name="Connector 24"/>
          <p:cNvCxnSpPr/>
          <p:nvPr/>
        </p:nvCxnSpPr>
        <p:spPr>
          <a:xfrm>
            <a:off x="3790187" y="2203704"/>
            <a:ext cx="2194560" cy="749807"/>
          </a:xfrm>
          <a:prstGeom prst="line">
            <a:avLst/>
          </a:prstGeom>
          <a:ln w="15875">
            <a:solidFill>
              <a:srgbClr val="8A8F98"/>
            </a:solidFill>
          </a:ln>
          <a:effectLst/>
        </p:spPr>
      </p:cxnSp>
      <p:cxnSp>
        <p:nvCxnSpPr>
          <p:cNvPr id="26" name="Connector 25"/>
          <p:cNvCxnSpPr/>
          <p:nvPr/>
        </p:nvCxnSpPr>
        <p:spPr>
          <a:xfrm flipH="1">
            <a:off x="4631436" y="2203704"/>
            <a:ext cx="484632" cy="2706624"/>
          </a:xfrm>
          <a:prstGeom prst="line">
            <a:avLst/>
          </a:prstGeom>
          <a:ln w="15875">
            <a:solidFill>
              <a:srgbClr val="8A8F98"/>
            </a:solidFill>
          </a:ln>
          <a:effectLst/>
        </p:spPr>
      </p:cxnSp>
      <p:cxnSp>
        <p:nvCxnSpPr>
          <p:cNvPr id="27" name="Connector 26"/>
          <p:cNvCxnSpPr/>
          <p:nvPr/>
        </p:nvCxnSpPr>
        <p:spPr>
          <a:xfrm flipH="1">
            <a:off x="2647187" y="2203704"/>
            <a:ext cx="2468881" cy="749807"/>
          </a:xfrm>
          <a:prstGeom prst="line">
            <a:avLst/>
          </a:prstGeom>
          <a:ln w="15875">
            <a:solidFill>
              <a:srgbClr val="8A8F98"/>
            </a:solidFill>
          </a:ln>
          <a:effectLst/>
        </p:spPr>
      </p:cxnSp>
      <p:cxnSp>
        <p:nvCxnSpPr>
          <p:cNvPr id="28" name="Connector 27"/>
          <p:cNvCxnSpPr/>
          <p:nvPr/>
        </p:nvCxnSpPr>
        <p:spPr>
          <a:xfrm>
            <a:off x="5116068" y="2203704"/>
            <a:ext cx="1965959" cy="749807"/>
          </a:xfrm>
          <a:prstGeom prst="line">
            <a:avLst/>
          </a:prstGeom>
          <a:ln w="15875">
            <a:solidFill>
              <a:srgbClr val="8A8F98"/>
            </a:solidFill>
          </a:ln>
          <a:effectLst/>
        </p:spPr>
      </p:cxnSp>
      <p:sp>
        <p:nvSpPr>
          <p:cNvPr id="29" name="Rounded Rectangle 28"/>
          <p:cNvSpPr/>
          <p:nvPr/>
        </p:nvSpPr>
        <p:spPr>
          <a:xfrm>
            <a:off x="736091"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1357883"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1" name="Rounded Rectangle 30"/>
          <p:cNvSpPr/>
          <p:nvPr/>
        </p:nvSpPr>
        <p:spPr>
          <a:xfrm>
            <a:off x="223570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285749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3" name="Rounded Rectangle 32"/>
          <p:cNvSpPr/>
          <p:nvPr/>
        </p:nvSpPr>
        <p:spPr>
          <a:xfrm>
            <a:off x="373532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435711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5" name="Rounded Rectangle 34"/>
          <p:cNvSpPr/>
          <p:nvPr/>
        </p:nvSpPr>
        <p:spPr>
          <a:xfrm>
            <a:off x="523494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5856731"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7" name="Rounded Rectangle 36"/>
          <p:cNvSpPr/>
          <p:nvPr/>
        </p:nvSpPr>
        <p:spPr>
          <a:xfrm>
            <a:off x="6734555"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735634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9" name="Rounded Rectangle 38"/>
          <p:cNvSpPr/>
          <p:nvPr/>
        </p:nvSpPr>
        <p:spPr>
          <a:xfrm>
            <a:off x="1147571"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113842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1" name="Rounded Rectangle 40"/>
          <p:cNvSpPr/>
          <p:nvPr/>
        </p:nvSpPr>
        <p:spPr>
          <a:xfrm>
            <a:off x="2244851"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2" name="TextBox 41"/>
          <p:cNvSpPr txBox="1"/>
          <p:nvPr/>
        </p:nvSpPr>
        <p:spPr>
          <a:xfrm>
            <a:off x="223570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3" name="Rounded Rectangle 42"/>
          <p:cNvSpPr/>
          <p:nvPr/>
        </p:nvSpPr>
        <p:spPr>
          <a:xfrm>
            <a:off x="5582411"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557326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5" name="Rounded Rectangle 44"/>
          <p:cNvSpPr/>
          <p:nvPr/>
        </p:nvSpPr>
        <p:spPr>
          <a:xfrm>
            <a:off x="6679691"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6" name="TextBox 45"/>
          <p:cNvSpPr txBox="1"/>
          <p:nvPr/>
        </p:nvSpPr>
        <p:spPr>
          <a:xfrm>
            <a:off x="667054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7" name="Rounded Rectangle 46"/>
          <p:cNvSpPr/>
          <p:nvPr/>
        </p:nvSpPr>
        <p:spPr>
          <a:xfrm>
            <a:off x="3387851"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3058667"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9" name="Rounded Rectangle 48"/>
          <p:cNvSpPr/>
          <p:nvPr/>
        </p:nvSpPr>
        <p:spPr>
          <a:xfrm>
            <a:off x="4713731"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50" name="TextBox 49"/>
          <p:cNvSpPr txBox="1"/>
          <p:nvPr/>
        </p:nvSpPr>
        <p:spPr>
          <a:xfrm>
            <a:off x="5536692"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1" name="TextBox 50"/>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Round 1</a:t>
            </a:r>
          </a:p>
        </p:txBody>
      </p:sp>
      <p:sp>
        <p:nvSpPr>
          <p:cNvPr id="52" name="TextBox 51"/>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first round: every gate is a candidate</a:t>
            </a:r>
          </a:p>
          <a:p>
            <a:pPr marL="274320" indent="-237744">
              <a:spcBef>
                <a:spcPts val="500"/>
              </a:spcBef>
              <a:buClr>
                <a:srgbClr val="6B717A"/>
              </a:buClr>
              <a:buChar char="•"/>
            </a:pPr>
            <a:r>
              <a:rPr sz="1600" b="0" i="0">
                <a:solidFill>
                  <a:srgbClr val="2B2F36"/>
                </a:solidFill>
                <a:latin typeface="Calibri"/>
              </a:rPr>
              <a:t>groups by signature</a:t>
            </a:r>
          </a:p>
          <a:p>
            <a:pPr marL="585216" indent="-237744">
              <a:spcBef>
                <a:spcPts val="200"/>
              </a:spcBef>
              <a:buClr>
                <a:srgbClr val="6B717A"/>
              </a:buClr>
              <a:buChar char="–"/>
            </a:pPr>
            <a:r>
              <a:rPr sz="1300" b="0" i="0">
                <a:solidFill>
                  <a:srgbClr val="2B2F36"/>
                </a:solidFill>
                <a:latin typeface="Calibri"/>
              </a:rPr>
              <a:t>{a₁, a₂}   {x₁, x₂}   {m₁}   {m₂}</a:t>
            </a:r>
          </a:p>
        </p:txBody>
      </p:sp>
      <p:sp>
        <p:nvSpPr>
          <p:cNvPr id="53" name="Rounded Rectangle 52"/>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4" name="TextBox 53"/>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candidate</a:t>
            </a:r>
          </a:p>
        </p:txBody>
      </p:sp>
      <p:sp>
        <p:nvSpPr>
          <p:cNvPr id="55" name="Rounded Rectangle 54"/>
          <p:cNvSpPr/>
          <p:nvPr/>
        </p:nvSpPr>
        <p:spPr>
          <a:xfrm>
            <a:off x="2194560" y="5943600"/>
            <a:ext cx="329184" cy="219456"/>
          </a:xfrm>
          <a:prstGeom prst="roundRect">
            <a:avLst>
              <a:gd name="adj" fmla="val 15000"/>
            </a:avLst>
          </a:prstGeom>
          <a:noFill/>
          <a:ln w="22225">
            <a:solidFill>
              <a:srgbClr val="7B4FB5"/>
            </a:solidFill>
            <a:prstDash val="sysDot"/>
          </a:ln>
          <a:effectLst/>
        </p:spPr>
        <p:txBody>
          <a:bodyPr rtlCol="0" anchor="ctr" lIns="54864" rIns="54864" tIns="27432" bIns="27432" wrap="square"/>
          <a:lstStyle/>
          <a:p>
            <a:pPr algn="ctr"/>
          </a:p>
        </p:txBody>
      </p:sp>
      <p:sp>
        <p:nvSpPr>
          <p:cNvPr id="56" name="TextBox 55"/>
          <p:cNvSpPr txBox="1"/>
          <p:nvPr/>
        </p:nvSpPr>
        <p:spPr>
          <a:xfrm>
            <a:off x="257860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signature group</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1</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17219"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16835"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16451"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1606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15683"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28699"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5463539"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cxnSp>
        <p:nvCxnSpPr>
          <p:cNvPr id="13" name="Connector 12"/>
          <p:cNvCxnSpPr/>
          <p:nvPr/>
        </p:nvCxnSpPr>
        <p:spPr>
          <a:xfrm flipH="1">
            <a:off x="1010411" y="3803903"/>
            <a:ext cx="539496" cy="1106425"/>
          </a:xfrm>
          <a:prstGeom prst="line">
            <a:avLst/>
          </a:prstGeom>
          <a:ln w="15875">
            <a:solidFill>
              <a:srgbClr val="8A8F98"/>
            </a:solidFill>
          </a:ln>
          <a:effectLst/>
        </p:spPr>
      </p:cxnSp>
      <p:cxnSp>
        <p:nvCxnSpPr>
          <p:cNvPr id="14" name="Connector 13"/>
          <p:cNvCxnSpPr/>
          <p:nvPr/>
        </p:nvCxnSpPr>
        <p:spPr>
          <a:xfrm>
            <a:off x="1549907" y="3803903"/>
            <a:ext cx="960120" cy="1106425"/>
          </a:xfrm>
          <a:prstGeom prst="line">
            <a:avLst/>
          </a:prstGeom>
          <a:ln w="15875">
            <a:solidFill>
              <a:srgbClr val="8A8F98"/>
            </a:solidFill>
          </a:ln>
          <a:effectLst/>
        </p:spPr>
      </p:cxnSp>
      <p:cxnSp>
        <p:nvCxnSpPr>
          <p:cNvPr id="15" name="Connector 14"/>
          <p:cNvCxnSpPr/>
          <p:nvPr/>
        </p:nvCxnSpPr>
        <p:spPr>
          <a:xfrm flipH="1">
            <a:off x="1632203" y="3803903"/>
            <a:ext cx="1014984" cy="1106425"/>
          </a:xfrm>
          <a:prstGeom prst="line">
            <a:avLst/>
          </a:prstGeom>
          <a:ln w="15875">
            <a:solidFill>
              <a:srgbClr val="8A8F98"/>
            </a:solidFill>
          </a:ln>
          <a:effectLst/>
        </p:spPr>
      </p:cxnSp>
      <p:cxnSp>
        <p:nvCxnSpPr>
          <p:cNvPr id="16" name="Connector 15"/>
          <p:cNvCxnSpPr/>
          <p:nvPr/>
        </p:nvCxnSpPr>
        <p:spPr>
          <a:xfrm>
            <a:off x="2647187" y="3803903"/>
            <a:ext cx="484632" cy="1106425"/>
          </a:xfrm>
          <a:prstGeom prst="line">
            <a:avLst/>
          </a:prstGeom>
          <a:ln w="15875">
            <a:solidFill>
              <a:srgbClr val="8A8F98"/>
            </a:solidFill>
          </a:ln>
          <a:effectLst/>
        </p:spPr>
      </p:cxnSp>
      <p:cxnSp>
        <p:nvCxnSpPr>
          <p:cNvPr id="17" name="Connector 16"/>
          <p:cNvCxnSpPr/>
          <p:nvPr/>
        </p:nvCxnSpPr>
        <p:spPr>
          <a:xfrm flipH="1">
            <a:off x="5509259" y="3803903"/>
            <a:ext cx="475488" cy="1106425"/>
          </a:xfrm>
          <a:prstGeom prst="line">
            <a:avLst/>
          </a:prstGeom>
          <a:ln w="15875">
            <a:solidFill>
              <a:srgbClr val="8A8F98"/>
            </a:solidFill>
          </a:ln>
          <a:effectLst/>
        </p:spPr>
      </p:cxnSp>
      <p:cxnSp>
        <p:nvCxnSpPr>
          <p:cNvPr id="18" name="Connector 17"/>
          <p:cNvCxnSpPr/>
          <p:nvPr/>
        </p:nvCxnSpPr>
        <p:spPr>
          <a:xfrm>
            <a:off x="5984747" y="3803903"/>
            <a:ext cx="1024128" cy="1106425"/>
          </a:xfrm>
          <a:prstGeom prst="line">
            <a:avLst/>
          </a:prstGeom>
          <a:ln w="15875">
            <a:solidFill>
              <a:srgbClr val="8A8F98"/>
            </a:solidFill>
          </a:ln>
          <a:effectLst/>
        </p:spPr>
      </p:cxnSp>
      <p:cxnSp>
        <p:nvCxnSpPr>
          <p:cNvPr id="19" name="Connector 18"/>
          <p:cNvCxnSpPr/>
          <p:nvPr/>
        </p:nvCxnSpPr>
        <p:spPr>
          <a:xfrm flipH="1">
            <a:off x="6131051" y="3803903"/>
            <a:ext cx="950976" cy="1106425"/>
          </a:xfrm>
          <a:prstGeom prst="line">
            <a:avLst/>
          </a:prstGeom>
          <a:ln w="15875">
            <a:solidFill>
              <a:srgbClr val="8A8F98"/>
            </a:solidFill>
          </a:ln>
          <a:effectLst/>
        </p:spPr>
      </p:cxnSp>
      <p:cxnSp>
        <p:nvCxnSpPr>
          <p:cNvPr id="20" name="Connector 19"/>
          <p:cNvCxnSpPr/>
          <p:nvPr/>
        </p:nvCxnSpPr>
        <p:spPr>
          <a:xfrm>
            <a:off x="7082027" y="3803903"/>
            <a:ext cx="548640" cy="1106425"/>
          </a:xfrm>
          <a:prstGeom prst="line">
            <a:avLst/>
          </a:prstGeom>
          <a:ln w="15875">
            <a:solidFill>
              <a:srgbClr val="8A8F98"/>
            </a:solidFill>
          </a:ln>
          <a:effectLst/>
        </p:spPr>
      </p:cxnSp>
      <p:cxnSp>
        <p:nvCxnSpPr>
          <p:cNvPr id="21" name="Connector 20"/>
          <p:cNvCxnSpPr/>
          <p:nvPr/>
        </p:nvCxnSpPr>
        <p:spPr>
          <a:xfrm>
            <a:off x="3790187" y="2203704"/>
            <a:ext cx="219457" cy="2706624"/>
          </a:xfrm>
          <a:prstGeom prst="line">
            <a:avLst/>
          </a:prstGeom>
          <a:ln w="15875">
            <a:solidFill>
              <a:srgbClr val="8A8F98"/>
            </a:solidFill>
          </a:ln>
          <a:effectLst/>
        </p:spPr>
      </p:cxnSp>
      <p:cxnSp>
        <p:nvCxnSpPr>
          <p:cNvPr id="22" name="Connector 21"/>
          <p:cNvCxnSpPr/>
          <p:nvPr/>
        </p:nvCxnSpPr>
        <p:spPr>
          <a:xfrm flipH="1">
            <a:off x="1549907" y="2203704"/>
            <a:ext cx="2240280" cy="749807"/>
          </a:xfrm>
          <a:prstGeom prst="line">
            <a:avLst/>
          </a:prstGeom>
          <a:ln w="15875">
            <a:solidFill>
              <a:srgbClr val="8A8F98"/>
            </a:solidFill>
          </a:ln>
          <a:effectLst/>
        </p:spPr>
      </p:cxnSp>
      <p:cxnSp>
        <p:nvCxnSpPr>
          <p:cNvPr id="23" name="Connector 22"/>
          <p:cNvCxnSpPr/>
          <p:nvPr/>
        </p:nvCxnSpPr>
        <p:spPr>
          <a:xfrm>
            <a:off x="3790187" y="2203704"/>
            <a:ext cx="2194560" cy="749807"/>
          </a:xfrm>
          <a:prstGeom prst="line">
            <a:avLst/>
          </a:prstGeom>
          <a:ln w="15875">
            <a:solidFill>
              <a:srgbClr val="8A8F98"/>
            </a:solidFill>
          </a:ln>
          <a:effectLst/>
        </p:spPr>
      </p:cxnSp>
      <p:cxnSp>
        <p:nvCxnSpPr>
          <p:cNvPr id="24" name="Connector 23"/>
          <p:cNvCxnSpPr/>
          <p:nvPr/>
        </p:nvCxnSpPr>
        <p:spPr>
          <a:xfrm flipH="1">
            <a:off x="4631436" y="2203704"/>
            <a:ext cx="484632" cy="2706624"/>
          </a:xfrm>
          <a:prstGeom prst="line">
            <a:avLst/>
          </a:prstGeom>
          <a:ln w="15875">
            <a:solidFill>
              <a:srgbClr val="8A8F98"/>
            </a:solidFill>
          </a:ln>
          <a:effectLst/>
        </p:spPr>
      </p:cxnSp>
      <p:cxnSp>
        <p:nvCxnSpPr>
          <p:cNvPr id="25" name="Connector 24"/>
          <p:cNvCxnSpPr/>
          <p:nvPr/>
        </p:nvCxnSpPr>
        <p:spPr>
          <a:xfrm flipH="1">
            <a:off x="2647187" y="2203704"/>
            <a:ext cx="2468881" cy="749807"/>
          </a:xfrm>
          <a:prstGeom prst="line">
            <a:avLst/>
          </a:prstGeom>
          <a:ln w="15875">
            <a:solidFill>
              <a:srgbClr val="8A8F98"/>
            </a:solidFill>
          </a:ln>
          <a:effectLst/>
        </p:spPr>
      </p:cxnSp>
      <p:cxnSp>
        <p:nvCxnSpPr>
          <p:cNvPr id="26" name="Connector 25"/>
          <p:cNvCxnSpPr/>
          <p:nvPr/>
        </p:nvCxnSpPr>
        <p:spPr>
          <a:xfrm>
            <a:off x="5116068" y="2203704"/>
            <a:ext cx="1965959" cy="749807"/>
          </a:xfrm>
          <a:prstGeom prst="line">
            <a:avLst/>
          </a:prstGeom>
          <a:ln w="15875">
            <a:solidFill>
              <a:srgbClr val="8A8F98"/>
            </a:solidFill>
          </a:ln>
          <a:effectLst/>
        </p:spPr>
      </p:cxnSp>
      <p:sp>
        <p:nvSpPr>
          <p:cNvPr id="27" name="Rounded Rectangle 26"/>
          <p:cNvSpPr/>
          <p:nvPr/>
        </p:nvSpPr>
        <p:spPr>
          <a:xfrm>
            <a:off x="736091"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1357883"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223570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285749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373532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435711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523494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5856731"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6734555"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735634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1147571"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113842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9" name="Rounded Rectangle 38"/>
          <p:cNvSpPr/>
          <p:nvPr/>
        </p:nvSpPr>
        <p:spPr>
          <a:xfrm>
            <a:off x="2244851"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223570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1" name="Rounded Rectangle 40"/>
          <p:cNvSpPr/>
          <p:nvPr/>
        </p:nvSpPr>
        <p:spPr>
          <a:xfrm>
            <a:off x="5582411"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557326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3" name="Rounded Rectangle 42"/>
          <p:cNvSpPr/>
          <p:nvPr/>
        </p:nvSpPr>
        <p:spPr>
          <a:xfrm>
            <a:off x="6679691"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667054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5" name="Rounded Rectangle 44"/>
          <p:cNvSpPr/>
          <p:nvPr/>
        </p:nvSpPr>
        <p:spPr>
          <a:xfrm>
            <a:off x="3387851"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3058667"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7" name="Rounded Rectangle 46"/>
          <p:cNvSpPr/>
          <p:nvPr/>
        </p:nvSpPr>
        <p:spPr>
          <a:xfrm>
            <a:off x="4713731"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5536692"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9" name="TextBox 48"/>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Round 1</a:t>
            </a:r>
          </a:p>
        </p:txBody>
      </p:sp>
      <p:sp>
        <p:nvSpPr>
          <p:cNvPr id="50" name="TextBox 49"/>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merge each group with two members</a:t>
            </a:r>
          </a:p>
          <a:p>
            <a:pPr marL="585216" indent="-237744">
              <a:spcBef>
                <a:spcPts val="200"/>
              </a:spcBef>
              <a:buClr>
                <a:srgbClr val="6B717A"/>
              </a:buClr>
              <a:buChar char="–"/>
            </a:pPr>
            <a:r>
              <a:rPr sz="1300" b="0" i="0">
                <a:solidFill>
                  <a:srgbClr val="2B2F36"/>
                </a:solidFill>
                <a:latin typeface="Calibri"/>
              </a:rPr>
              <a:t>a₁ ≡ a₂   ∥   x₁ ≡ x₂</a:t>
            </a:r>
          </a:p>
        </p:txBody>
      </p:sp>
      <p:sp>
        <p:nvSpPr>
          <p:cNvPr id="51" name="Rounded Rectangle 50"/>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2" name="TextBox 51"/>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merged this round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2</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30</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17219"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16835"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16451"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1606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15683"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28699"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5463539"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2994659" y="1581912"/>
            <a:ext cx="2916936"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cxnSp>
        <p:nvCxnSpPr>
          <p:cNvPr id="14" name="Connector 13"/>
          <p:cNvCxnSpPr/>
          <p:nvPr/>
        </p:nvCxnSpPr>
        <p:spPr>
          <a:xfrm flipH="1">
            <a:off x="1010411" y="3803903"/>
            <a:ext cx="539496" cy="1106425"/>
          </a:xfrm>
          <a:prstGeom prst="line">
            <a:avLst/>
          </a:prstGeom>
          <a:ln w="15875">
            <a:solidFill>
              <a:srgbClr val="8A8F98"/>
            </a:solidFill>
          </a:ln>
          <a:effectLst/>
        </p:spPr>
      </p:cxnSp>
      <p:cxnSp>
        <p:nvCxnSpPr>
          <p:cNvPr id="15" name="Connector 14"/>
          <p:cNvCxnSpPr/>
          <p:nvPr/>
        </p:nvCxnSpPr>
        <p:spPr>
          <a:xfrm>
            <a:off x="1549907" y="3803903"/>
            <a:ext cx="960120" cy="1106425"/>
          </a:xfrm>
          <a:prstGeom prst="line">
            <a:avLst/>
          </a:prstGeom>
          <a:ln w="15875">
            <a:solidFill>
              <a:srgbClr val="8A8F98"/>
            </a:solidFill>
          </a:ln>
          <a:effectLst/>
        </p:spPr>
      </p:cxnSp>
      <p:cxnSp>
        <p:nvCxnSpPr>
          <p:cNvPr id="16" name="Connector 15"/>
          <p:cNvCxnSpPr/>
          <p:nvPr/>
        </p:nvCxnSpPr>
        <p:spPr>
          <a:xfrm flipH="1">
            <a:off x="1632203" y="3803903"/>
            <a:ext cx="1014984" cy="1106425"/>
          </a:xfrm>
          <a:prstGeom prst="line">
            <a:avLst/>
          </a:prstGeom>
          <a:ln w="15875">
            <a:solidFill>
              <a:srgbClr val="8A8F98"/>
            </a:solidFill>
          </a:ln>
          <a:effectLst/>
        </p:spPr>
      </p:cxnSp>
      <p:cxnSp>
        <p:nvCxnSpPr>
          <p:cNvPr id="17" name="Connector 16"/>
          <p:cNvCxnSpPr/>
          <p:nvPr/>
        </p:nvCxnSpPr>
        <p:spPr>
          <a:xfrm>
            <a:off x="2647187" y="3803903"/>
            <a:ext cx="484632" cy="1106425"/>
          </a:xfrm>
          <a:prstGeom prst="line">
            <a:avLst/>
          </a:prstGeom>
          <a:ln w="15875">
            <a:solidFill>
              <a:srgbClr val="8A8F98"/>
            </a:solidFill>
          </a:ln>
          <a:effectLst/>
        </p:spPr>
      </p:cxnSp>
      <p:cxnSp>
        <p:nvCxnSpPr>
          <p:cNvPr id="18" name="Connector 17"/>
          <p:cNvCxnSpPr/>
          <p:nvPr/>
        </p:nvCxnSpPr>
        <p:spPr>
          <a:xfrm flipH="1">
            <a:off x="5509259" y="3803903"/>
            <a:ext cx="475488" cy="1106425"/>
          </a:xfrm>
          <a:prstGeom prst="line">
            <a:avLst/>
          </a:prstGeom>
          <a:ln w="15875">
            <a:solidFill>
              <a:srgbClr val="8A8F98"/>
            </a:solidFill>
          </a:ln>
          <a:effectLst/>
        </p:spPr>
      </p:cxnSp>
      <p:cxnSp>
        <p:nvCxnSpPr>
          <p:cNvPr id="19" name="Connector 18"/>
          <p:cNvCxnSpPr/>
          <p:nvPr/>
        </p:nvCxnSpPr>
        <p:spPr>
          <a:xfrm>
            <a:off x="5984747" y="3803903"/>
            <a:ext cx="1024128" cy="1106425"/>
          </a:xfrm>
          <a:prstGeom prst="line">
            <a:avLst/>
          </a:prstGeom>
          <a:ln w="15875">
            <a:solidFill>
              <a:srgbClr val="8A8F98"/>
            </a:solidFill>
          </a:ln>
          <a:effectLst/>
        </p:spPr>
      </p:cxnSp>
      <p:cxnSp>
        <p:nvCxnSpPr>
          <p:cNvPr id="20" name="Connector 19"/>
          <p:cNvCxnSpPr/>
          <p:nvPr/>
        </p:nvCxnSpPr>
        <p:spPr>
          <a:xfrm flipH="1">
            <a:off x="6131051" y="3803903"/>
            <a:ext cx="950976" cy="1106425"/>
          </a:xfrm>
          <a:prstGeom prst="line">
            <a:avLst/>
          </a:prstGeom>
          <a:ln w="15875">
            <a:solidFill>
              <a:srgbClr val="8A8F98"/>
            </a:solidFill>
          </a:ln>
          <a:effectLst/>
        </p:spPr>
      </p:cxnSp>
      <p:cxnSp>
        <p:nvCxnSpPr>
          <p:cNvPr id="21" name="Connector 20"/>
          <p:cNvCxnSpPr/>
          <p:nvPr/>
        </p:nvCxnSpPr>
        <p:spPr>
          <a:xfrm>
            <a:off x="7082027" y="3803903"/>
            <a:ext cx="548640" cy="1106425"/>
          </a:xfrm>
          <a:prstGeom prst="line">
            <a:avLst/>
          </a:prstGeom>
          <a:ln w="15875">
            <a:solidFill>
              <a:srgbClr val="8A8F98"/>
            </a:solidFill>
          </a:ln>
          <a:effectLst/>
        </p:spPr>
      </p:cxnSp>
      <p:cxnSp>
        <p:nvCxnSpPr>
          <p:cNvPr id="22" name="Connector 21"/>
          <p:cNvCxnSpPr/>
          <p:nvPr/>
        </p:nvCxnSpPr>
        <p:spPr>
          <a:xfrm>
            <a:off x="3790187" y="2203704"/>
            <a:ext cx="219457" cy="2706624"/>
          </a:xfrm>
          <a:prstGeom prst="line">
            <a:avLst/>
          </a:prstGeom>
          <a:ln w="15875">
            <a:solidFill>
              <a:srgbClr val="8A8F98"/>
            </a:solidFill>
          </a:ln>
          <a:effectLst/>
        </p:spPr>
      </p:cxnSp>
      <p:cxnSp>
        <p:nvCxnSpPr>
          <p:cNvPr id="23" name="Connector 22"/>
          <p:cNvCxnSpPr/>
          <p:nvPr/>
        </p:nvCxnSpPr>
        <p:spPr>
          <a:xfrm flipH="1">
            <a:off x="1549907" y="2203704"/>
            <a:ext cx="2240280" cy="749807"/>
          </a:xfrm>
          <a:prstGeom prst="line">
            <a:avLst/>
          </a:prstGeom>
          <a:ln w="15875">
            <a:solidFill>
              <a:srgbClr val="8A8F98"/>
            </a:solidFill>
          </a:ln>
          <a:effectLst/>
        </p:spPr>
      </p:cxnSp>
      <p:cxnSp>
        <p:nvCxnSpPr>
          <p:cNvPr id="24" name="Connector 23"/>
          <p:cNvCxnSpPr/>
          <p:nvPr/>
        </p:nvCxnSpPr>
        <p:spPr>
          <a:xfrm>
            <a:off x="3790187" y="2203704"/>
            <a:ext cx="2194560" cy="749807"/>
          </a:xfrm>
          <a:prstGeom prst="line">
            <a:avLst/>
          </a:prstGeom>
          <a:ln w="15875">
            <a:solidFill>
              <a:srgbClr val="8A8F98"/>
            </a:solidFill>
          </a:ln>
          <a:effectLst/>
        </p:spPr>
      </p:cxnSp>
      <p:cxnSp>
        <p:nvCxnSpPr>
          <p:cNvPr id="25" name="Connector 24"/>
          <p:cNvCxnSpPr/>
          <p:nvPr/>
        </p:nvCxnSpPr>
        <p:spPr>
          <a:xfrm flipH="1">
            <a:off x="4631436" y="2203704"/>
            <a:ext cx="484632" cy="2706624"/>
          </a:xfrm>
          <a:prstGeom prst="line">
            <a:avLst/>
          </a:prstGeom>
          <a:ln w="15875">
            <a:solidFill>
              <a:srgbClr val="8A8F98"/>
            </a:solidFill>
          </a:ln>
          <a:effectLst/>
        </p:spPr>
      </p:cxnSp>
      <p:cxnSp>
        <p:nvCxnSpPr>
          <p:cNvPr id="26" name="Connector 25"/>
          <p:cNvCxnSpPr/>
          <p:nvPr/>
        </p:nvCxnSpPr>
        <p:spPr>
          <a:xfrm flipH="1">
            <a:off x="2647187" y="2203704"/>
            <a:ext cx="2468881" cy="749807"/>
          </a:xfrm>
          <a:prstGeom prst="line">
            <a:avLst/>
          </a:prstGeom>
          <a:ln w="15875">
            <a:solidFill>
              <a:srgbClr val="8A8F98"/>
            </a:solidFill>
          </a:ln>
          <a:effectLst/>
        </p:spPr>
      </p:cxnSp>
      <p:cxnSp>
        <p:nvCxnSpPr>
          <p:cNvPr id="27" name="Connector 26"/>
          <p:cNvCxnSpPr/>
          <p:nvPr/>
        </p:nvCxnSpPr>
        <p:spPr>
          <a:xfrm>
            <a:off x="5116068" y="2203704"/>
            <a:ext cx="1965959" cy="749807"/>
          </a:xfrm>
          <a:prstGeom prst="line">
            <a:avLst/>
          </a:prstGeom>
          <a:ln w="15875">
            <a:solidFill>
              <a:srgbClr val="8A8F98"/>
            </a:solidFill>
          </a:ln>
          <a:effectLst/>
        </p:spPr>
      </p:cxnSp>
      <p:sp>
        <p:nvSpPr>
          <p:cNvPr id="28" name="Rounded Rectangle 27"/>
          <p:cNvSpPr/>
          <p:nvPr/>
        </p:nvSpPr>
        <p:spPr>
          <a:xfrm>
            <a:off x="736091"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1357883"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223570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285749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373532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435711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523494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5856731"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6734555"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735634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1147571"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113842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2244851"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223570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5582411"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557326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6679691"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667054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3387851"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3058667"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4713731"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5536692"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TextBox 49"/>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Round 2</a:t>
            </a:r>
          </a:p>
        </p:txBody>
      </p:sp>
      <p:sp>
        <p:nvSpPr>
          <p:cNvPr id="51" name="TextBox 50"/>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candidates: parents of last round’s merges</a:t>
            </a:r>
          </a:p>
          <a:p>
            <a:pPr marL="585216" indent="-237744">
              <a:spcBef>
                <a:spcPts val="200"/>
              </a:spcBef>
              <a:buClr>
                <a:srgbClr val="6B717A"/>
              </a:buClr>
              <a:buChar char="–"/>
            </a:pPr>
            <a:r>
              <a:rPr sz="1300" b="0" i="0">
                <a:solidFill>
                  <a:srgbClr val="2B2F36"/>
                </a:solidFill>
                <a:latin typeface="Calibri"/>
              </a:rPr>
              <a:t>m₁, m₂</a:t>
            </a:r>
          </a:p>
          <a:p>
            <a:pPr marL="274320" indent="-237744">
              <a:spcBef>
                <a:spcPts val="500"/>
              </a:spcBef>
              <a:buClr>
                <a:srgbClr val="6B717A"/>
              </a:buClr>
              <a:buChar char="•"/>
            </a:pPr>
            <a:r>
              <a:rPr sz="1600" b="0" i="0">
                <a:solidFill>
                  <a:srgbClr val="2B2F36"/>
                </a:solidFill>
                <a:latin typeface="Calibri"/>
              </a:rPr>
              <a:t>one group: {m₁, m₂}</a:t>
            </a:r>
          </a:p>
        </p:txBody>
      </p:sp>
      <p:sp>
        <p:nvSpPr>
          <p:cNvPr id="52" name="Rounded Rectangle 51"/>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3" name="TextBox 52"/>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candidate</a:t>
            </a:r>
          </a:p>
        </p:txBody>
      </p:sp>
      <p:sp>
        <p:nvSpPr>
          <p:cNvPr id="54" name="Rounded Rectangle 53"/>
          <p:cNvSpPr/>
          <p:nvPr/>
        </p:nvSpPr>
        <p:spPr>
          <a:xfrm>
            <a:off x="2194560" y="5943600"/>
            <a:ext cx="329184" cy="219456"/>
          </a:xfrm>
          <a:prstGeom prst="roundRect">
            <a:avLst>
              <a:gd name="adj" fmla="val 15000"/>
            </a:avLst>
          </a:prstGeom>
          <a:noFill/>
          <a:ln w="22225">
            <a:solidFill>
              <a:srgbClr val="7B4FB5"/>
            </a:solidFill>
            <a:prstDash val="sysDot"/>
          </a:ln>
          <a:effectLst/>
        </p:spPr>
        <p:txBody>
          <a:bodyPr rtlCol="0" anchor="ctr" lIns="54864" rIns="54864" tIns="27432" bIns="27432" wrap="square"/>
          <a:lstStyle/>
          <a:p>
            <a:pPr algn="ctr"/>
          </a:p>
        </p:txBody>
      </p:sp>
      <p:sp>
        <p:nvSpPr>
          <p:cNvPr id="55" name="TextBox 54"/>
          <p:cNvSpPr txBox="1"/>
          <p:nvPr/>
        </p:nvSpPr>
        <p:spPr>
          <a:xfrm>
            <a:off x="257860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signature group</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2</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31</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17219"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16835"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16451"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1606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15683"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28699"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5463539"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2930651"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1010411" y="3803903"/>
            <a:ext cx="539496" cy="1106425"/>
          </a:xfrm>
          <a:prstGeom prst="line">
            <a:avLst/>
          </a:prstGeom>
          <a:ln w="15875">
            <a:solidFill>
              <a:srgbClr val="8A8F98"/>
            </a:solidFill>
          </a:ln>
          <a:effectLst/>
        </p:spPr>
      </p:cxnSp>
      <p:cxnSp>
        <p:nvCxnSpPr>
          <p:cNvPr id="15" name="Connector 14"/>
          <p:cNvCxnSpPr/>
          <p:nvPr/>
        </p:nvCxnSpPr>
        <p:spPr>
          <a:xfrm>
            <a:off x="1549907" y="3803903"/>
            <a:ext cx="960120" cy="1106425"/>
          </a:xfrm>
          <a:prstGeom prst="line">
            <a:avLst/>
          </a:prstGeom>
          <a:ln w="15875">
            <a:solidFill>
              <a:srgbClr val="8A8F98"/>
            </a:solidFill>
          </a:ln>
          <a:effectLst/>
        </p:spPr>
      </p:cxnSp>
      <p:cxnSp>
        <p:nvCxnSpPr>
          <p:cNvPr id="16" name="Connector 15"/>
          <p:cNvCxnSpPr/>
          <p:nvPr/>
        </p:nvCxnSpPr>
        <p:spPr>
          <a:xfrm flipH="1">
            <a:off x="1632203" y="3803903"/>
            <a:ext cx="1014984" cy="1106425"/>
          </a:xfrm>
          <a:prstGeom prst="line">
            <a:avLst/>
          </a:prstGeom>
          <a:ln w="15875">
            <a:solidFill>
              <a:srgbClr val="8A8F98"/>
            </a:solidFill>
          </a:ln>
          <a:effectLst/>
        </p:spPr>
      </p:cxnSp>
      <p:cxnSp>
        <p:nvCxnSpPr>
          <p:cNvPr id="17" name="Connector 16"/>
          <p:cNvCxnSpPr/>
          <p:nvPr/>
        </p:nvCxnSpPr>
        <p:spPr>
          <a:xfrm>
            <a:off x="2647187" y="3803903"/>
            <a:ext cx="484632" cy="1106425"/>
          </a:xfrm>
          <a:prstGeom prst="line">
            <a:avLst/>
          </a:prstGeom>
          <a:ln w="15875">
            <a:solidFill>
              <a:srgbClr val="8A8F98"/>
            </a:solidFill>
          </a:ln>
          <a:effectLst/>
        </p:spPr>
      </p:cxnSp>
      <p:cxnSp>
        <p:nvCxnSpPr>
          <p:cNvPr id="18" name="Connector 17"/>
          <p:cNvCxnSpPr/>
          <p:nvPr/>
        </p:nvCxnSpPr>
        <p:spPr>
          <a:xfrm flipH="1">
            <a:off x="5509259" y="3803903"/>
            <a:ext cx="475488" cy="1106425"/>
          </a:xfrm>
          <a:prstGeom prst="line">
            <a:avLst/>
          </a:prstGeom>
          <a:ln w="15875">
            <a:solidFill>
              <a:srgbClr val="8A8F98"/>
            </a:solidFill>
          </a:ln>
          <a:effectLst/>
        </p:spPr>
      </p:cxnSp>
      <p:cxnSp>
        <p:nvCxnSpPr>
          <p:cNvPr id="19" name="Connector 18"/>
          <p:cNvCxnSpPr/>
          <p:nvPr/>
        </p:nvCxnSpPr>
        <p:spPr>
          <a:xfrm>
            <a:off x="5984747" y="3803903"/>
            <a:ext cx="1024128" cy="1106425"/>
          </a:xfrm>
          <a:prstGeom prst="line">
            <a:avLst/>
          </a:prstGeom>
          <a:ln w="15875">
            <a:solidFill>
              <a:srgbClr val="8A8F98"/>
            </a:solidFill>
          </a:ln>
          <a:effectLst/>
        </p:spPr>
      </p:cxnSp>
      <p:cxnSp>
        <p:nvCxnSpPr>
          <p:cNvPr id="20" name="Connector 19"/>
          <p:cNvCxnSpPr/>
          <p:nvPr/>
        </p:nvCxnSpPr>
        <p:spPr>
          <a:xfrm flipH="1">
            <a:off x="6131051" y="3803903"/>
            <a:ext cx="950976" cy="1106425"/>
          </a:xfrm>
          <a:prstGeom prst="line">
            <a:avLst/>
          </a:prstGeom>
          <a:ln w="15875">
            <a:solidFill>
              <a:srgbClr val="8A8F98"/>
            </a:solidFill>
          </a:ln>
          <a:effectLst/>
        </p:spPr>
      </p:cxnSp>
      <p:cxnSp>
        <p:nvCxnSpPr>
          <p:cNvPr id="21" name="Connector 20"/>
          <p:cNvCxnSpPr/>
          <p:nvPr/>
        </p:nvCxnSpPr>
        <p:spPr>
          <a:xfrm>
            <a:off x="7082027" y="3803903"/>
            <a:ext cx="548640" cy="1106425"/>
          </a:xfrm>
          <a:prstGeom prst="line">
            <a:avLst/>
          </a:prstGeom>
          <a:ln w="15875">
            <a:solidFill>
              <a:srgbClr val="8A8F98"/>
            </a:solidFill>
          </a:ln>
          <a:effectLst/>
        </p:spPr>
      </p:cxnSp>
      <p:cxnSp>
        <p:nvCxnSpPr>
          <p:cNvPr id="22" name="Connector 21"/>
          <p:cNvCxnSpPr/>
          <p:nvPr/>
        </p:nvCxnSpPr>
        <p:spPr>
          <a:xfrm>
            <a:off x="3790187" y="2203704"/>
            <a:ext cx="219457" cy="2706624"/>
          </a:xfrm>
          <a:prstGeom prst="line">
            <a:avLst/>
          </a:prstGeom>
          <a:ln w="15875">
            <a:solidFill>
              <a:srgbClr val="8A8F98"/>
            </a:solidFill>
          </a:ln>
          <a:effectLst/>
        </p:spPr>
      </p:cxnSp>
      <p:cxnSp>
        <p:nvCxnSpPr>
          <p:cNvPr id="23" name="Connector 22"/>
          <p:cNvCxnSpPr/>
          <p:nvPr/>
        </p:nvCxnSpPr>
        <p:spPr>
          <a:xfrm flipH="1">
            <a:off x="1549907" y="2203704"/>
            <a:ext cx="2240280" cy="749807"/>
          </a:xfrm>
          <a:prstGeom prst="line">
            <a:avLst/>
          </a:prstGeom>
          <a:ln w="15875">
            <a:solidFill>
              <a:srgbClr val="8A8F98"/>
            </a:solidFill>
          </a:ln>
          <a:effectLst/>
        </p:spPr>
      </p:cxnSp>
      <p:cxnSp>
        <p:nvCxnSpPr>
          <p:cNvPr id="24" name="Connector 23"/>
          <p:cNvCxnSpPr/>
          <p:nvPr/>
        </p:nvCxnSpPr>
        <p:spPr>
          <a:xfrm>
            <a:off x="3790187" y="2203704"/>
            <a:ext cx="2194560" cy="749807"/>
          </a:xfrm>
          <a:prstGeom prst="line">
            <a:avLst/>
          </a:prstGeom>
          <a:ln w="15875">
            <a:solidFill>
              <a:srgbClr val="8A8F98"/>
            </a:solidFill>
          </a:ln>
          <a:effectLst/>
        </p:spPr>
      </p:cxnSp>
      <p:cxnSp>
        <p:nvCxnSpPr>
          <p:cNvPr id="25" name="Connector 24"/>
          <p:cNvCxnSpPr/>
          <p:nvPr/>
        </p:nvCxnSpPr>
        <p:spPr>
          <a:xfrm flipH="1">
            <a:off x="4631436" y="2203704"/>
            <a:ext cx="484632" cy="2706624"/>
          </a:xfrm>
          <a:prstGeom prst="line">
            <a:avLst/>
          </a:prstGeom>
          <a:ln w="15875">
            <a:solidFill>
              <a:srgbClr val="8A8F98"/>
            </a:solidFill>
          </a:ln>
          <a:effectLst/>
        </p:spPr>
      </p:cxnSp>
      <p:cxnSp>
        <p:nvCxnSpPr>
          <p:cNvPr id="26" name="Connector 25"/>
          <p:cNvCxnSpPr/>
          <p:nvPr/>
        </p:nvCxnSpPr>
        <p:spPr>
          <a:xfrm flipH="1">
            <a:off x="2647187" y="2203704"/>
            <a:ext cx="2468881" cy="749807"/>
          </a:xfrm>
          <a:prstGeom prst="line">
            <a:avLst/>
          </a:prstGeom>
          <a:ln w="15875">
            <a:solidFill>
              <a:srgbClr val="8A8F98"/>
            </a:solidFill>
          </a:ln>
          <a:effectLst/>
        </p:spPr>
      </p:cxnSp>
      <p:cxnSp>
        <p:nvCxnSpPr>
          <p:cNvPr id="27" name="Connector 26"/>
          <p:cNvCxnSpPr/>
          <p:nvPr/>
        </p:nvCxnSpPr>
        <p:spPr>
          <a:xfrm>
            <a:off x="5116068" y="2203704"/>
            <a:ext cx="1965959" cy="749807"/>
          </a:xfrm>
          <a:prstGeom prst="line">
            <a:avLst/>
          </a:prstGeom>
          <a:ln w="15875">
            <a:solidFill>
              <a:srgbClr val="8A8F98"/>
            </a:solidFill>
          </a:ln>
          <a:effectLst/>
        </p:spPr>
      </p:cxnSp>
      <p:sp>
        <p:nvSpPr>
          <p:cNvPr id="28" name="Rounded Rectangle 27"/>
          <p:cNvSpPr/>
          <p:nvPr/>
        </p:nvSpPr>
        <p:spPr>
          <a:xfrm>
            <a:off x="736091"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1357883"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223570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285749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373532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435711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523494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5856731"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6734555"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735634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1147571"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113842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2244851"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223570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5582411"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557326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6679691"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667054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3387851"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3058667"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4713731"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5536692"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TextBox 49"/>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Round 2</a:t>
            </a:r>
          </a:p>
        </p:txBody>
      </p:sp>
      <p:sp>
        <p:nvSpPr>
          <p:cNvPr id="51" name="TextBox 50"/>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merge:  m₁ ≡ m₂</a:t>
            </a:r>
          </a:p>
        </p:txBody>
      </p:sp>
      <p:sp>
        <p:nvSpPr>
          <p:cNvPr id="52" name="Rounded Rectangle 51"/>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3" name="TextBox 52"/>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merged this round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done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32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17219"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16835"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16451"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1606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15683"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28699"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5463539"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2930651"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1010411" y="3803903"/>
            <a:ext cx="539496" cy="1106425"/>
          </a:xfrm>
          <a:prstGeom prst="line">
            <a:avLst/>
          </a:prstGeom>
          <a:ln w="15875">
            <a:solidFill>
              <a:srgbClr val="8A8F98"/>
            </a:solidFill>
          </a:ln>
          <a:effectLst/>
        </p:spPr>
      </p:cxnSp>
      <p:cxnSp>
        <p:nvCxnSpPr>
          <p:cNvPr id="15" name="Connector 14"/>
          <p:cNvCxnSpPr/>
          <p:nvPr/>
        </p:nvCxnSpPr>
        <p:spPr>
          <a:xfrm>
            <a:off x="1549907" y="3803903"/>
            <a:ext cx="960120" cy="1106425"/>
          </a:xfrm>
          <a:prstGeom prst="line">
            <a:avLst/>
          </a:prstGeom>
          <a:ln w="15875">
            <a:solidFill>
              <a:srgbClr val="8A8F98"/>
            </a:solidFill>
          </a:ln>
          <a:effectLst/>
        </p:spPr>
      </p:cxnSp>
      <p:cxnSp>
        <p:nvCxnSpPr>
          <p:cNvPr id="16" name="Connector 15"/>
          <p:cNvCxnSpPr/>
          <p:nvPr/>
        </p:nvCxnSpPr>
        <p:spPr>
          <a:xfrm flipH="1">
            <a:off x="1632203" y="3803903"/>
            <a:ext cx="1014984" cy="1106425"/>
          </a:xfrm>
          <a:prstGeom prst="line">
            <a:avLst/>
          </a:prstGeom>
          <a:ln w="15875">
            <a:solidFill>
              <a:srgbClr val="8A8F98"/>
            </a:solidFill>
          </a:ln>
          <a:effectLst/>
        </p:spPr>
      </p:cxnSp>
      <p:cxnSp>
        <p:nvCxnSpPr>
          <p:cNvPr id="17" name="Connector 16"/>
          <p:cNvCxnSpPr/>
          <p:nvPr/>
        </p:nvCxnSpPr>
        <p:spPr>
          <a:xfrm>
            <a:off x="2647187" y="3803903"/>
            <a:ext cx="484632" cy="1106425"/>
          </a:xfrm>
          <a:prstGeom prst="line">
            <a:avLst/>
          </a:prstGeom>
          <a:ln w="15875">
            <a:solidFill>
              <a:srgbClr val="8A8F98"/>
            </a:solidFill>
          </a:ln>
          <a:effectLst/>
        </p:spPr>
      </p:cxnSp>
      <p:cxnSp>
        <p:nvCxnSpPr>
          <p:cNvPr id="18" name="Connector 17"/>
          <p:cNvCxnSpPr/>
          <p:nvPr/>
        </p:nvCxnSpPr>
        <p:spPr>
          <a:xfrm flipH="1">
            <a:off x="5509259" y="3803903"/>
            <a:ext cx="475488" cy="1106425"/>
          </a:xfrm>
          <a:prstGeom prst="line">
            <a:avLst/>
          </a:prstGeom>
          <a:ln w="15875">
            <a:solidFill>
              <a:srgbClr val="8A8F98"/>
            </a:solidFill>
          </a:ln>
          <a:effectLst/>
        </p:spPr>
      </p:cxnSp>
      <p:cxnSp>
        <p:nvCxnSpPr>
          <p:cNvPr id="19" name="Connector 18"/>
          <p:cNvCxnSpPr/>
          <p:nvPr/>
        </p:nvCxnSpPr>
        <p:spPr>
          <a:xfrm>
            <a:off x="5984747" y="3803903"/>
            <a:ext cx="1024128" cy="1106425"/>
          </a:xfrm>
          <a:prstGeom prst="line">
            <a:avLst/>
          </a:prstGeom>
          <a:ln w="15875">
            <a:solidFill>
              <a:srgbClr val="8A8F98"/>
            </a:solidFill>
          </a:ln>
          <a:effectLst/>
        </p:spPr>
      </p:cxnSp>
      <p:cxnSp>
        <p:nvCxnSpPr>
          <p:cNvPr id="20" name="Connector 19"/>
          <p:cNvCxnSpPr/>
          <p:nvPr/>
        </p:nvCxnSpPr>
        <p:spPr>
          <a:xfrm flipH="1">
            <a:off x="6131051" y="3803903"/>
            <a:ext cx="950976" cy="1106425"/>
          </a:xfrm>
          <a:prstGeom prst="line">
            <a:avLst/>
          </a:prstGeom>
          <a:ln w="15875">
            <a:solidFill>
              <a:srgbClr val="8A8F98"/>
            </a:solidFill>
          </a:ln>
          <a:effectLst/>
        </p:spPr>
      </p:cxnSp>
      <p:cxnSp>
        <p:nvCxnSpPr>
          <p:cNvPr id="21" name="Connector 20"/>
          <p:cNvCxnSpPr/>
          <p:nvPr/>
        </p:nvCxnSpPr>
        <p:spPr>
          <a:xfrm>
            <a:off x="7082027" y="3803903"/>
            <a:ext cx="548640" cy="1106425"/>
          </a:xfrm>
          <a:prstGeom prst="line">
            <a:avLst/>
          </a:prstGeom>
          <a:ln w="15875">
            <a:solidFill>
              <a:srgbClr val="8A8F98"/>
            </a:solidFill>
          </a:ln>
          <a:effectLst/>
        </p:spPr>
      </p:cxnSp>
      <p:cxnSp>
        <p:nvCxnSpPr>
          <p:cNvPr id="22" name="Connector 21"/>
          <p:cNvCxnSpPr/>
          <p:nvPr/>
        </p:nvCxnSpPr>
        <p:spPr>
          <a:xfrm>
            <a:off x="3790187" y="2203704"/>
            <a:ext cx="219457" cy="2706624"/>
          </a:xfrm>
          <a:prstGeom prst="line">
            <a:avLst/>
          </a:prstGeom>
          <a:ln w="15875">
            <a:solidFill>
              <a:srgbClr val="8A8F98"/>
            </a:solidFill>
          </a:ln>
          <a:effectLst/>
        </p:spPr>
      </p:cxnSp>
      <p:cxnSp>
        <p:nvCxnSpPr>
          <p:cNvPr id="23" name="Connector 22"/>
          <p:cNvCxnSpPr/>
          <p:nvPr/>
        </p:nvCxnSpPr>
        <p:spPr>
          <a:xfrm flipH="1">
            <a:off x="1549907" y="2203704"/>
            <a:ext cx="2240280" cy="749807"/>
          </a:xfrm>
          <a:prstGeom prst="line">
            <a:avLst/>
          </a:prstGeom>
          <a:ln w="15875">
            <a:solidFill>
              <a:srgbClr val="8A8F98"/>
            </a:solidFill>
          </a:ln>
          <a:effectLst/>
        </p:spPr>
      </p:cxnSp>
      <p:cxnSp>
        <p:nvCxnSpPr>
          <p:cNvPr id="24" name="Connector 23"/>
          <p:cNvCxnSpPr/>
          <p:nvPr/>
        </p:nvCxnSpPr>
        <p:spPr>
          <a:xfrm>
            <a:off x="3790187" y="2203704"/>
            <a:ext cx="2194560" cy="749807"/>
          </a:xfrm>
          <a:prstGeom prst="line">
            <a:avLst/>
          </a:prstGeom>
          <a:ln w="15875">
            <a:solidFill>
              <a:srgbClr val="8A8F98"/>
            </a:solidFill>
          </a:ln>
          <a:effectLst/>
        </p:spPr>
      </p:cxnSp>
      <p:cxnSp>
        <p:nvCxnSpPr>
          <p:cNvPr id="25" name="Connector 24"/>
          <p:cNvCxnSpPr/>
          <p:nvPr/>
        </p:nvCxnSpPr>
        <p:spPr>
          <a:xfrm flipH="1">
            <a:off x="4631436" y="2203704"/>
            <a:ext cx="484632" cy="2706624"/>
          </a:xfrm>
          <a:prstGeom prst="line">
            <a:avLst/>
          </a:prstGeom>
          <a:ln w="15875">
            <a:solidFill>
              <a:srgbClr val="8A8F98"/>
            </a:solidFill>
          </a:ln>
          <a:effectLst/>
        </p:spPr>
      </p:cxnSp>
      <p:cxnSp>
        <p:nvCxnSpPr>
          <p:cNvPr id="26" name="Connector 25"/>
          <p:cNvCxnSpPr/>
          <p:nvPr/>
        </p:nvCxnSpPr>
        <p:spPr>
          <a:xfrm flipH="1">
            <a:off x="2647187" y="2203704"/>
            <a:ext cx="2468881" cy="749807"/>
          </a:xfrm>
          <a:prstGeom prst="line">
            <a:avLst/>
          </a:prstGeom>
          <a:ln w="15875">
            <a:solidFill>
              <a:srgbClr val="8A8F98"/>
            </a:solidFill>
          </a:ln>
          <a:effectLst/>
        </p:spPr>
      </p:cxnSp>
      <p:cxnSp>
        <p:nvCxnSpPr>
          <p:cNvPr id="27" name="Connector 26"/>
          <p:cNvCxnSpPr/>
          <p:nvPr/>
        </p:nvCxnSpPr>
        <p:spPr>
          <a:xfrm>
            <a:off x="5116068" y="2203704"/>
            <a:ext cx="1965959" cy="749807"/>
          </a:xfrm>
          <a:prstGeom prst="line">
            <a:avLst/>
          </a:prstGeom>
          <a:ln w="15875">
            <a:solidFill>
              <a:srgbClr val="8A8F98"/>
            </a:solidFill>
          </a:ln>
          <a:effectLst/>
        </p:spPr>
      </p:cxnSp>
      <p:sp>
        <p:nvSpPr>
          <p:cNvPr id="28" name="Rounded Rectangle 27"/>
          <p:cNvSpPr/>
          <p:nvPr/>
        </p:nvSpPr>
        <p:spPr>
          <a:xfrm>
            <a:off x="736091"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1357883"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223570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285749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373532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435711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523494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5856731"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6734555"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735634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1147571"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113842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2244851"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223570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5582411"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557326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6679691"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667054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3387851"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3058667"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4713731"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5536692"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TextBox 49"/>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Round 3</a:t>
            </a:r>
          </a:p>
        </p:txBody>
      </p:sp>
      <p:sp>
        <p:nvSpPr>
          <p:cNvPr id="51" name="TextBox 50"/>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parents of last round’s merge: none</a:t>
            </a:r>
          </a:p>
          <a:p>
            <a:pPr marL="274320" indent="-237744">
              <a:spcBef>
                <a:spcPts val="500"/>
              </a:spcBef>
              <a:buClr>
                <a:srgbClr val="6B717A"/>
              </a:buClr>
              <a:buChar char="•"/>
            </a:pPr>
            <a:r>
              <a:rPr sz="1600" b="1" i="0">
                <a:solidFill>
                  <a:srgbClr val="2B2F36"/>
                </a:solidFill>
                <a:latin typeface="Calibri"/>
              </a:rPr>
              <a:t>done</a:t>
            </a:r>
          </a:p>
          <a:p>
            <a:pPr>
              <a:spcBef>
                <a:spcPts val="1100"/>
              </a:spcBef>
              <a:spcAft>
                <a:spcPts val="200"/>
              </a:spcAft>
            </a:pPr>
            <a:r>
              <a:rPr sz="1600" b="1" i="0">
                <a:solidFill>
                  <a:srgbClr val="1F2A44"/>
                </a:solidFill>
                <a:latin typeface="Calibri"/>
              </a:rPr>
              <a:t>Result</a:t>
            </a:r>
          </a:p>
          <a:p>
            <a:pPr marL="274320" indent="-237744">
              <a:spcBef>
                <a:spcPts val="500"/>
              </a:spcBef>
              <a:buClr>
                <a:srgbClr val="6B717A"/>
              </a:buClr>
              <a:buChar char="•"/>
            </a:pPr>
            <a:r>
              <a:rPr sz="1600" b="0" i="0">
                <a:solidFill>
                  <a:srgbClr val="2B2F36"/>
                </a:solidFill>
                <a:latin typeface="Calibri"/>
              </a:rPr>
              <a:t>m₁ ≡ m₂: circuits equivalent</a:t>
            </a:r>
          </a:p>
          <a:p>
            <a:pPr marL="274320" indent="-237744">
              <a:spcBef>
                <a:spcPts val="500"/>
              </a:spcBef>
              <a:buClr>
                <a:srgbClr val="6B717A"/>
              </a:buClr>
              <a:buChar char="•"/>
            </a:pPr>
            <a:r>
              <a:rPr sz="1600" b="0" i="0">
                <a:solidFill>
                  <a:srgbClr val="2B2F36"/>
                </a:solidFill>
                <a:latin typeface="Calibri"/>
              </a:rPr>
              <a:t>3 rounds vs. 8 sequential merges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pseudocode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33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1463040" y="1325880"/>
            <a:ext cx="9235440" cy="4892040"/>
          </a:xfrm>
          <a:prstGeom prst="roundRect">
            <a:avLst>
              <a:gd name="adj" fmla="val 5000"/>
            </a:avLst>
          </a:prstGeom>
          <a:solidFill>
            <a:srgbClr val="F7F7F9"/>
          </a:solidFill>
          <a:ln>
            <a:noFill/>
          </a:ln>
          <a:effectLst/>
        </p:spPr>
        <p:txBody>
          <a:bodyPr rtlCol="0" anchor="ctr" lIns="54864" rIns="54864" tIns="27432" bIns="27432" wrap="square"/>
          <a:lstStyle/>
          <a:p>
            <a:pPr algn="ctr"/>
          </a:p>
        </p:txBody>
      </p:sp>
      <p:sp>
        <p:nvSpPr>
          <p:cNvPr id="7" name="TextBox 6"/>
          <p:cNvSpPr txBox="1"/>
          <p:nvPr/>
        </p:nvSpPr>
        <p:spPr>
          <a:xfrm>
            <a:off x="1737360" y="1417320"/>
            <a:ext cx="8778240" cy="4754880"/>
          </a:xfrm>
          <a:prstGeom prst="rect">
            <a:avLst/>
          </a:prstGeom>
          <a:noFill/>
        </p:spPr>
        <p:txBody>
          <a:bodyPr wrap="none">
            <a:spAutoFit/>
          </a:bodyPr>
          <a:lstStyle/>
          <a:p>
            <a:pPr>
              <a:spcAft>
                <a:spcPts val="150"/>
              </a:spcAft>
            </a:pPr>
            <a:r>
              <a:rPr sz="1400" b="1" i="0">
                <a:solidFill>
                  <a:srgbClr val="2B2F36"/>
                </a:solidFill>
                <a:latin typeface="Consolas"/>
              </a:rPr>
              <a:t>ParentCC(E):</a:t>
            </a:r>
          </a:p>
          <a:p>
            <a:pPr>
              <a:spcAft>
                <a:spcPts val="150"/>
              </a:spcAft>
            </a:pPr>
            <a:r>
              <a:rPr sz="1400" b="0" i="0">
                <a:solidFill>
                  <a:srgbClr val="2B2F36"/>
                </a:solidFill>
                <a:latin typeface="Consolas"/>
              </a:rPr>
              <a:t>    parfor (u = v) ∈ E:  Union(u, v)</a:t>
            </a:r>
          </a:p>
          <a:p>
            <a:pPr>
              <a:spcAft>
                <a:spcPts val="150"/>
              </a:spcAft>
            </a:pPr>
            <a:r>
              <a:rPr sz="1400" b="0" i="0">
                <a:solidFill>
                  <a:srgbClr val="2B2F36"/>
                </a:solidFill>
                <a:latin typeface="Consolas"/>
              </a:rPr>
              <a:t>    Work ← terms of E</a:t>
            </a:r>
          </a:p>
          <a:p>
            <a:pPr>
              <a:spcAft>
                <a:spcPts val="150"/>
              </a:spcAft>
            </a:pPr>
            <a:r>
              <a:rPr sz="1400" b="0" i="0">
                <a:solidFill>
                  <a:srgbClr val="2B2F36"/>
                </a:solidFill>
                <a:latin typeface="Consolas"/>
              </a:rPr>
              <a:t>    while Work ≠ ∅:</a:t>
            </a:r>
          </a:p>
          <a:p>
            <a:pPr>
              <a:spcAft>
                <a:spcPts val="150"/>
              </a:spcAft>
            </a:pPr>
            <a:r>
              <a:rPr sz="1400" b="0" i="0">
                <a:solidFill>
                  <a:srgbClr val="2B2F36"/>
                </a:solidFill>
                <a:latin typeface="Consolas"/>
              </a:rPr>
              <a:t>        parfor c ∈ Work with c ≠ Find(c):                 </a:t>
            </a:r>
            <a:r>
              <a:rPr sz="1400" b="0" i="0">
                <a:solidFill>
                  <a:srgbClr val="6B717A"/>
                </a:solidFill>
                <a:latin typeface="Consolas"/>
              </a:rPr>
              <a:t>▹ fold parent lists</a:t>
            </a:r>
          </a:p>
          <a:p>
            <a:pPr>
              <a:spcAft>
                <a:spcPts val="150"/>
              </a:spcAft>
            </a:pPr>
            <a:r>
              <a:rPr sz="1400" b="0" i="0">
                <a:solidFill>
                  <a:srgbClr val="2B2F36"/>
                </a:solidFill>
                <a:latin typeface="Consolas"/>
              </a:rPr>
              <a:t>            Parents[Find(c)] ← Parents[Find(c)] ∪ Parents[c]</a:t>
            </a:r>
          </a:p>
          <a:p>
            <a:pPr>
              <a:spcAft>
                <a:spcPts val="150"/>
              </a:spcAft>
            </a:pPr>
            <a:r>
              <a:rPr sz="1400" b="0" i="0">
                <a:solidFill>
                  <a:srgbClr val="2B2F36"/>
                </a:solidFill>
                <a:latin typeface="Consolas"/>
              </a:rPr>
              <a:t>        Frontier ← all compound terms          on round 0   </a:t>
            </a:r>
            <a:r>
              <a:rPr sz="1400" b="0" i="0">
                <a:solidFill>
                  <a:srgbClr val="6B717A"/>
                </a:solidFill>
                <a:latin typeface="Consolas"/>
              </a:rPr>
              <a:t>▹ seed round</a:t>
            </a:r>
          </a:p>
          <a:p>
            <a:pPr>
              <a:spcAft>
                <a:spcPts val="150"/>
              </a:spcAft>
            </a:pPr>
            <a:r>
              <a:rPr sz="1400" b="0" i="0">
                <a:solidFill>
                  <a:srgbClr val="2B2F36"/>
                </a:solidFill>
                <a:latin typeface="Consolas"/>
              </a:rPr>
              <a:t>        Frontier ← ⋃ Parents[Find(c)] for c ∈ Work   otherwise</a:t>
            </a:r>
          </a:p>
          <a:p>
            <a:pPr>
              <a:spcAft>
                <a:spcPts val="150"/>
              </a:spcAft>
            </a:pPr>
            <a:r>
              <a:rPr sz="1400" b="0" i="0">
                <a:solidFill>
                  <a:srgbClr val="2B2F36"/>
                </a:solidFill>
                <a:latin typeface="Consolas"/>
              </a:rPr>
              <a:t>        groups ← GroupBy(Congruent, Frontier)          </a:t>
            </a:r>
            <a:r>
              <a:rPr sz="1400" b="0" i="0">
                <a:solidFill>
                  <a:srgbClr val="6B717A"/>
                </a:solidFill>
                <a:latin typeface="Consolas"/>
              </a:rPr>
              <a:t>▹ semisort on sigs</a:t>
            </a:r>
          </a:p>
          <a:p>
            <a:pPr>
              <a:spcAft>
                <a:spcPts val="150"/>
              </a:spcAft>
            </a:pPr>
            <a:r>
              <a:rPr sz="1400" b="0" i="0">
                <a:solidFill>
                  <a:srgbClr val="2B2F36"/>
                </a:solidFill>
                <a:latin typeface="Consolas"/>
              </a:rPr>
              <a:t>        Work ← ∅</a:t>
            </a:r>
          </a:p>
          <a:p>
            <a:pPr>
              <a:spcAft>
                <a:spcPts val="150"/>
              </a:spcAft>
            </a:pPr>
            <a:r>
              <a:rPr sz="1400" b="0" i="0">
                <a:solidFill>
                  <a:srgbClr val="2B2F36"/>
                </a:solidFill>
                <a:latin typeface="Consolas"/>
              </a:rPr>
              <a:t>        parfor g ∈ groups spanning &gt; 1 class:</a:t>
            </a:r>
          </a:p>
          <a:p>
            <a:pPr>
              <a:spcAft>
                <a:spcPts val="150"/>
              </a:spcAft>
            </a:pPr>
            <a:r>
              <a:rPr sz="1400" b="0" i="0">
                <a:solidFill>
                  <a:srgbClr val="2B2F36"/>
                </a:solidFill>
                <a:latin typeface="Consolas"/>
              </a:rPr>
              <a:t>            MergeCongruenceClass(g)                          </a:t>
            </a:r>
            <a:r>
              <a:rPr sz="1400" b="0" i="0">
                <a:solidFill>
                  <a:srgbClr val="6B717A"/>
                </a:solidFill>
                <a:latin typeface="Consolas"/>
              </a:rPr>
              <a:t>▹ parallel unions</a:t>
            </a:r>
          </a:p>
          <a:p>
            <a:pPr>
              <a:spcAft>
                <a:spcPts val="150"/>
              </a:spcAft>
            </a:pPr>
            <a:r>
              <a:rPr sz="1400" b="0" i="0">
                <a:solidFill>
                  <a:srgbClr val="2B2F36"/>
                </a:solidFill>
                <a:latin typeface="Consolas"/>
              </a:rPr>
              <a:t>            Work ← Work ∪ pre-merge roots of g</a:t>
            </a:r>
          </a:p>
          <a:p>
            <a:pPr>
              <a:spcAft>
                <a:spcPts val="150"/>
              </a:spcAft>
            </a:pPr>
          </a:p>
          <a:p>
            <a:pPr>
              <a:spcAft>
                <a:spcPts val="150"/>
              </a:spcAft>
            </a:pPr>
            <a:r>
              <a:rPr sz="1400" b="0" i="0">
                <a:solidFill>
                  <a:srgbClr val="2B2F36"/>
                </a:solidFill>
                <a:latin typeface="Consolas"/>
              </a:rPr>
              <a:t>MergeCongruenceClass(S):                             </a:t>
            </a:r>
            <a:r>
              <a:rPr sz="1400" b="0" i="0">
                <a:solidFill>
                  <a:srgbClr val="6B717A"/>
                </a:solidFill>
                <a:latin typeface="Consolas"/>
              </a:rPr>
              <a:t>▹ divide and conquer</a:t>
            </a:r>
          </a:p>
          <a:p>
            <a:pPr>
              <a:spcAft>
                <a:spcPts val="150"/>
              </a:spcAft>
            </a:pPr>
            <a:r>
              <a:rPr sz="1400" b="0" i="0">
                <a:solidFill>
                  <a:srgbClr val="2B2F36"/>
                </a:solidFill>
                <a:latin typeface="Consolas"/>
              </a:rPr>
              <a:t>    if |S| = 1: return the element</a:t>
            </a:r>
          </a:p>
          <a:p>
            <a:pPr>
              <a:spcAft>
                <a:spcPts val="150"/>
              </a:spcAft>
            </a:pPr>
            <a:r>
              <a:rPr sz="1400" b="0" i="0">
                <a:solidFill>
                  <a:srgbClr val="2B2F36"/>
                </a:solidFill>
                <a:latin typeface="Consolas"/>
              </a:rPr>
              <a:t>    l, r ← MergeCongruenceClass(S[0..n/2]) ∥ MergeCongruenceClass(S[n/2..n])</a:t>
            </a:r>
          </a:p>
          <a:p>
            <a:pPr>
              <a:spcAft>
                <a:spcPts val="150"/>
              </a:spcAft>
            </a:pPr>
            <a:r>
              <a:rPr sz="1400" b="0" i="0">
                <a:solidFill>
                  <a:srgbClr val="2B2F36"/>
                </a:solidFill>
                <a:latin typeface="Consolas"/>
              </a:rPr>
              <a:t>    return Union(l, 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Why ParentCC is correct</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34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731520" y="1554480"/>
            <a:ext cx="2926080" cy="822960"/>
          </a:xfrm>
          <a:prstGeom prst="roundRect">
            <a:avLst>
              <a:gd name="adj" fmla="val 15000"/>
            </a:avLst>
          </a:prstGeom>
          <a:solidFill>
            <a:srgbClr val="1F2A44"/>
          </a:solidFill>
          <a:ln>
            <a:noFill/>
          </a:ln>
          <a:effectLst/>
        </p:spPr>
        <p:txBody>
          <a:bodyPr rtlCol="0" anchor="ctr" lIns="54864" rIns="54864" tIns="27432" bIns="27432" wrap="square"/>
          <a:lstStyle/>
          <a:p>
            <a:pPr algn="ctr"/>
            <a:r>
              <a:rPr sz="2100" b="1" i="0">
                <a:solidFill>
                  <a:srgbClr val="FFFFFF"/>
                </a:solidFill>
                <a:latin typeface="Calibri"/>
              </a:rPr>
              <a:t>Deterministic</a:t>
            </a:r>
          </a:p>
        </p:txBody>
      </p:sp>
      <p:sp>
        <p:nvSpPr>
          <p:cNvPr id="7" name="Rectangle 6"/>
          <p:cNvSpPr/>
          <p:nvPr/>
        </p:nvSpPr>
        <p:spPr>
          <a:xfrm>
            <a:off x="3657600" y="1554480"/>
            <a:ext cx="7772400" cy="822960"/>
          </a:xfrm>
          <a:prstGeom prst="rect">
            <a:avLst/>
          </a:prstGeom>
          <a:solidFill>
            <a:srgbClr val="F4F5F7"/>
          </a:solidFill>
          <a:ln>
            <a:noFill/>
          </a:ln>
          <a:effectLst/>
        </p:spPr>
        <p:txBody>
          <a:bodyPr rtlCol="0" anchor="ctr" lIns="54864" rIns="54864" tIns="27432" bIns="27432" wrap="square"/>
          <a:lstStyle/>
          <a:p>
            <a:pPr algn="ctr"/>
            <a:r>
              <a:rPr sz="2000" b="0" i="0">
                <a:solidFill>
                  <a:srgbClr val="2B2F36"/>
                </a:solidFill>
                <a:latin typeface="Calibri"/>
              </a:rPr>
              <a:t>same classes whatever the thread order</a:t>
            </a:r>
          </a:p>
        </p:txBody>
      </p:sp>
      <p:sp>
        <p:nvSpPr>
          <p:cNvPr id="8" name="Rounded Rectangle 7"/>
          <p:cNvSpPr/>
          <p:nvPr/>
        </p:nvSpPr>
        <p:spPr>
          <a:xfrm>
            <a:off x="731520" y="2606039"/>
            <a:ext cx="2926080" cy="822960"/>
          </a:xfrm>
          <a:prstGeom prst="roundRect">
            <a:avLst>
              <a:gd name="adj" fmla="val 15000"/>
            </a:avLst>
          </a:prstGeom>
          <a:solidFill>
            <a:srgbClr val="1F2A44"/>
          </a:solidFill>
          <a:ln>
            <a:noFill/>
          </a:ln>
          <a:effectLst/>
        </p:spPr>
        <p:txBody>
          <a:bodyPr rtlCol="0" anchor="ctr" lIns="54864" rIns="54864" tIns="27432" bIns="27432" wrap="square"/>
          <a:lstStyle/>
          <a:p>
            <a:pPr algn="ctr"/>
            <a:r>
              <a:rPr sz="2100" b="1" i="0">
                <a:solidFill>
                  <a:srgbClr val="FFFFFF"/>
                </a:solidFill>
                <a:latin typeface="Calibri"/>
              </a:rPr>
              <a:t>Terminates</a:t>
            </a:r>
          </a:p>
        </p:txBody>
      </p:sp>
      <p:sp>
        <p:nvSpPr>
          <p:cNvPr id="9" name="Rectangle 8"/>
          <p:cNvSpPr/>
          <p:nvPr/>
        </p:nvSpPr>
        <p:spPr>
          <a:xfrm>
            <a:off x="3657600" y="2606039"/>
            <a:ext cx="7772400" cy="822960"/>
          </a:xfrm>
          <a:prstGeom prst="rect">
            <a:avLst/>
          </a:prstGeom>
          <a:solidFill>
            <a:srgbClr val="F4F5F7"/>
          </a:solidFill>
          <a:ln>
            <a:noFill/>
          </a:ln>
          <a:effectLst/>
        </p:spPr>
        <p:txBody>
          <a:bodyPr rtlCol="0" anchor="ctr" lIns="54864" rIns="54864" tIns="27432" bIns="27432" wrap="square"/>
          <a:lstStyle/>
          <a:p>
            <a:pPr algn="ctr"/>
            <a:r>
              <a:rPr sz="2000" b="0" i="0">
                <a:solidFill>
                  <a:srgbClr val="2B2F36"/>
                </a:solidFill>
                <a:latin typeface="Calibri"/>
              </a:rPr>
              <a:t>every productive round removes a class</a:t>
            </a:r>
          </a:p>
        </p:txBody>
      </p:sp>
      <p:sp>
        <p:nvSpPr>
          <p:cNvPr id="10" name="Rounded Rectangle 9"/>
          <p:cNvSpPr/>
          <p:nvPr/>
        </p:nvSpPr>
        <p:spPr>
          <a:xfrm>
            <a:off x="731520" y="3657599"/>
            <a:ext cx="2926080" cy="822960"/>
          </a:xfrm>
          <a:prstGeom prst="roundRect">
            <a:avLst>
              <a:gd name="adj" fmla="val 15000"/>
            </a:avLst>
          </a:prstGeom>
          <a:solidFill>
            <a:srgbClr val="1F2A44"/>
          </a:solidFill>
          <a:ln>
            <a:noFill/>
          </a:ln>
          <a:effectLst/>
        </p:spPr>
        <p:txBody>
          <a:bodyPr rtlCol="0" anchor="ctr" lIns="54864" rIns="54864" tIns="27432" bIns="27432" wrap="square"/>
          <a:lstStyle/>
          <a:p>
            <a:pPr algn="ctr"/>
            <a:r>
              <a:rPr sz="2100" b="1" i="0">
                <a:solidFill>
                  <a:srgbClr val="FFFFFF"/>
                </a:solidFill>
                <a:latin typeface="Calibri"/>
              </a:rPr>
              <a:t>Sound</a:t>
            </a:r>
          </a:p>
        </p:txBody>
      </p:sp>
      <p:sp>
        <p:nvSpPr>
          <p:cNvPr id="11" name="Rectangle 10"/>
          <p:cNvSpPr/>
          <p:nvPr/>
        </p:nvSpPr>
        <p:spPr>
          <a:xfrm>
            <a:off x="3657600" y="3657599"/>
            <a:ext cx="7772400" cy="822960"/>
          </a:xfrm>
          <a:prstGeom prst="rect">
            <a:avLst/>
          </a:prstGeom>
          <a:solidFill>
            <a:srgbClr val="F4F5F7"/>
          </a:solidFill>
          <a:ln>
            <a:noFill/>
          </a:ln>
          <a:effectLst/>
        </p:spPr>
        <p:txBody>
          <a:bodyPr rtlCol="0" anchor="ctr" lIns="54864" rIns="54864" tIns="27432" bIns="27432" wrap="square"/>
          <a:lstStyle/>
          <a:p>
            <a:pPr algn="ctr"/>
            <a:r>
              <a:rPr sz="2000" b="0" i="0">
                <a:solidFill>
                  <a:srgbClr val="2B2F36"/>
                </a:solidFill>
                <a:latin typeface="Calibri"/>
              </a:rPr>
              <a:t>each merge is an instance of the congruence rule</a:t>
            </a:r>
          </a:p>
        </p:txBody>
      </p:sp>
      <p:sp>
        <p:nvSpPr>
          <p:cNvPr id="12" name="Rounded Rectangle 11"/>
          <p:cNvSpPr/>
          <p:nvPr/>
        </p:nvSpPr>
        <p:spPr>
          <a:xfrm>
            <a:off x="731520" y="4709159"/>
            <a:ext cx="2926080" cy="822960"/>
          </a:xfrm>
          <a:prstGeom prst="roundRect">
            <a:avLst>
              <a:gd name="adj" fmla="val 15000"/>
            </a:avLst>
          </a:prstGeom>
          <a:solidFill>
            <a:srgbClr val="1F2A44"/>
          </a:solidFill>
          <a:ln>
            <a:noFill/>
          </a:ln>
          <a:effectLst/>
        </p:spPr>
        <p:txBody>
          <a:bodyPr rtlCol="0" anchor="ctr" lIns="54864" rIns="54864" tIns="27432" bIns="27432" wrap="square"/>
          <a:lstStyle/>
          <a:p>
            <a:pPr algn="ctr"/>
            <a:r>
              <a:rPr sz="2100" b="1" i="0">
                <a:solidFill>
                  <a:srgbClr val="FFFFFF"/>
                </a:solidFill>
                <a:latin typeface="Calibri"/>
              </a:rPr>
              <a:t>Complete</a:t>
            </a:r>
          </a:p>
        </p:txBody>
      </p:sp>
      <p:sp>
        <p:nvSpPr>
          <p:cNvPr id="13" name="Rectangle 12"/>
          <p:cNvSpPr/>
          <p:nvPr/>
        </p:nvSpPr>
        <p:spPr>
          <a:xfrm>
            <a:off x="3657600" y="4709159"/>
            <a:ext cx="7772400" cy="822960"/>
          </a:xfrm>
          <a:prstGeom prst="rect">
            <a:avLst/>
          </a:prstGeom>
          <a:solidFill>
            <a:srgbClr val="F4F5F7"/>
          </a:solidFill>
          <a:ln>
            <a:noFill/>
          </a:ln>
          <a:effectLst/>
        </p:spPr>
        <p:txBody>
          <a:bodyPr rtlCol="0" anchor="ctr" lIns="54864" rIns="54864" tIns="27432" bIns="27432" wrap="square"/>
          <a:lstStyle/>
          <a:p>
            <a:pPr algn="ctr"/>
            <a:r>
              <a:rPr sz="2000" b="0" i="0">
                <a:solidFill>
                  <a:srgbClr val="2B2F36"/>
                </a:solidFill>
                <a:latin typeface="Calibri"/>
              </a:rPr>
              <a:t>a newly congruent pair is a candidate next round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FilterCC: drop the parent lists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35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731520" y="1417320"/>
            <a:ext cx="10972800" cy="457200"/>
          </a:xfrm>
          <a:prstGeom prst="rect">
            <a:avLst/>
          </a:prstGeom>
          <a:noFill/>
        </p:spPr>
        <p:txBody>
          <a:bodyPr wrap="square" anchor="t" lIns="45720" rIns="45720" tIns="27432" bIns="27432">
            <a:spAutoFit/>
          </a:bodyPr>
          <a:lstStyle/>
          <a:p>
            <a:pPr algn="l"/>
            <a:r>
              <a:rPr sz="2200" b="1" i="0">
                <a:solidFill>
                  <a:srgbClr val="1F2A44"/>
                </a:solidFill>
                <a:latin typeface="Calibri"/>
              </a:rPr>
              <a:t>Same rounds, different way to find the candidates</a:t>
            </a:r>
          </a:p>
        </p:txBody>
      </p:sp>
      <p:sp>
        <p:nvSpPr>
          <p:cNvPr id="7" name="Rectangle 6"/>
          <p:cNvSpPr/>
          <p:nvPr/>
        </p:nvSpPr>
        <p:spPr>
          <a:xfrm>
            <a:off x="731520" y="2194560"/>
            <a:ext cx="2322576" cy="548640"/>
          </a:xfrm>
          <a:prstGeom prst="rect">
            <a:avLst/>
          </a:prstGeom>
          <a:solidFill>
            <a:srgbClr val="1F2A44"/>
          </a:solidFill>
          <a:ln>
            <a:noFill/>
          </a:ln>
          <a:effectLst/>
        </p:spPr>
        <p:txBody>
          <a:bodyPr rtlCol="0" anchor="ctr" lIns="54864" rIns="54864" tIns="27432" bIns="27432" wrap="square"/>
          <a:lstStyle/>
          <a:p>
            <a:pPr algn="ctr"/>
          </a:p>
        </p:txBody>
      </p:sp>
      <p:sp>
        <p:nvSpPr>
          <p:cNvPr id="8" name="Rectangle 7"/>
          <p:cNvSpPr/>
          <p:nvPr/>
        </p:nvSpPr>
        <p:spPr>
          <a:xfrm>
            <a:off x="3108960" y="2194560"/>
            <a:ext cx="4151376" cy="548640"/>
          </a:xfrm>
          <a:prstGeom prst="rect">
            <a:avLst/>
          </a:prstGeom>
          <a:solidFill>
            <a:srgbClr val="1F2A44"/>
          </a:solidFill>
          <a:ln>
            <a:noFill/>
          </a:ln>
          <a:effectLst/>
        </p:spPr>
        <p:txBody>
          <a:bodyPr rtlCol="0" anchor="ctr" lIns="54864" rIns="54864" tIns="27432" bIns="27432" wrap="square"/>
          <a:lstStyle/>
          <a:p>
            <a:pPr algn="ctr"/>
            <a:r>
              <a:rPr sz="1800" b="1" i="0">
                <a:solidFill>
                  <a:srgbClr val="FFFFFF"/>
                </a:solidFill>
                <a:latin typeface="Calibri"/>
              </a:rPr>
              <a:t>ParentCC</a:t>
            </a:r>
          </a:p>
        </p:txBody>
      </p:sp>
      <p:sp>
        <p:nvSpPr>
          <p:cNvPr id="9" name="Rectangle 8"/>
          <p:cNvSpPr/>
          <p:nvPr/>
        </p:nvSpPr>
        <p:spPr>
          <a:xfrm>
            <a:off x="7315200" y="2194560"/>
            <a:ext cx="4151376" cy="548640"/>
          </a:xfrm>
          <a:prstGeom prst="rect">
            <a:avLst/>
          </a:prstGeom>
          <a:solidFill>
            <a:srgbClr val="1F2A44"/>
          </a:solidFill>
          <a:ln>
            <a:noFill/>
          </a:ln>
          <a:effectLst/>
        </p:spPr>
        <p:txBody>
          <a:bodyPr rtlCol="0" anchor="ctr" lIns="54864" rIns="54864" tIns="27432" bIns="27432" wrap="square"/>
          <a:lstStyle/>
          <a:p>
            <a:pPr algn="ctr"/>
            <a:r>
              <a:rPr sz="1800" b="1" i="0">
                <a:solidFill>
                  <a:srgbClr val="FFFFFF"/>
                </a:solidFill>
                <a:latin typeface="Calibri"/>
              </a:rPr>
              <a:t>FilterCC</a:t>
            </a:r>
          </a:p>
        </p:txBody>
      </p:sp>
      <p:sp>
        <p:nvSpPr>
          <p:cNvPr id="10" name="Rectangle 9"/>
          <p:cNvSpPr/>
          <p:nvPr/>
        </p:nvSpPr>
        <p:spPr>
          <a:xfrm>
            <a:off x="731520" y="2798064"/>
            <a:ext cx="2322576" cy="658368"/>
          </a:xfrm>
          <a:prstGeom prst="rect">
            <a:avLst/>
          </a:prstGeom>
          <a:solidFill>
            <a:srgbClr val="F4F5F7"/>
          </a:solidFill>
          <a:ln>
            <a:noFill/>
          </a:ln>
          <a:effectLst/>
        </p:spPr>
        <p:txBody>
          <a:bodyPr rtlCol="0" anchor="ctr" lIns="54864" rIns="54864" tIns="27432" bIns="27432" wrap="square"/>
          <a:lstStyle/>
          <a:p>
            <a:pPr algn="ctr"/>
            <a:r>
              <a:rPr sz="1700" b="1" i="0">
                <a:solidFill>
                  <a:srgbClr val="1F2A44"/>
                </a:solidFill>
                <a:latin typeface="Calibri"/>
              </a:rPr>
              <a:t>remember</a:t>
            </a:r>
          </a:p>
        </p:txBody>
      </p:sp>
      <p:sp>
        <p:nvSpPr>
          <p:cNvPr id="11" name="Rectangle 10"/>
          <p:cNvSpPr/>
          <p:nvPr/>
        </p:nvSpPr>
        <p:spPr>
          <a:xfrm>
            <a:off x="3108960" y="2798064"/>
            <a:ext cx="4151376" cy="658368"/>
          </a:xfrm>
          <a:prstGeom prst="rect">
            <a:avLst/>
          </a:prstGeom>
          <a:solidFill>
            <a:srgbClr val="F4F5F7"/>
          </a:solidFill>
          <a:ln>
            <a:noFill/>
          </a:ln>
          <a:effectLst/>
        </p:spPr>
        <p:txBody>
          <a:bodyPr rtlCol="0" anchor="ctr" lIns="54864" rIns="54864" tIns="27432" bIns="27432" wrap="square"/>
          <a:lstStyle/>
          <a:p>
            <a:pPr algn="ctr"/>
            <a:r>
              <a:rPr sz="1700" b="0" i="0">
                <a:solidFill>
                  <a:srgbClr val="2B2F36"/>
                </a:solidFill>
                <a:latin typeface="Calibri"/>
              </a:rPr>
              <a:t>parent list per class</a:t>
            </a:r>
          </a:p>
        </p:txBody>
      </p:sp>
      <p:sp>
        <p:nvSpPr>
          <p:cNvPr id="12" name="Rectangle 11"/>
          <p:cNvSpPr/>
          <p:nvPr/>
        </p:nvSpPr>
        <p:spPr>
          <a:xfrm>
            <a:off x="7315200" y="2798064"/>
            <a:ext cx="4151376" cy="658368"/>
          </a:xfrm>
          <a:prstGeom prst="rect">
            <a:avLst/>
          </a:prstGeom>
          <a:solidFill>
            <a:srgbClr val="F4F5F7"/>
          </a:solidFill>
          <a:ln>
            <a:noFill/>
          </a:ln>
          <a:effectLst/>
        </p:spPr>
        <p:txBody>
          <a:bodyPr rtlCol="0" anchor="ctr" lIns="54864" rIns="54864" tIns="27432" bIns="27432" wrap="square"/>
          <a:lstStyle/>
          <a:p>
            <a:pPr algn="ctr"/>
            <a:r>
              <a:rPr sz="1700" b="0" i="0">
                <a:solidFill>
                  <a:srgbClr val="2B2F36"/>
                </a:solidFill>
                <a:latin typeface="Calibri"/>
              </a:rPr>
              <a:t>one dirty bit per class</a:t>
            </a:r>
          </a:p>
        </p:txBody>
      </p:sp>
      <p:sp>
        <p:nvSpPr>
          <p:cNvPr id="13" name="Rectangle 12"/>
          <p:cNvSpPr/>
          <p:nvPr/>
        </p:nvSpPr>
        <p:spPr>
          <a:xfrm>
            <a:off x="731520" y="3511296"/>
            <a:ext cx="2322576" cy="658368"/>
          </a:xfrm>
          <a:prstGeom prst="rect">
            <a:avLst/>
          </a:prstGeom>
          <a:solidFill>
            <a:srgbClr val="F4F5F7"/>
          </a:solidFill>
          <a:ln>
            <a:noFill/>
          </a:ln>
          <a:effectLst/>
        </p:spPr>
        <p:txBody>
          <a:bodyPr rtlCol="0" anchor="ctr" lIns="54864" rIns="54864" tIns="27432" bIns="27432" wrap="square"/>
          <a:lstStyle/>
          <a:p>
            <a:pPr algn="ctr"/>
            <a:r>
              <a:rPr sz="1700" b="1" i="0">
                <a:solidFill>
                  <a:srgbClr val="1F2A44"/>
                </a:solidFill>
                <a:latin typeface="Calibri"/>
              </a:rPr>
              <a:t>candidates</a:t>
            </a:r>
          </a:p>
        </p:txBody>
      </p:sp>
      <p:sp>
        <p:nvSpPr>
          <p:cNvPr id="14" name="Rectangle 13"/>
          <p:cNvSpPr/>
          <p:nvPr/>
        </p:nvSpPr>
        <p:spPr>
          <a:xfrm>
            <a:off x="3108960" y="3511296"/>
            <a:ext cx="4151376" cy="658368"/>
          </a:xfrm>
          <a:prstGeom prst="rect">
            <a:avLst/>
          </a:prstGeom>
          <a:solidFill>
            <a:srgbClr val="F4F5F7"/>
          </a:solidFill>
          <a:ln>
            <a:noFill/>
          </a:ln>
          <a:effectLst/>
        </p:spPr>
        <p:txBody>
          <a:bodyPr rtlCol="0" anchor="ctr" lIns="54864" rIns="54864" tIns="27432" bIns="27432" wrap="square"/>
          <a:lstStyle/>
          <a:p>
            <a:pPr algn="ctr"/>
            <a:r>
              <a:rPr sz="1700" b="0" i="0">
                <a:solidFill>
                  <a:srgbClr val="2B2F36"/>
                </a:solidFill>
                <a:latin typeface="Calibri"/>
              </a:rPr>
              <a:t>parents of last round’s merges</a:t>
            </a:r>
          </a:p>
        </p:txBody>
      </p:sp>
      <p:sp>
        <p:nvSpPr>
          <p:cNvPr id="15" name="Rectangle 14"/>
          <p:cNvSpPr/>
          <p:nvPr/>
        </p:nvSpPr>
        <p:spPr>
          <a:xfrm>
            <a:off x="7315200" y="3511296"/>
            <a:ext cx="4151376" cy="658368"/>
          </a:xfrm>
          <a:prstGeom prst="rect">
            <a:avLst/>
          </a:prstGeom>
          <a:solidFill>
            <a:srgbClr val="F4F5F7"/>
          </a:solidFill>
          <a:ln>
            <a:noFill/>
          </a:ln>
          <a:effectLst/>
        </p:spPr>
        <p:txBody>
          <a:bodyPr rtlCol="0" anchor="ctr" lIns="54864" rIns="54864" tIns="27432" bIns="27432" wrap="square"/>
          <a:lstStyle/>
          <a:p>
            <a:pPr algn="ctr"/>
            <a:r>
              <a:rPr sz="1700" b="0" i="0">
                <a:solidFill>
                  <a:srgbClr val="2B2F36"/>
                </a:solidFill>
                <a:latin typeface="Calibri"/>
              </a:rPr>
              <a:t>filter all terms for a dirty child</a:t>
            </a:r>
          </a:p>
        </p:txBody>
      </p:sp>
      <p:sp>
        <p:nvSpPr>
          <p:cNvPr id="16" name="Rectangle 15"/>
          <p:cNvSpPr/>
          <p:nvPr/>
        </p:nvSpPr>
        <p:spPr>
          <a:xfrm>
            <a:off x="731520" y="4224528"/>
            <a:ext cx="2322576" cy="658368"/>
          </a:xfrm>
          <a:prstGeom prst="rect">
            <a:avLst/>
          </a:prstGeom>
          <a:solidFill>
            <a:srgbClr val="F4F5F7"/>
          </a:solidFill>
          <a:ln>
            <a:noFill/>
          </a:ln>
          <a:effectLst/>
        </p:spPr>
        <p:txBody>
          <a:bodyPr rtlCol="0" anchor="ctr" lIns="54864" rIns="54864" tIns="27432" bIns="27432" wrap="square"/>
          <a:lstStyle/>
          <a:p>
            <a:pPr algn="ctr"/>
            <a:r>
              <a:rPr sz="1700" b="1" i="0">
                <a:solidFill>
                  <a:srgbClr val="1F2A44"/>
                </a:solidFill>
                <a:latin typeface="Calibri"/>
              </a:rPr>
              <a:t>cost per round</a:t>
            </a:r>
          </a:p>
        </p:txBody>
      </p:sp>
      <p:sp>
        <p:nvSpPr>
          <p:cNvPr id="17" name="Rectangle 16"/>
          <p:cNvSpPr/>
          <p:nvPr/>
        </p:nvSpPr>
        <p:spPr>
          <a:xfrm>
            <a:off x="3108960" y="4224528"/>
            <a:ext cx="4151376" cy="658368"/>
          </a:xfrm>
          <a:prstGeom prst="rect">
            <a:avLst/>
          </a:prstGeom>
          <a:solidFill>
            <a:srgbClr val="F4F5F7"/>
          </a:solidFill>
          <a:ln>
            <a:noFill/>
          </a:ln>
          <a:effectLst/>
        </p:spPr>
        <p:txBody>
          <a:bodyPr rtlCol="0" anchor="ctr" lIns="54864" rIns="54864" tIns="27432" bIns="27432" wrap="square"/>
          <a:lstStyle/>
          <a:p>
            <a:pPr algn="ctr"/>
            <a:r>
              <a:rPr sz="1700" b="0" i="0">
                <a:solidFill>
                  <a:srgbClr val="2B2F36"/>
                </a:solidFill>
                <a:latin typeface="Calibri"/>
              </a:rPr>
              <a:t>∝ candidates, plus allocation</a:t>
            </a:r>
          </a:p>
        </p:txBody>
      </p:sp>
      <p:sp>
        <p:nvSpPr>
          <p:cNvPr id="18" name="Rectangle 17"/>
          <p:cNvSpPr/>
          <p:nvPr/>
        </p:nvSpPr>
        <p:spPr>
          <a:xfrm>
            <a:off x="7315200" y="4224528"/>
            <a:ext cx="4151376" cy="658368"/>
          </a:xfrm>
          <a:prstGeom prst="rect">
            <a:avLst/>
          </a:prstGeom>
          <a:solidFill>
            <a:srgbClr val="F4F5F7"/>
          </a:solidFill>
          <a:ln>
            <a:noFill/>
          </a:ln>
          <a:effectLst/>
        </p:spPr>
        <p:txBody>
          <a:bodyPr rtlCol="0" anchor="ctr" lIns="54864" rIns="54864" tIns="27432" bIns="27432" wrap="square"/>
          <a:lstStyle/>
          <a:p>
            <a:pPr algn="ctr"/>
            <a:r>
              <a:rPr sz="1700" b="0" i="0">
                <a:solidFill>
                  <a:srgbClr val="2B2F36"/>
                </a:solidFill>
                <a:latin typeface="Calibri"/>
              </a:rPr>
              <a:t>∝ all terms, no allocation</a:t>
            </a:r>
          </a:p>
        </p:txBody>
      </p:sp>
      <p:sp>
        <p:nvSpPr>
          <p:cNvPr id="19" name="Rectangle 18"/>
          <p:cNvSpPr/>
          <p:nvPr/>
        </p:nvSpPr>
        <p:spPr>
          <a:xfrm>
            <a:off x="731520" y="4937760"/>
            <a:ext cx="2322576" cy="658368"/>
          </a:xfrm>
          <a:prstGeom prst="rect">
            <a:avLst/>
          </a:prstGeom>
          <a:solidFill>
            <a:srgbClr val="F4F5F7"/>
          </a:solidFill>
          <a:ln>
            <a:noFill/>
          </a:ln>
          <a:effectLst/>
        </p:spPr>
        <p:txBody>
          <a:bodyPr rtlCol="0" anchor="ctr" lIns="54864" rIns="54864" tIns="27432" bIns="27432" wrap="square"/>
          <a:lstStyle/>
          <a:p>
            <a:pPr algn="ctr"/>
            <a:r>
              <a:rPr sz="1700" b="1" i="0">
                <a:solidFill>
                  <a:srgbClr val="1F2A44"/>
                </a:solidFill>
                <a:latin typeface="Calibri"/>
              </a:rPr>
              <a:t>wins when</a:t>
            </a:r>
          </a:p>
        </p:txBody>
      </p:sp>
      <p:sp>
        <p:nvSpPr>
          <p:cNvPr id="20" name="Rectangle 19"/>
          <p:cNvSpPr/>
          <p:nvPr/>
        </p:nvSpPr>
        <p:spPr>
          <a:xfrm>
            <a:off x="3108960" y="4937760"/>
            <a:ext cx="4151376" cy="658368"/>
          </a:xfrm>
          <a:prstGeom prst="rect">
            <a:avLst/>
          </a:prstGeom>
          <a:solidFill>
            <a:srgbClr val="F4F5F7"/>
          </a:solidFill>
          <a:ln>
            <a:noFill/>
          </a:ln>
          <a:effectLst/>
        </p:spPr>
        <p:txBody>
          <a:bodyPr rtlCol="0" anchor="ctr" lIns="54864" rIns="54864" tIns="27432" bIns="27432" wrap="square"/>
          <a:lstStyle/>
          <a:p>
            <a:pPr algn="ctr"/>
            <a:r>
              <a:rPr sz="1700" b="0" i="0">
                <a:solidFill>
                  <a:srgbClr val="2B2F36"/>
                </a:solidFill>
                <a:latin typeface="Calibri"/>
              </a:rPr>
              <a:t>many rounds</a:t>
            </a:r>
          </a:p>
        </p:txBody>
      </p:sp>
      <p:sp>
        <p:nvSpPr>
          <p:cNvPr id="21" name="Rectangle 20"/>
          <p:cNvSpPr/>
          <p:nvPr/>
        </p:nvSpPr>
        <p:spPr>
          <a:xfrm>
            <a:off x="7315200" y="4937760"/>
            <a:ext cx="4151376" cy="658368"/>
          </a:xfrm>
          <a:prstGeom prst="rect">
            <a:avLst/>
          </a:prstGeom>
          <a:solidFill>
            <a:srgbClr val="F4F5F7"/>
          </a:solidFill>
          <a:ln>
            <a:noFill/>
          </a:ln>
          <a:effectLst/>
        </p:spPr>
        <p:txBody>
          <a:bodyPr rtlCol="0" anchor="ctr" lIns="54864" rIns="54864" tIns="27432" bIns="27432" wrap="square"/>
          <a:lstStyle/>
          <a:p>
            <a:pPr algn="ctr"/>
            <a:r>
              <a:rPr sz="1700" b="0" i="0">
                <a:solidFill>
                  <a:srgbClr val="2B2F36"/>
                </a:solidFill>
                <a:latin typeface="Calibri"/>
              </a:rPr>
              <a:t>few rounds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FilterCC on the example: round 1</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36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17219"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1549907" y="5340096"/>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8" name="Rounded Rectangle 7"/>
          <p:cNvSpPr/>
          <p:nvPr/>
        </p:nvSpPr>
        <p:spPr>
          <a:xfrm>
            <a:off x="2116835"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3049523" y="5340096"/>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0" name="Rounded Rectangle 9"/>
          <p:cNvSpPr/>
          <p:nvPr/>
        </p:nvSpPr>
        <p:spPr>
          <a:xfrm>
            <a:off x="3616451"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4549140" y="5340096"/>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2" name="Rounded Rectangle 11"/>
          <p:cNvSpPr/>
          <p:nvPr/>
        </p:nvSpPr>
        <p:spPr>
          <a:xfrm>
            <a:off x="511606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3" name="Rounded Rectangle 12"/>
          <p:cNvSpPr/>
          <p:nvPr/>
        </p:nvSpPr>
        <p:spPr>
          <a:xfrm>
            <a:off x="6048755" y="5340096"/>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4" name="Rounded Rectangle 13"/>
          <p:cNvSpPr/>
          <p:nvPr/>
        </p:nvSpPr>
        <p:spPr>
          <a:xfrm>
            <a:off x="6615683"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5" name="Rounded Rectangle 14"/>
          <p:cNvSpPr/>
          <p:nvPr/>
        </p:nvSpPr>
        <p:spPr>
          <a:xfrm>
            <a:off x="7548372" y="5340096"/>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6" name="Rounded Rectangle 15"/>
          <p:cNvSpPr/>
          <p:nvPr/>
        </p:nvSpPr>
        <p:spPr>
          <a:xfrm>
            <a:off x="1092707" y="2907791"/>
            <a:ext cx="2011680" cy="95097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7" name="Rounded Rectangle 16"/>
          <p:cNvSpPr/>
          <p:nvPr/>
        </p:nvSpPr>
        <p:spPr>
          <a:xfrm>
            <a:off x="5527547" y="2907791"/>
            <a:ext cx="2011680" cy="95097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8" name="Rounded Rectangle 17"/>
          <p:cNvSpPr/>
          <p:nvPr/>
        </p:nvSpPr>
        <p:spPr>
          <a:xfrm>
            <a:off x="2994659" y="1581912"/>
            <a:ext cx="125272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9" name="Rounded Rectangle 18"/>
          <p:cNvSpPr/>
          <p:nvPr/>
        </p:nvSpPr>
        <p:spPr>
          <a:xfrm>
            <a:off x="4658868" y="1581912"/>
            <a:ext cx="125272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cxnSp>
        <p:nvCxnSpPr>
          <p:cNvPr id="20" name="Connector 19"/>
          <p:cNvCxnSpPr/>
          <p:nvPr/>
        </p:nvCxnSpPr>
        <p:spPr>
          <a:xfrm flipH="1">
            <a:off x="1010411" y="3803903"/>
            <a:ext cx="539496" cy="1106425"/>
          </a:xfrm>
          <a:prstGeom prst="line">
            <a:avLst/>
          </a:prstGeom>
          <a:ln w="15875">
            <a:solidFill>
              <a:srgbClr val="8A8F98"/>
            </a:solidFill>
          </a:ln>
          <a:effectLst/>
        </p:spPr>
      </p:cxnSp>
      <p:cxnSp>
        <p:nvCxnSpPr>
          <p:cNvPr id="21" name="Connector 20"/>
          <p:cNvCxnSpPr/>
          <p:nvPr/>
        </p:nvCxnSpPr>
        <p:spPr>
          <a:xfrm>
            <a:off x="1549907" y="3803903"/>
            <a:ext cx="960120" cy="1106425"/>
          </a:xfrm>
          <a:prstGeom prst="line">
            <a:avLst/>
          </a:prstGeom>
          <a:ln w="15875">
            <a:solidFill>
              <a:srgbClr val="8A8F98"/>
            </a:solidFill>
          </a:ln>
          <a:effectLst/>
        </p:spPr>
      </p:cxnSp>
      <p:cxnSp>
        <p:nvCxnSpPr>
          <p:cNvPr id="22" name="Connector 21"/>
          <p:cNvCxnSpPr/>
          <p:nvPr/>
        </p:nvCxnSpPr>
        <p:spPr>
          <a:xfrm flipH="1">
            <a:off x="1632203" y="3803903"/>
            <a:ext cx="1014984" cy="1106425"/>
          </a:xfrm>
          <a:prstGeom prst="line">
            <a:avLst/>
          </a:prstGeom>
          <a:ln w="15875">
            <a:solidFill>
              <a:srgbClr val="8A8F98"/>
            </a:solidFill>
          </a:ln>
          <a:effectLst/>
        </p:spPr>
      </p:cxnSp>
      <p:cxnSp>
        <p:nvCxnSpPr>
          <p:cNvPr id="23" name="Connector 22"/>
          <p:cNvCxnSpPr/>
          <p:nvPr/>
        </p:nvCxnSpPr>
        <p:spPr>
          <a:xfrm>
            <a:off x="2647187" y="3803903"/>
            <a:ext cx="484632" cy="1106425"/>
          </a:xfrm>
          <a:prstGeom prst="line">
            <a:avLst/>
          </a:prstGeom>
          <a:ln w="15875">
            <a:solidFill>
              <a:srgbClr val="8A8F98"/>
            </a:solidFill>
          </a:ln>
          <a:effectLst/>
        </p:spPr>
      </p:cxnSp>
      <p:cxnSp>
        <p:nvCxnSpPr>
          <p:cNvPr id="24" name="Connector 23"/>
          <p:cNvCxnSpPr/>
          <p:nvPr/>
        </p:nvCxnSpPr>
        <p:spPr>
          <a:xfrm flipH="1">
            <a:off x="5509259" y="3803903"/>
            <a:ext cx="475488" cy="1106425"/>
          </a:xfrm>
          <a:prstGeom prst="line">
            <a:avLst/>
          </a:prstGeom>
          <a:ln w="15875">
            <a:solidFill>
              <a:srgbClr val="8A8F98"/>
            </a:solidFill>
          </a:ln>
          <a:effectLst/>
        </p:spPr>
      </p:cxnSp>
      <p:cxnSp>
        <p:nvCxnSpPr>
          <p:cNvPr id="25" name="Connector 24"/>
          <p:cNvCxnSpPr/>
          <p:nvPr/>
        </p:nvCxnSpPr>
        <p:spPr>
          <a:xfrm>
            <a:off x="5984747" y="3803903"/>
            <a:ext cx="1024128" cy="1106425"/>
          </a:xfrm>
          <a:prstGeom prst="line">
            <a:avLst/>
          </a:prstGeom>
          <a:ln w="15875">
            <a:solidFill>
              <a:srgbClr val="8A8F98"/>
            </a:solidFill>
          </a:ln>
          <a:effectLst/>
        </p:spPr>
      </p:cxnSp>
      <p:cxnSp>
        <p:nvCxnSpPr>
          <p:cNvPr id="26" name="Connector 25"/>
          <p:cNvCxnSpPr/>
          <p:nvPr/>
        </p:nvCxnSpPr>
        <p:spPr>
          <a:xfrm flipH="1">
            <a:off x="6131051" y="3803903"/>
            <a:ext cx="950976" cy="1106425"/>
          </a:xfrm>
          <a:prstGeom prst="line">
            <a:avLst/>
          </a:prstGeom>
          <a:ln w="15875">
            <a:solidFill>
              <a:srgbClr val="8A8F98"/>
            </a:solidFill>
          </a:ln>
          <a:effectLst/>
        </p:spPr>
      </p:cxnSp>
      <p:cxnSp>
        <p:nvCxnSpPr>
          <p:cNvPr id="27" name="Connector 26"/>
          <p:cNvCxnSpPr/>
          <p:nvPr/>
        </p:nvCxnSpPr>
        <p:spPr>
          <a:xfrm>
            <a:off x="7082027" y="3803903"/>
            <a:ext cx="548640" cy="1106425"/>
          </a:xfrm>
          <a:prstGeom prst="line">
            <a:avLst/>
          </a:prstGeom>
          <a:ln w="15875">
            <a:solidFill>
              <a:srgbClr val="8A8F98"/>
            </a:solidFill>
          </a:ln>
          <a:effectLst/>
        </p:spPr>
      </p:cxnSp>
      <p:cxnSp>
        <p:nvCxnSpPr>
          <p:cNvPr id="28" name="Connector 27"/>
          <p:cNvCxnSpPr/>
          <p:nvPr/>
        </p:nvCxnSpPr>
        <p:spPr>
          <a:xfrm>
            <a:off x="3790187" y="2203704"/>
            <a:ext cx="219457" cy="2706624"/>
          </a:xfrm>
          <a:prstGeom prst="line">
            <a:avLst/>
          </a:prstGeom>
          <a:ln w="15875">
            <a:solidFill>
              <a:srgbClr val="8A8F98"/>
            </a:solidFill>
          </a:ln>
          <a:effectLst/>
        </p:spPr>
      </p:cxnSp>
      <p:cxnSp>
        <p:nvCxnSpPr>
          <p:cNvPr id="29" name="Connector 28"/>
          <p:cNvCxnSpPr/>
          <p:nvPr/>
        </p:nvCxnSpPr>
        <p:spPr>
          <a:xfrm flipH="1">
            <a:off x="1549907" y="2203704"/>
            <a:ext cx="2240280" cy="749807"/>
          </a:xfrm>
          <a:prstGeom prst="line">
            <a:avLst/>
          </a:prstGeom>
          <a:ln w="15875">
            <a:solidFill>
              <a:srgbClr val="8A8F98"/>
            </a:solidFill>
          </a:ln>
          <a:effectLst/>
        </p:spPr>
      </p:cxnSp>
      <p:cxnSp>
        <p:nvCxnSpPr>
          <p:cNvPr id="30" name="Connector 29"/>
          <p:cNvCxnSpPr/>
          <p:nvPr/>
        </p:nvCxnSpPr>
        <p:spPr>
          <a:xfrm>
            <a:off x="3790187" y="2203704"/>
            <a:ext cx="2194560" cy="749807"/>
          </a:xfrm>
          <a:prstGeom prst="line">
            <a:avLst/>
          </a:prstGeom>
          <a:ln w="15875">
            <a:solidFill>
              <a:srgbClr val="8A8F98"/>
            </a:solidFill>
          </a:ln>
          <a:effectLst/>
        </p:spPr>
      </p:cxnSp>
      <p:cxnSp>
        <p:nvCxnSpPr>
          <p:cNvPr id="31" name="Connector 30"/>
          <p:cNvCxnSpPr/>
          <p:nvPr/>
        </p:nvCxnSpPr>
        <p:spPr>
          <a:xfrm flipH="1">
            <a:off x="4631436" y="2203704"/>
            <a:ext cx="484632" cy="2706624"/>
          </a:xfrm>
          <a:prstGeom prst="line">
            <a:avLst/>
          </a:prstGeom>
          <a:ln w="15875">
            <a:solidFill>
              <a:srgbClr val="8A8F98"/>
            </a:solidFill>
          </a:ln>
          <a:effectLst/>
        </p:spPr>
      </p:cxnSp>
      <p:cxnSp>
        <p:nvCxnSpPr>
          <p:cNvPr id="32" name="Connector 31"/>
          <p:cNvCxnSpPr/>
          <p:nvPr/>
        </p:nvCxnSpPr>
        <p:spPr>
          <a:xfrm flipH="1">
            <a:off x="2647187" y="2203704"/>
            <a:ext cx="2468881" cy="749807"/>
          </a:xfrm>
          <a:prstGeom prst="line">
            <a:avLst/>
          </a:prstGeom>
          <a:ln w="15875">
            <a:solidFill>
              <a:srgbClr val="8A8F98"/>
            </a:solidFill>
          </a:ln>
          <a:effectLst/>
        </p:spPr>
      </p:cxnSp>
      <p:cxnSp>
        <p:nvCxnSpPr>
          <p:cNvPr id="33" name="Connector 32"/>
          <p:cNvCxnSpPr/>
          <p:nvPr/>
        </p:nvCxnSpPr>
        <p:spPr>
          <a:xfrm>
            <a:off x="5116068" y="2203704"/>
            <a:ext cx="1965959" cy="749807"/>
          </a:xfrm>
          <a:prstGeom prst="line">
            <a:avLst/>
          </a:prstGeom>
          <a:ln w="15875">
            <a:solidFill>
              <a:srgbClr val="8A8F98"/>
            </a:solidFill>
          </a:ln>
          <a:effectLst/>
        </p:spPr>
      </p:cxnSp>
      <p:sp>
        <p:nvSpPr>
          <p:cNvPr id="34" name="Rounded Rectangle 33"/>
          <p:cNvSpPr/>
          <p:nvPr/>
        </p:nvSpPr>
        <p:spPr>
          <a:xfrm>
            <a:off x="736091"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5" name="Rounded Rectangle 34"/>
          <p:cNvSpPr/>
          <p:nvPr/>
        </p:nvSpPr>
        <p:spPr>
          <a:xfrm>
            <a:off x="1357883"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6" name="Rounded Rectangle 35"/>
          <p:cNvSpPr/>
          <p:nvPr/>
        </p:nvSpPr>
        <p:spPr>
          <a:xfrm>
            <a:off x="223570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7" name="Rounded Rectangle 36"/>
          <p:cNvSpPr/>
          <p:nvPr/>
        </p:nvSpPr>
        <p:spPr>
          <a:xfrm>
            <a:off x="285749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8" name="Rounded Rectangle 37"/>
          <p:cNvSpPr/>
          <p:nvPr/>
        </p:nvSpPr>
        <p:spPr>
          <a:xfrm>
            <a:off x="373532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9" name="Rounded Rectangle 38"/>
          <p:cNvSpPr/>
          <p:nvPr/>
        </p:nvSpPr>
        <p:spPr>
          <a:xfrm>
            <a:off x="435711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40" name="Rounded Rectangle 39"/>
          <p:cNvSpPr/>
          <p:nvPr/>
        </p:nvSpPr>
        <p:spPr>
          <a:xfrm>
            <a:off x="523494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41" name="Rounded Rectangle 40"/>
          <p:cNvSpPr/>
          <p:nvPr/>
        </p:nvSpPr>
        <p:spPr>
          <a:xfrm>
            <a:off x="5856731"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42" name="Rounded Rectangle 41"/>
          <p:cNvSpPr/>
          <p:nvPr/>
        </p:nvSpPr>
        <p:spPr>
          <a:xfrm>
            <a:off x="6734555"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43" name="Rounded Rectangle 42"/>
          <p:cNvSpPr/>
          <p:nvPr/>
        </p:nvSpPr>
        <p:spPr>
          <a:xfrm>
            <a:off x="735634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44" name="Rounded Rectangle 43"/>
          <p:cNvSpPr/>
          <p:nvPr/>
        </p:nvSpPr>
        <p:spPr>
          <a:xfrm>
            <a:off x="1147571"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5" name="TextBox 44"/>
          <p:cNvSpPr txBox="1"/>
          <p:nvPr/>
        </p:nvSpPr>
        <p:spPr>
          <a:xfrm>
            <a:off x="113842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6" name="Rounded Rectangle 45"/>
          <p:cNvSpPr/>
          <p:nvPr/>
        </p:nvSpPr>
        <p:spPr>
          <a:xfrm>
            <a:off x="2244851"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7" name="TextBox 46"/>
          <p:cNvSpPr txBox="1"/>
          <p:nvPr/>
        </p:nvSpPr>
        <p:spPr>
          <a:xfrm>
            <a:off x="223570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8" name="Rounded Rectangle 47"/>
          <p:cNvSpPr/>
          <p:nvPr/>
        </p:nvSpPr>
        <p:spPr>
          <a:xfrm>
            <a:off x="5582411"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9" name="TextBox 48"/>
          <p:cNvSpPr txBox="1"/>
          <p:nvPr/>
        </p:nvSpPr>
        <p:spPr>
          <a:xfrm>
            <a:off x="557326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50" name="Rounded Rectangle 49"/>
          <p:cNvSpPr/>
          <p:nvPr/>
        </p:nvSpPr>
        <p:spPr>
          <a:xfrm>
            <a:off x="6679691"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51" name="TextBox 50"/>
          <p:cNvSpPr txBox="1"/>
          <p:nvPr/>
        </p:nvSpPr>
        <p:spPr>
          <a:xfrm>
            <a:off x="667054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52" name="Rounded Rectangle 51"/>
          <p:cNvSpPr/>
          <p:nvPr/>
        </p:nvSpPr>
        <p:spPr>
          <a:xfrm>
            <a:off x="3387851"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53" name="TextBox 52"/>
          <p:cNvSpPr txBox="1"/>
          <p:nvPr/>
        </p:nvSpPr>
        <p:spPr>
          <a:xfrm>
            <a:off x="3058667"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54" name="Rounded Rectangle 53"/>
          <p:cNvSpPr/>
          <p:nvPr/>
        </p:nvSpPr>
        <p:spPr>
          <a:xfrm>
            <a:off x="4713731"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55" name="TextBox 54"/>
          <p:cNvSpPr txBox="1"/>
          <p:nvPr/>
        </p:nvSpPr>
        <p:spPr>
          <a:xfrm>
            <a:off x="5536692"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6" name="TextBox 55"/>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Round 1</a:t>
            </a:r>
          </a:p>
        </p:txBody>
      </p:sp>
      <p:sp>
        <p:nvSpPr>
          <p:cNvPr id="57" name="TextBox 56"/>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first round: every gate is a candidate</a:t>
            </a:r>
          </a:p>
          <a:p>
            <a:pPr marL="274320" indent="-237744">
              <a:spcBef>
                <a:spcPts val="500"/>
              </a:spcBef>
              <a:buClr>
                <a:srgbClr val="6B717A"/>
              </a:buClr>
              <a:buChar char="•"/>
            </a:pPr>
            <a:r>
              <a:rPr sz="1600" b="0" i="0">
                <a:solidFill>
                  <a:srgbClr val="2B2F36"/>
                </a:solidFill>
                <a:latin typeface="Calibri"/>
              </a:rPr>
              <a:t>groups and merges as in ParentCC</a:t>
            </a:r>
          </a:p>
          <a:p>
            <a:pPr marL="274320" indent="-237744">
              <a:spcBef>
                <a:spcPts val="500"/>
              </a:spcBef>
              <a:buClr>
                <a:srgbClr val="6B717A"/>
              </a:buClr>
              <a:buChar char="•"/>
            </a:pPr>
            <a:r>
              <a:rPr sz="1600" b="0" i="0">
                <a:solidFill>
                  <a:srgbClr val="2B2F36"/>
                </a:solidFill>
                <a:latin typeface="Calibri"/>
              </a:rPr>
              <a:t>then mark the merged classes dirty</a:t>
            </a:r>
          </a:p>
        </p:txBody>
      </p:sp>
      <p:sp>
        <p:nvSpPr>
          <p:cNvPr id="58" name="Rounded Rectangle 57"/>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9" name="TextBox 58"/>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candidate</a:t>
            </a:r>
          </a:p>
        </p:txBody>
      </p:sp>
      <p:sp>
        <p:nvSpPr>
          <p:cNvPr id="60" name="Rounded Rectangle 59"/>
          <p:cNvSpPr/>
          <p:nvPr/>
        </p:nvSpPr>
        <p:spPr>
          <a:xfrm>
            <a:off x="2194560" y="5943600"/>
            <a:ext cx="329184" cy="219456"/>
          </a:xfrm>
          <a:prstGeom prst="roundRect">
            <a:avLst>
              <a:gd name="adj" fmla="val 15000"/>
            </a:avLst>
          </a:prstGeom>
          <a:noFill/>
          <a:ln w="22225">
            <a:solidFill>
              <a:srgbClr val="7B4FB5"/>
            </a:solidFill>
            <a:prstDash val="sysDot"/>
          </a:ln>
          <a:effectLst/>
        </p:spPr>
        <p:txBody>
          <a:bodyPr rtlCol="0" anchor="ctr" lIns="54864" rIns="54864" tIns="27432" bIns="27432" wrap="square"/>
          <a:lstStyle/>
          <a:p>
            <a:pPr algn="ctr"/>
          </a:p>
        </p:txBody>
      </p:sp>
      <p:sp>
        <p:nvSpPr>
          <p:cNvPr id="61" name="TextBox 60"/>
          <p:cNvSpPr txBox="1"/>
          <p:nvPr/>
        </p:nvSpPr>
        <p:spPr>
          <a:xfrm>
            <a:off x="257860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signature group</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FilterCC on the example: round 2</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37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17219"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16835"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16451"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1606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15683"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28699"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2692907" y="2715767"/>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3" name="Rounded Rectangle 12"/>
          <p:cNvSpPr/>
          <p:nvPr/>
        </p:nvSpPr>
        <p:spPr>
          <a:xfrm>
            <a:off x="5463539"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4" name="Rounded Rectangle 13"/>
          <p:cNvSpPr/>
          <p:nvPr/>
        </p:nvSpPr>
        <p:spPr>
          <a:xfrm>
            <a:off x="7127748" y="2715767"/>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5" name="Rounded Rectangle 14"/>
          <p:cNvSpPr/>
          <p:nvPr/>
        </p:nvSpPr>
        <p:spPr>
          <a:xfrm>
            <a:off x="2994659" y="1581912"/>
            <a:ext cx="2916936"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cxnSp>
        <p:nvCxnSpPr>
          <p:cNvPr id="16" name="Connector 15"/>
          <p:cNvCxnSpPr/>
          <p:nvPr/>
        </p:nvCxnSpPr>
        <p:spPr>
          <a:xfrm flipH="1">
            <a:off x="1010411" y="3803903"/>
            <a:ext cx="539496" cy="1106425"/>
          </a:xfrm>
          <a:prstGeom prst="line">
            <a:avLst/>
          </a:prstGeom>
          <a:ln w="15875">
            <a:solidFill>
              <a:srgbClr val="8A8F98"/>
            </a:solidFill>
          </a:ln>
          <a:effectLst/>
        </p:spPr>
      </p:cxnSp>
      <p:cxnSp>
        <p:nvCxnSpPr>
          <p:cNvPr id="17" name="Connector 16"/>
          <p:cNvCxnSpPr/>
          <p:nvPr/>
        </p:nvCxnSpPr>
        <p:spPr>
          <a:xfrm>
            <a:off x="1549907" y="3803903"/>
            <a:ext cx="960120" cy="1106425"/>
          </a:xfrm>
          <a:prstGeom prst="line">
            <a:avLst/>
          </a:prstGeom>
          <a:ln w="15875">
            <a:solidFill>
              <a:srgbClr val="8A8F98"/>
            </a:solidFill>
          </a:ln>
          <a:effectLst/>
        </p:spPr>
      </p:cxnSp>
      <p:cxnSp>
        <p:nvCxnSpPr>
          <p:cNvPr id="18" name="Connector 17"/>
          <p:cNvCxnSpPr/>
          <p:nvPr/>
        </p:nvCxnSpPr>
        <p:spPr>
          <a:xfrm flipH="1">
            <a:off x="1632203" y="3803903"/>
            <a:ext cx="1014984" cy="1106425"/>
          </a:xfrm>
          <a:prstGeom prst="line">
            <a:avLst/>
          </a:prstGeom>
          <a:ln w="15875">
            <a:solidFill>
              <a:srgbClr val="8A8F98"/>
            </a:solidFill>
          </a:ln>
          <a:effectLst/>
        </p:spPr>
      </p:cxnSp>
      <p:cxnSp>
        <p:nvCxnSpPr>
          <p:cNvPr id="19" name="Connector 18"/>
          <p:cNvCxnSpPr/>
          <p:nvPr/>
        </p:nvCxnSpPr>
        <p:spPr>
          <a:xfrm>
            <a:off x="2647187" y="3803903"/>
            <a:ext cx="484632" cy="1106425"/>
          </a:xfrm>
          <a:prstGeom prst="line">
            <a:avLst/>
          </a:prstGeom>
          <a:ln w="15875">
            <a:solidFill>
              <a:srgbClr val="8A8F98"/>
            </a:solidFill>
          </a:ln>
          <a:effectLst/>
        </p:spPr>
      </p:cxnSp>
      <p:cxnSp>
        <p:nvCxnSpPr>
          <p:cNvPr id="20" name="Connector 19"/>
          <p:cNvCxnSpPr/>
          <p:nvPr/>
        </p:nvCxnSpPr>
        <p:spPr>
          <a:xfrm flipH="1">
            <a:off x="5509259" y="3803903"/>
            <a:ext cx="475488" cy="1106425"/>
          </a:xfrm>
          <a:prstGeom prst="line">
            <a:avLst/>
          </a:prstGeom>
          <a:ln w="15875">
            <a:solidFill>
              <a:srgbClr val="8A8F98"/>
            </a:solidFill>
          </a:ln>
          <a:effectLst/>
        </p:spPr>
      </p:cxnSp>
      <p:cxnSp>
        <p:nvCxnSpPr>
          <p:cNvPr id="21" name="Connector 20"/>
          <p:cNvCxnSpPr/>
          <p:nvPr/>
        </p:nvCxnSpPr>
        <p:spPr>
          <a:xfrm>
            <a:off x="5984747" y="3803903"/>
            <a:ext cx="1024128" cy="1106425"/>
          </a:xfrm>
          <a:prstGeom prst="line">
            <a:avLst/>
          </a:prstGeom>
          <a:ln w="15875">
            <a:solidFill>
              <a:srgbClr val="8A8F98"/>
            </a:solidFill>
          </a:ln>
          <a:effectLst/>
        </p:spPr>
      </p:cxnSp>
      <p:cxnSp>
        <p:nvCxnSpPr>
          <p:cNvPr id="22" name="Connector 21"/>
          <p:cNvCxnSpPr/>
          <p:nvPr/>
        </p:nvCxnSpPr>
        <p:spPr>
          <a:xfrm flipH="1">
            <a:off x="6131051" y="3803903"/>
            <a:ext cx="950976" cy="1106425"/>
          </a:xfrm>
          <a:prstGeom prst="line">
            <a:avLst/>
          </a:prstGeom>
          <a:ln w="15875">
            <a:solidFill>
              <a:srgbClr val="8A8F98"/>
            </a:solidFill>
          </a:ln>
          <a:effectLst/>
        </p:spPr>
      </p:cxnSp>
      <p:cxnSp>
        <p:nvCxnSpPr>
          <p:cNvPr id="23" name="Connector 22"/>
          <p:cNvCxnSpPr/>
          <p:nvPr/>
        </p:nvCxnSpPr>
        <p:spPr>
          <a:xfrm>
            <a:off x="7082027" y="3803903"/>
            <a:ext cx="548640" cy="1106425"/>
          </a:xfrm>
          <a:prstGeom prst="line">
            <a:avLst/>
          </a:prstGeom>
          <a:ln w="15875">
            <a:solidFill>
              <a:srgbClr val="8A8F98"/>
            </a:solidFill>
          </a:ln>
          <a:effectLst/>
        </p:spPr>
      </p:cxnSp>
      <p:cxnSp>
        <p:nvCxnSpPr>
          <p:cNvPr id="24" name="Connector 23"/>
          <p:cNvCxnSpPr/>
          <p:nvPr/>
        </p:nvCxnSpPr>
        <p:spPr>
          <a:xfrm>
            <a:off x="3790187" y="2203704"/>
            <a:ext cx="219457" cy="2706624"/>
          </a:xfrm>
          <a:prstGeom prst="line">
            <a:avLst/>
          </a:prstGeom>
          <a:ln w="15875">
            <a:solidFill>
              <a:srgbClr val="8A8F98"/>
            </a:solidFill>
          </a:ln>
          <a:effectLst/>
        </p:spPr>
      </p:cxnSp>
      <p:cxnSp>
        <p:nvCxnSpPr>
          <p:cNvPr id="25" name="Connector 24"/>
          <p:cNvCxnSpPr/>
          <p:nvPr/>
        </p:nvCxnSpPr>
        <p:spPr>
          <a:xfrm flipH="1">
            <a:off x="1549907" y="2203704"/>
            <a:ext cx="2240280" cy="749807"/>
          </a:xfrm>
          <a:prstGeom prst="line">
            <a:avLst/>
          </a:prstGeom>
          <a:ln w="15875">
            <a:solidFill>
              <a:srgbClr val="8A8F98"/>
            </a:solidFill>
          </a:ln>
          <a:effectLst/>
        </p:spPr>
      </p:cxnSp>
      <p:cxnSp>
        <p:nvCxnSpPr>
          <p:cNvPr id="26" name="Connector 25"/>
          <p:cNvCxnSpPr/>
          <p:nvPr/>
        </p:nvCxnSpPr>
        <p:spPr>
          <a:xfrm>
            <a:off x="3790187" y="2203704"/>
            <a:ext cx="2194560" cy="749807"/>
          </a:xfrm>
          <a:prstGeom prst="line">
            <a:avLst/>
          </a:prstGeom>
          <a:ln w="15875">
            <a:solidFill>
              <a:srgbClr val="8A8F98"/>
            </a:solidFill>
          </a:ln>
          <a:effectLst/>
        </p:spPr>
      </p:cxnSp>
      <p:cxnSp>
        <p:nvCxnSpPr>
          <p:cNvPr id="27" name="Connector 26"/>
          <p:cNvCxnSpPr/>
          <p:nvPr/>
        </p:nvCxnSpPr>
        <p:spPr>
          <a:xfrm flipH="1">
            <a:off x="4631436" y="2203704"/>
            <a:ext cx="484632" cy="2706624"/>
          </a:xfrm>
          <a:prstGeom prst="line">
            <a:avLst/>
          </a:prstGeom>
          <a:ln w="15875">
            <a:solidFill>
              <a:srgbClr val="8A8F98"/>
            </a:solidFill>
          </a:ln>
          <a:effectLst/>
        </p:spPr>
      </p:cxnSp>
      <p:cxnSp>
        <p:nvCxnSpPr>
          <p:cNvPr id="28" name="Connector 27"/>
          <p:cNvCxnSpPr/>
          <p:nvPr/>
        </p:nvCxnSpPr>
        <p:spPr>
          <a:xfrm flipH="1">
            <a:off x="2647187" y="2203704"/>
            <a:ext cx="2468881" cy="749807"/>
          </a:xfrm>
          <a:prstGeom prst="line">
            <a:avLst/>
          </a:prstGeom>
          <a:ln w="15875">
            <a:solidFill>
              <a:srgbClr val="8A8F98"/>
            </a:solidFill>
          </a:ln>
          <a:effectLst/>
        </p:spPr>
      </p:cxnSp>
      <p:cxnSp>
        <p:nvCxnSpPr>
          <p:cNvPr id="29" name="Connector 28"/>
          <p:cNvCxnSpPr/>
          <p:nvPr/>
        </p:nvCxnSpPr>
        <p:spPr>
          <a:xfrm>
            <a:off x="5116068" y="2203704"/>
            <a:ext cx="1965959" cy="749807"/>
          </a:xfrm>
          <a:prstGeom prst="line">
            <a:avLst/>
          </a:prstGeom>
          <a:ln w="15875">
            <a:solidFill>
              <a:srgbClr val="8A8F98"/>
            </a:solidFill>
          </a:ln>
          <a:effectLst/>
        </p:spPr>
      </p:cxnSp>
      <p:sp>
        <p:nvSpPr>
          <p:cNvPr id="30" name="Rounded Rectangle 29"/>
          <p:cNvSpPr/>
          <p:nvPr/>
        </p:nvSpPr>
        <p:spPr>
          <a:xfrm>
            <a:off x="736091"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1" name="Rounded Rectangle 30"/>
          <p:cNvSpPr/>
          <p:nvPr/>
        </p:nvSpPr>
        <p:spPr>
          <a:xfrm>
            <a:off x="1357883"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2" name="Rounded Rectangle 31"/>
          <p:cNvSpPr/>
          <p:nvPr/>
        </p:nvSpPr>
        <p:spPr>
          <a:xfrm>
            <a:off x="223570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3" name="Rounded Rectangle 32"/>
          <p:cNvSpPr/>
          <p:nvPr/>
        </p:nvSpPr>
        <p:spPr>
          <a:xfrm>
            <a:off x="285749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4" name="Rounded Rectangle 33"/>
          <p:cNvSpPr/>
          <p:nvPr/>
        </p:nvSpPr>
        <p:spPr>
          <a:xfrm>
            <a:off x="373532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5" name="Rounded Rectangle 34"/>
          <p:cNvSpPr/>
          <p:nvPr/>
        </p:nvSpPr>
        <p:spPr>
          <a:xfrm>
            <a:off x="435711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6" name="Rounded Rectangle 35"/>
          <p:cNvSpPr/>
          <p:nvPr/>
        </p:nvSpPr>
        <p:spPr>
          <a:xfrm>
            <a:off x="523494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7" name="Rounded Rectangle 36"/>
          <p:cNvSpPr/>
          <p:nvPr/>
        </p:nvSpPr>
        <p:spPr>
          <a:xfrm>
            <a:off x="5856731"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8" name="Rounded Rectangle 37"/>
          <p:cNvSpPr/>
          <p:nvPr/>
        </p:nvSpPr>
        <p:spPr>
          <a:xfrm>
            <a:off x="6734555"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9" name="Rounded Rectangle 38"/>
          <p:cNvSpPr/>
          <p:nvPr/>
        </p:nvSpPr>
        <p:spPr>
          <a:xfrm>
            <a:off x="735634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40" name="Rounded Rectangle 39"/>
          <p:cNvSpPr/>
          <p:nvPr/>
        </p:nvSpPr>
        <p:spPr>
          <a:xfrm>
            <a:off x="1147571"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113842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2" name="Rounded Rectangle 41"/>
          <p:cNvSpPr/>
          <p:nvPr/>
        </p:nvSpPr>
        <p:spPr>
          <a:xfrm>
            <a:off x="2244851"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3" name="TextBox 42"/>
          <p:cNvSpPr txBox="1"/>
          <p:nvPr/>
        </p:nvSpPr>
        <p:spPr>
          <a:xfrm>
            <a:off x="223570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4" name="Rounded Rectangle 43"/>
          <p:cNvSpPr/>
          <p:nvPr/>
        </p:nvSpPr>
        <p:spPr>
          <a:xfrm>
            <a:off x="5582411"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557326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6" name="Rounded Rectangle 45"/>
          <p:cNvSpPr/>
          <p:nvPr/>
        </p:nvSpPr>
        <p:spPr>
          <a:xfrm>
            <a:off x="6679691"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7" name="TextBox 46"/>
          <p:cNvSpPr txBox="1"/>
          <p:nvPr/>
        </p:nvSpPr>
        <p:spPr>
          <a:xfrm>
            <a:off x="6670547"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8" name="Rounded Rectangle 47"/>
          <p:cNvSpPr/>
          <p:nvPr/>
        </p:nvSpPr>
        <p:spPr>
          <a:xfrm>
            <a:off x="3387851"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3058667"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50" name="Rounded Rectangle 49"/>
          <p:cNvSpPr/>
          <p:nvPr/>
        </p:nvSpPr>
        <p:spPr>
          <a:xfrm>
            <a:off x="4713731"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51" name="TextBox 50"/>
          <p:cNvSpPr txBox="1"/>
          <p:nvPr/>
        </p:nvSpPr>
        <p:spPr>
          <a:xfrm>
            <a:off x="5536692"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2" name="TextBox 51"/>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Round 2</a:t>
            </a:r>
          </a:p>
        </p:txBody>
      </p:sp>
      <p:sp>
        <p:nvSpPr>
          <p:cNvPr id="53" name="TextBox 52"/>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filter all terms for a dirty child</a:t>
            </a:r>
          </a:p>
          <a:p>
            <a:pPr marL="585216" indent="-237744">
              <a:spcBef>
                <a:spcPts val="200"/>
              </a:spcBef>
              <a:buClr>
                <a:srgbClr val="6B717A"/>
              </a:buClr>
              <a:buChar char="–"/>
            </a:pPr>
            <a:r>
              <a:rPr sz="1300" b="0" i="0">
                <a:solidFill>
                  <a:srgbClr val="2B2F36"/>
                </a:solidFill>
                <a:latin typeface="Calibri"/>
              </a:rPr>
              <a:t>m₁, m₂</a:t>
            </a:r>
          </a:p>
          <a:p>
            <a:pPr marL="274320" indent="-237744">
              <a:spcBef>
                <a:spcPts val="500"/>
              </a:spcBef>
              <a:buClr>
                <a:srgbClr val="6B717A"/>
              </a:buClr>
              <a:buChar char="•"/>
            </a:pPr>
            <a:r>
              <a:rPr sz="1600" b="0" i="0">
                <a:solidFill>
                  <a:srgbClr val="2B2F36"/>
                </a:solidFill>
                <a:latin typeface="Calibri"/>
              </a:rPr>
              <a:t>merge:  m₁ ≡ m₂</a:t>
            </a:r>
          </a:p>
          <a:p>
            <a:pPr marL="274320" indent="-237744">
              <a:spcBef>
                <a:spcPts val="500"/>
              </a:spcBef>
              <a:buClr>
                <a:srgbClr val="6B717A"/>
              </a:buClr>
              <a:buChar char="•"/>
            </a:pPr>
            <a:r>
              <a:rPr sz="1600" b="0" i="0">
                <a:solidFill>
                  <a:srgbClr val="2B2F36"/>
                </a:solidFill>
                <a:latin typeface="Calibri"/>
              </a:rPr>
              <a:t>next filter finds nothing:  </a:t>
            </a:r>
            <a:r>
              <a:rPr sz="1600" b="1" i="0">
                <a:solidFill>
                  <a:srgbClr val="2B2F36"/>
                </a:solidFill>
                <a:latin typeface="Calibri"/>
              </a:rPr>
              <a:t>done</a:t>
            </a:r>
          </a:p>
        </p:txBody>
      </p:sp>
      <p:sp>
        <p:nvSpPr>
          <p:cNvPr id="54" name="Rounded Rectangle 53"/>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5" name="TextBox 54"/>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candidate</a:t>
            </a:r>
          </a:p>
        </p:txBody>
      </p:sp>
      <p:sp>
        <p:nvSpPr>
          <p:cNvPr id="56" name="Rounded Rectangle 55"/>
          <p:cNvSpPr/>
          <p:nvPr/>
        </p:nvSpPr>
        <p:spPr>
          <a:xfrm>
            <a:off x="2194560" y="5943600"/>
            <a:ext cx="329184" cy="219456"/>
          </a:xfrm>
          <a:prstGeom prst="roundRect">
            <a:avLst>
              <a:gd name="adj" fmla="val 15000"/>
            </a:avLst>
          </a:prstGeom>
          <a:noFill/>
          <a:ln w="22225">
            <a:solidFill>
              <a:srgbClr val="7B4FB5"/>
            </a:solidFill>
            <a:prstDash val="sysDot"/>
          </a:ln>
          <a:effectLst/>
        </p:spPr>
        <p:txBody>
          <a:bodyPr rtlCol="0" anchor="ctr" lIns="54864" rIns="54864" tIns="27432" bIns="27432" wrap="square"/>
          <a:lstStyle/>
          <a:p>
            <a:pPr algn="ctr"/>
          </a:p>
        </p:txBody>
      </p:sp>
      <p:sp>
        <p:nvSpPr>
          <p:cNvPr id="57" name="TextBox 56"/>
          <p:cNvSpPr txBox="1"/>
          <p:nvPr/>
        </p:nvSpPr>
        <p:spPr>
          <a:xfrm>
            <a:off x="257860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signature group</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Implementation notes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38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548640" y="1371600"/>
            <a:ext cx="5486400" cy="237744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7" name="TextBox 6"/>
          <p:cNvSpPr txBox="1"/>
          <p:nvPr/>
        </p:nvSpPr>
        <p:spPr>
          <a:xfrm>
            <a:off x="731520" y="1463040"/>
            <a:ext cx="5120640" cy="411480"/>
          </a:xfrm>
          <a:prstGeom prst="rect">
            <a:avLst/>
          </a:prstGeom>
          <a:noFill/>
        </p:spPr>
        <p:txBody>
          <a:bodyPr wrap="square" anchor="t" lIns="45720" rIns="45720" tIns="27432" bIns="27432">
            <a:spAutoFit/>
          </a:bodyPr>
          <a:lstStyle/>
          <a:p>
            <a:pPr algn="l"/>
            <a:r>
              <a:rPr sz="2100" b="1" i="0">
                <a:solidFill>
                  <a:srgbClr val="1F2A44"/>
                </a:solidFill>
                <a:latin typeface="Calibri"/>
              </a:rPr>
              <a:t>Parallel algorithms</a:t>
            </a:r>
          </a:p>
        </p:txBody>
      </p:sp>
      <p:sp>
        <p:nvSpPr>
          <p:cNvPr id="8" name="TextBox 7"/>
          <p:cNvSpPr txBox="1"/>
          <p:nvPr/>
        </p:nvSpPr>
        <p:spPr>
          <a:xfrm>
            <a:off x="640080" y="2057400"/>
            <a:ext cx="5303520" cy="3108960"/>
          </a:xfrm>
          <a:prstGeom prst="rect">
            <a:avLst/>
          </a:prstGeom>
          <a:noFill/>
        </p:spPr>
        <p:txBody>
          <a:bodyPr wrap="square" lIns="45720" rIns="45720">
            <a:spAutoFit/>
          </a:bodyPr>
          <a:lstStyle/>
          <a:p>
            <a:pPr marL="274320" indent="-237744">
              <a:spcBef>
                <a:spcPts val="1000"/>
              </a:spcBef>
              <a:buClr>
                <a:srgbClr val="6B717A"/>
              </a:buClr>
              <a:buChar char="•"/>
            </a:pPr>
            <a:r>
              <a:rPr sz="1800" b="1" i="0">
                <a:solidFill>
                  <a:srgbClr val="2B2F36"/>
                </a:solidFill>
                <a:latin typeface="Calibri"/>
              </a:rPr>
              <a:t>grouping</a:t>
            </a:r>
            <a:r>
              <a:rPr sz="1800" b="0" i="0">
                <a:solidFill>
                  <a:srgbClr val="2B2F36"/>
                </a:solidFill>
                <a:latin typeface="Calibri"/>
              </a:rPr>
              <a:t>: integer sort on signature hashes</a:t>
            </a:r>
          </a:p>
          <a:p>
            <a:pPr marL="274320" indent="-237744">
              <a:spcBef>
                <a:spcPts val="1000"/>
              </a:spcBef>
              <a:buClr>
                <a:srgbClr val="6B717A"/>
              </a:buClr>
              <a:buChar char="•"/>
            </a:pPr>
            <a:r>
              <a:rPr sz="1800" b="1" i="0">
                <a:solidFill>
                  <a:srgbClr val="2B2F36"/>
                </a:solidFill>
                <a:latin typeface="Calibri"/>
              </a:rPr>
              <a:t>merging a group</a:t>
            </a:r>
            <a:r>
              <a:rPr sz="1800" b="0" i="0">
                <a:solidFill>
                  <a:srgbClr val="2B2F36"/>
                </a:solidFill>
                <a:latin typeface="Calibri"/>
              </a:rPr>
              <a:t>: divide-and-conquer unions</a:t>
            </a:r>
          </a:p>
          <a:p>
            <a:pPr marL="274320" indent="-237744">
              <a:spcBef>
                <a:spcPts val="1000"/>
              </a:spcBef>
              <a:buClr>
                <a:srgbClr val="6B717A"/>
              </a:buClr>
              <a:buChar char="•"/>
            </a:pPr>
            <a:r>
              <a:rPr sz="1800" b="1" i="0">
                <a:solidFill>
                  <a:srgbClr val="2B2F36"/>
                </a:solidFill>
                <a:latin typeface="Calibri"/>
              </a:rPr>
              <a:t>ParlayLib</a:t>
            </a:r>
            <a:r>
              <a:rPr sz="1800" b="0" i="0">
                <a:solidFill>
                  <a:srgbClr val="2B2F36"/>
                </a:solidFill>
                <a:latin typeface="Calibri"/>
              </a:rPr>
              <a:t> for scheduling and primitives</a:t>
            </a:r>
          </a:p>
        </p:txBody>
      </p:sp>
      <p:sp>
        <p:nvSpPr>
          <p:cNvPr id="9" name="Rounded Rectangle 8"/>
          <p:cNvSpPr/>
          <p:nvPr/>
        </p:nvSpPr>
        <p:spPr>
          <a:xfrm>
            <a:off x="6263640" y="1371600"/>
            <a:ext cx="5394960" cy="237744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0" name="TextBox 9"/>
          <p:cNvSpPr txBox="1"/>
          <p:nvPr/>
        </p:nvSpPr>
        <p:spPr>
          <a:xfrm>
            <a:off x="6446520" y="1463040"/>
            <a:ext cx="5029200" cy="411480"/>
          </a:xfrm>
          <a:prstGeom prst="rect">
            <a:avLst/>
          </a:prstGeom>
          <a:noFill/>
        </p:spPr>
        <p:txBody>
          <a:bodyPr wrap="square" anchor="t" lIns="45720" rIns="45720" tIns="27432" bIns="27432">
            <a:spAutoFit/>
          </a:bodyPr>
          <a:lstStyle/>
          <a:p>
            <a:pPr algn="l"/>
            <a:r>
              <a:rPr sz="2100" b="1" i="0">
                <a:solidFill>
                  <a:srgbClr val="1F2A44"/>
                </a:solidFill>
                <a:latin typeface="Calibri"/>
              </a:rPr>
              <a:t>Sequential baseline, tuned</a:t>
            </a:r>
          </a:p>
        </p:txBody>
      </p:sp>
      <p:sp>
        <p:nvSpPr>
          <p:cNvPr id="11" name="TextBox 10"/>
          <p:cNvSpPr txBox="1"/>
          <p:nvPr/>
        </p:nvSpPr>
        <p:spPr>
          <a:xfrm>
            <a:off x="6355080" y="2057400"/>
            <a:ext cx="5212080" cy="3108960"/>
          </a:xfrm>
          <a:prstGeom prst="rect">
            <a:avLst/>
          </a:prstGeom>
          <a:noFill/>
        </p:spPr>
        <p:txBody>
          <a:bodyPr wrap="square" lIns="45720" rIns="45720">
            <a:spAutoFit/>
          </a:bodyPr>
          <a:lstStyle/>
          <a:p>
            <a:pPr marL="274320" indent="-237744">
              <a:spcBef>
                <a:spcPts val="1000"/>
              </a:spcBef>
              <a:buClr>
                <a:srgbClr val="6B717A"/>
              </a:buClr>
              <a:buChar char="•"/>
            </a:pPr>
            <a:r>
              <a:rPr sz="1800" b="1" i="0">
                <a:solidFill>
                  <a:srgbClr val="2B2F36"/>
                </a:solidFill>
                <a:latin typeface="Calibri"/>
              </a:rPr>
              <a:t>signature tables specialized by arity</a:t>
            </a:r>
          </a:p>
          <a:p>
            <a:pPr marL="274320" indent="-237744">
              <a:spcBef>
                <a:spcPts val="1000"/>
              </a:spcBef>
              <a:buClr>
                <a:srgbClr val="6B717A"/>
              </a:buClr>
              <a:buChar char="•"/>
            </a:pPr>
            <a:r>
              <a:rPr sz="1800" b="1" i="0">
                <a:solidFill>
                  <a:srgbClr val="2B2F36"/>
                </a:solidFill>
                <a:latin typeface="Calibri"/>
              </a:rPr>
              <a:t>bump allocator</a:t>
            </a:r>
          </a:p>
          <a:p>
            <a:pPr marL="274320" indent="-237744">
              <a:spcBef>
                <a:spcPts val="1000"/>
              </a:spcBef>
              <a:buClr>
                <a:srgbClr val="6B717A"/>
              </a:buClr>
              <a:buChar char="•"/>
            </a:pPr>
            <a:r>
              <a:rPr sz="1800" b="1" i="0">
                <a:solidFill>
                  <a:srgbClr val="2B2F36"/>
                </a:solidFill>
                <a:latin typeface="Calibri"/>
              </a:rPr>
              <a:t>worklist</a:t>
            </a:r>
            <a:r>
              <a:rPr sz="1800" b="0" i="0">
                <a:solidFill>
                  <a:srgbClr val="2B2F36"/>
                </a:solidFill>
                <a:latin typeface="Calibri"/>
              </a:rPr>
              <a:t> in reverse topological order</a:t>
            </a:r>
          </a:p>
        </p:txBody>
      </p:sp>
      <p:sp>
        <p:nvSpPr>
          <p:cNvPr id="12" name="TextBox 11"/>
          <p:cNvSpPr txBox="1"/>
          <p:nvPr/>
        </p:nvSpPr>
        <p:spPr>
          <a:xfrm>
            <a:off x="548640" y="4114800"/>
            <a:ext cx="11155680" cy="365760"/>
          </a:xfrm>
          <a:prstGeom prst="rect">
            <a:avLst/>
          </a:prstGeom>
          <a:noFill/>
        </p:spPr>
        <p:txBody>
          <a:bodyPr wrap="square" anchor="t" lIns="45720" rIns="45720" tIns="27432" bIns="27432">
            <a:spAutoFit/>
          </a:bodyPr>
          <a:lstStyle/>
          <a:p>
            <a:pPr algn="l"/>
            <a:r>
              <a:rPr sz="1400" b="0" i="0">
                <a:solidFill>
                  <a:srgbClr val="6B717A"/>
                </a:solidFill>
                <a:latin typeface="Calibri"/>
              </a:rPr>
              <a:t>C++ with g++ -O3.  Code and benchmarks: github.com/amarshah10/ParallelEgraph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4"/>
          </a:solidFill>
          <a:ln>
            <a:noFill/>
          </a:ln>
          <a:effectLst/>
        </p:spPr>
        <p:txBody>
          <a:bodyPr rtlCol="0" anchor="ctr" lIns="54864" rIns="54864" tIns="27432" bIns="27432" wrap="square"/>
          <a:lstStyle/>
          <a:p>
            <a:pPr algn="ctr"/>
          </a:p>
        </p:txBody>
      </p:sp>
      <p:cxnSp>
        <p:nvCxnSpPr>
          <p:cNvPr id="3" name="Connector 2"/>
          <p:cNvCxnSpPr/>
          <p:nvPr/>
        </p:nvCxnSpPr>
        <p:spPr>
          <a:xfrm>
            <a:off x="822960" y="3246120"/>
            <a:ext cx="3017520" cy="0"/>
          </a:xfrm>
          <a:prstGeom prst="line">
            <a:avLst/>
          </a:prstGeom>
          <a:ln w="38100">
            <a:solidFill>
              <a:srgbClr val="C8501E"/>
            </a:solidFill>
          </a:ln>
          <a:effectLst/>
        </p:spPr>
      </p:cxnSp>
      <p:sp>
        <p:nvSpPr>
          <p:cNvPr id="4" name="TextBox 3"/>
          <p:cNvSpPr txBox="1"/>
          <p:nvPr/>
        </p:nvSpPr>
        <p:spPr>
          <a:xfrm>
            <a:off x="777240" y="2011680"/>
            <a:ext cx="10515600" cy="1188720"/>
          </a:xfrm>
          <a:prstGeom prst="rect">
            <a:avLst/>
          </a:prstGeom>
          <a:noFill/>
        </p:spPr>
        <p:txBody>
          <a:bodyPr wrap="square" anchor="b" lIns="45720" rIns="45720" tIns="27432" bIns="27432">
            <a:spAutoFit/>
          </a:bodyPr>
          <a:lstStyle/>
          <a:p>
            <a:pPr algn="l"/>
            <a:r>
              <a:rPr sz="4400" b="1" i="0">
                <a:solidFill>
                  <a:srgbClr val="FFFFFF"/>
                </a:solidFill>
                <a:latin typeface="Calibri"/>
              </a:rPr>
              <a:t>Evaluation</a:t>
            </a:r>
          </a:p>
        </p:txBody>
      </p:sp>
      <p:sp>
        <p:nvSpPr>
          <p:cNvPr id="5" name="TextBox 4"/>
          <p:cNvSpPr txBox="1"/>
          <p:nvPr/>
        </p:nvSpPr>
        <p:spPr>
          <a:xfrm>
            <a:off x="777240" y="3429000"/>
            <a:ext cx="10058400" cy="548640"/>
          </a:xfrm>
          <a:prstGeom prst="rect">
            <a:avLst/>
          </a:prstGeom>
          <a:noFill/>
        </p:spPr>
        <p:txBody>
          <a:bodyPr wrap="square" anchor="t" lIns="45720" rIns="45720" tIns="27432" bIns="27432">
            <a:spAutoFit/>
          </a:bodyPr>
          <a:lstStyle/>
          <a:p>
            <a:pPr algn="l"/>
            <a:r>
              <a:rPr sz="2200" b="0" i="0">
                <a:solidFill>
                  <a:srgbClr val="C9D3E6"/>
                </a:solidFill>
                <a:latin typeface="Calibri"/>
              </a:rPr>
              <a:t>random, synthetic, and circuit-equivalence benchmarks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