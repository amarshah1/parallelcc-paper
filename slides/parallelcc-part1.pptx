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input equalities: a equals b, and b equals c. This is the set E we are handed.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closure sits inside a lot of engines, and hence inside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in these engines it runs a lot: it is called repeatedly over the course of a solver run, so its cost shows up in the total. How much depends on the instance, which is why the evaluation looks at several benchmark families.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things stand. Despite how widely it is used, every implementation we know of is fully sequential, while the machines are wide: our test box has 96 cores. The theory is discouraging too. Congruence closure is P-complete, so we should not expect an algorithm that is fast on every input; in the worst case it really does look inherently sequential. But worst case is not the same as the instances people actually solve, and that is the question we 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setting our running example comes from, and where the circuit benchmarks come from. Two combinational circuits.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do they compute the same function? Equivalent means they agree on every input, all two to the n of them, so we cannot simply simulate.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construction, a miter. Feed both circuits the same inputs.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XOR the corresponding outputs. The XOR is 1 exactly when the two outputs differ.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XOR output is the single bit p, the miter output.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p is 1 exactly when the circuits disagree on the input we fed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Flip it around and it is a satisfiability question: assert p = 1 and ask whether any input satisfies it. Unsatisfiable means no disagreeing input exists, so the circuits are equivalent. Encoding a miter to CNF destroys the gate structure, so Biere et al. recover the gates and close them under congruence, which often decides the instance outright.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given equalities: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each pair. The dashed boxes are the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are in one class, so the query m1 differs from m2 is unsatisfiable: the circuits are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names for the evaluation. Depth is the number of rounds, width the merges available in one round. Here both are 2. On the circuit benchmarks width reaches millions while depth stays small, and Amar will show that width is what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First: who might have become congruent? Only a term whose child just changed class, so the parents of whatever merged last round.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those candidates, who actually is congruent? Group them by signature: the symbol together with the classes of the children.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merge every group, and all the groups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while a round merged something. The very first round has no previous merges to look at, so it considers every term; that also catches terms that were congruent before any equality was applied.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example, same rings as the schedule. Round 0 is the input: union each pair of equated wires, all five at once. No congruence yet, just the equalities we were handed.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1. Phase one, candidates: the first round considers every gate, in amber. Phase two, group them by signature: symbol plus the class of each child, written in brackets above each purple group. The ANDs share a key, the XORs share a key, the ITEs do not yet because a1 and a2 are still in different classes. The grouping is the semisort.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three, merge: both two-member groups merge, concurrently. This is where the parallel run differs from the hand trace: two unions in one round.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Candidates are the parents of what just merged: the two ITEs. Their keys now agree, so they form one group.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 them. One union.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ITEs have no parents, so round 3 has no candidates and the loop stops. Eight merges in three rounds, and the rings are exactly the bulk-synchronous schedule from before: ParentCC found all of the available parallelism.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Sound: every group has equal symbol and equal child classes, so each merge is an instance of the congruence rule. Complete: when the last of a pair’s children merge, both parents are candidates next round. Terminates: a round that merges anything reduces the number of classes.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the second algorithm. ParentCC finds candidates through parent lists, one per class, and every merge appends to them: allocation on the hot path. FilterCC drops the lists. A merge just sets a dirty bit on its classes, and the next round filters all terms for a child in a dirty class. Threads racing to set the same bit is harmless, setting a bit is idempotent. The price is a scan of every term each round, so FilterCC wins when rounds are few and ParentCC when they are many;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input equalities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TextBox 16"/>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equivalence:  a ≡ b ≡ 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TextBox 17"/>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9" name="TextBox 18"/>
          <p:cNvSpPr txBox="1"/>
          <p:nvPr/>
        </p:nvSpPr>
        <p:spPr>
          <a:xfrm>
            <a:off x="3429000" y="5084064"/>
            <a:ext cx="2743200" cy="292608"/>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anchor="ctr" lIns="45720" rIns="45720" tIns="27432" bIns="27432">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Called repeatedly over a solver run, so its cost adds 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State of the art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822960" y="1737360"/>
            <a:ext cx="10789920" cy="2743200"/>
          </a:xfrm>
          <a:prstGeom prst="rect">
            <a:avLst/>
          </a:prstGeom>
          <a:noFill/>
        </p:spPr>
        <p:txBody>
          <a:bodyPr wrap="square" lIns="45720" rIns="45720">
            <a:spAutoFit/>
          </a:bodyPr>
          <a:lstStyle/>
          <a:p>
            <a:pPr marL="274320" indent="-237744">
              <a:spcBef>
                <a:spcPts val="1800"/>
              </a:spcBef>
              <a:buClr>
                <a:srgbClr val="6B717A"/>
              </a:buClr>
              <a:buChar char="•"/>
            </a:pPr>
            <a:r>
              <a:rPr sz="2600" b="0" i="0">
                <a:solidFill>
                  <a:srgbClr val="2B2F36"/>
                </a:solidFill>
                <a:latin typeface="Calibri"/>
              </a:rPr>
              <a:t>Despite ubiquity, algorithms used in practice </a:t>
            </a:r>
            <a:r>
              <a:rPr sz="2600" b="1" i="0">
                <a:solidFill>
                  <a:srgbClr val="2B2F36"/>
                </a:solidFill>
                <a:latin typeface="Calibri"/>
              </a:rPr>
              <a:t>fully sequential</a:t>
            </a:r>
          </a:p>
          <a:p>
            <a:pPr marL="274320" indent="-237744">
              <a:spcBef>
                <a:spcPts val="1800"/>
              </a:spcBef>
              <a:buClr>
                <a:srgbClr val="6B717A"/>
              </a:buClr>
              <a:buChar char="•"/>
            </a:pPr>
            <a:r>
              <a:rPr sz="2600" b="0" i="0">
                <a:solidFill>
                  <a:srgbClr val="2B2F36"/>
                </a:solidFill>
                <a:latin typeface="Calibri"/>
              </a:rPr>
              <a:t>Unfortunately, congruence closure is </a:t>
            </a:r>
            <a:r>
              <a:rPr sz="2600" b="1" i="0">
                <a:solidFill>
                  <a:srgbClr val="2B2F36"/>
                </a:solidFill>
                <a:latin typeface="Calibri"/>
              </a:rPr>
              <a:t>P-complete</a:t>
            </a:r>
          </a:p>
          <a:p>
            <a:pPr marL="274320" indent="-237744">
              <a:spcBef>
                <a:spcPts val="1800"/>
              </a:spcBef>
              <a:buClr>
                <a:srgbClr val="6B717A"/>
              </a:buClr>
              <a:buChar char="•"/>
            </a:pPr>
            <a:r>
              <a:rPr sz="2600" b="0" i="0">
                <a:solidFill>
                  <a:srgbClr val="2B2F36"/>
                </a:solidFill>
                <a:latin typeface="Calibri"/>
              </a:rPr>
              <a:t>Likely </a:t>
            </a:r>
            <a:r>
              <a:rPr sz="2600" b="1" i="0">
                <a:solidFill>
                  <a:srgbClr val="2B2F36"/>
                </a:solidFill>
                <a:latin typeface="Calibri"/>
              </a:rPr>
              <a:t>inherently sequential in the worst case</a:t>
            </a:r>
          </a:p>
        </p:txBody>
      </p:sp>
      <p:sp>
        <p:nvSpPr>
          <p:cNvPr id="7" name="TextBox 6"/>
          <p:cNvSpPr txBox="1"/>
          <p:nvPr/>
        </p:nvSpPr>
        <p:spPr>
          <a:xfrm>
            <a:off x="822960" y="4023360"/>
            <a:ext cx="10789920" cy="320040"/>
          </a:xfrm>
          <a:prstGeom prst="rect">
            <a:avLst/>
          </a:prstGeom>
          <a:noFill/>
        </p:spPr>
        <p:txBody>
          <a:bodyPr wrap="square" anchor="t" lIns="45720" rIns="45720" tIns="27432" bIns="27432">
            <a:spAutoFit/>
          </a:bodyPr>
          <a:lstStyle/>
          <a:p>
            <a:pPr algn="l"/>
            <a:r>
              <a:rPr sz="1300" b="0" i="0">
                <a:solidFill>
                  <a:srgbClr val="6B717A"/>
                </a:solidFill>
                <a:latin typeface="Calibri"/>
              </a:rPr>
              <a:t>Kanellakis &amp; Revesz 1989</a:t>
            </a:r>
          </a:p>
        </p:txBody>
      </p:sp>
      <p:sp>
        <p:nvSpPr>
          <p:cNvPr id="8" name="Rounded Rectangle 7"/>
          <p:cNvSpPr/>
          <p:nvPr/>
        </p:nvSpPr>
        <p:spPr>
          <a:xfrm>
            <a:off x="566928" y="48006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Question: do practical instances expose enough</a:t>
            </a:r>
          </a:p>
          <a:p>
            <a:pPr algn="ctr"/>
            <a:r>
              <a:rPr sz="2400" b="1" i="0">
                <a:solidFill>
                  <a:srgbClr val="FFFFFF"/>
                </a:solidFill>
                <a:latin typeface="Calibri"/>
              </a:rPr>
              <a:t>independent merges for real speedups?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Two bulk-synchronous parallel algorithms: ParentCC and FilterCC</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Evaluation demonstrating effective speedup in practice</a:t>
            </a:r>
          </a:p>
        </p:txBody>
      </p:sp>
      <p:sp>
        <p:nvSpPr>
          <p:cNvPr id="12" name="TextBox 11"/>
          <p:cNvSpPr txBox="1"/>
          <p:nvPr/>
        </p:nvSpPr>
        <p:spPr>
          <a:xfrm>
            <a:off x="1371600" y="5760720"/>
            <a:ext cx="9144000" cy="365760"/>
          </a:xfrm>
          <a:prstGeom prst="rect">
            <a:avLst/>
          </a:prstGeom>
          <a:noFill/>
        </p:spPr>
        <p:txBody>
          <a:bodyPr wrap="square" anchor="t" lIns="45720" rIns="45720" tIns="27432" bIns="27432">
            <a:spAutoFit/>
          </a:bodyPr>
          <a:lstStyle/>
          <a:p>
            <a:pPr algn="l"/>
            <a:r>
              <a:rPr sz="1600" b="0" i="0">
                <a:solidFill>
                  <a:srgbClr val="6B717A"/>
                </a:solidFill>
                <a:latin typeface="Calibri"/>
              </a:rPr>
              <a:t>github.com/amarshah10/ParallelEgraph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
        <p:nvSpPr>
          <p:cNvPr id="20" name="Rounded Rectangle 19"/>
          <p:cNvSpPr/>
          <p:nvPr/>
        </p:nvSpPr>
        <p:spPr>
          <a:xfrm>
            <a:off x="566928" y="5806440"/>
            <a:ext cx="11064240" cy="50292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equivalent   ⟺   p = 1 is unsatisfiable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3A9A5B"/>
                </a:solidFill>
                <a:latin typeface="Calibri"/>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depth: number of rounds        width: merges per round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Rounded Rectangle 46"/>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48" name="TextBox 47"/>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49" name="TextBox 48"/>
          <p:cNvSpPr txBox="1"/>
          <p:nvPr/>
        </p:nvSpPr>
        <p:spPr>
          <a:xfrm>
            <a:off x="2775203"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4274820"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5774436"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2" name="TextBox 51"/>
          <p:cNvSpPr txBox="1"/>
          <p:nvPr/>
        </p:nvSpPr>
        <p:spPr>
          <a:xfrm>
            <a:off x="7274052"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3" name="TextBox 52"/>
          <p:cNvSpPr txBox="1"/>
          <p:nvPr/>
        </p:nvSpPr>
        <p:spPr>
          <a:xfrm>
            <a:off x="8773668"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4" name="Rounded Rectangle 53"/>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5" name="TextBox 54"/>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merged this round</a:t>
            </a:r>
          </a:p>
        </p:txBody>
      </p:sp>
      <p:sp>
        <p:nvSpPr>
          <p:cNvPr id="56" name="Rounded Rectangle 55"/>
          <p:cNvSpPr/>
          <p:nvPr/>
        </p:nvSpPr>
        <p:spPr>
          <a:xfrm>
            <a:off x="502920" y="2066543"/>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57" name="TextBox 56"/>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Rounded Rectangle 50"/>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2" name="TextBox 51"/>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3" name="Rounded Rectangle 52"/>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4" name="TextBox 53"/>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5" name="TextBox 54"/>
          <p:cNvSpPr txBox="1"/>
          <p:nvPr/>
        </p:nvSpPr>
        <p:spPr>
          <a:xfrm>
            <a:off x="2775203" y="2340863"/>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AND([r], [s])</a:t>
            </a:r>
          </a:p>
        </p:txBody>
      </p:sp>
      <p:sp>
        <p:nvSpPr>
          <p:cNvPr id="56" name="TextBox 55"/>
          <p:cNvSpPr txBox="1"/>
          <p:nvPr/>
        </p:nvSpPr>
        <p:spPr>
          <a:xfrm>
            <a:off x="7210044" y="2340863"/>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XOR([u], [v])</a:t>
            </a:r>
          </a:p>
        </p:txBody>
      </p:sp>
      <p:sp>
        <p:nvSpPr>
          <p:cNvPr id="57" name="TextBox 56"/>
          <p:cNvSpPr txBox="1"/>
          <p:nvPr/>
        </p:nvSpPr>
        <p:spPr>
          <a:xfrm>
            <a:off x="4297680"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8" name="TextBox 57"/>
          <p:cNvSpPr txBox="1"/>
          <p:nvPr/>
        </p:nvSpPr>
        <p:spPr>
          <a:xfrm>
            <a:off x="5961888"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[a₂], [x₂])</a:t>
            </a:r>
          </a:p>
        </p:txBody>
      </p:sp>
      <p:sp>
        <p:nvSpPr>
          <p:cNvPr id="59" name="Rounded Rectangle 58"/>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60" name="TextBox 59"/>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candidate</a:t>
            </a:r>
          </a:p>
        </p:txBody>
      </p:sp>
      <p:sp>
        <p:nvSpPr>
          <p:cNvPr id="61" name="Rounded Rectangle 60"/>
          <p:cNvSpPr/>
          <p:nvPr/>
        </p:nvSpPr>
        <p:spPr>
          <a:xfrm>
            <a:off x="502920" y="2066543"/>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2" name="TextBox 61"/>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signature group</a:t>
            </a:r>
          </a:p>
        </p:txBody>
      </p:sp>
      <p:sp>
        <p:nvSpPr>
          <p:cNvPr id="63" name="Rounded Rectangle 62"/>
          <p:cNvSpPr/>
          <p:nvPr/>
        </p:nvSpPr>
        <p:spPr>
          <a:xfrm>
            <a:off x="502920" y="2487168"/>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64" name="TextBox 63"/>
          <p:cNvSpPr txBox="1"/>
          <p:nvPr/>
        </p:nvSpPr>
        <p:spPr>
          <a:xfrm>
            <a:off x="905256" y="2441448"/>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Rounded Rectangle 48"/>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0" name="TextBox 49"/>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1" name="Rounded Rectangle 50"/>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2" name="TextBox 51"/>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3" name="TextBox 52"/>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4" name="TextBox 53"/>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5" name="Rounded Rectangle 54"/>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6" name="TextBox 55"/>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merged this round</a:t>
            </a:r>
          </a:p>
        </p:txBody>
      </p:sp>
      <p:sp>
        <p:nvSpPr>
          <p:cNvPr id="57" name="Rounded Rectangle 56"/>
          <p:cNvSpPr/>
          <p:nvPr/>
        </p:nvSpPr>
        <p:spPr>
          <a:xfrm>
            <a:off x="502920" y="2066543"/>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58" name="TextBox 57"/>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TextBox 55"/>
          <p:cNvSpPr txBox="1"/>
          <p:nvPr/>
        </p:nvSpPr>
        <p:spPr>
          <a:xfrm>
            <a:off x="5129784" y="1014983"/>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7" name="Rounded Rectangle 56"/>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8" name="TextBox 57"/>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candidate</a:t>
            </a:r>
          </a:p>
        </p:txBody>
      </p:sp>
      <p:sp>
        <p:nvSpPr>
          <p:cNvPr id="59" name="Rounded Rectangle 58"/>
          <p:cNvSpPr/>
          <p:nvPr/>
        </p:nvSpPr>
        <p:spPr>
          <a:xfrm>
            <a:off x="502920" y="2066543"/>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0" name="TextBox 59"/>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signature group</a:t>
            </a:r>
          </a:p>
        </p:txBody>
      </p:sp>
      <p:sp>
        <p:nvSpPr>
          <p:cNvPr id="61" name="Rounded Rectangle 60"/>
          <p:cNvSpPr/>
          <p:nvPr/>
        </p:nvSpPr>
        <p:spPr>
          <a:xfrm>
            <a:off x="502920" y="2487168"/>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62" name="TextBox 61"/>
          <p:cNvSpPr txBox="1"/>
          <p:nvPr/>
        </p:nvSpPr>
        <p:spPr>
          <a:xfrm>
            <a:off x="905256" y="2441448"/>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TextBox 55"/>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7" name="Rounded Rectangle 56"/>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8" name="TextBox 57"/>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merged this round</a:t>
            </a:r>
          </a:p>
        </p:txBody>
      </p:sp>
      <p:sp>
        <p:nvSpPr>
          <p:cNvPr id="59" name="Rounded Rectangle 58"/>
          <p:cNvSpPr/>
          <p:nvPr/>
        </p:nvSpPr>
        <p:spPr>
          <a:xfrm>
            <a:off x="502920" y="2066543"/>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60" name="TextBox 59"/>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done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Round 3: no candidates, done.  Same schedule as before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Correctness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214884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Soundness</a:t>
            </a:r>
          </a:p>
        </p:txBody>
      </p:sp>
      <p:sp>
        <p:nvSpPr>
          <p:cNvPr id="7" name="Rectangle 6"/>
          <p:cNvSpPr/>
          <p:nvPr/>
        </p:nvSpPr>
        <p:spPr>
          <a:xfrm>
            <a:off x="3840480" y="214884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8" name="Rounded Rectangle 7"/>
          <p:cNvSpPr/>
          <p:nvPr/>
        </p:nvSpPr>
        <p:spPr>
          <a:xfrm>
            <a:off x="731520" y="333756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Completeness</a:t>
            </a:r>
          </a:p>
        </p:txBody>
      </p:sp>
      <p:sp>
        <p:nvSpPr>
          <p:cNvPr id="9" name="Rectangle 8"/>
          <p:cNvSpPr/>
          <p:nvPr/>
        </p:nvSpPr>
        <p:spPr>
          <a:xfrm>
            <a:off x="3840480" y="333756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
        <p:nvSpPr>
          <p:cNvPr id="10" name="Rounded Rectangle 9"/>
          <p:cNvSpPr/>
          <p:nvPr/>
        </p:nvSpPr>
        <p:spPr>
          <a:xfrm>
            <a:off x="731520" y="452628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Termination</a:t>
            </a:r>
          </a:p>
        </p:txBody>
      </p:sp>
      <p:sp>
        <p:nvSpPr>
          <p:cNvPr id="11" name="Rectangle 10"/>
          <p:cNvSpPr/>
          <p:nvPr/>
        </p:nvSpPr>
        <p:spPr>
          <a:xfrm>
            <a:off x="3840480" y="452628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same rounds, no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514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ParentCC</a:t>
            </a:r>
          </a:p>
        </p:txBody>
      </p:sp>
      <p:sp>
        <p:nvSpPr>
          <p:cNvPr id="8" name="TextBox 7"/>
          <p:cNvSpPr txBox="1"/>
          <p:nvPr/>
        </p:nvSpPr>
        <p:spPr>
          <a:xfrm>
            <a:off x="640080" y="2057400"/>
            <a:ext cx="5303520" cy="21945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parent list per class</a:t>
            </a:r>
          </a:p>
          <a:p>
            <a:pPr marL="274320" indent="-237744">
              <a:spcBef>
                <a:spcPts val="1000"/>
              </a:spcBef>
              <a:buClr>
                <a:srgbClr val="6B717A"/>
              </a:buClr>
              <a:buChar char="•"/>
            </a:pPr>
            <a:r>
              <a:rPr sz="1800" b="0" i="0">
                <a:solidFill>
                  <a:srgbClr val="2B2F36"/>
                </a:solidFill>
                <a:latin typeface="Calibri"/>
              </a:rPr>
              <a:t>every merge appends: allocation</a:t>
            </a:r>
          </a:p>
          <a:p>
            <a:pPr marL="274320" indent="-237744">
              <a:spcBef>
                <a:spcPts val="1000"/>
              </a:spcBef>
              <a:buClr>
                <a:srgbClr val="6B717A"/>
              </a:buClr>
              <a:buChar char="•"/>
            </a:pPr>
            <a:r>
              <a:rPr sz="1800" b="0" i="0">
                <a:solidFill>
                  <a:srgbClr val="2B2F36"/>
                </a:solidFill>
                <a:latin typeface="Calibri"/>
              </a:rPr>
              <a:t>candidates: parents of merged classes</a:t>
            </a:r>
          </a:p>
        </p:txBody>
      </p:sp>
      <p:sp>
        <p:nvSpPr>
          <p:cNvPr id="9" name="Rounded Rectangle 8"/>
          <p:cNvSpPr/>
          <p:nvPr/>
        </p:nvSpPr>
        <p:spPr>
          <a:xfrm>
            <a:off x="6263640" y="1371600"/>
            <a:ext cx="5394960" cy="2514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FilterCC</a:t>
            </a:r>
          </a:p>
        </p:txBody>
      </p:sp>
      <p:sp>
        <p:nvSpPr>
          <p:cNvPr id="11" name="TextBox 10"/>
          <p:cNvSpPr txBox="1"/>
          <p:nvPr/>
        </p:nvSpPr>
        <p:spPr>
          <a:xfrm>
            <a:off x="6355080" y="2057400"/>
            <a:ext cx="5212080" cy="21945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one dirty bit per class</a:t>
            </a:r>
          </a:p>
          <a:p>
            <a:pPr marL="274320" indent="-237744">
              <a:spcBef>
                <a:spcPts val="1000"/>
              </a:spcBef>
              <a:buClr>
                <a:srgbClr val="6B717A"/>
              </a:buClr>
              <a:buChar char="•"/>
            </a:pPr>
            <a:r>
              <a:rPr sz="1800" b="0" i="0">
                <a:solidFill>
                  <a:srgbClr val="2B2F36"/>
                </a:solidFill>
                <a:latin typeface="Calibri"/>
              </a:rPr>
              <a:t>a merge marks its classes dirty</a:t>
            </a:r>
          </a:p>
          <a:p>
            <a:pPr marL="274320" indent="-237744">
              <a:spcBef>
                <a:spcPts val="1000"/>
              </a:spcBef>
              <a:buClr>
                <a:srgbClr val="6B717A"/>
              </a:buClr>
              <a:buChar char="•"/>
            </a:pPr>
            <a:r>
              <a:rPr sz="1800" b="0" i="0">
                <a:solidFill>
                  <a:srgbClr val="2B2F36"/>
                </a:solidFill>
                <a:latin typeface="Calibri"/>
              </a:rPr>
              <a:t>candidates: filter all terms for a dirty child</a:t>
            </a:r>
          </a:p>
          <a:p>
            <a:pPr marL="274320" indent="-237744">
              <a:spcBef>
                <a:spcPts val="1000"/>
              </a:spcBef>
              <a:buClr>
                <a:srgbClr val="6B717A"/>
              </a:buClr>
              <a:buChar char="•"/>
            </a:pPr>
            <a:r>
              <a:rPr sz="1800" b="0" i="0">
                <a:solidFill>
                  <a:srgbClr val="2B2F36"/>
                </a:solidFill>
                <a:latin typeface="Calibri"/>
              </a:rPr>
              <a:t>racing marks are fine: setting a bit is idempotent</a:t>
            </a:r>
          </a:p>
        </p:txBody>
      </p:sp>
      <p:sp>
        <p:nvSpPr>
          <p:cNvPr id="12" name="TextBox 11"/>
          <p:cNvSpPr txBox="1"/>
          <p:nvPr/>
        </p:nvSpPr>
        <p:spPr>
          <a:xfrm>
            <a:off x="548640" y="4114800"/>
            <a:ext cx="11155680" cy="411480"/>
          </a:xfrm>
          <a:prstGeom prst="rect">
            <a:avLst/>
          </a:prstGeom>
          <a:noFill/>
        </p:spPr>
        <p:txBody>
          <a:bodyPr wrap="square" anchor="t" lIns="45720" rIns="45720" tIns="27432" bIns="27432">
            <a:spAutoFit/>
          </a:bodyPr>
          <a:lstStyle/>
          <a:p>
            <a:pPr algn="l"/>
            <a:r>
              <a:rPr sz="1800" b="0" i="0">
                <a:solidFill>
                  <a:srgbClr val="6B717A"/>
                </a:solidFill>
                <a:latin typeface="Calibri"/>
              </a:rPr>
              <a:t>Same candidates every round, same merges, same proofs</a:t>
            </a:r>
          </a:p>
        </p:txBody>
      </p:sp>
      <p:sp>
        <p:nvSpPr>
          <p:cNvPr id="13" name="Rounded Rectangle 12"/>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no allocation, but a scan of every term per round: wins when rounds are few</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385876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semisort: Gu, Shun, Sun &amp; Blelloch, SPAA 2015   ·   concurrent union-find: Alistarh, Fedorov &amp; Koval, OPODIS 2019</a:t>
            </a:r>
          </a:p>
        </p:txBody>
      </p:sp>
      <p:sp>
        <p:nvSpPr>
          <p:cNvPr id="13" name="TextBox 12"/>
          <p:cNvSpPr txBox="1"/>
          <p:nvPr/>
        </p:nvSpPr>
        <p:spPr>
          <a:xfrm>
            <a:off x="548640" y="422452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